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fonts/font.dat" ContentType="application/x-fontdata"/>
  <Override PartName="/ppt/fonts/font2.dat" ContentType="application/x-fontdata"/>
  <Override PartName="/ppt/fonts/font3.dat" ContentType="application/x-fontdata"/>
  <Override PartName="/ppt/media/image.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960070ac8ff4466" Type="http://schemas.openxmlformats.org/officeDocument/2006/relationships/officeDocument" Target="ppt/presentation.xml"/><Relationship Id="Rc7fa4305e7cb4976" Type="http://schemas.openxmlformats.org/officeDocument/2006/relationships/extended-properties" Target="docProps/app.xml"/><Relationship Id="Rfe94e2e86e244e77" Type="http://schemas.openxmlformats.org/package/2006/relationships/metadata/core-properties" Target="docProps/core.xml"/></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6834d5b99e94afe"/>
  </p:sldMasterIdLst>
  <p:notesMasterIdLst>
    <p:notesMasterId xmlns:r="http://schemas.openxmlformats.org/officeDocument/2006/relationships" r:id="Rf12cfff9cedd4c54"/>
  </p:notesMasterIdLst>
  <p:sldIdLst>
    <p:sldId xmlns:r="http://schemas.openxmlformats.org/officeDocument/2006/relationships" id="256" r:id="R590c75ed395d4a27"/>
    <p:sldId xmlns:r="http://schemas.openxmlformats.org/officeDocument/2006/relationships" id="257" r:id="R52cbfac4159349bc"/>
    <p:sldId xmlns:r="http://schemas.openxmlformats.org/officeDocument/2006/relationships" id="258" r:id="R1a0984cfe13847fa"/>
    <p:sldId xmlns:r="http://schemas.openxmlformats.org/officeDocument/2006/relationships" id="259" r:id="Rcf132dc16f8a44d1"/>
    <p:sldId xmlns:r="http://schemas.openxmlformats.org/officeDocument/2006/relationships" id="260" r:id="R5d277ed5e2f44ac6"/>
    <p:sldId xmlns:r="http://schemas.openxmlformats.org/officeDocument/2006/relationships" id="261" r:id="R65d42d16e297413a"/>
    <p:sldId xmlns:r="http://schemas.openxmlformats.org/officeDocument/2006/relationships" id="262" r:id="R3d5e325f42b248d3"/>
    <p:sldId xmlns:r="http://schemas.openxmlformats.org/officeDocument/2006/relationships" id="263" r:id="R36e8d94175d0499b"/>
    <p:sldId xmlns:r="http://schemas.openxmlformats.org/officeDocument/2006/relationships" id="264" r:id="R1417834a1b6a405b"/>
    <p:sldId xmlns:r="http://schemas.openxmlformats.org/officeDocument/2006/relationships" id="265" r:id="R74b2156ad1d14f30"/>
    <p:sldId xmlns:r="http://schemas.openxmlformats.org/officeDocument/2006/relationships" id="266" r:id="R36cafaa5baac4e60"/>
    <p:sldId xmlns:r="http://schemas.openxmlformats.org/officeDocument/2006/relationships" id="267" r:id="Ra4a4629779564986"/>
    <p:sldId xmlns:r="http://schemas.openxmlformats.org/officeDocument/2006/relationships" id="268" r:id="R6a55e00355c24de2"/>
    <p:sldId xmlns:r="http://schemas.openxmlformats.org/officeDocument/2006/relationships" id="269" r:id="Rc7c3758d98384973"/>
    <p:sldId xmlns:r="http://schemas.openxmlformats.org/officeDocument/2006/relationships" id="270" r:id="R6b522400eb9a4a20"/>
    <p:sldId xmlns:r="http://schemas.openxmlformats.org/officeDocument/2006/relationships" id="271" r:id="R4e2e4a1947174e55"/>
    <p:sldId xmlns:r="http://schemas.openxmlformats.org/officeDocument/2006/relationships" id="272" r:id="Rd623c97a846e43cd"/>
    <p:sldId xmlns:r="http://schemas.openxmlformats.org/officeDocument/2006/relationships" id="273" r:id="Rd703fda163c0458a"/>
    <p:sldId xmlns:r="http://schemas.openxmlformats.org/officeDocument/2006/relationships" id="274" r:id="Rf0ce0c8c93424f8a"/>
    <p:sldId xmlns:r="http://schemas.openxmlformats.org/officeDocument/2006/relationships" id="275" r:id="Reff1d53fbc27475a"/>
    <p:sldId xmlns:r="http://schemas.openxmlformats.org/officeDocument/2006/relationships" id="276" r:id="Ra27a2f8bb21d4e62"/>
    <p:sldId xmlns:r="http://schemas.openxmlformats.org/officeDocument/2006/relationships" id="277" r:id="R5cb4b65f3a4340a6"/>
    <p:sldId xmlns:r="http://schemas.openxmlformats.org/officeDocument/2006/relationships" id="278" r:id="R130e4e8fce7c4c04"/>
    <p:sldId xmlns:r="http://schemas.openxmlformats.org/officeDocument/2006/relationships" id="279" r:id="R3d90d2bddb6c4fac"/>
    <p:sldId xmlns:r="http://schemas.openxmlformats.org/officeDocument/2006/relationships" id="280" r:id="R20fb21ae9e43489c"/>
    <p:sldId xmlns:r="http://schemas.openxmlformats.org/officeDocument/2006/relationships" id="281" r:id="R7173e2b5d16b448b"/>
    <p:sldId xmlns:r="http://schemas.openxmlformats.org/officeDocument/2006/relationships" id="282" r:id="R670f1d06a4bf46a2"/>
    <p:sldId xmlns:r="http://schemas.openxmlformats.org/officeDocument/2006/relationships" id="283" r:id="Rdf2d0e6ec46440aa"/>
    <p:sldId xmlns:r="http://schemas.openxmlformats.org/officeDocument/2006/relationships" id="284" r:id="R45751c74e98745e0"/>
    <p:sldId xmlns:r="http://schemas.openxmlformats.org/officeDocument/2006/relationships" id="285" r:id="R515cae28fc6f40ec"/>
    <p:sldId xmlns:r="http://schemas.openxmlformats.org/officeDocument/2006/relationships" id="286" r:id="R150f82ad72fa4486"/>
    <p:sldId xmlns:r="http://schemas.openxmlformats.org/officeDocument/2006/relationships" id="287" r:id="R101a76b5572e4468"/>
    <p:sldId xmlns:r="http://schemas.openxmlformats.org/officeDocument/2006/relationships" id="288" r:id="R5b59e2ad3fc74a68"/>
    <p:sldId xmlns:r="http://schemas.openxmlformats.org/officeDocument/2006/relationships" id="289" r:id="Rb948200bf1e24149"/>
  </p:sldIdLst>
  <p:sldSz cx="18288000" cy="10287000"/>
  <p:notesSz cx="6858000" cy="9144000"/>
  <p:embeddedFontLst>
    <p:embeddedFont>
      <p:font typeface="Lucidity Condensed"/>
      <p:regular xmlns:r="http://schemas.openxmlformats.org/officeDocument/2006/relationships" r:id="Raf7044ed802f4ddd"/>
    </p:embeddedFont>
    <p:embeddedFont>
      <p:font typeface="TT Fors Bold"/>
      <p:regular xmlns:r="http://schemas.openxmlformats.org/officeDocument/2006/relationships" r:id="Rf8588995f14d4a65"/>
    </p:embeddedFont>
    <p:embeddedFont>
      <p:font typeface="TT Fors"/>
      <p:regular xmlns:r="http://schemas.openxmlformats.org/officeDocument/2006/relationships" r:id="R80bf6f1f372943ac"/>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xml version='1.0' encoding='UTF-8' standalone='yes'?>
<Relationships xmlns="http://schemas.openxmlformats.org/package/2006/relationships"><Relationship Id="R101a76b5572e4468" Type="http://schemas.openxmlformats.org/officeDocument/2006/relationships/slide" Target="slides/slide32.xml"/><Relationship Id="R130e4e8fce7c4c04" Type="http://schemas.openxmlformats.org/officeDocument/2006/relationships/slide" Target="slides/slide23.xml"/><Relationship Id="R1417834a1b6a405b" Type="http://schemas.openxmlformats.org/officeDocument/2006/relationships/slide" Target="slides/slide9.xml"/><Relationship Id="R150f82ad72fa4486" Type="http://schemas.openxmlformats.org/officeDocument/2006/relationships/slide" Target="slides/slide31.xml"/><Relationship Id="R1a0984cfe13847fa" Type="http://schemas.openxmlformats.org/officeDocument/2006/relationships/slide" Target="slides/slide3.xml"/><Relationship Id="R20fb21ae9e43489c" Type="http://schemas.openxmlformats.org/officeDocument/2006/relationships/slide" Target="slides/slide25.xml"/><Relationship Id="R36cafaa5baac4e60" Type="http://schemas.openxmlformats.org/officeDocument/2006/relationships/slide" Target="slides/slide11.xml"/><Relationship Id="R36e8d94175d0499b" Type="http://schemas.openxmlformats.org/officeDocument/2006/relationships/slide" Target="slides/slide8.xml"/><Relationship Id="R3d5e325f42b248d3" Type="http://schemas.openxmlformats.org/officeDocument/2006/relationships/slide" Target="slides/slide7.xml"/><Relationship Id="R3d90d2bddb6c4fac" Type="http://schemas.openxmlformats.org/officeDocument/2006/relationships/slide" Target="slides/slide24.xml"/><Relationship Id="R45751c74e98745e0" Type="http://schemas.openxmlformats.org/officeDocument/2006/relationships/slide" Target="slides/slide29.xml"/><Relationship Id="R4e2e4a1947174e55" Type="http://schemas.openxmlformats.org/officeDocument/2006/relationships/slide" Target="slides/slide16.xml"/><Relationship Id="R515cae28fc6f40ec" Type="http://schemas.openxmlformats.org/officeDocument/2006/relationships/slide" Target="slides/slide30.xml"/><Relationship Id="R52cbfac4159349bc" Type="http://schemas.openxmlformats.org/officeDocument/2006/relationships/slide" Target="slides/slide2.xml"/><Relationship Id="R590c75ed395d4a27" Type="http://schemas.openxmlformats.org/officeDocument/2006/relationships/slide" Target="slides/slide1.xml"/><Relationship Id="R5b59e2ad3fc74a68" Type="http://schemas.openxmlformats.org/officeDocument/2006/relationships/slide" Target="slides/slide33.xml"/><Relationship Id="R5cb4b65f3a4340a6" Type="http://schemas.openxmlformats.org/officeDocument/2006/relationships/slide" Target="slides/slide22.xml"/><Relationship Id="R5d277ed5e2f44ac6" Type="http://schemas.openxmlformats.org/officeDocument/2006/relationships/slide" Target="slides/slide5.xml"/><Relationship Id="R65d42d16e297413a" Type="http://schemas.openxmlformats.org/officeDocument/2006/relationships/slide" Target="slides/slide6.xml"/><Relationship Id="R66834d5b99e94afe" Type="http://schemas.openxmlformats.org/officeDocument/2006/relationships/slideMaster" Target="slideMasters/slideMaster1.xml"/><Relationship Id="R670f1d06a4bf46a2" Type="http://schemas.openxmlformats.org/officeDocument/2006/relationships/slide" Target="slides/slide27.xml"/><Relationship Id="R6a55e00355c24de2" Type="http://schemas.openxmlformats.org/officeDocument/2006/relationships/slide" Target="slides/slide13.xml"/><Relationship Id="R6b522400eb9a4a20" Type="http://schemas.openxmlformats.org/officeDocument/2006/relationships/slide" Target="slides/slide15.xml"/><Relationship Id="R7173e2b5d16b448b" Type="http://schemas.openxmlformats.org/officeDocument/2006/relationships/slide" Target="slides/slide26.xml"/><Relationship Id="R74b2156ad1d14f30" Type="http://schemas.openxmlformats.org/officeDocument/2006/relationships/slide" Target="slides/slide10.xml"/><Relationship Id="R793758572c124186" Type="http://schemas.openxmlformats.org/officeDocument/2006/relationships/presProps" Target="presProps.xml"/><Relationship Id="R80bf6f1f372943ac" Type="http://schemas.openxmlformats.org/officeDocument/2006/relationships/font" Target="fonts/font3.dat"/><Relationship Id="R88b519f4ec844b45" Type="http://schemas.openxmlformats.org/officeDocument/2006/relationships/tableStyles" Target="tableStyles.xml"/><Relationship Id="Ra27a2f8bb21d4e62" Type="http://schemas.openxmlformats.org/officeDocument/2006/relationships/slide" Target="slides/slide21.xml"/><Relationship Id="Ra4a4629779564986" Type="http://schemas.openxmlformats.org/officeDocument/2006/relationships/slide" Target="slides/slide12.xml"/><Relationship Id="Raf7044ed802f4ddd" Type="http://schemas.openxmlformats.org/officeDocument/2006/relationships/font" Target="fonts/font.dat"/><Relationship Id="Rb948200bf1e24149" Type="http://schemas.openxmlformats.org/officeDocument/2006/relationships/slide" Target="slides/slide34.xml"/><Relationship Id="Rc7c3758d98384973" Type="http://schemas.openxmlformats.org/officeDocument/2006/relationships/slide" Target="slides/slide14.xml"/><Relationship Id="Rcf132dc16f8a44d1" Type="http://schemas.openxmlformats.org/officeDocument/2006/relationships/slide" Target="slides/slide4.xml"/><Relationship Id="Rd623c97a846e43cd" Type="http://schemas.openxmlformats.org/officeDocument/2006/relationships/slide" Target="slides/slide17.xml"/><Relationship Id="Rd703fda163c0458a" Type="http://schemas.openxmlformats.org/officeDocument/2006/relationships/slide" Target="slides/slide18.xml"/><Relationship Id="Rdf2d0e6ec46440aa" Type="http://schemas.openxmlformats.org/officeDocument/2006/relationships/slide" Target="slides/slide28.xml"/><Relationship Id="Re0f29f431f0b4522" Type="http://schemas.openxmlformats.org/officeDocument/2006/relationships/theme" Target="theme/theme1.xml"/><Relationship Id="Re6eea973370b47d8" Type="http://schemas.openxmlformats.org/officeDocument/2006/relationships/viewProps" Target="viewProps.xml"/><Relationship Id="Reff1d53fbc27475a" Type="http://schemas.openxmlformats.org/officeDocument/2006/relationships/slide" Target="slides/slide20.xml"/><Relationship Id="Rf0ce0c8c93424f8a" Type="http://schemas.openxmlformats.org/officeDocument/2006/relationships/slide" Target="slides/slide19.xml"/><Relationship Id="Rf12cfff9cedd4c54" Type="http://schemas.openxmlformats.org/officeDocument/2006/relationships/notesMaster" Target="notesMasters/notesMaster1.xml"/><Relationship Id="Rf8588995f14d4a65" Type="http://schemas.openxmlformats.org/officeDocument/2006/relationships/font" Target="fonts/font2.dat"/></Relationships>
</file>

<file path=ppt/notesMasters/_rels/notesMaster1.xml.rels><?xml version='1.0' encoding='UTF-8' standalone='yes'?>
<Relationships xmlns="http://schemas.openxmlformats.org/package/2006/relationships"><Relationship Id="R2db1d54b452a412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3dec898232b14532" Type="http://schemas.openxmlformats.org/officeDocument/2006/relationships/notesMaster" Target="../notesMasters/notesMaster1.xml"/><Relationship Id="R6460196822dc40e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4a8ddb6ebcc43a0" Type="http://schemas.openxmlformats.org/officeDocument/2006/relationships/notesMaster" Target="../notesMasters/notesMaster1.xml"/><Relationship Id="Rc25bdb6404c84db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607e7a7a92b49a1" Type="http://schemas.openxmlformats.org/officeDocument/2006/relationships/notesMaster" Target="../notesMasters/notesMaster1.xml"/><Relationship Id="R9795aac8e8b34bc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2a2d92332f54d4d" Type="http://schemas.openxmlformats.org/officeDocument/2006/relationships/slide" Target="../slides/slide4.xml"/><Relationship Id="R9ab78be07d70476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58f65a445ef4c74" Type="http://schemas.openxmlformats.org/officeDocument/2006/relationships/notesMaster" Target="../notesMasters/notesMaster1.xml"/><Relationship Id="Rdb3b6bef42f34f47"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9a99a1d2dd44fb7" Type="http://schemas.openxmlformats.org/officeDocument/2006/relationships/notesMaster" Target="../notesMasters/notesMaster1.xml"/><Relationship Id="Rc8743b0aa7224f10"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f80d92f6c034a48" Type="http://schemas.openxmlformats.org/officeDocument/2006/relationships/slide" Target="../slides/slide7.xml"/><Relationship Id="R6c0697c453b84ee3"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c91b6520055e4867" Type="http://schemas.openxmlformats.org/officeDocument/2006/relationships/slide" Target="../slides/slide8.xml"/><Relationship Id="Recf1ecfcd15a4d3d"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e641ee40ade426b" Type="http://schemas.openxmlformats.org/officeDocument/2006/relationships/slide" Target="../slides/slide9.xml"/><Relationship Id="R9b8ae3efdf02471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a39970b3c8564973" Type="http://schemas.openxmlformats.org/officeDocument/2006/relationships/notesMaster" Target="../notesMasters/notesMaster1.xml"/><Relationship Id="Rba07159246be429e"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2f2941e3b5144e95" Type="http://schemas.openxmlformats.org/officeDocument/2006/relationships/slide" Target="../slides/slide11.xml"/><Relationship Id="R5e42e956ec8c41a9"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8f920355e1de4b85" Type="http://schemas.openxmlformats.org/officeDocument/2006/relationships/notesMaster" Target="../notesMasters/notesMaster1.xml"/><Relationship Id="Rb0d60294b8994875"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971f148624774e99" Type="http://schemas.openxmlformats.org/officeDocument/2006/relationships/notesMaster" Target="../notesMasters/notesMaster1.xml"/><Relationship Id="Rb004fda255f9481c"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10e4de573f4948fd" Type="http://schemas.openxmlformats.org/officeDocument/2006/relationships/notesMaster" Target="../notesMasters/notesMaster1.xml"/><Relationship Id="R7cdd27d12db24374"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7fabb6c3cea74fb0" Type="http://schemas.openxmlformats.org/officeDocument/2006/relationships/slide" Target="../slides/slide15.xml"/><Relationship Id="Rabea131e98064b8b"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9d1246c073d4faa" Type="http://schemas.openxmlformats.org/officeDocument/2006/relationships/slide" Target="../slides/slide16.xml"/><Relationship Id="R7d214c45257649a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afb9e5d849476e" Type="http://schemas.openxmlformats.org/officeDocument/2006/relationships/notesMaster" Target="../notesMasters/notesMaster1.xml"/><Relationship Id="Rfc379ed791ae43a5"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6cc2deceda0d4284" Type="http://schemas.openxmlformats.org/officeDocument/2006/relationships/slide" Target="../slides/slide18.xml"/><Relationship Id="R86d9be26f2fd40d8"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b4cf4be6bb94077" Type="http://schemas.openxmlformats.org/officeDocument/2006/relationships/notesMaster" Target="../notesMasters/notesMaster1.xml"/><Relationship Id="R96f3ed87c219491f"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e7ac5a183dc4a7b" Type="http://schemas.openxmlformats.org/officeDocument/2006/relationships/notesMaster" Target="../notesMasters/notesMaster1.xml"/><Relationship Id="Rcd4d46cb663649d0"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dd8f64e2ee64466" Type="http://schemas.openxmlformats.org/officeDocument/2006/relationships/slide" Target="../slides/slide21.xml"/><Relationship Id="Rb28ee9ef753549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86725e18b47d41c9" Type="http://schemas.openxmlformats.org/officeDocument/2006/relationships/slide" Target="../slides/slide22.xml"/><Relationship Id="R95b78f027b3d421c"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419058bead944978" Type="http://schemas.openxmlformats.org/officeDocument/2006/relationships/slide" Target="../slides/slide23.xml"/><Relationship Id="R896f3cc36e79415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3d42291c992d4f2f" Type="http://schemas.openxmlformats.org/officeDocument/2006/relationships/slide" Target="../slides/slide24.xml"/><Relationship Id="R54ba9bf67342464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3916334334b8454d" Type="http://schemas.openxmlformats.org/officeDocument/2006/relationships/notesMaster" Target="../notesMasters/notesMaster1.xml"/><Relationship Id="R6f05926363ab4927"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dd92a0902d734c67" Type="http://schemas.openxmlformats.org/officeDocument/2006/relationships/slide" Target="../slides/slide26.xml"/><Relationship Id="Re62f7d7d42504b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0a8f21ac630f4e64" Type="http://schemas.openxmlformats.org/officeDocument/2006/relationships/slide" Target="../slides/slide27.xml"/><Relationship Id="R75cc69e4cc45413c"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e1c53e954e60430a" Type="http://schemas.openxmlformats.org/officeDocument/2006/relationships/notesMaster" Target="../notesMasters/notesMaster1.xml"/><Relationship Id="Rf5654def22e947b8"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466522e967084c23" Type="http://schemas.openxmlformats.org/officeDocument/2006/relationships/notesMaster" Target="../notesMasters/notesMaster1.xml"/><Relationship Id="Rbb525fe9df734244"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97a8ca2ea2fa4ed5" Type="http://schemas.openxmlformats.org/officeDocument/2006/relationships/slide" Target="../slides/slide30.xml"/><Relationship Id="Ree4baca5eb964af5"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78028c2b871f4764" Type="http://schemas.openxmlformats.org/officeDocument/2006/relationships/slide" Target="../slides/slide31.xml"/><Relationship Id="R8948b01ff95241c6"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203b0ec3d54f4931" Type="http://schemas.openxmlformats.org/officeDocument/2006/relationships/slide" Target="../slides/slide32.xml"/><Relationship Id="Rb1111e02b94b45ce"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32db446baa54442d" Type="http://schemas.openxmlformats.org/officeDocument/2006/relationships/slide" Target="../slides/slide33.xml"/><Relationship Id="R62df23e98cc94e94"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5ce26a4ecfb64f37" Type="http://schemas.openxmlformats.org/officeDocument/2006/relationships/notesMaster" Target="../notesMasters/notesMaster1.xml"/><Relationship Id="R838e906250a349a3" Type="http://schemas.openxmlformats.org/officeDocument/2006/relationships/slide" Target="../slides/slide34.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0:00–0:30</a:t>
            </a:r>
          </a:p>
          <a:p xmlns:a="http://schemas.openxmlformats.org/drawingml/2006/main">
            <a:r>
              <a:t/>
            </a:r>
          </a:p>
          <a:p xmlns:a="http://schemas.openxmlformats.org/drawingml/2006/main">
            <a:r>
              <a:t>READ-ALOUD SCRIPT</a:t>
            </a:r>
          </a:p>
          <a:p xmlns:a="http://schemas.openxmlformats.org/drawingml/2006/main">
            <a:r>
              <a:t>Good morning. We are Group 4, presenting a statistical consultancy project for a food and beverage client through BladeGen Tech. Our focus is customer purchasing patterns and daily demand planning. We will explain the data, the evidence, the modelling choices and a practical pilot proposal. Our recommendation is to validate the analytics and test business benefits before scaling the solution.</a:t>
            </a:r>
          </a:p>
          <a:p xmlns:a="http://schemas.openxmlformats.org/drawingml/2006/main">
            <a:r>
              <a:t/>
            </a:r>
          </a:p>
          <a:p xmlns:a="http://schemas.openxmlformats.org/drawingml/2006/main">
            <a:r>
              <a:t>VIVA DETAIL</a:t>
            </a:r>
          </a:p>
          <a:p xmlns:a="http://schemas.openxmlformats.org/drawingml/2006/main">
            <a:r>
              <a:t/>
            </a:r>
          </a:p>
          <a:p xmlns:a="http://schemas.openxmlformats.org/drawingml/2006/main">
            <a:r>
              <a:t/>
            </a:r>
          </a:p>
          <a:p xmlns:a="http://schemas.openxmlformats.org/drawingml/2006/main">
            <a:r>
              <a:t>SOURCES</a:t>
            </a:r>
          </a:p>
          <a:p xmlns:a="http://schemas.openxmlformats.org/drawingml/2006/main">
            <a:r>
              <a:t>01_Reports_and_Documentation/Group Assignment brief.pdf; 01_Reports_and_Documentation/Ranindu_Project Approval_20.09.2026.docx.pdf</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0:30–1:20</a:t>
            </a:r>
          </a:p>
          <a:p xmlns:a="http://schemas.openxmlformats.org/drawingml/2006/main">
            <a:r>
              <a:t>READ-ALOUD SCRIPT:</a:t>
            </a:r>
          </a:p>
          <a:p xmlns:a="http://schemas.openxmlformats.org/drawingml/2006/main">
            <a:r>
              <a:t>Our commercial client, BladeGen Tech, manages point-of-sale data infrastructure across an 80-outlet restaurant and coffee chain in Sri Lanka.</a:t>
            </a:r>
          </a:p>
          <a:p xmlns:a="http://schemas.openxmlformats.org/drawingml/2006/main">
            <a:r>
              <a:t>They face two distinct operational questions:</a:t>
            </a:r>
          </a:p>
          <a:p xmlns:a="http://schemas.openxmlformats.org/drawingml/2006/main">
            <a:r>
              <a:t>First, at the checkout counter, how can we suggest the most relevant product category to an ordering customer in real time without creating register queue bottlenecks? We establish a proposed pilot target to lift upsell conversion towards a 14.5% operational benchmark, provided edge scoring executes virtually instantaneously.</a:t>
            </a:r>
          </a:p>
          <a:p xmlns:a="http://schemas.openxmlformats.org/drawingml/2006/main">
            <a:r>
              <a:t>Second, in the central kitchen and procurement pipeline, how many total orders must each outlet prepare for each day? We evaluate seasonal ARIMA forecasting with a target of reducing perishable food discard waste towards an industry benchmark of 4.5%.</a:t>
            </a:r>
          </a:p>
          <a:p xmlns:a="http://schemas.openxmlformats.org/drawingml/2006/main">
            <a:r>
              <a:t>Both questions require rigorous statistical modeling grounded in empirical transaction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1:20–2:15</a:t>
            </a:r>
          </a:p>
          <a:p xmlns:a="http://schemas.openxmlformats.org/drawingml/2006/main">
            <a:r>
              <a:t>READ-ALOUD SCRIPT:</a:t>
            </a:r>
          </a:p>
          <a:p xmlns:a="http://schemas.openxmlformats.org/drawingml/2006/main">
            <a:r>
              <a:t>To ensure our consultancy recommendations are methodologically defensible, we ground our architecture in peer-reviewed statistical literature:</a:t>
            </a:r>
          </a:p>
          <a:p xmlns:a="http://schemas.openxmlformats.org/drawingml/2006/main">
            <a:r>
              <a:t>First, for evaluation rigor, Chicco and Jurman (2020) and Hand and Till (2001) demonstrate that accuracy alone is deceptive in imbalanced multi-class problems. We evaluate our models using Balanced Accuracy, Macro-F1, multiclass ROC-AUC, and the Matthews Correlation Coefficient.</a:t>
            </a:r>
          </a:p>
          <a:p xmlns:a="http://schemas.openxmlformats.org/drawingml/2006/main">
            <a:r>
              <a:t>Second, for classifier selection, Hastie, Tibshirani and Friedman (2009) explain that Linear Discriminant Analysis pools within-class covariance matrices, providing parsimonious linear decision boundaries that prevent overfitting in smaller classes.</a:t>
            </a:r>
          </a:p>
          <a:p xmlns:a="http://schemas.openxmlformats.org/drawingml/2006/main">
            <a:r>
              <a:t>Third, for our proposed promotional trial, Bradlow et al. (2023) show that blocking retail outlets by baseline volume in a Randomized Complete Block Design partitions store-to-store variance, substantially increasing statistical test power.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2:15–3:05</a:t>
            </a:r>
          </a:p>
          <a:p xmlns:a="http://schemas.openxmlformats.org/drawingml/2006/main">
            <a:r>
              <a:t>READ-ALOUD SCRIPT:</a:t>
            </a:r>
          </a:p>
          <a:p xmlns:a="http://schemas.openxmlformats.org/drawingml/2006/main">
            <a:r>
              <a:t>Our analytical dataset covers the first quarter of 2026, comprising exactly 29,465 purchased item lines across 20,476 unique transaction orders and 80 retail outlets.</a:t>
            </a:r>
          </a:p>
          <a:p xmlns:a="http://schemas.openxmlformats.org/drawingml/2006/main">
            <a:r>
              <a:t>An essential distinction for our modeling is that one customer order frequently contains multiple item lines. The primary analytical unit for our classification tournament is the individual purchased item line, predicting its target category among Beverage, Food, Deals, and Merchandising.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3:05–4:00</a:t>
            </a:r>
          </a:p>
          <a:p xmlns:a="http://schemas.openxmlformats.org/drawingml/2006/main">
            <a:r>
              <a:t>READ-ALOUD SCRIPT:</a:t>
            </a:r>
          </a:p>
          <a:p xmlns:a="http://schemas.openxmlformats.org/drawingml/2006/main">
            <a:r>
              <a:t>Data preparation protects the validity of all downstream inferences.</a:t>
            </a:r>
          </a:p>
          <a:p xmlns:a="http://schemas.openxmlformats.org/drawingml/2006/main">
            <a:r>
              <a:t>In auditing our 29,465 line items, we confirmed zero missingness across core commercial fields: Rate, Quantity, Discount, Service Charge, Outlet, Date, Payment, and Order Type.</a:t>
            </a:r>
          </a:p>
          <a:p xmlns:a="http://schemas.openxmlformats.org/drawingml/2006/main">
            <a:r>
              <a:t>Missing values exist exclusively in optional customer fields, namely Loyalty Number and Age, reflecting walk-in patrons. Following Little and Rubin (2019), we deliberately avoided single mean or mode imputation, because imputing a single value artificially deflates sample variance and distorts covariance structures. Instead, we created an explicit structural indicator, IsLoyaltyMember, which cleanly captures customer registration without fabricating artificial ages.</a:t>
            </a:r>
          </a:p>
          <a:p xmlns:a="http://schemas.openxmlformats.org/drawingml/2006/main">
            <a:r>
              <a:t>Finally, we engineered multi-item basket context features, including BasketItems and BasketSpend, while retaining exploratory spend regressions in the technical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4:00–5:00</a:t>
            </a:r>
          </a:p>
          <a:p xmlns:a="http://schemas.openxmlformats.org/drawingml/2006/main">
            <a:r>
              <a:t/>
            </a:r>
          </a:p>
          <a:p xmlns:a="http://schemas.openxmlformats.org/drawingml/2006/main">
            <a:r>
              <a:t>READ-ALOUD SCRIPT</a:t>
            </a:r>
          </a:p>
          <a:p xmlns:a="http://schemas.openxmlformats.org/drawingml/2006/main">
            <a:r>
              <a:t>These charts answer two different descriptive questions. Beverages make up 52.17 percent of purchased item lines, followed by Food at 33.71 percent. On the right, demand is measured as unique orders per day. The weekly averages are higher on Friday, Saturday and Sunday than earlier in the week. This suggests day-specific planning. It does not prove higher profit because we lack product cost data, and item-line shares do not equal customer shares. We use these patterns as a starting point for forecasting and pilot design.</a:t>
            </a:r>
          </a:p>
          <a:p xmlns:a="http://schemas.openxmlformats.org/drawingml/2006/main">
            <a:r>
              <a:t/>
            </a:r>
          </a:p>
          <a:p xmlns:a="http://schemas.openxmlformats.org/drawingml/2006/main">
            <a:r>
              <a:t>VIVA DETAIL</a:t>
            </a:r>
          </a:p>
          <a:p xmlns:a="http://schemas.openxmlformats.org/drawingml/2006/main">
            <a:r>
              <a:t>Weekly averages: Mon 202.9, Tue 204.4, Wed 204.1, Thu 197.1, Fri 250.3, Sat 261.9, Sun 270.1 orders.</a:t>
            </a:r>
          </a:p>
          <a:p xmlns:a="http://schemas.openxmlformats.org/drawingml/2006/main">
            <a:r>
              <a:t/>
            </a:r>
          </a:p>
          <a:p xmlns:a="http://schemas.openxmlformats.org/drawingml/2006/main">
            <a:r>
              <a:t>SOURCES</a:t>
            </a:r>
          </a:p>
          <a:p xmlns:a="http://schemas.openxmlformats.org/drawingml/2006/main">
            <a:r>
              <a:t>04_Data/restaurant_transactions.csv</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5:00–5:50</a:t>
            </a:r>
          </a:p>
          <a:p xmlns:a="http://schemas.openxmlformats.org/drawingml/2006/main">
            <a:r>
              <a:t/>
            </a:r>
          </a:p>
          <a:p xmlns:a="http://schemas.openxmlformats.org/drawingml/2006/main">
            <a:r>
              <a:t>READ-ALOUD SCRIPT</a:t>
            </a:r>
          </a:p>
          <a:p xmlns:a="http://schemas.openxmlformats.org/drawingml/2006/main">
            <a:r>
              <a:t>Read the horizontal axis as customer type and the vertical axis as item-line revenue in Sri Lankan rupees. The line inside each box is the median, and the box contains the middle half of observations. Points beyond the whiskers are unusual values requiring review, rather than automatic errors. Both customer groups overlap substantially. The means are 1,044.57 for foreign customers and 1,030 for local customers. Welch’s test detects a difference, but the difference is only 14.57 rupees per item line. This is a useful example of why a small p-value does not establish a large business effect.</a:t>
            </a:r>
          </a:p>
          <a:p xmlns:a="http://schemas.openxmlformats.org/drawingml/2006/main">
            <a:r>
              <a:t/>
            </a:r>
          </a:p>
          <a:p xmlns:a="http://schemas.openxmlformats.org/drawingml/2006/main">
            <a:r>
              <a:t>VIVA DETAIL</a:t>
            </a:r>
          </a:p>
          <a:p xmlns:a="http://schemas.openxmlformats.org/drawingml/2006/main">
            <a:r>
              <a:t>Fresh boxplot calculated from the current base CSV. Whiskers use 1.5 IQR. Mean difference confidence interval is approximately 0.48 to 28.67 LKR.</a:t>
            </a:r>
          </a:p>
          <a:p xmlns:a="http://schemas.openxmlformats.org/drawingml/2006/main">
            <a:r>
              <a:t/>
            </a:r>
          </a:p>
          <a:p xmlns:a="http://schemas.openxmlformats.org/drawingml/2006/main">
            <a:r>
              <a:t>SOURCES</a:t>
            </a:r>
          </a:p>
          <a:p xmlns:a="http://schemas.openxmlformats.org/drawingml/2006/main">
            <a:r>
              <a:t>04_Data/restaurant_transactions.csv; 03_R_Scripts/04_statistical_inference.R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5:50–6:40</a:t>
            </a:r>
          </a:p>
          <a:p xmlns:a="http://schemas.openxmlformats.org/drawingml/2006/main">
            <a:r>
              <a:t>READ-ALOUD SCRIPT:</a:t>
            </a:r>
          </a:p>
          <a:p xmlns:a="http://schemas.openxmlformats.org/drawingml/2006/main">
            <a:r>
              <a:t>In Task 4, we conducted six formal hypothesis tests to evaluate consumer spending behavior.</a:t>
            </a:r>
          </a:p>
          <a:p xmlns:a="http://schemas.openxmlformats.org/drawingml/2006/main">
            <a:r>
              <a:t>First, a Welch two-sample t-test compared foreign versus local customer revenue per item line. We found a statistically significant difference with t = 2.0266 and p = 0.0427, rejecting equal means at the 5% level. However, the estimated difference is modest: foreign customers spend an average of LKR 1,044.57 compared to LKR 1,030.00 for local patrons—a difference of just LKR 14.57 per item.</a:t>
            </a:r>
          </a:p>
          <a:p xmlns:a="http://schemas.openxmlformats.org/drawingml/2006/main">
            <a:r>
              <a:t>Second, a variance ratio F-test comparing Dine-In versus Takeaway orders yielded F = 0.9861 with p = 0.4035, confirming equal variances.</a:t>
            </a:r>
          </a:p>
          <a:p xmlns:a="http://schemas.openxmlformats.org/drawingml/2006/main">
            <a:r>
              <a:t>Third, a one-way ANOVA across the top eight outlets showed F = 1.153 with p = 0.3266, finding no significant revenue variation across top outlets.</a:t>
            </a:r>
          </a:p>
          <a:p xmlns:a="http://schemas.openxmlformats.org/drawingml/2006/main">
            <a:r>
              <a:t>Fourth, a Chi-square test revealed a highly significant association between payment method and customer type (chi-square = 4,270.20, p &lt; 0.0001, Cramer's V = 0.381).</a:t>
            </a:r>
          </a:p>
          <a:p xmlns:a="http://schemas.openxmlformats.org/drawingml/2006/main">
            <a:r>
              <a:t>Fifth, a Kruskal-Wallis test across dayparts found H = 0.7777, p = 0.8548.</a:t>
            </a:r>
          </a:p>
          <a:p xmlns:a="http://schemas.openxmlformats.org/drawingml/2006/main">
            <a:r>
              <a:t>Finally, correlation between discount and revenue showed a very weak linear link of r = 0.0433.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6:40–7:15</a:t>
            </a:r>
          </a:p>
          <a:p xmlns:a="http://schemas.openxmlformats.org/drawingml/2006/main">
            <a:r>
              <a:t/>
            </a:r>
          </a:p>
          <a:p xmlns:a="http://schemas.openxmlformats.org/drawingml/2006/main">
            <a:r>
              <a:t>READ-ALOUD SCRIPT</a:t>
            </a:r>
          </a:p>
          <a:p xmlns:a="http://schemas.openxmlformats.org/drawingml/2006/main">
            <a:r>
              <a:t>The classifier predicts whether a recorded item line belongs to Beverage, Food, Deals or Merchandizing. The code combines context variables with recorded purchase information. This is useful as a retrospective benchmark. However, an actual upsell occurs before the additional item is bought, so we must establish which features are available then. Quantity, item rate, final discount and completed basket size may reveal information from the purchase itself. Our future pilot therefore requires a revised target and a feature set restricted to information available at the recommendation moment.</a:t>
            </a:r>
          </a:p>
          <a:p xmlns:a="http://schemas.openxmlformats.org/drawingml/2006/main">
            <a:r>
              <a:t/>
            </a:r>
          </a:p>
          <a:p xmlns:a="http://schemas.openxmlformats.org/drawingml/2006/main">
            <a:r>
              <a:t>VIVA DETAIL</a:t>
            </a:r>
          </a:p>
          <a:p xmlns:a="http://schemas.openxmlformats.org/drawingml/2006/main">
            <a:r>
              <a:t>Hour, DiscountRatio and BasketSpend are calculated but omitted from the classification formula. Revenue is retained for regression but omitted from the category formula.</a:t>
            </a:r>
          </a:p>
          <a:p xmlns:a="http://schemas.openxmlformats.org/drawingml/2006/main">
            <a:r>
              <a:t/>
            </a:r>
          </a:p>
          <a:p xmlns:a="http://schemas.openxmlformats.org/drawingml/2006/main">
            <a:r>
              <a:t>SOURCES</a:t>
            </a:r>
          </a:p>
          <a:p xmlns:a="http://schemas.openxmlformats.org/drawingml/2006/main">
            <a:r>
              <a:t>03_R_Scripts/05_modelling.R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7:15–7:45</a:t>
            </a:r>
          </a:p>
          <a:p xmlns:a="http://schemas.openxmlformats.org/drawingml/2006/main">
            <a:r>
              <a:t>READ-ALOUD SCRIPT:</a:t>
            </a:r>
          </a:p>
          <a:p xmlns:a="http://schemas.openxmlformats.org/drawingml/2006/main">
            <a:r>
              <a:t>Our target variable has an inherent class imbalance reflecting genuine retail operations: Beverage represents 52.17% of lines, Food represents 33.71%, Deals represent 8.73%, and Merchandising represents 5.39%.</a:t>
            </a:r>
          </a:p>
          <a:p xmlns:a="http://schemas.openxmlformats.org/drawingml/2006/main">
            <a:r>
              <a:t>We made a deliberate methodological decision not to apply synthetic oversampling (such as SMOTE) or random undersampling.</a:t>
            </a:r>
          </a:p>
          <a:p xmlns:a="http://schemas.openxmlformats.org/drawingml/2006/main">
            <a:r>
              <a:t>As He and Garcia (2009) note, synthetic resampling distorts posterior class probabilities, which would cause an edge POS recommendation engine to suggest low-frequency items at artificially inflated rates, fatiguing cashiers.</a:t>
            </a:r>
          </a:p>
          <a:p xmlns:a="http://schemas.openxmlformats.org/drawingml/2006/main">
            <a:r>
              <a:t>Similarly, random undersampling would discard thousands of genuine customer transactions.</a:t>
            </a:r>
          </a:p>
          <a:p xmlns:a="http://schemas.openxmlformats.org/drawingml/2006/main">
            <a:r>
              <a:t>Instead, we maintain an 80/20 stratified split that preserves natural transaction propensities, and we evaluate our models using prevalence-invariant metrics: Balanced Accuracy, Macro-F1, and Matthews Correlation Coefficient.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7:45–8:25</a:t>
            </a:r>
          </a:p>
          <a:p xmlns:a="http://schemas.openxmlformats.org/drawingml/2006/main">
            <a:r>
              <a:t>READ-ALOUD SCRIPT:</a:t>
            </a:r>
          </a:p>
          <a:p xmlns:a="http://schemas.openxmlformats.org/drawingml/2006/main">
            <a:r>
              <a:t>In Task 5, each group member implemented a distinct statistical classification algorithm from the syllabus:</a:t>
            </a:r>
          </a:p>
          <a:p xmlns:a="http://schemas.openxmlformats.org/drawingml/2006/main">
            <a:r>
              <a:t>Member 1 implemented Multinomial Logistic Regression, modeling log-odds of each category relative to a reference.</a:t>
            </a:r>
          </a:p>
          <a:p xmlns:a="http://schemas.openxmlformats.org/drawingml/2006/main">
            <a:r>
              <a:t>Member 2 implemented Linear Discriminant Analysis, assuming equal covariance across categories to construct linear decision boundaries.</a:t>
            </a:r>
          </a:p>
          <a:p xmlns:a="http://schemas.openxmlformats.org/drawingml/2006/main">
            <a:r>
              <a:t>Member 3 implemented Quadratic Discriminant Analysis, estimating separate covariance matrices for each class across numeric features.</a:t>
            </a:r>
          </a:p>
          <a:p xmlns:a="http://schemas.openxmlformats.org/drawingml/2006/main">
            <a:r>
              <a:t>Member 4 implemented a Naïve Bayes Classifier with Laplace smoothing, assuming conditional feature independence.</a:t>
            </a:r>
          </a:p>
          <a:p xmlns:a="http://schemas.openxmlformats.org/drawingml/2006/main">
            <a:r>
              <a:t>Hastie et al. (2009) emphasize that LDA's pooled covariance provides an effective regularizing effect that prevents parameter variance inflation in smaller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8:25–9:05</a:t>
            </a:r>
          </a:p>
          <a:p xmlns:a="http://schemas.openxmlformats.org/drawingml/2006/main">
            <a:r>
              <a:t>READ-ALOUD SCRIPT:</a:t>
            </a:r>
          </a:p>
          <a:p xmlns:a="http://schemas.openxmlformats.org/drawingml/2006/main">
            <a:r>
              <a:t>Here we compare the performance of all four models across our 5,893 unseen test item lines.</a:t>
            </a:r>
          </a:p>
          <a:p xmlns:a="http://schemas.openxmlformats.org/drawingml/2006/main">
            <a:r>
              <a:t>Linear Discriminant Analysis leads the tournament with 76.29% Top-1 Accuracy and 76.18% Macro-F1, closely followed by Multinomial Logistic Regression at 76.18% Top-1 Accuracy.</a:t>
            </a:r>
          </a:p>
          <a:p xmlns:a="http://schemas.openxmlformats.org/drawingml/2006/main">
            <a:r>
              <a:t>In Top-2 Hit Rate—which evaluates whether the customer's true choice was among the model's top two recommendations—Multinomial Logit achieves 98.51% and LDA achieves 98.39%.</a:t>
            </a:r>
          </a:p>
          <a:p xmlns:a="http://schemas.openxmlformats.org/drawingml/2006/main">
            <a:r>
              <a:t>Quadratic Discriminant Analysis achieves 73.53% Top-1 Accuracy, while Naïve Bayes achieves 72.56% due to correlated features violating conditional independence.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8:40–9:15</a:t>
            </a:r>
          </a:p>
          <a:p xmlns:a="http://schemas.openxmlformats.org/drawingml/2006/main">
            <a:r>
              <a:t>READ-ALOUD SCRIPT:</a:t>
            </a:r>
          </a:p>
          <a:p xmlns:a="http://schemas.openxmlformats.org/drawingml/2006/main">
            <a:r>
              <a:t>Slide 13 presents our comprehensive 8-column evaluation leaderboard across all 4 syllabus models on 5,893 unseen test transactions.</a:t>
            </a:r>
          </a:p>
          <a:p xmlns:a="http://schemas.openxmlformats.org/drawingml/2006/main">
            <a:r>
              <a:t>We evaluate exact Top-1 accuracy, balanced accuracy, macro-F1, multi-class ROC-AUC, Matthews Correlation Coefficient (MCC), and Cohen's Kappa.</a:t>
            </a:r>
          </a:p>
          <a:p xmlns:a="http://schemas.openxmlformats.org/drawingml/2006/main">
            <a:r>
              <a:t>Across all models, performance is consistent and strong: exact accuracies range between 72.6% and 76.3%, and ROC-AUC reaches 89.3% to 91.2%.</a:t>
            </a:r>
          </a:p>
          <a:p xmlns:a="http://schemas.openxmlformats.org/drawingml/2006/main">
            <a:r>
              <a:t>Notice that Linear Discriminant Analysis achieves the overall highest exact Top-1 accuracy (76.29%), highest Balanced Accuracy (73.79%), highest Macro-F1 (76.18%), and highest MCC (0.5996).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9:15–9:55</a:t>
            </a:r>
          </a:p>
          <a:p xmlns:a="http://schemas.openxmlformats.org/drawingml/2006/main">
            <a:r>
              <a:t>READ-ALOUD SCRIPT:</a:t>
            </a:r>
          </a:p>
          <a:p xmlns:a="http://schemas.openxmlformats.org/drawingml/2006/main">
            <a:r>
              <a:t>On Slide 14, we present LDA's confusion matrix and provide our multi-metric rationale for selecting it as our Champion:</a:t>
            </a:r>
          </a:p>
          <a:p xmlns:a="http://schemas.openxmlformats.org/drawingml/2006/main">
            <a:r>
              <a:t>First, across holistic evaluation metrics, LDA achieves the highest Top-1 Accuracy (76.29%), highest Macro-F1 (76.18%), highest Balanced Accuracy (73.79%), highest Matthews Correlation Coefficient (0.5996), and highest Cohen's Kappa (0.5974).</a:t>
            </a:r>
          </a:p>
          <a:p xmlns:a="http://schemas.openxmlformats.org/drawingml/2006/main">
            <a:r>
              <a:t>Second, comparing LDA to Quadratic Discriminant Analysis, QDA estimates four separate covariance matrices, creating singularity risks in minority classes like Merchandising. LDA's pooled covariance provides superior parameter stability.</a:t>
            </a:r>
          </a:p>
          <a:p xmlns:a="http://schemas.openxmlformats.org/drawingml/2006/main">
            <a:r>
              <a:t>Third, comparing LDA to Multinomial Logistic Regression, LDA edges out logit in accuracy (76.29% vs 76.18%) and Macro-F1 (76.18% vs 75.87%). LDA is preferred for edge POS deployment because its linear discriminant functions compute via static closed-form linear projections without iterative numerical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10:00–10:35</a:t>
            </a:r>
          </a:p>
          <a:p xmlns:a="http://schemas.openxmlformats.org/drawingml/2006/main">
            <a:r>
              <a:t/>
            </a:r>
          </a:p>
          <a:p xmlns:a="http://schemas.openxmlformats.org/drawingml/2006/main">
            <a:r>
              <a:t>READ-ALOUD SCRIPT</a:t>
            </a:r>
          </a:p>
          <a:p xmlns:a="http://schemas.openxmlformats.org/drawingml/2006/main">
            <a:r>
              <a:t>We identified the validation changes needed before operational use. First, all item lines from the same order should stay together, because a random row split can put related records in training and test. Second, a later-date test better reflects future use. Third, the model must only use information available before the decision. Fourth, compare against simple baselines such as always selecting the most common category. These changes may alter the reported scores, but they give a more honest estimate of performance. We also need to rerun one consistent pipeline and align its outputs.</a:t>
            </a:r>
          </a:p>
          <a:p xmlns:a="http://schemas.openxmlformats.org/drawingml/2006/main">
            <a:r>
              <a:t/>
            </a:r>
          </a:p>
          <a:p xmlns:a="http://schemas.openxmlformats.org/drawingml/2006/main">
            <a:r>
              <a:t>VIVA DETAIL</a:t>
            </a:r>
          </a:p>
          <a:p xmlns:a="http://schemas.openxmlformats.org/drawingml/2006/main">
            <a:r>
              <a:t>No cross-validation is implemented for the main classifiers. The revenue regression uses inputs of an accounting identity and cannot establish future behavioural forecasting.</a:t>
            </a:r>
          </a:p>
          <a:p xmlns:a="http://schemas.openxmlformats.org/drawingml/2006/main">
            <a:r>
              <a:t/>
            </a:r>
          </a:p>
          <a:p xmlns:a="http://schemas.openxmlformats.org/drawingml/2006/main">
            <a:r>
              <a:t>SOURCES</a:t>
            </a:r>
          </a:p>
          <a:p xmlns:a="http://schemas.openxmlformats.org/drawingml/2006/main">
            <a:r>
              <a:t>03_R_Scripts/05_modelling.R; Dietterich, T.G. (1998)</a:t>
            </a:r>
          </a:p>
          <a:p xmlns:a="http://schemas.openxmlformats.org/drawingml/2006/main">
            <a:r>
              <a:t>Approximate Statistical Tests for Comparing Supervised Classification Learning Algorithms. Neural Computation, 10(7), 1895–1923.</a:t>
            </a:r>
          </a:p>
          <a:p xmlns:a="http://schemas.openxmlformats.org/drawingml/2006/main">
            <a:r>
              <a:t>https://doi.org/10.1162/089976698300017197</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10:35–11:15</a:t>
            </a:r>
          </a:p>
          <a:p xmlns:a="http://schemas.openxmlformats.org/drawingml/2006/main">
            <a:r>
              <a:t>READ-ALOUD SCRIPT:</a:t>
            </a:r>
          </a:p>
          <a:p xmlns:a="http://schemas.openxmlformats.org/drawingml/2006/main">
            <a:r>
              <a:t>In Task 6, we designed an experimental evaluation protocol to test promotional discount tiers across the 80 retail outlets.</a:t>
            </a:r>
          </a:p>
          <a:p xmlns:a="http://schemas.openxmlformats.org/drawingml/2006/main">
            <a:r>
              <a:t>An unblocked Completely Randomized Design (CRD) is vulnerable to store-level confounding, because high-traffic flagship outlets would introduce substantial nuisance variance.</a:t>
            </a:r>
          </a:p>
          <a:p xmlns:a="http://schemas.openxmlformats.org/drawingml/2006/main">
            <a:r>
              <a:t>Therefore, following Bradlow et al. (2023), we propose a Randomized Complete Block Design (RCBD). Outlets are stratified into three volume blocks: High, Medium, and Low. Within each block, outlets are randomly assigned to a Control, a 10% discount offer, or a 20% discount offer.</a:t>
            </a:r>
          </a:p>
          <a:p xmlns:a="http://schemas.openxmlformats.org/drawingml/2006/main">
            <a:r>
              <a:t>This design partitions store-to-store variance from experimental error, isolating the true treatment effect on gross margin.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11:15–12:20</a:t>
            </a:r>
          </a:p>
          <a:p xmlns:a="http://schemas.openxmlformats.org/drawingml/2006/main">
            <a:r>
              <a:t>READ-ALOUD SCRIPT:</a:t>
            </a:r>
          </a:p>
          <a:p xmlns:a="http://schemas.openxmlformats.org/drawingml/2006/main">
            <a:r>
              <a:t>In Task 7, we evaluated Principal Component Analysis.</a:t>
            </a:r>
          </a:p>
          <a:p xmlns:a="http://schemas.openxmlformats.org/drawingml/2006/main">
            <a:r>
              <a:t>We conducted continuous PCA across the five numerical financial variables: Quantity, Adjusted Rate, Discount, Service Charge, and Revenue.</a:t>
            </a:r>
          </a:p>
          <a:p xmlns:a="http://schemas.openxmlformats.org/drawingml/2006/main">
            <a:r>
              <a:t>The first two principal components capture 65.52% of total variance. PC1 explains 45.30% of variance, capturing overall transaction scale and revenue magnitude. PC2 explains 20.22%, contrasting unit rate against promotional discounts.</a:t>
            </a:r>
          </a:p>
          <a:p xmlns:a="http://schemas.openxmlformats.org/drawingml/2006/main">
            <a:r>
              <a:t>While PCA effectively eliminates multicollinearity among continuous predictors, it operates without regard to product category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12:20–13:05</a:t>
            </a:r>
          </a:p>
          <a:p xmlns:a="http://schemas.openxmlformats.org/drawingml/2006/main">
            <a:r>
              <a:t>READ-ALOUD SCRIPT:</a:t>
            </a:r>
          </a:p>
          <a:p xmlns:a="http://schemas.openxmlformats.org/drawingml/2006/main">
            <a:r>
              <a:t>To rigorously determine whether PCA should be adopted in our prediction pipeline, we executed a reproducible before-and-after tournament in script 07_pca.R.</a:t>
            </a:r>
          </a:p>
          <a:p xmlns:a="http://schemas.openxmlformats.org/drawingml/2006/main">
            <a:r>
              <a:t>Training our Champion LDA model on the original feature space achieves 76.29% Top-1 Accuracy and 76.18% Macro-F1.</a:t>
            </a:r>
          </a:p>
          <a:p xmlns:a="http://schemas.openxmlformats.org/drawingml/2006/main">
            <a:r>
              <a:t>When features are projected into principal components, accuracy drops noticeably: with 10 components, Top-1 Accuracy falls by 8.54 percentage points to 67.76%; with 5 components, it drops by 9.18 percentage points to 67.11%.</a:t>
            </a:r>
          </a:p>
          <a:p xmlns:a="http://schemas.openxmlformats.org/drawingml/2006/main">
            <a:r>
              <a:t>As Jolliffe and Cadima (2016) explain, PCA maximizes total unsupervised variance, not class separability. Compressing categorical features discards subtle boundaries between food and beverage items. We therefore formally reject PCA for category classification.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13:05–13:40</a:t>
            </a:r>
          </a:p>
          <a:p xmlns:a="http://schemas.openxmlformats.org/drawingml/2006/main">
            <a:r>
              <a:t>READ-ALOUD SCRIPT:</a:t>
            </a:r>
          </a:p>
          <a:p xmlns:a="http://schemas.openxmlformats.org/drawingml/2006/main">
            <a:r>
              <a:t>In Task 8, we evaluated Bayesian methods from two angles:</a:t>
            </a:r>
          </a:p>
          <a:p xmlns:a="http://schemas.openxmlformats.org/drawingml/2006/main">
            <a:r>
              <a:t>First, empirical class priors from our training set reflect authentic customer propensities: 52.17% for Beverage, 33.71% for Food, 8.73% for Deals, and 5.39% for Merchandising.</a:t>
            </a:r>
          </a:p>
          <a:p xmlns:a="http://schemas.openxmlformats.org/drawingml/2006/main">
            <a:r>
              <a:t>Second, we evaluated Bayesian decision theory as a conceptual framework for asymmetric loss. As Posch et al. (2022) note, commercial recommendation systems rarely face symmetric 0-1 loss. A missed high-margin food upsell has a different business impact than a slow checkout prompt during peak morning queues. This framework directly justifies our operational Express Mode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13:40–14:10</a:t>
            </a:r>
          </a:p>
          <a:p xmlns:a="http://schemas.openxmlformats.org/drawingml/2006/main">
            <a:r>
              <a:t>READ-ALOUD SCRIPT:</a:t>
            </a:r>
          </a:p>
          <a:p xmlns:a="http://schemas.openxmlformats.org/drawingml/2006/main">
            <a:r>
              <a:t>In Task 9, we analyze 90 days of daily order volume across Q1 2026.</a:t>
            </a:r>
          </a:p>
          <a:p xmlns:a="http://schemas.openxmlformats.org/drawingml/2006/main">
            <a:r>
              <a:t>A critical methodological question is whether 90 daily points are sufficient for time-series forecasting.</a:t>
            </a:r>
          </a:p>
          <a:p xmlns:a="http://schemas.openxmlformats.org/drawingml/2006/main">
            <a:r>
              <a:t>With a weekly seasonal cycle of s = 7, our 90-day window covers 12 full weekly cycles plus six days, providing N = 90 observations. This comfortably satisfies Box and Jenkins' classical threshold of at least 50 observations for seasonal models.</a:t>
            </a:r>
          </a:p>
          <a:p xmlns:a="http://schemas.openxmlformats.org/drawingml/2006/main">
            <a:r>
              <a:t>Furthermore, focusing on a 90-day horizon isolates high-frequency weekly customer habits without the confounding macroeconomic trend shifts that often complicate multi-year retail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14:10–14:40</a:t>
            </a:r>
          </a:p>
          <a:p xmlns:a="http://schemas.openxmlformats.org/drawingml/2006/main">
            <a:r>
              <a:t>READ-ALOUD SCRIPT:</a:t>
            </a:r>
          </a:p>
          <a:p xmlns:a="http://schemas.openxmlformats.org/drawingml/2006/main">
            <a:r>
              <a:t>We aggregated item lines into daily unique orders and applied the automated ARIMA selection procedure from Hyndman and Khandakar (2008).</a:t>
            </a:r>
          </a:p>
          <a:p xmlns:a="http://schemas.openxmlformats.org/drawingml/2006/main">
            <a:r>
              <a:t>The optimal model selected is Seasonal ARIMA(0,0,0)(0,1,1)[7] with drift, featuring a seasonal MA parameter of -0.920 and a drift parameter of -0.344.</a:t>
            </a:r>
          </a:p>
          <a:p xmlns:a="http://schemas.openxmlformats.org/drawingml/2006/main">
            <a:r>
              <a:t>The model produces a 30-day forward forecast for April 2026 projecting a total of 6,143 orders across all outlets, with daily demand oscillating between 172 and 253 orders per day (and a 95% prediction interval spanning 116 to 309 orders).</a:t>
            </a:r>
          </a:p>
          <a:p xmlns:a="http://schemas.openxmlformats.org/drawingml/2006/main">
            <a:r>
              <a:t>This daily demand curve provides procurement kitchens with advance notice for perishable stock replenishment.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14:40–15:00</a:t>
            </a:r>
          </a:p>
          <a:p xmlns:a="http://schemas.openxmlformats.org/drawingml/2006/main">
            <a:r>
              <a:t>READ-ALOUD SCRIPT:</a:t>
            </a:r>
          </a:p>
          <a:p xmlns:a="http://schemas.openxmlformats.org/drawingml/2006/main">
            <a:r>
              <a:t>To validate model diagnostics, we evaluated residual autocorrelation.</a:t>
            </a:r>
          </a:p>
          <a:p xmlns:a="http://schemas.openxmlformats.org/drawingml/2006/main">
            <a:r>
              <a:t>The Ljung-Box diagnostic test yielded Q = 14.86 with a p-value of 0.3982 at lag 14. Because p &gt; 0.05, there is no detected residual autocorrelation, confirming that the seasonal differencing and seasonal MA parameter adequately captured the weekly cycle.</a:t>
            </a:r>
          </a:p>
          <a:p xmlns:a="http://schemas.openxmlformats.org/drawingml/2006/main">
            <a:r>
              <a:t>We present these forecasts with explicit 80% and 95% prediction intervals to communicate uncertainty clearly to procurement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 | TIME: 15:00–16:05</a:t>
            </a:r>
          </a:p>
          <a:p xmlns:a="http://schemas.openxmlformats.org/drawingml/2006/main">
            <a:r>
              <a:t>READ-ALOUD SCRIPT:</a:t>
            </a:r>
          </a:p>
          <a:p xmlns:a="http://schemas.openxmlformats.org/drawingml/2006/main">
            <a:r>
              <a:t>In Task 10, Member 4 synthesizes our classification and forecasting models into an overarching Customer Intelligence Architecture.</a:t>
            </a:r>
          </a:p>
          <a:p xmlns:a="http://schemas.openxmlformats.org/drawingml/2006/main">
            <a:r>
              <a:t>The framework bridges customer-facing POS terminals with backend kitchen supply chains:</a:t>
            </a:r>
          </a:p>
          <a:p xmlns:a="http://schemas.openxmlformats.org/drawingml/2006/main">
            <a:r>
              <a:t>At the register, local transaction context passes into the Champion LDA engine, generating prompt recommendations.</a:t>
            </a:r>
          </a:p>
          <a:p xmlns:a="http://schemas.openxmlformats.org/drawingml/2006/main">
            <a:r>
              <a:t>Concurrently, daily aggregated order histories feed our Seasonal ARIMA pipeline to generate 30-day replenishment schedules.</a:t>
            </a:r>
          </a:p>
          <a:p xmlns:a="http://schemas.openxmlformats.org/drawingml/2006/main">
            <a:r>
              <a:t>Crucially, closed-loop feedback captures customer offer acceptance, allowing continuous model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 | TIME: 16:05–16:55</a:t>
            </a:r>
          </a:p>
          <a:p xmlns:a="http://schemas.openxmlformats.org/drawingml/2006/main">
            <a:r>
              <a:t>READ-ALOUD SCRIPT:</a:t>
            </a:r>
          </a:p>
          <a:p xmlns:a="http://schemas.openxmlformats.org/drawingml/2006/main">
            <a:r>
              <a:t>In Task 11, we presented our methodology to Mr. Kusan Edirisinghe, CEO of BladeGen Tech, who manages data infrastructure across regional restaurant networks.</a:t>
            </a:r>
          </a:p>
          <a:p xmlns:a="http://schemas.openxmlformats.org/drawingml/2006/main">
            <a:r>
              <a:t>His feedback validated our statistical approach and shaped key deployment guardrails:</a:t>
            </a:r>
          </a:p>
          <a:p xmlns:a="http://schemas.openxmlformats.org/drawingml/2006/main">
            <a:r>
              <a:t>First, he strongly endorsed selecting Linear Discriminant Analysis over heavy machine learning models, noting that local terminal stability and rapid response are paramount at checkout counters.</a:t>
            </a:r>
          </a:p>
          <a:p xmlns:a="http://schemas.openxmlformats.org/drawingml/2006/main">
            <a:r>
              <a:t>Second, he highlighted operational risks: cashier prompts must never slow down peak morning queues, and systems must never recommend out-of-stock items.</a:t>
            </a:r>
          </a:p>
          <a:p xmlns:a="http://schemas.openxmlformats.org/drawingml/2006/main">
            <a:r>
              <a:t>In response, we incorporated an 'Express Mode' rush-hour bypass rule and an inventory availability check into our proposed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a:t>
            </a:r>
          </a:p>
          <a:p xmlns:a="http://schemas.openxmlformats.org/drawingml/2006/main">
            <a:r>
              <a:t>TIME: 16:55–17:55</a:t>
            </a:r>
          </a:p>
          <a:p xmlns:a="http://schemas.openxmlformats.org/drawingml/2006/main">
            <a:r>
              <a:t/>
            </a:r>
          </a:p>
          <a:p xmlns:a="http://schemas.openxmlformats.org/drawingml/2006/main">
            <a:r>
              <a:t>READ-ALOUD SCRIPT</a:t>
            </a:r>
          </a:p>
          <a:p xmlns:a="http://schemas.openxmlformats.org/drawingml/2006/main">
            <a:r>
              <a:t>The pilot needs more than a trained classifier. We need POS integration, inventory records, ingredient recipes and costs, plus named operational owners. Model performance should be monitored after launch because demand and customer behaviour change. Checkout time must be measured rather than assumed. Personal data should be minimised, with appropriate access controls and review of offer rules. Most importantly, waste reduction and profit improvement require baseline measurements and a controlled trial. We cannot derive those outcomes directly from category accuracy or order forecasts.</a:t>
            </a:r>
          </a:p>
          <a:p xmlns:a="http://schemas.openxmlformats.org/drawingml/2006/main">
            <a:r>
              <a:t/>
            </a:r>
          </a:p>
          <a:p xmlns:a="http://schemas.openxmlformats.org/drawingml/2006/main">
            <a:r>
              <a:t>VIVA DETAIL</a:t>
            </a:r>
          </a:p>
          <a:p xmlns:a="http://schemas.openxmlformats.org/drawingml/2006/main">
            <a:r>
              <a:t>Protect pseudonymous customer IDs too. Hashing alone does not make all customer data anonymous. Do not state legal compliance without reviewing applicable requirements.</a:t>
            </a:r>
          </a:p>
          <a:p xmlns:a="http://schemas.openxmlformats.org/drawingml/2006/main">
            <a:r>
              <a:t/>
            </a:r>
          </a:p>
          <a:p xmlns:a="http://schemas.openxmlformats.org/drawingml/2006/main">
            <a:r>
              <a:t>SOURCES</a:t>
            </a:r>
          </a:p>
          <a:p xmlns:a="http://schemas.openxmlformats.org/drawingml/2006/main">
            <a:r>
              <a:t>01_Reports_and_Documentation/Group Assignment brief.pdf; Project implementation proposal.</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a:t>
            </a:r>
          </a:p>
          <a:p xmlns:a="http://schemas.openxmlformats.org/drawingml/2006/main">
            <a:r>
              <a:t>TIME: 17:55–18:55</a:t>
            </a:r>
          </a:p>
          <a:p xmlns:a="http://schemas.openxmlformats.org/drawingml/2006/main">
            <a:r>
              <a:t/>
            </a:r>
          </a:p>
          <a:p xmlns:a="http://schemas.openxmlformats.org/drawingml/2006/main">
            <a:r>
              <a:t>READ-ALOUD SCRIPT</a:t>
            </a:r>
          </a:p>
          <a:p xmlns:a="http://schemas.openxmlformats.org/drawingml/2006/main">
            <a:r>
              <a:t>We recommend three stages with explicit gates. First, reproduce one consistent analytical pipeline, use grouped and later-date validation, and confirm expert feedback. Second, run a controlled promotion pilot and compare rolling demand forecasts with a simple baseline. Third, introduce a limited operational rollout with stock checks, staff training and outcome monitoring. Progress should depend on reliable evidence, positive margin impact and acceptable checkout performance. The schedule should follow resource availability and sample-size planning. We avoid a fixed return-on-investment claim because actual costs and benefits have not yet been measured.</a:t>
            </a:r>
          </a:p>
          <a:p xmlns:a="http://schemas.openxmlformats.org/drawingml/2006/main">
            <a:r>
              <a:t/>
            </a:r>
          </a:p>
          <a:p xmlns:a="http://schemas.openxmlformats.org/drawingml/2006/main">
            <a:r>
              <a:t>VIVA DETAIL</a:t>
            </a:r>
          </a:p>
          <a:p xmlns:a="http://schemas.openxmlformats.org/drawingml/2006/main">
            <a:r>
              <a:t>Define primary outcome, exclusions, treatment allocation and monitoring rules before collecting pilot results.</a:t>
            </a:r>
          </a:p>
          <a:p xmlns:a="http://schemas.openxmlformats.org/drawingml/2006/main">
            <a:r>
              <a:t/>
            </a:r>
          </a:p>
          <a:p xmlns:a="http://schemas.openxmlformats.org/drawingml/2006/main">
            <a:r>
              <a:t>SOURCES</a:t>
            </a:r>
          </a:p>
          <a:p xmlns:a="http://schemas.openxmlformats.org/drawingml/2006/main">
            <a:r>
              <a:t>01_Reports_and_Documentation/Group Assignment brief.pdf; Project implementation proposal.</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 | TIME: 18:55–20:00</a:t>
            </a:r>
          </a:p>
          <a:p xmlns:a="http://schemas.openxmlformats.org/drawingml/2006/main">
            <a:r>
              <a:t>READ-ALOUD SCRIPT:</a:t>
            </a:r>
          </a:p>
          <a:p xmlns:a="http://schemas.openxmlformats.org/drawingml/2006/main">
            <a:r>
              <a:t>To conclude, Group 4 presents five concrete, phased recommendations for BladeGen Tech:</a:t>
            </a:r>
          </a:p>
          <a:p xmlns:a="http://schemas.openxmlformats.org/drawingml/2006/main">
            <a:r>
              <a:t>First, launch a controlled pilot of the Champion LDA recommendation model across high-volume flagship outlets, evaluating whether targeted suggestions can lift category conversion towards our 14.5% operational target.</a:t>
            </a:r>
          </a:p>
          <a:p xmlns:a="http://schemas.openxmlformats.org/drawingml/2006/main">
            <a:r>
              <a:t>Second, connect our Seasonal ARIMA daily forecasts directly to fresh dairy and bakery procurement to minimize perishable discard waste.</a:t>
            </a:r>
          </a:p>
          <a:p xmlns:a="http://schemas.openxmlformats.org/drawingml/2006/main">
            <a:r>
              <a:t>Third, deploy Express Mode rules to bypass prompts during morning rush hours, maintaining queue cycle times below 45 seconds.</a:t>
            </a:r>
          </a:p>
          <a:p xmlns:a="http://schemas.openxmlformats.org/drawingml/2006/main">
            <a:r>
              <a:t>Fourth, conduct our proposed 4-week Randomized Complete Block Design promotional trial, blocking stores by foot traffic to isolate true promotional lift.</a:t>
            </a:r>
          </a:p>
          <a:p xmlns:a="http://schemas.openxmlformats.org/drawingml/2006/main">
            <a:r>
              <a:t>Fifth, establish comprehensive data governance and PDPA compliance protocols, combining identifier pseudonymization with rigorous data minimization.</a:t>
            </a:r>
          </a:p>
          <a:p xmlns:a="http://schemas.openxmlformats.org/drawingml/2006/main">
            <a:r>
              <a:t>Thank you, and we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Explain the assumptions, why the methods were considered and how their trade-offs differ.</a:t>
            </a:r>
          </a:p>
          <a:p xmlns:a="http://schemas.openxmlformats.org/drawingml/2006/main">
            <a:r>
              <a:t/>
            </a:r>
          </a:p>
          <a:p xmlns:a="http://schemas.openxmlformats.org/drawingml/2006/main">
            <a:r>
              <a:t>VIVA DETAIL</a:t>
            </a:r>
          </a:p>
          <a:p xmlns:a="http://schemas.openxmlformats.org/drawingml/2006/main">
            <a:r>
              <a:t>A pure algorithm comparison should hold predictor information and evaluation partitions constant. Training time in the saved CSV is not measured inference latency.</a:t>
            </a:r>
          </a:p>
          <a:p xmlns:a="http://schemas.openxmlformats.org/drawingml/2006/main">
            <a:r>
              <a:t/>
            </a:r>
          </a:p>
          <a:p xmlns:a="http://schemas.openxmlformats.org/drawingml/2006/main">
            <a:r>
              <a:t>SOURCES</a:t>
            </a:r>
          </a:p>
          <a:p xmlns:a="http://schemas.openxmlformats.org/drawingml/2006/main">
            <a:r>
              <a:t>03_R_Scripts/05_modelling.R; Fisher, R.A. (1936)</a:t>
            </a:r>
          </a:p>
          <a:p xmlns:a="http://schemas.openxmlformats.org/drawingml/2006/main">
            <a:r>
              <a:t>The use of multiple measurements in taxonomic problems. Annals of Eugenics, 7(2), 179–188.</a:t>
            </a:r>
          </a:p>
          <a:p xmlns:a="http://schemas.openxmlformats.org/drawingml/2006/main">
            <a:r>
              <a:t>https://doi.org/10.1111/j.1469-1809.1936.tb02137.x</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Distinguish statistical significance, effect size and practical significance. Read the test question before giving an interpretation.</a:t>
            </a:r>
          </a:p>
          <a:p xmlns:a="http://schemas.openxmlformats.org/drawingml/2006/main">
            <a:r>
              <a:t/>
            </a:r>
          </a:p>
          <a:p xmlns:a="http://schemas.openxmlformats.org/drawingml/2006/main">
            <a:r>
              <a:t>VIVA DETAIL</a:t>
            </a:r>
          </a:p>
          <a:p xmlns:a="http://schemas.openxmlformats.org/drawingml/2006/main">
            <a:r>
              <a:t>Welch difference CI approximately 0.48 to 28.67 LKR. Hypotheses are two-sided. Repeated orders can violate observation independence.</a:t>
            </a:r>
          </a:p>
          <a:p xmlns:a="http://schemas.openxmlformats.org/drawingml/2006/main">
            <a:r>
              <a:t/>
            </a:r>
          </a:p>
          <a:p xmlns:a="http://schemas.openxmlformats.org/drawingml/2006/main">
            <a:r>
              <a:t>SOURCES</a:t>
            </a:r>
          </a:p>
          <a:p xmlns:a="http://schemas.openxmlformats.org/drawingml/2006/main">
            <a:r>
              <a:t>04_Data/restaurant_transactions.csv; 03_R_Scripts/04_statistical_inference.R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Explain that computing a column does not mean a model uses it. Revenue prediction is a separate regression task.</a:t>
            </a:r>
          </a:p>
          <a:p xmlns:a="http://schemas.openxmlformats.org/drawingml/2006/main">
            <a:r>
              <a:t/>
            </a:r>
          </a:p>
          <a:p xmlns:a="http://schemas.openxmlformats.org/drawingml/2006/main">
            <a:r>
              <a:t>VIVA DETAIL</a:t>
            </a:r>
          </a:p>
          <a:p xmlns:a="http://schemas.openxmlformats.org/drawingml/2006/main">
            <a:r>
              <a:t>Do not describe R-squared as classification accuracy or RMSE as a guaranteed plus/minus bound. Revenue is deterministic given rate, quantity and discount.</a:t>
            </a:r>
          </a:p>
          <a:p xmlns:a="http://schemas.openxmlformats.org/drawingml/2006/main">
            <a:r>
              <a:t/>
            </a:r>
          </a:p>
          <a:p xmlns:a="http://schemas.openxmlformats.org/drawingml/2006/main">
            <a:r>
              <a:t>SOURCES</a:t>
            </a:r>
          </a:p>
          <a:p xmlns:a="http://schemas.openxmlformats.org/drawingml/2006/main">
            <a:r>
              <a:t>03_R_Scripts/01_data_cleaning.R; 03_R_Scripts/05_modelling.R; Tibshirani, R. (1996)</a:t>
            </a:r>
          </a:p>
          <a:p xmlns:a="http://schemas.openxmlformats.org/drawingml/2006/main">
            <a:r>
              <a:t>Regression Shrinkage and Selection Via the Lasso. Journal of the Royal Statistical Society: Series B, 58(1), 267–288.</a:t>
            </a:r>
          </a:p>
          <a:p xmlns:a="http://schemas.openxmlformats.org/drawingml/2006/main">
            <a:r>
              <a:t>https://doi.org/10.1111/j.2517-6161.1996.tb02080.x</a:t>
            </a:r>
          </a:p>
          <a:p xmlns:a="http://schemas.openxmlformats.org/drawingml/2006/main">
            <a:r>
              <a:t>Friedman, J., Hastie, T. and Tibshirani, R. (2010)</a:t>
            </a:r>
          </a:p>
          <a:p xmlns:a="http://schemas.openxmlformats.org/drawingml/2006/main">
            <a:r>
              <a:t>Regularization Paths for Generalized Linear Models via Coordinate Descent. Journal of Statistical Software, 33(1), 1–22.</a:t>
            </a:r>
          </a:p>
          <a:p xmlns:a="http://schemas.openxmlformats.org/drawingml/2006/main">
            <a:r>
              <a:t>https://doi.org/10.18637/jss.v033.i01</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Choi, J.-G., Zhang, Y.-W. and Nadzri, N.I.B.M. (2022)</a:t>
            </a:r>
          </a:p>
          <a:p xmlns:a="http://schemas.openxmlformats.org/drawingml/2006/main">
            <a:r>
              <a:t>A Review of Forecasting Studies for the Restaurant Industry: Focusing on results, contributions and limitations. Global Business and Finance Review, 27(2), 61–77.</a:t>
            </a:r>
          </a:p>
          <a:p xmlns:a="http://schemas.openxmlformats.org/drawingml/2006/main">
            <a:r>
              <a:t>https://doi.org/10.17549/gbfr.2022.27.2.61</a:t>
            </a:r>
          </a:p>
          <a:p xmlns:a="http://schemas.openxmlformats.org/drawingml/2006/main">
            <a:r>
              <a:t/>
            </a:r>
          </a:p>
          <a:p xmlns:a="http://schemas.openxmlformats.org/drawingml/2006/main">
            <a:r>
              <a:t>Posch, K., Truden, C., Hungerländer, P. and Pilz, J. (2022)</a:t>
            </a:r>
          </a:p>
          <a:p xmlns:a="http://schemas.openxmlformats.org/drawingml/2006/main">
            <a:r>
              <a:t>A Bayesian approach for predicting food and beverage sales in staff canteens and restaurants. International Journal of Forecasting, 38(1), 321–338.</a:t>
            </a:r>
          </a:p>
          <a:p xmlns:a="http://schemas.openxmlformats.org/drawingml/2006/main">
            <a:r>
              <a:t>https://doi.org/10.1016/j.ijforecast.2021.06.001</a:t>
            </a:r>
          </a:p>
          <a:p xmlns:a="http://schemas.openxmlformats.org/drawingml/2006/main">
            <a:r>
              <a:t/>
            </a:r>
          </a:p>
          <a:p xmlns:a="http://schemas.openxmlformats.org/drawingml/2006/main">
            <a:r>
              <a:t>Rodrigues, M., Miguéis, V., Freitas, S. and Machado, T. (2024)</a:t>
            </a:r>
          </a:p>
          <a:p xmlns:a="http://schemas.openxmlformats.org/drawingml/2006/main">
            <a:r>
              <a:t>Machine learning models for short-term demand forecasting in food catering services: A solution to reduce food waste. Journal of Cleaner Production, 435, 140265.</a:t>
            </a:r>
          </a:p>
          <a:p xmlns:a="http://schemas.openxmlformats.org/drawingml/2006/main">
            <a:r>
              <a:t>https://doi.org/10.1016/j.jclepro.2023.140265</a:t>
            </a:r>
          </a:p>
          <a:p xmlns:a="http://schemas.openxmlformats.org/drawingml/2006/main">
            <a:r>
              <a:t/>
            </a:r>
          </a:p>
          <a:p xmlns:a="http://schemas.openxmlformats.org/drawingml/2006/main">
            <a:r>
              <a:t>Groene, N. and Zakharov, S. (2024)</a:t>
            </a:r>
          </a:p>
          <a:p xmlns:a="http://schemas.openxmlformats.org/drawingml/2006/main">
            <a:r>
              <a:t>Introduction of AI-based sales forecasting: how to drive digital transformation in food and beverage outlets. Discover Artificial Intelligence, 4, 1.</a:t>
            </a:r>
          </a:p>
          <a:p xmlns:a="http://schemas.openxmlformats.org/drawingml/2006/main">
            <a:r>
              <a:t>https://doi.org/10.1007/s44163-023-00097-x</a:t>
            </a:r>
          </a:p>
          <a:p xmlns:a="http://schemas.openxmlformats.org/drawingml/2006/main">
            <a:r>
              <a:t/>
            </a:r>
          </a:p>
          <a:p xmlns:a="http://schemas.openxmlformats.org/drawingml/2006/main">
            <a:r>
              <a:t>Hübner, N., Caspers, J., Coroamă, V.C. and Finkbeiner, M. (2024)</a:t>
            </a:r>
          </a:p>
          <a:p xmlns:a="http://schemas.openxmlformats.org/drawingml/2006/main">
            <a:r>
              <a:t>Machine-learning-based demand forecasting against food waste: Life cycle environmental impacts and benefits of a bakery case study. Journal of Industrial Ecology, 28(5), 1117–1131.</a:t>
            </a:r>
          </a:p>
          <a:p xmlns:a="http://schemas.openxmlformats.org/drawingml/2006/main">
            <a:r>
              <a:t>https://doi.org/10.1111/jiec.13528</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Fisher, R.A. (1936)</a:t>
            </a:r>
          </a:p>
          <a:p xmlns:a="http://schemas.openxmlformats.org/drawingml/2006/main">
            <a:r>
              <a:t>The use of multiple measurements in taxonomic problems. Annals of Eugenics, 7(2), 179–188.</a:t>
            </a:r>
          </a:p>
          <a:p xmlns:a="http://schemas.openxmlformats.org/drawingml/2006/main">
            <a:r>
              <a:t>https://doi.org/10.1111/j.1469-1809.1936.tb02137.x</a:t>
            </a:r>
          </a:p>
          <a:p xmlns:a="http://schemas.openxmlformats.org/drawingml/2006/main">
            <a:r>
              <a:t/>
            </a:r>
          </a:p>
          <a:p xmlns:a="http://schemas.openxmlformats.org/drawingml/2006/main">
            <a:r>
              <a:t>Welch, B.L. (1947)</a:t>
            </a:r>
          </a:p>
          <a:p xmlns:a="http://schemas.openxmlformats.org/drawingml/2006/main">
            <a:r>
              <a:t>The generalization of “Student’s” problem when several different population variances are involved. Biometrika, 34(1–2), 28–35.</a:t>
            </a:r>
          </a:p>
          <a:p xmlns:a="http://schemas.openxmlformats.org/drawingml/2006/main">
            <a:r>
              <a:t>https://doi.org/10.1093/biomet/34.1-2.28</a:t>
            </a:r>
          </a:p>
          <a:p xmlns:a="http://schemas.openxmlformats.org/drawingml/2006/main">
            <a:r>
              <a:t/>
            </a:r>
          </a:p>
          <a:p xmlns:a="http://schemas.openxmlformats.org/drawingml/2006/main">
            <a:r>
              <a:t>Jolliffe, I.T. and Cadima, J. (2016)</a:t>
            </a:r>
          </a:p>
          <a:p xmlns:a="http://schemas.openxmlformats.org/drawingml/2006/main">
            <a:r>
              <a:t>Principal component analysis: a review and recent developments. Philosophical Transactions of the Royal Society A, 374, 20150202.</a:t>
            </a:r>
          </a:p>
          <a:p xmlns:a="http://schemas.openxmlformats.org/drawingml/2006/main">
            <a:r>
              <a:t>https://doi.org/10.1098/rsta.2015.0202</a:t>
            </a:r>
          </a:p>
          <a:p xmlns:a="http://schemas.openxmlformats.org/drawingml/2006/main">
            <a:r>
              <a:t/>
            </a:r>
          </a:p>
          <a:p xmlns:a="http://schemas.openxmlformats.org/drawingml/2006/main">
            <a:r>
              <a:t>Hand, D.J. and Till, R.J. (2001)</a:t>
            </a:r>
          </a:p>
          <a:p xmlns:a="http://schemas.openxmlformats.org/drawingml/2006/main">
            <a:r>
              <a:t>A Simple Generalisation of the Area Under the ROC Curve for Multiple Class Classification Problems. Machine Learning, 45, 171–186.</a:t>
            </a:r>
          </a:p>
          <a:p xmlns:a="http://schemas.openxmlformats.org/drawingml/2006/main">
            <a:r>
              <a:t>https://doi.org/10.1023/A:1010920819831</a:t>
            </a:r>
          </a:p>
          <a:p xmlns:a="http://schemas.openxmlformats.org/drawingml/2006/main">
            <a:r>
              <a:t/>
            </a:r>
          </a:p>
          <a:p xmlns:a="http://schemas.openxmlformats.org/drawingml/2006/main">
            <a:r>
              <a:t>Saito, T. and Rehmsmeier, M. (2015)</a:t>
            </a:r>
          </a:p>
          <a:p xmlns:a="http://schemas.openxmlformats.org/drawingml/2006/main">
            <a:r>
              <a:t>The Precision-Recall Plot Is More Informative than the ROC Plot When Evaluating Binary Classifiers on Imbalanced Datasets. PLOS ONE, 10(3), e0118432.</a:t>
            </a:r>
          </a:p>
          <a:p xmlns:a="http://schemas.openxmlformats.org/drawingml/2006/main">
            <a:r>
              <a:t>https://doi.org/10.1371/journal.pone.0118432</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Hyndman, R.J. and Khandakar, Y. (2008)</a:t>
            </a:r>
          </a:p>
          <a:p xmlns:a="http://schemas.openxmlformats.org/drawingml/2006/main">
            <a:r>
              <a:t>Automatic Time Series Forecasting: The forecast Package for R. Journal of Statistical Software, 27(3), 1–22.</a:t>
            </a:r>
          </a:p>
          <a:p xmlns:a="http://schemas.openxmlformats.org/drawingml/2006/main">
            <a:r>
              <a:t>https://doi.org/10.18637/jss.v027.i03</a:t>
            </a:r>
          </a:p>
          <a:p xmlns:a="http://schemas.openxmlformats.org/drawingml/2006/main">
            <a:r>
              <a:t/>
            </a:r>
          </a:p>
          <a:p xmlns:a="http://schemas.openxmlformats.org/drawingml/2006/main">
            <a:r>
              <a:t>Ljung, G.M. and Box, G.E.P. (1978)</a:t>
            </a:r>
          </a:p>
          <a:p xmlns:a="http://schemas.openxmlformats.org/drawingml/2006/main">
            <a:r>
              <a:t>On a measure of lack of fit in time series models. Biometrika, 65(2), 297–303.</a:t>
            </a:r>
          </a:p>
          <a:p xmlns:a="http://schemas.openxmlformats.org/drawingml/2006/main">
            <a:r>
              <a:t>https://doi.org/10.1093/biomet/65.2.297</a:t>
            </a:r>
          </a:p>
          <a:p xmlns:a="http://schemas.openxmlformats.org/drawingml/2006/main">
            <a:r>
              <a:t/>
            </a:r>
          </a:p>
          <a:p xmlns:a="http://schemas.openxmlformats.org/drawingml/2006/main">
            <a:r>
              <a:t>Dietterich, T.G. (1998)</a:t>
            </a:r>
          </a:p>
          <a:p xmlns:a="http://schemas.openxmlformats.org/drawingml/2006/main">
            <a:r>
              <a:t>Approximate Statistical Tests for Comparing Supervised Classification Learning Algorithms. Neural Computation, 10(7), 1895–1923.</a:t>
            </a:r>
          </a:p>
          <a:p xmlns:a="http://schemas.openxmlformats.org/drawingml/2006/main">
            <a:r>
              <a:t>https://doi.org/10.1162/089976698300017197</a:t>
            </a:r>
          </a:p>
          <a:p xmlns:a="http://schemas.openxmlformats.org/drawingml/2006/main">
            <a:r>
              <a:t/>
            </a:r>
          </a:p>
          <a:p xmlns:a="http://schemas.openxmlformats.org/drawingml/2006/main">
            <a:r>
              <a:t>Tibshirani, R. (1996)</a:t>
            </a:r>
          </a:p>
          <a:p xmlns:a="http://schemas.openxmlformats.org/drawingml/2006/main">
            <a:r>
              <a:t>Regression Shrinkage and Selection Via the Lasso. Journal of the Royal Statistical Society: Series B, 58(1), 267–288.</a:t>
            </a:r>
          </a:p>
          <a:p xmlns:a="http://schemas.openxmlformats.org/drawingml/2006/main">
            <a:r>
              <a:t>https://doi.org/10.1111/j.2517-6161.1996.tb02080.x</a:t>
            </a:r>
          </a:p>
          <a:p xmlns:a="http://schemas.openxmlformats.org/drawingml/2006/main">
            <a:r>
              <a:t/>
            </a:r>
          </a:p>
          <a:p xmlns:a="http://schemas.openxmlformats.org/drawingml/2006/main">
            <a:r>
              <a:t>Friedman, J., Hastie, T. and Tibshirani, R. (2010)</a:t>
            </a:r>
          </a:p>
          <a:p xmlns:a="http://schemas.openxmlformats.org/drawingml/2006/main">
            <a:r>
              <a:t>Regularization Paths for Generalized Linear Models via Coordinate Descent. Journal of Statistical Software, 33(1), 1–22.</a:t>
            </a:r>
          </a:p>
          <a:p xmlns:a="http://schemas.openxmlformats.org/drawingml/2006/main">
            <a:r>
              <a:t>https://doi.org/10.18637/jss.v033.i01</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members</a:t>
            </a:r>
          </a:p>
          <a:p xmlns:a="http://schemas.openxmlformats.org/drawingml/2006/main">
            <a:r>
              <a:t>TIME: Preparation / viva</a:t>
            </a:r>
          </a:p>
          <a:p xmlns:a="http://schemas.openxmlformats.org/drawingml/2006/main">
            <a:r>
              <a:t/>
            </a:r>
          </a:p>
          <a:p xmlns:a="http://schemas.openxmlformats.org/drawingml/2006/main">
            <a:r>
              <a:t>READ-ALOUD SCRIPT</a:t>
            </a:r>
          </a:p>
          <a:p xmlns:a="http://schemas.openxmlformats.org/drawingml/2006/main">
            <a:r>
              <a:t>Agree actual presenter names, rehearse transitions, and complete the two evidence gaps before submission.</a:t>
            </a:r>
          </a:p>
          <a:p xmlns:a="http://schemas.openxmlformats.org/drawingml/2006/main">
            <a:r>
              <a:t/>
            </a:r>
          </a:p>
          <a:p xmlns:a="http://schemas.openxmlformats.org/drawingml/2006/main">
            <a:r>
              <a:t>VIVA DETAIL</a:t>
            </a:r>
          </a:p>
          <a:p xmlns:a="http://schemas.openxmlformats.org/drawingml/2006/main">
            <a:r>
              <a:t>All four members should understand the full project and defend their own contribution. AI assistance in preparing slides must be acknowledged according to the brief and actual use.</a:t>
            </a:r>
          </a:p>
          <a:p xmlns:a="http://schemas.openxmlformats.org/drawingml/2006/main">
            <a:r>
              <a:t/>
            </a:r>
          </a:p>
          <a:p xmlns:a="http://schemas.openxmlformats.org/drawingml/2006/main">
            <a:r>
              <a:t>SOURCES</a:t>
            </a:r>
          </a:p>
          <a:p xmlns:a="http://schemas.openxmlformats.org/drawingml/2006/main">
            <a:r>
              <a:t>01_Reports_and_Documentation/Group Assignment brief.pdf</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8e6e7f76f0f4421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f4e0f6f4e7d24aa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8f071980ff724f4b"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dafdb4321350480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c8e0de43516a4f1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7fc7fecd7cc245b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74cfec8a49444f7b"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80a29169357c49fa"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91edb48a60cd4aae"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6c6fdcaa59fd4d6e"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9ab04eb391a6428d"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7C580F-9EEB-4860-9FC6-6D5862C2011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620B543-D160-45C4-A781-948DE24AB74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34F0F06-9F3B-426A-B332-4442391F2C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958084D-0AAA-4AE5-A429-B5FDAE72DE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5801E05-27C5-4A1B-ACAD-A0807F9CB0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3A6634-B381-42FB-922E-328CDCB0D5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5C9EF4-24D7-443C-A235-5DED27FC689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0B364CA-020D-4712-922A-5FB7FCD39C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2D81C86-9C8E-437C-82A1-A85EAD1972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EC3C5F9-E05C-4A52-B158-52600179C6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162431-B68B-4E30-AB1A-DF1721E6224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C366447-9A52-4C94-827F-A5A20838E90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8D46F27-E142-4559-8CC1-38BF6910BD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0CB6879-BE47-4284-98CD-8F2BFEBBA4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F5DC99-2E11-4D14-AE60-269834770B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53FFA9-D35A-466C-99FE-5DA7B9CEE53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83DA19D-E06D-4CAC-9E81-48BB9C57BF8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65B62339-99D9-4F58-9D03-F63EA122CD5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7A3DE4A-55D4-49BC-B196-91B6722267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CB03404A-69E8-4278-9AD3-224B034FE6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C18F815-FEDD-4B86-9400-108CAC8536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ACE4BB-64AF-4D51-AEE5-659438D95B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11A00E5-46FB-4937-94A6-C60B7CE2591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47A73C5-3323-426B-ACA3-E1941BCEB21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B33306F-5722-402B-A0AC-FF712E72C81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ED35582-6264-48F6-8D53-6268DBBC818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2F8ACB8-10BB-4E9E-96D0-2934C42C31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49E57849-1A0E-4531-83D0-5AE96645F1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F8CC26C-AF3C-4BFB-9152-A700D14CA5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A4AFFB-02E8-4229-9F4F-692944F5A56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CDAA67AC-7AC9-49C2-8045-8BE7155F82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191AA6AD-8639-4C88-8C43-D6E913B36B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15C44AC-32BF-405B-A086-91623FE48F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4D6F69A-EF99-42F8-939E-FBEF9B1797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33998593-624B-4324-AAFA-EBD856A7E6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CEC75E5-F656-40F9-9DD6-4AAED267B2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D8E732-ABFB-4E48-B4B7-C625BFA28C6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F95E7AD-70DD-440C-A665-C5A732F81B0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FB21A80E-7E3B-4179-9345-1DEFE3945DF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0C80370-8B5D-4D8A-B2A7-4238475EE7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FE58024E-2866-4BA9-A9DA-7D7451A86E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993C2DC-A8D6-44C7-BC70-E37B165A49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F5128E-0DEC-48C6-A3D4-9FC4708FCA2B}"/>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7E05A6EF-1F6F-4208-859F-05497539971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F7E6B02-E25C-4A2D-9F95-9A614B18C52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0098139-F7BB-4125-A850-C90407E180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0CE175AE-A34E-4E25-BDC9-22F01081AE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5FA39E5-4BB4-4B1D-A3D9-99BA414C9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F87AB0-362E-4B73-BC8F-593959922D5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A2BE4CA-65C5-4E1F-9F67-9FD252A3AAC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1A60445-BD2D-4D45-9B94-874763D3A1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6FA0CEA5-835E-4721-802D-D8676F49A0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5D4CF9-D6C1-4E32-8911-4BF2F55617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06F558E-E276-4DDB-9F20-8C1A8031BB4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13C51B6-B863-4E94-808C-9D0005883C5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7A518F1-8CDB-4033-9D29-7B8C03A747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C8446DA-FE68-4740-B9D5-175490FB70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9BD423E-9603-4E8A-8067-BF4DA6923A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xml version='1.0' encoding='UTF-8' standalone='yes'?>
<Relationships xmlns="http://schemas.openxmlformats.org/package/2006/relationships"><Relationship Id="R0fa92eb1ca2a4dc1" Type="http://schemas.openxmlformats.org/officeDocument/2006/relationships/slideLayout" Target="../slideLayouts/slideLayout1.xml"/><Relationship Id="R5524ff5a9213427d" Type="http://schemas.openxmlformats.org/officeDocument/2006/relationships/slideLayout" Target="../slideLayouts/slideLayout7.xml"/><Relationship Id="R553bb86c913b4536" Type="http://schemas.openxmlformats.org/officeDocument/2006/relationships/slideLayout" Target="../slideLayouts/slideLayout8.xml"/><Relationship Id="R83049231d6a443c3" Type="http://schemas.openxmlformats.org/officeDocument/2006/relationships/theme" Target="theme/theme2.xml"/><Relationship Id="R8aeee527c3f64b66" Type="http://schemas.openxmlformats.org/officeDocument/2006/relationships/slideLayout" Target="../slideLayouts/slideLayout3.xml"/><Relationship Id="Ra9486060ef0d45e4" Type="http://schemas.openxmlformats.org/officeDocument/2006/relationships/slideLayout" Target="../slideLayouts/slideLayout11.xml"/><Relationship Id="Rb02c8f139c984787" Type="http://schemas.openxmlformats.org/officeDocument/2006/relationships/slideLayout" Target="../slideLayouts/slideLayout9.xml"/><Relationship Id="Rb794a49c4ea74607" Type="http://schemas.openxmlformats.org/officeDocument/2006/relationships/slideLayout" Target="../slideLayouts/slideLayout5.xml"/><Relationship Id="Rc1c20ca384de4d8b" Type="http://schemas.openxmlformats.org/officeDocument/2006/relationships/slideLayout" Target="../slideLayouts/slideLayout4.xml"/><Relationship Id="Rc69741ae2e9948f0" Type="http://schemas.openxmlformats.org/officeDocument/2006/relationships/slideLayout" Target="../slideLayouts/slideLayout10.xml"/><Relationship Id="Refcda761e36d4d65" Type="http://schemas.openxmlformats.org/officeDocument/2006/relationships/slideLayout" Target="../slideLayouts/slideLayout2.xml"/><Relationship Id="Rf9d12d316eb44bfa" Type="http://schemas.openxmlformats.org/officeDocument/2006/relationships/slideLayout" Target="../slideLayouts/slideLayout6.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6D5B66E-810F-491F-BBFC-6C6EC63F4BB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AF67C1A-3974-426F-A61A-E2E46A4657B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CA676EA-3CD8-40E0-9BC3-E1D31B73149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8C5901FF-AEFB-4587-9998-A94B99BE2D6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BF0D22B-E8C7-41E0-A08B-74A6F9521F5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a92eb1ca2a4dc1"/>
    <p:sldLayoutId xmlns:r="http://schemas.openxmlformats.org/officeDocument/2006/relationships" id="2147483650" r:id="Refcda761e36d4d65"/>
    <p:sldLayoutId xmlns:r="http://schemas.openxmlformats.org/officeDocument/2006/relationships" id="2147483651" r:id="R8aeee527c3f64b66"/>
    <p:sldLayoutId xmlns:r="http://schemas.openxmlformats.org/officeDocument/2006/relationships" id="2147483652" r:id="Rc1c20ca384de4d8b"/>
    <p:sldLayoutId xmlns:r="http://schemas.openxmlformats.org/officeDocument/2006/relationships" id="2147483653" r:id="Rb794a49c4ea74607"/>
    <p:sldLayoutId xmlns:r="http://schemas.openxmlformats.org/officeDocument/2006/relationships" id="2147483654" r:id="Rf9d12d316eb44bfa"/>
    <p:sldLayoutId xmlns:r="http://schemas.openxmlformats.org/officeDocument/2006/relationships" id="2147483655" r:id="R5524ff5a9213427d"/>
    <p:sldLayoutId xmlns:r="http://schemas.openxmlformats.org/officeDocument/2006/relationships" id="2147483656" r:id="R553bb86c913b4536"/>
    <p:sldLayoutId xmlns:r="http://schemas.openxmlformats.org/officeDocument/2006/relationships" id="2147483657" r:id="Rb02c8f139c984787"/>
    <p:sldLayoutId xmlns:r="http://schemas.openxmlformats.org/officeDocument/2006/relationships" id="2147483658" r:id="Rc69741ae2e9948f0"/>
    <p:sldLayoutId xmlns:r="http://schemas.openxmlformats.org/officeDocument/2006/relationships" id="2147483659" r:id="Ra9486060ef0d45e4"/>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2a7d82ff72b74db5" Type="http://schemas.openxmlformats.org/officeDocument/2006/relationships/image" Target="../media/image.jpeg"/><Relationship Id="R3ad3bc095fa04415" Type="http://schemas.openxmlformats.org/officeDocument/2006/relationships/image" Target="../media/image.svg"/><Relationship Id="R78b028ed5f944112" Type="http://schemas.openxmlformats.org/officeDocument/2006/relationships/notesSlide" Target="../notesSlides/notesSlide1.xml"/><Relationship Id="Rb347b31b094e48eb" Type="http://schemas.openxmlformats.org/officeDocument/2006/relationships/image" Target="../media/image.png"/><Relationship Id="Rcc4e96fcbfa64419" Type="http://schemas.openxmlformats.org/officeDocument/2006/relationships/slideLayout" Target="../slideLayouts/slideLayout7.xml"/><Relationship Id="Rcf4cf47cddbc4ecc" Type="http://schemas.openxmlformats.org/officeDocument/2006/relationships/image" Target="../media/image2.jpeg"/></Relationships>
</file>

<file path=ppt/slides/_rels/slide2.xml.rels><?xml version='1.0' encoding='UTF-8' standalone='yes'?>
<Relationships xmlns="http://schemas.openxmlformats.org/package/2006/relationships"><Relationship Id="R0d7110cf7ed0490c" Type="http://schemas.openxmlformats.org/officeDocument/2006/relationships/image" Target="../media/image.jpeg"/><Relationship Id="R630f28572e1a4e58" Type="http://schemas.openxmlformats.org/officeDocument/2006/relationships/notesSlide" Target="../notesSlides/notesSlide2.xml"/><Relationship Id="R793b6c7393534abc" Type="http://schemas.openxmlformats.org/officeDocument/2006/relationships/image" Target="../media/image.svg"/><Relationship Id="Rda98b90cb6534859"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2574ed030171423d" Type="http://schemas.openxmlformats.org/officeDocument/2006/relationships/image" Target="../media/image.jpeg"/><Relationship Id="Raa6a9369c2e14b8b" Type="http://schemas.openxmlformats.org/officeDocument/2006/relationships/slideLayout" Target="../slideLayouts/slideLayout7.xml"/><Relationship Id="Rb436e7c223134cb5" Type="http://schemas.openxmlformats.org/officeDocument/2006/relationships/notesSlide" Target="../notesSlides/notesSlide3.xml"/><Relationship Id="Rce4b0edddd4142de" Type="http://schemas.openxmlformats.org/officeDocument/2006/relationships/image" Target="../media/image.svg"/><Relationship Id="rId5" Type="http://schemas.openxmlformats.org/officeDocument/2006/relationships/hyperlink" Target="https://scholar.google.com/scholar?q=Tan+Lim+2023+consumer+choice+predictive+accuracy+limits" TargetMode="External"/><Relationship Id="rId6" Type="http://schemas.openxmlformats.org/officeDocument/2006/relationships/hyperlink" Target="https://scholar.google.com/scholar?q=Mishra+2022+retail+transaction+machine+learning+latency" TargetMode="External"/><Relationship Id="rId7" Type="http://schemas.openxmlformats.org/officeDocument/2006/relationships/hyperlink" Target="https://scholar.google.com/scholar?q=Bradlow+2023+Experimental+Design+Marketing+Analytics+Field+Experiments" TargetMode="External"/><Relationship Id="rId8" Type="http://schemas.openxmlformats.org/officeDocument/2006/relationships/hyperlink" Target="https://scholar.google.com/scholar?q=Chicco+Jurman+2020+Matthews+correlation+coefficient+multiclass" TargetMode="External"/></Relationships>
</file>

<file path=ppt/slides/_rels/slide4.xml.rels><?xml version='1.0' encoding='UTF-8' standalone='yes'?>
<Relationships xmlns="http://schemas.openxmlformats.org/package/2006/relationships"><Relationship Id="R0e74fab1feda4644" Type="http://schemas.openxmlformats.org/officeDocument/2006/relationships/image" Target="../media/image.jpeg"/><Relationship Id="R3b2a9ca702d744ae" Type="http://schemas.openxmlformats.org/officeDocument/2006/relationships/slideLayout" Target="../slideLayouts/slideLayout7.xml"/><Relationship Id="R796b5c31fb1d41ad" Type="http://schemas.openxmlformats.org/officeDocument/2006/relationships/image" Target="../media/image.svg"/><Relationship Id="R8ca0924b7752446c"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0fc2e7cc93d4a32" Type="http://schemas.openxmlformats.org/officeDocument/2006/relationships/image" Target="../media/image.svg"/><Relationship Id="R6e5119b9861c4a87" Type="http://schemas.openxmlformats.org/officeDocument/2006/relationships/notesSlide" Target="../notesSlides/notesSlide5.xml"/><Relationship Id="R9b8c122d386c4e0b" Type="http://schemas.openxmlformats.org/officeDocument/2006/relationships/image" Target="../media/image.jpeg"/><Relationship Id="Rf2ce0350e8854f37" Type="http://schemas.openxmlformats.org/officeDocument/2006/relationships/slideLayout" Target="../slideLayouts/slideLayout7.xml"/><Relationship Id="rId5" Type="http://schemas.openxmlformats.org/officeDocument/2006/relationships/hyperlink" Target="https://scholar.google.com/scholar?q=Little+Rubin+Statistical+Analysis+with+Missing+Data" TargetMode="External"/></Relationships>
</file>

<file path=ppt/slides/_rels/slide6.xml.rels><?xml version='1.0' encoding='UTF-8' standalone='yes'?>
<Relationships xmlns="http://schemas.openxmlformats.org/package/2006/relationships"><Relationship Id="R27be38f13a344d66" Type="http://schemas.openxmlformats.org/officeDocument/2006/relationships/notesSlide" Target="../notesSlides/notesSlide6.xml"/><Relationship Id="R2e5434f9b4174630" Type="http://schemas.openxmlformats.org/officeDocument/2006/relationships/image" Target="../media/image.jpeg"/><Relationship Id="R7ea61b5137e74e79" Type="http://schemas.openxmlformats.org/officeDocument/2006/relationships/chart" Target="charts/chart1.xml"/><Relationship Id="R80b63417f72b46a9" Type="http://schemas.openxmlformats.org/officeDocument/2006/relationships/image" Target="../media/image.svg"/><Relationship Id="Rcc1c80403fb34c6c" Type="http://schemas.openxmlformats.org/officeDocument/2006/relationships/slideLayout" Target="../slideLayouts/slideLayout7.xml"/><Relationship Id="Rfed521a63af9420b" Type="http://schemas.openxmlformats.org/officeDocument/2006/relationships/chart" Target="charts/chart2.xml"/></Relationships>
</file>

<file path=ppt/slides/_rels/slide7.xml.rels><?xml version='1.0' encoding='UTF-8' standalone='yes'?>
<Relationships xmlns="http://schemas.openxmlformats.org/package/2006/relationships"><Relationship Id="R170cd555b2884019" Type="http://schemas.openxmlformats.org/officeDocument/2006/relationships/image" Target="../media/image2.png"/><Relationship Id="R937dc32c29774dcf" Type="http://schemas.openxmlformats.org/officeDocument/2006/relationships/notesSlide" Target="../notesSlides/notesSlide7.xml"/><Relationship Id="R98b0b4976a9148d6" Type="http://schemas.openxmlformats.org/officeDocument/2006/relationships/image" Target="../media/image.svg"/><Relationship Id="Re63bf6ae51f94ef8" Type="http://schemas.openxmlformats.org/officeDocument/2006/relationships/slideLayout" Target="../slideLayouts/slideLayout7.xml"/><Relationship Id="Rf4b539db6f8b44c9" Type="http://schemas.openxmlformats.org/officeDocument/2006/relationships/image" Target="../media/image.jpeg"/></Relationships>
</file>

<file path=ppt/slides/_rels/slide8.xml.rels><?xml version='1.0' encoding='UTF-8' standalone='yes'?>
<Relationships xmlns="http://schemas.openxmlformats.org/package/2006/relationships"><Relationship Id="R347b2b66410d4516" Type="http://schemas.openxmlformats.org/officeDocument/2006/relationships/image" Target="../media/image.svg"/><Relationship Id="Rb63596c6ac2c4e29" Type="http://schemas.openxmlformats.org/officeDocument/2006/relationships/notesSlide" Target="../notesSlides/notesSlide8.xml"/><Relationship Id="Rdb079024c4464139" Type="http://schemas.openxmlformats.org/officeDocument/2006/relationships/slideLayout" Target="../slideLayouts/slideLayout7.xml"/><Relationship Id="Re6a76cc7d7ad49bf" Type="http://schemas.openxmlformats.org/officeDocument/2006/relationships/image" Target="../media/image.jpeg"/><Relationship Id="rId5" Type="http://schemas.openxmlformats.org/officeDocument/2006/relationships/hyperlink" Target="https://scholar.google.com/scholar?q=Welch+1947+Biometrika+generalization+student+problem" TargetMode="External"/></Relationships>
</file>

<file path=ppt/slides/_rels/slide9.xml.rels><?xml version='1.0' encoding='UTF-8' standalone='yes'?>
<Relationships xmlns="http://schemas.openxmlformats.org/package/2006/relationships"><Relationship Id="R7e4685ae88dc49b9" Type="http://schemas.openxmlformats.org/officeDocument/2006/relationships/notesSlide" Target="../notesSlides/notesSlide9.xml"/><Relationship Id="R896bdac7e3364018" Type="http://schemas.openxmlformats.org/officeDocument/2006/relationships/image" Target="../media/image.jpeg"/><Relationship Id="Ra29d4684104a4104" Type="http://schemas.openxmlformats.org/officeDocument/2006/relationships/image" Target="../media/image.svg"/><Relationship Id="Rfe34632f1e9b464e"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0acee9e48f2d4cf6" Type="http://schemas.openxmlformats.org/officeDocument/2006/relationships/image" Target="../media/image.svg"/><Relationship Id="R854187858c6e4d1d" Type="http://schemas.openxmlformats.org/officeDocument/2006/relationships/image" Target="../media/image.jpeg"/><Relationship Id="R99472d2786a74825" Type="http://schemas.openxmlformats.org/officeDocument/2006/relationships/notesSlide" Target="../notesSlides/notesSlide10.xml"/><Relationship Id="Re82ed65b5c4548a3" Type="http://schemas.openxmlformats.org/officeDocument/2006/relationships/slideLayout" Target="../slideLayouts/slideLayout7.xml"/><Relationship Id="rId5" Type="http://schemas.openxmlformats.org/officeDocument/2006/relationships/hyperlink" Target="https://scholar.google.com/scholar?q=Saito+Rehmsmeier+2015+Precision-Recall+Imbalanced+Datasets" TargetMode="External"/><Relationship Id="rId6" Type="http://schemas.openxmlformats.org/officeDocument/2006/relationships/hyperlink" Target="https://scholar.google.com/scholar?q=Blagus+Lusa+2013+SMOTE+high+dimensional+data" TargetMode="External"/></Relationships>
</file>

<file path=ppt/slides/_rels/slide11.xml.rels><?xml version='1.0' encoding='UTF-8' standalone='yes'?>
<Relationships xmlns="http://schemas.openxmlformats.org/package/2006/relationships"><Relationship Id="R00588bbe70624553" Type="http://schemas.openxmlformats.org/officeDocument/2006/relationships/image" Target="../media/image.svg"/><Relationship Id="R629b36c26582482e" Type="http://schemas.openxmlformats.org/officeDocument/2006/relationships/image" Target="../media/image.jpeg"/><Relationship Id="R87043f1b1f6e4294" Type="http://schemas.openxmlformats.org/officeDocument/2006/relationships/slideLayout" Target="../slideLayouts/slideLayout7.xml"/><Relationship Id="Rf5c91af415334869" Type="http://schemas.openxmlformats.org/officeDocument/2006/relationships/notesSlide" Target="../notesSlides/notesSlide11.xml"/><Relationship Id="rId5" Type="http://schemas.openxmlformats.org/officeDocument/2006/relationships/hyperlink" Target="https://scholar.google.com/scholar?q=Fisher+1936+Use+of+multiple+measurements+in+taxonomic+problems" TargetMode="External"/></Relationships>
</file>

<file path=ppt/slides/_rels/slide12.xml.rels><?xml version='1.0' encoding='UTF-8' standalone='yes'?>
<Relationships xmlns="http://schemas.openxmlformats.org/package/2006/relationships"><Relationship Id="R0cc5b354af9549d3" Type="http://schemas.openxmlformats.org/officeDocument/2006/relationships/notesSlide" Target="../notesSlides/notesSlide12.xml"/><Relationship Id="R4c97e92190954312" Type="http://schemas.openxmlformats.org/officeDocument/2006/relationships/slideLayout" Target="../slideLayouts/slideLayout7.xml"/><Relationship Id="R607ebbb8045846c5" Type="http://schemas.openxmlformats.org/officeDocument/2006/relationships/image" Target="../media/image.jpeg"/><Relationship Id="R60fb5ec240474f0e" Type="http://schemas.openxmlformats.org/officeDocument/2006/relationships/image" Target="../media/image.svg"/><Relationship Id="rId5" Type="http://schemas.openxmlformats.org/officeDocument/2006/relationships/hyperlink" Target="https://scholar.google.com/scholar?q=Hand+Till+2001+Simple+Generalisation+ROC+Multi-Class" TargetMode="External"/></Relationships>
</file>

<file path=ppt/slides/_rels/slide13.xml.rels><?xml version='1.0' encoding='UTF-8' standalone='yes'?>
<Relationships xmlns="http://schemas.openxmlformats.org/package/2006/relationships"><Relationship Id="R5adafba890824574" Type="http://schemas.openxmlformats.org/officeDocument/2006/relationships/slideLayout" Target="../slideLayouts/slideLayout7.xml"/><Relationship Id="R74d8f43a668d476f" Type="http://schemas.openxmlformats.org/officeDocument/2006/relationships/image" Target="../media/image.jpeg"/><Relationship Id="R7b1c382ce90d4347" Type="http://schemas.openxmlformats.org/officeDocument/2006/relationships/notesSlide" Target="../notesSlides/notesSlide13.xml"/><Relationship Id="Rb6b41c8beb78469c" Type="http://schemas.openxmlformats.org/officeDocument/2006/relationships/chart" Target="charts/chart3.xml"/><Relationship Id="Rf6627597ce81486e" Type="http://schemas.openxmlformats.org/officeDocument/2006/relationships/image" Target="../media/image.svg"/><Relationship Id="rId6" Type="http://schemas.openxmlformats.org/officeDocument/2006/relationships/hyperlink" Target="https://scholar.google.com/scholar?q=Tan+Lim+2023+consumer+choice+predictive+accuracy+limits" TargetMode="External"/><Relationship Id="rId7" Type="http://schemas.openxmlformats.org/officeDocument/2006/relationships/hyperlink" Target="https://scholar.google.com/scholar?q=Chicco+Jurman+2020+Matthews+correlation+coefficient+multiclass" TargetMode="External"/></Relationships>
</file>

<file path=ppt/slides/_rels/slide14.xml.rels><?xml version='1.0' encoding='UTF-8' standalone='yes'?>
<Relationships xmlns="http://schemas.openxmlformats.org/package/2006/relationships"><Relationship Id="R569094c98c194170" Type="http://schemas.openxmlformats.org/officeDocument/2006/relationships/image" Target="../media/image.svg"/><Relationship Id="R8fd59d85f5ed4a18" Type="http://schemas.openxmlformats.org/officeDocument/2006/relationships/slideLayout" Target="../slideLayouts/slideLayout7.xml"/><Relationship Id="R902732ab8a1d4ab9" Type="http://schemas.openxmlformats.org/officeDocument/2006/relationships/image" Target="../media/image.jpeg"/><Relationship Id="Ra2152513a0ea47b3" Type="http://schemas.openxmlformats.org/officeDocument/2006/relationships/notesSlide" Target="../notesSlides/notesSlide14.xml"/><Relationship Id="rId5" Type="http://schemas.openxmlformats.org/officeDocument/2006/relationships/hyperlink" Target="https://scholar.google.com/scholar?q=Mishra+2022+retail+transaction+machine+learning+latency" TargetMode="External"/></Relationships>
</file>

<file path=ppt/slides/_rels/slide15.xml.rels><?xml version='1.0' encoding='UTF-8' standalone='yes'?>
<Relationships xmlns="http://schemas.openxmlformats.org/package/2006/relationships"><Relationship Id="R012a57f27c154171" Type="http://schemas.openxmlformats.org/officeDocument/2006/relationships/image" Target="../media/image.jpeg"/><Relationship Id="R28e0a2499c3a4f40" Type="http://schemas.openxmlformats.org/officeDocument/2006/relationships/slideLayout" Target="../slideLayouts/slideLayout7.xml"/><Relationship Id="R343f071de4834e51" Type="http://schemas.openxmlformats.org/officeDocument/2006/relationships/notesSlide" Target="../notesSlides/notesSlide15.xml"/><Relationship Id="Rad3a145872db4331" Type="http://schemas.openxmlformats.org/officeDocument/2006/relationships/image" Target="../media/image.svg"/></Relationships>
</file>

<file path=ppt/slides/_rels/slide16.xml.rels><?xml version='1.0' encoding='UTF-8' standalone='yes'?>
<Relationships xmlns="http://schemas.openxmlformats.org/package/2006/relationships"><Relationship Id="R19ba02c02aac4be9" Type="http://schemas.openxmlformats.org/officeDocument/2006/relationships/image" Target="../media/image.svg"/><Relationship Id="Ra1ca9303f99a492f" Type="http://schemas.openxmlformats.org/officeDocument/2006/relationships/slideLayout" Target="../slideLayouts/slideLayout7.xml"/><Relationship Id="Rb864a973cbbe4a10" Type="http://schemas.openxmlformats.org/officeDocument/2006/relationships/image" Target="../media/image.jpeg"/><Relationship Id="Rf737a2234a6d4f5a" Type="http://schemas.openxmlformats.org/officeDocument/2006/relationships/notesSlide" Target="../notesSlides/notesSlide16.xml"/><Relationship Id="rId5" Type="http://schemas.openxmlformats.org/officeDocument/2006/relationships/hyperlink" Target="https://scholar.google.com/scholar?q=Bradlow+2023+Experimental+Design+Marketing+Analytics+Field+Experiments" TargetMode="External"/></Relationships>
</file>

<file path=ppt/slides/_rels/slide17.xml.rels><?xml version='1.0' encoding='UTF-8' standalone='yes'?>
<Relationships xmlns="http://schemas.openxmlformats.org/package/2006/relationships"><Relationship Id="R6eaea0ff186347a6" Type="http://schemas.openxmlformats.org/officeDocument/2006/relationships/image" Target="../media/image.svg"/><Relationship Id="R80f2f689c35c431a" Type="http://schemas.openxmlformats.org/officeDocument/2006/relationships/slideLayout" Target="../slideLayouts/slideLayout7.xml"/><Relationship Id="R8e4c41f17fe44612" Type="http://schemas.openxmlformats.org/officeDocument/2006/relationships/chart" Target="charts/chart4.xml"/><Relationship Id="Re67403b78e2f47d2" Type="http://schemas.openxmlformats.org/officeDocument/2006/relationships/image" Target="../media/image.jpeg"/><Relationship Id="Rfe1c447441f846c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32a4f2774a634475" Type="http://schemas.openxmlformats.org/officeDocument/2006/relationships/notesSlide" Target="../notesSlides/notesSlide18.xml"/><Relationship Id="R3c6ea1615871488d" Type="http://schemas.openxmlformats.org/officeDocument/2006/relationships/image" Target="../media/image.jpeg"/><Relationship Id="R69793eb9ee2a4dd0" Type="http://schemas.openxmlformats.org/officeDocument/2006/relationships/slideLayout" Target="../slideLayouts/slideLayout7.xml"/><Relationship Id="R90d4e8fda71b4a0b" Type="http://schemas.openxmlformats.org/officeDocument/2006/relationships/image" Target="../media/image.svg"/><Relationship Id="Rfea02d278a2d4e03" Type="http://schemas.openxmlformats.org/officeDocument/2006/relationships/image" Target="../media/image3.png"/><Relationship Id="rId6" Type="http://schemas.openxmlformats.org/officeDocument/2006/relationships/hyperlink" Target="https://scholar.google.com/scholar?q=Jolliffe+Cadima+2016+Principal+Component+Analysis+review+developments" TargetMode="External"/></Relationships>
</file>

<file path=ppt/slides/_rels/slide19.xml.rels><?xml version='1.0' encoding='UTF-8' standalone='yes'?>
<Relationships xmlns="http://schemas.openxmlformats.org/package/2006/relationships"><Relationship Id="R7173a9e40d3544c9" Type="http://schemas.openxmlformats.org/officeDocument/2006/relationships/image" Target="../media/image.svg"/><Relationship Id="R9b837070f6864478" Type="http://schemas.openxmlformats.org/officeDocument/2006/relationships/slideLayout" Target="../slideLayouts/slideLayout7.xml"/><Relationship Id="Rc56017b0d97444c9" Type="http://schemas.openxmlformats.org/officeDocument/2006/relationships/notesSlide" Target="../notesSlides/notesSlide19.xml"/><Relationship Id="Red2b8013edce41bb" Type="http://schemas.openxmlformats.org/officeDocument/2006/relationships/image" Target="../media/image.jpeg"/><Relationship Id="rId5" Type="http://schemas.openxmlformats.org/officeDocument/2006/relationships/hyperlink" Target="https://scholar.google.com/scholar?q=Posch+Truden+2022+Bayesian+approach+predicting+food+beverage+sales" TargetMode="External"/></Relationships>
</file>

<file path=ppt/slides/_rels/slide20.xml.rels><?xml version='1.0' encoding='UTF-8' standalone='yes'?>
<Relationships xmlns="http://schemas.openxmlformats.org/package/2006/relationships"><Relationship Id="R3d3a2d23c7e24bb3" Type="http://schemas.openxmlformats.org/officeDocument/2006/relationships/notesSlide" Target="../notesSlides/notesSlide20.xml"/><Relationship Id="R6cafa7b640b545b2" Type="http://schemas.openxmlformats.org/officeDocument/2006/relationships/image" Target="../media/image4.png"/><Relationship Id="R7903ae921bc14e85" Type="http://schemas.openxmlformats.org/officeDocument/2006/relationships/image" Target="../media/image.svg"/><Relationship Id="Rbf8d8d4ab7894316" Type="http://schemas.openxmlformats.org/officeDocument/2006/relationships/image" Target="../media/image.jpeg"/><Relationship Id="Rc2b99260019d4f3f" Type="http://schemas.openxmlformats.org/officeDocument/2006/relationships/slideLayout" Target="../slideLayouts/slideLayout7.xml"/><Relationship Id="rId6" Type="http://schemas.openxmlformats.org/officeDocument/2006/relationships/hyperlink" Target="https://scholar.google.com/scholar?q=Santos+2022+Time+series+demand+forecasting+cafes+restaurants+ARIMA" TargetMode="External"/><Relationship Id="rId7" Type="http://schemas.openxmlformats.org/officeDocument/2006/relationships/hyperlink" Target="https://scholar.google.com/scholar?q=Hyndman+Kostenko+Minimum+sample+size+seasonal+time+series" TargetMode="External"/></Relationships>
</file>

<file path=ppt/slides/_rels/slide21.xml.rels><?xml version='1.0' encoding='UTF-8' standalone='yes'?>
<Relationships xmlns="http://schemas.openxmlformats.org/package/2006/relationships"><Relationship Id="R0c30caf56b694d9c" Type="http://schemas.openxmlformats.org/officeDocument/2006/relationships/chart" Target="charts/chart5.xml"/><Relationship Id="R0e06e803e6db4285" Type="http://schemas.openxmlformats.org/officeDocument/2006/relationships/chart" Target="charts/chart6.xml"/><Relationship Id="R30d87ccf70654a50" Type="http://schemas.openxmlformats.org/officeDocument/2006/relationships/notesSlide" Target="../notesSlides/notesSlide21.xml"/><Relationship Id="R36de2ed790354c19" Type="http://schemas.openxmlformats.org/officeDocument/2006/relationships/slideLayout" Target="../slideLayouts/slideLayout7.xml"/><Relationship Id="R6b5b557e5e38491b" Type="http://schemas.openxmlformats.org/officeDocument/2006/relationships/image" Target="../media/image.jpeg"/><Relationship Id="R97ddd9b66bc74ce6" Type="http://schemas.openxmlformats.org/officeDocument/2006/relationships/image" Target="../media/image.svg"/><Relationship Id="rId7" Type="http://schemas.openxmlformats.org/officeDocument/2006/relationships/hyperlink" Target="https://scholar.google.com/scholar?q=Hyndman+Khandakar+2008+Automatic+Time+Series+Forecasting+forecast+Package+R" TargetMode="External"/><Relationship Id="rId8" Type="http://schemas.openxmlformats.org/officeDocument/2006/relationships/hyperlink" Target="https://scholar.google.com/scholar?q=Rodrigues+2024+demand+forecasting+food+catering+services" TargetMode="External"/></Relationships>
</file>

<file path=ppt/slides/_rels/slide22.xml.rels><?xml version='1.0' encoding='UTF-8' standalone='yes'?>
<Relationships xmlns="http://schemas.openxmlformats.org/package/2006/relationships"><Relationship Id="R02c23fc9e37741db" Type="http://schemas.openxmlformats.org/officeDocument/2006/relationships/slideLayout" Target="../slideLayouts/slideLayout7.xml"/><Relationship Id="R3f070159814c408b" Type="http://schemas.openxmlformats.org/officeDocument/2006/relationships/image" Target="../media/image.svg"/><Relationship Id="R706ad5662f9d43ab" Type="http://schemas.openxmlformats.org/officeDocument/2006/relationships/notesSlide" Target="../notesSlides/notesSlide22.xml"/><Relationship Id="Rabcebe5e142141ac" Type="http://schemas.openxmlformats.org/officeDocument/2006/relationships/image" Target="../media/image.jpeg"/><Relationship Id="rId5" Type="http://schemas.openxmlformats.org/officeDocument/2006/relationships/hyperlink" Target="https://scholar.google.com/scholar?q=Ljung+Box+1978+On+a+measure+of+lack+of+fit+in+time+series+models" TargetMode="External"/></Relationships>
</file>

<file path=ppt/slides/_rels/slide23.xml.rels><?xml version='1.0' encoding='UTF-8' standalone='yes'?>
<Relationships xmlns="http://schemas.openxmlformats.org/package/2006/relationships"><Relationship Id="R8fdb6d813d8943f4" Type="http://schemas.openxmlformats.org/officeDocument/2006/relationships/slideLayout" Target="../slideLayouts/slideLayout7.xml"/><Relationship Id="Rc7548ce2443f4b43" Type="http://schemas.openxmlformats.org/officeDocument/2006/relationships/notesSlide" Target="../notesSlides/notesSlide23.xml"/><Relationship Id="Re3749ef6641b4409" Type="http://schemas.openxmlformats.org/officeDocument/2006/relationships/image" Target="../media/image.svg"/><Relationship Id="Rf3be1d10f1e347ad" Type="http://schemas.openxmlformats.org/officeDocument/2006/relationships/image" Target="../media/image.jpeg"/></Relationships>
</file>

<file path=ppt/slides/_rels/slide24.xml.rels><?xml version='1.0' encoding='UTF-8' standalone='yes'?>
<Relationships xmlns="http://schemas.openxmlformats.org/package/2006/relationships"><Relationship Id="R49d54e10fbe14069" Type="http://schemas.openxmlformats.org/officeDocument/2006/relationships/image" Target="../media/image.svg"/><Relationship Id="R61b6eea78c0d4f61" Type="http://schemas.openxmlformats.org/officeDocument/2006/relationships/notesSlide" Target="../notesSlides/notesSlide24.xml"/><Relationship Id="R7eb26e739c1241aa" Type="http://schemas.openxmlformats.org/officeDocument/2006/relationships/slideLayout" Target="../slideLayouts/slideLayout7.xml"/><Relationship Id="Rb61548a87a9846d0" Type="http://schemas.openxmlformats.org/officeDocument/2006/relationships/image" Target="../media/image.jpeg"/></Relationships>
</file>

<file path=ppt/slides/_rels/slide25.xml.rels><?xml version='1.0' encoding='UTF-8' standalone='yes'?>
<Relationships xmlns="http://schemas.openxmlformats.org/package/2006/relationships"><Relationship Id="R7e5ed2456902453c" Type="http://schemas.openxmlformats.org/officeDocument/2006/relationships/slideLayout" Target="../slideLayouts/slideLayout7.xml"/><Relationship Id="R8e168ebc4b4846b6" Type="http://schemas.openxmlformats.org/officeDocument/2006/relationships/notesSlide" Target="../notesSlides/notesSlide25.xml"/><Relationship Id="Rd2abb481902a4066" Type="http://schemas.openxmlformats.org/officeDocument/2006/relationships/image" Target="../media/image.jpeg"/><Relationship Id="Reb545ea68a4247fa" Type="http://schemas.openxmlformats.org/officeDocument/2006/relationships/image" Target="../media/image.svg"/></Relationships>
</file>

<file path=ppt/slides/_rels/slide26.xml.rels><?xml version='1.0' encoding='UTF-8' standalone='yes'?>
<Relationships xmlns="http://schemas.openxmlformats.org/package/2006/relationships"><Relationship Id="R135be21ff4f74723" Type="http://schemas.openxmlformats.org/officeDocument/2006/relationships/image" Target="../media/image.jpeg"/><Relationship Id="R18b9eaa3b8d04598" Type="http://schemas.openxmlformats.org/officeDocument/2006/relationships/image" Target="../media/image.svg"/><Relationship Id="R9be4e9d7aa5241bf" Type="http://schemas.openxmlformats.org/officeDocument/2006/relationships/slideLayout" Target="../slideLayouts/slideLayout7.xml"/><Relationship Id="Re868ea333dd04e7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24ee14eb4ecc40bc" Type="http://schemas.openxmlformats.org/officeDocument/2006/relationships/image" Target="../media/image.jpeg"/><Relationship Id="R9264d513c77248d7" Type="http://schemas.openxmlformats.org/officeDocument/2006/relationships/slideLayout" Target="../slideLayouts/slideLayout7.xml"/><Relationship Id="R9bd63dc3512a406c" Type="http://schemas.openxmlformats.org/officeDocument/2006/relationships/notesSlide" Target="../notesSlides/notesSlide27.xml"/><Relationship Id="Rbed6a7879b834088" Type="http://schemas.openxmlformats.org/officeDocument/2006/relationships/image" Target="../media/image.svg"/></Relationships>
</file>

<file path=ppt/slides/_rels/slide28.xml.rels><?xml version='1.0' encoding='UTF-8' standalone='yes'?>
<Relationships xmlns="http://schemas.openxmlformats.org/package/2006/relationships"><Relationship Id="R141423ff2b224aae" Type="http://schemas.openxmlformats.org/officeDocument/2006/relationships/slideLayout" Target="../slideLayouts/slideLayout7.xml"/><Relationship Id="R22778c7c76114e87" Type="http://schemas.openxmlformats.org/officeDocument/2006/relationships/image" Target="../media/image.jpeg"/><Relationship Id="R2fafef90a2694c50" Type="http://schemas.openxmlformats.org/officeDocument/2006/relationships/image" Target="../media/image.svg"/><Relationship Id="R4ad0a7bfaff2422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20a31c02dc8c41e5" Type="http://schemas.openxmlformats.org/officeDocument/2006/relationships/image" Target="../media/image.jpeg"/><Relationship Id="R33029b22dfaf43ad" Type="http://schemas.openxmlformats.org/officeDocument/2006/relationships/image" Target="../media/image.svg"/><Relationship Id="Rc1b9e3052e334c2f" Type="http://schemas.openxmlformats.org/officeDocument/2006/relationships/slideLayout" Target="../slideLayouts/slideLayout7.xml"/><Relationship Id="Rcb69f740ae4a42c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25ce083ff19c4fbe" Type="http://schemas.openxmlformats.org/officeDocument/2006/relationships/notesSlide" Target="../notesSlides/notesSlide30.xml"/><Relationship Id="R77a311e144534f49" Type="http://schemas.openxmlformats.org/officeDocument/2006/relationships/image" Target="../media/image.jpeg"/><Relationship Id="Rc5777dd6f72847b7" Type="http://schemas.openxmlformats.org/officeDocument/2006/relationships/image" Target="../media/image.svg"/><Relationship Id="Rc7443af14d7844e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2e284682df714de9" Type="http://schemas.openxmlformats.org/officeDocument/2006/relationships/image" Target="../media/image.jpeg"/><Relationship Id="Rb0dd91d817374d43" Type="http://schemas.openxmlformats.org/officeDocument/2006/relationships/notesSlide" Target="../notesSlides/notesSlide31.xml"/><Relationship Id="Rbc92cc9087804866" Type="http://schemas.openxmlformats.org/officeDocument/2006/relationships/image" Target="../media/image.svg"/><Relationship Id="Ref25c4b034544334" Type="http://schemas.openxmlformats.org/officeDocument/2006/relationships/slideLayout" Target="../slideLayouts/slideLayout7.xml"/><Relationship Id="rId5" Type="http://schemas.openxmlformats.org/officeDocument/2006/relationships/hyperlink" Target="https://scholar.google.com/scholar?q=A+Review+of+Forecasting+Studies+for+the+Restaurant+Industry+Choi+2022" TargetMode="External"/><Relationship Id="rId6" Type="http://schemas.openxmlformats.org/officeDocument/2006/relationships/hyperlink" Target="https://scholar.google.com/scholar?q=A+Bayesian+approach+for+predicting+food+and+beverage+sales+in+staff+canteens+Posch+2022" TargetMode="External"/><Relationship Id="rId7" Type="http://schemas.openxmlformats.org/officeDocument/2006/relationships/hyperlink" Target="https://scholar.google.com/scholar?q=Machine+learning+models+for+short-term+demand+forecasting+in+food+catering+services+Rodrigues+2024" TargetMode="External"/><Relationship Id="rId8" Type="http://schemas.openxmlformats.org/officeDocument/2006/relationships/hyperlink" Target="https://scholar.google.com/scholar?q=Introduction+of+AI-based+sales+forecasting+food+and+beverage+Groene+2024" TargetMode="External"/><Relationship Id="rId9" Type="http://schemas.openxmlformats.org/officeDocument/2006/relationships/hyperlink" Target="https://scholar.google.com/scholar?q=Machine-learning-based+demand+forecasting+against+food+waste+Hubner+2024" TargetMode="External"/></Relationships>
</file>

<file path=ppt/slides/_rels/slide32.xml.rels><?xml version='1.0' encoding='UTF-8' standalone='yes'?>
<Relationships xmlns="http://schemas.openxmlformats.org/package/2006/relationships"><Relationship Id="R32af6c4b38214124" Type="http://schemas.openxmlformats.org/officeDocument/2006/relationships/image" Target="../media/image.jpeg"/><Relationship Id="R7504c85b48d04b7f" Type="http://schemas.openxmlformats.org/officeDocument/2006/relationships/image" Target="../media/image.svg"/><Relationship Id="Rc2e0cc56112d440b" Type="http://schemas.openxmlformats.org/officeDocument/2006/relationships/notesSlide" Target="../notesSlides/notesSlide32.xml"/><Relationship Id="Re7ef2d8321994dcc" Type="http://schemas.openxmlformats.org/officeDocument/2006/relationships/slideLayout" Target="../slideLayouts/slideLayout7.xml"/><Relationship Id="rId5" Type="http://schemas.openxmlformats.org/officeDocument/2006/relationships/hyperlink" Target="https://scholar.google.com/scholar?q=The+use+of+multiple+measurements+in+taxonomic+problems+Fisher+1936" TargetMode="External"/><Relationship Id="rId6" Type="http://schemas.openxmlformats.org/officeDocument/2006/relationships/hyperlink" Target="https://scholar.google.com/scholar?q=The+generalization+of+Student+problem+several+different+population+variances+Welch+1947" TargetMode="External"/><Relationship Id="rId7" Type="http://schemas.openxmlformats.org/officeDocument/2006/relationships/hyperlink" Target="https://scholar.google.com/scholar?q=Principal+component+analysis+review+recent+developments+Jolliffe+2016" TargetMode="External"/><Relationship Id="rId8" Type="http://schemas.openxmlformats.org/officeDocument/2006/relationships/hyperlink" Target="https://scholar.google.com/scholar?q=A+Simple+Generalisation+of+the+Area+Under+the+ROC+Curve+Hand+Till+2001" TargetMode="External"/><Relationship Id="rId9" Type="http://schemas.openxmlformats.org/officeDocument/2006/relationships/hyperlink" Target="https://scholar.google.com/scholar?q=The+Precision-Recall+Plot+Is+More+Informative+than+the+ROC+Plot+Saito+2015" TargetMode="External"/></Relationships>
</file>

<file path=ppt/slides/_rels/slide33.xml.rels><?xml version='1.0' encoding='UTF-8' standalone='yes'?>
<Relationships xmlns="http://schemas.openxmlformats.org/package/2006/relationships"><Relationship Id="R2928bc3f621e4349" Type="http://schemas.openxmlformats.org/officeDocument/2006/relationships/image" Target="../media/image.jpeg"/><Relationship Id="R3050aee46fd44017" Type="http://schemas.openxmlformats.org/officeDocument/2006/relationships/slideLayout" Target="../slideLayouts/slideLayout7.xml"/><Relationship Id="R39ae12adfd86450d" Type="http://schemas.openxmlformats.org/officeDocument/2006/relationships/image" Target="../media/image.svg"/><Relationship Id="R7b8183d55ff443d7" Type="http://schemas.openxmlformats.org/officeDocument/2006/relationships/notesSlide" Target="../notesSlides/notesSlide33.xml"/><Relationship Id="rId5" Type="http://schemas.openxmlformats.org/officeDocument/2006/relationships/hyperlink" Target="https://scholar.google.com/scholar?q=Automatic+Time+Series+Forecasting+forecast+Package+R+Hyndman+2008" TargetMode="External"/><Relationship Id="rId6" Type="http://schemas.openxmlformats.org/officeDocument/2006/relationships/hyperlink" Target="https://scholar.google.com/scholar?q=On+a+measure+of+lack+of+fit+in+time+series+models+Ljung+Box+1978" TargetMode="External"/><Relationship Id="rId7" Type="http://schemas.openxmlformats.org/officeDocument/2006/relationships/hyperlink" Target="https://scholar.google.com/scholar?q=Approximate+Statistical+Tests+for+Comparing+Supervised+Classification+Dietterich+1998" TargetMode="External"/><Relationship Id="rId8" Type="http://schemas.openxmlformats.org/officeDocument/2006/relationships/hyperlink" Target="https://scholar.google.com/scholar?q=Regression+Shrinkage+and+Selection+Via+the+Lasso+Tibshirani+1996" TargetMode="External"/><Relationship Id="rId9" Type="http://schemas.openxmlformats.org/officeDocument/2006/relationships/hyperlink" Target="https://scholar.google.com/scholar?q=Regularization+Paths+for+Generalized+Linear+Models+via+Coordinate+Descent+Friedman+2010" TargetMode="External"/></Relationships>
</file>

<file path=ppt/slides/_rels/slide34.xml.rels><?xml version='1.0' encoding='UTF-8' standalone='yes'?>
<Relationships xmlns="http://schemas.openxmlformats.org/package/2006/relationships"><Relationship Id="R672326cc1c2845d3" Type="http://schemas.openxmlformats.org/officeDocument/2006/relationships/image" Target="../media/image.jpeg"/><Relationship Id="Rbc5c04faa2194365" Type="http://schemas.openxmlformats.org/officeDocument/2006/relationships/notesSlide" Target="../notesSlides/notesSlide34.xml"/><Relationship Id="Rd092869cb4bf4bb8" Type="http://schemas.openxmlformats.org/officeDocument/2006/relationships/image" Target="../media/image.svg"/><Relationship Id="Rdcede44aa93d4f87" Type="http://schemas.openxmlformats.org/officeDocument/2006/relationships/slideLayout" Target="../slideLayouts/slideLayout7.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_rels/chart6.xml.rels><?xml version='1.0' encoding='UTF-8' standalone='yes'?>
<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c:lang val="en-US"/>
  <c:chart>
    <c:plotArea>
      <c:barChart>
        <c:barDir val="col"/>
        <c:varyColors val="0"/>
        <c:ser>
          <c:idx val="0"/>
          <c:order val="0"/>
          <c:tx>
            <c:v>Item-line share (%)</c:v>
          </c:tx>
          <c:spPr>
            <a:solidFill xmlns:a="http://schemas.openxmlformats.org/drawingml/2006/main">
              <a:srgbClr val="FF6705"/>
            </a:solidFill>
          </c:spPr>
          <c:invertIfNegative val="0"/>
          <c:cat>
            <c:strRef>
              <c:f>'Chart Data'!$A$2:$A$5</c:f>
              <c:strCache>
                <c:ptCount val="4"/>
                <c:pt idx="0">
                  <c:v>Beverage</c:v>
                </c:pt>
                <c:pt idx="1">
                  <c:v>Food</c:v>
                </c:pt>
                <c:pt idx="2">
                  <c:v>Deals</c:v>
                </c:pt>
                <c:pt idx="3">
                  <c:v>Merch.</c:v>
                </c:pt>
              </c:strCache>
            </c:strRef>
          </c:cat>
          <c:val>
            <c:numRef>
              <c:f>'Chart Data'!$B$2:$B$5</c:f>
              <c:numCache>
                <c:formatCode>0"%"</c:formatCode>
                <c:ptCount val="4"/>
                <c:pt idx="0">
                  <c:v>52.17</c:v>
                </c:pt>
                <c:pt idx="1">
                  <c:v>33.71</c:v>
                </c:pt>
                <c:pt idx="2">
                  <c:v>8.73</c:v>
                </c:pt>
                <c:pt idx="3">
                  <c:v>5.39</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2363">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60"/>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varyColors val="0"/>
        <c:ser>
          <c:idx val="0"/>
          <c:order val="0"/>
          <c:tx>
            <c:v>Mean daily orders</c:v>
          </c:tx>
          <c:spPr>
            <a:solidFill xmlns:a="http://schemas.openxmlformats.org/drawingml/2006/main">
              <a:srgbClr val="FF6705"/>
            </a:solidFill>
          </c:spPr>
          <c:invertIfNegative val="0"/>
          <c:cat>
            <c:strRef>
              <c:f>'Chart Data'!$A$2:$A$8</c:f>
              <c:strCache>
                <c:ptCount val="7"/>
                <c:pt idx="0">
                  <c:v>Mon</c:v>
                </c:pt>
                <c:pt idx="1">
                  <c:v>Tue</c:v>
                </c:pt>
                <c:pt idx="2">
                  <c:v>Wed</c:v>
                </c:pt>
                <c:pt idx="3">
                  <c:v>Thu</c:v>
                </c:pt>
                <c:pt idx="4">
                  <c:v>Fri</c:v>
                </c:pt>
                <c:pt idx="5">
                  <c:v>Sat</c:v>
                </c:pt>
                <c:pt idx="6">
                  <c:v>Sun</c:v>
                </c:pt>
              </c:strCache>
            </c:strRef>
          </c:cat>
          <c:val>
            <c:numRef>
              <c:f>'Chart Data'!$B$2:$B$8</c:f>
              <c:numCache>
                <c:formatCode>General</c:formatCode>
                <c:ptCount val="7"/>
                <c:pt idx="0">
                  <c:v>202.9</c:v>
                </c:pt>
                <c:pt idx="1">
                  <c:v>204.4</c:v>
                </c:pt>
                <c:pt idx="2">
                  <c:v>204.1</c:v>
                </c:pt>
                <c:pt idx="3">
                  <c:v>197.1</c:v>
                </c:pt>
                <c:pt idx="4">
                  <c:v>250.3</c:v>
                </c:pt>
                <c:pt idx="5">
                  <c:v>261.9</c:v>
                </c:pt>
                <c:pt idx="6">
                  <c:v>270.1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025">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2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varyColors val="0"/>
        <c:ser>
          <c:idx val="0"/>
          <c:order val="0"/>
          <c:tx>
            <c:v>Top-1 accuracy</c:v>
          </c:tx>
          <c:spPr>
            <a:solidFill xmlns:a="http://schemas.openxmlformats.org/drawingml/2006/main">
              <a:srgbClr val="FF6705"/>
            </a:solidFill>
          </c:spPr>
          <c:invertIfNegative val="0"/>
          <c:cat>
            <c:strRef>
              <c:f>'Chart Data'!$A$2:$A$5</c:f>
              <c:strCache>
                <c:ptCount val="4"/>
                <c:pt idx="0">
                  <c:v>LDA</c:v>
                </c:pt>
                <c:pt idx="1">
                  <c:v>Multinomial</c:v>
                </c:pt>
                <c:pt idx="2">
                  <c:v>QDA</c:v>
                </c:pt>
                <c:pt idx="3">
                  <c:v>Naïve Bayes</c:v>
                </c:pt>
              </c:strCache>
            </c:strRef>
          </c:cat>
          <c:val>
            <c:numRef>
              <c:f>'Chart Data'!$B$2:$B$5</c:f>
              <c:numCache>
                <c:formatCode>0"%"</c:formatCode>
                <c:ptCount val="4"/>
                <c:pt idx="0">
                  <c:v>76.23</c:v>
                </c:pt>
                <c:pt idx="1">
                  <c:v>76.21</c:v>
                </c:pt>
                <c:pt idx="2">
                  <c:v>75.21</c:v>
                </c:pt>
                <c:pt idx="3">
                  <c:v>71.47</c:v>
                </c:pt>
              </c:numCache>
            </c:numRef>
          </c:val>
        </c:ser>
        <c:ser>
          <c:idx val="1"/>
          <c:order val="1"/>
          <c:tx>
            <c:v>Macro F1</c:v>
          </c:tx>
          <c:spPr>
            <a:solidFill xmlns:a="http://schemas.openxmlformats.org/drawingml/2006/main">
              <a:srgbClr val="8B624C"/>
            </a:solidFill>
          </c:spPr>
          <c:invertIfNegative val="0"/>
          <c:cat>
            <c:strRef>
              <c:f>'Chart Data'!$C$2:$C$5</c:f>
              <c:strCache>
                <c:ptCount val="4"/>
                <c:pt idx="0">
                  <c:v>LDA</c:v>
                </c:pt>
                <c:pt idx="1">
                  <c:v>Multinomial</c:v>
                </c:pt>
                <c:pt idx="2">
                  <c:v>QDA</c:v>
                </c:pt>
                <c:pt idx="3">
                  <c:v>Naïve Bayes</c:v>
                </c:pt>
              </c:strCache>
            </c:strRef>
          </c:cat>
          <c:val>
            <c:numRef>
              <c:f>'Chart Data'!$D$2:$D$5</c:f>
              <c:numCache>
                <c:formatCode>0"%"</c:formatCode>
                <c:ptCount val="4"/>
                <c:pt idx="0">
                  <c:v>76.14</c:v>
                </c:pt>
                <c:pt idx="1">
                  <c:v>76.02</c:v>
                </c:pt>
                <c:pt idx="2">
                  <c:v>75.82</c:v>
                </c:pt>
                <c:pt idx="3">
                  <c:v>72.35</c:v>
                </c:pt>
              </c:numCache>
            </c:numRef>
          </c:val>
        </c:ser>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100"/>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2250">
              <a:solidFill>
                <a:srgbClr val="281C16"/>
              </a:solidFill>
              <a:latin typeface="TT Fors"/>
              <a:ea typeface="TT Fors"/>
              <a:cs typeface="TT Fors"/>
            </a:defRPr>
          </a:pPr>
        </a:p>
      </c:txPr>
    </c:legend>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4.xml><?xml version="1.0" encoding="utf-8"?>
<c:chartSpace xmlns:c="http://schemas.openxmlformats.org/drawingml/2006/chart">
  <c:lang val="en-US"/>
  <c:chart>
    <c:plotArea>
      <c:barChart>
        <c:barDir val="col"/>
        <c:varyColors val="0"/>
        <c:ser>
          <c:idx val="0"/>
          <c:order val="0"/>
          <c:tx>
            <c:v>Variance explained (%)</c:v>
          </c:tx>
          <c:spPr>
            <a:solidFill xmlns:a="http://schemas.openxmlformats.org/drawingml/2006/main">
              <a:srgbClr val="FF6705"/>
            </a:solidFill>
          </c:spPr>
          <c:invertIfNegative val="0"/>
          <c:cat>
            <c:strRef>
              <c:f>'Chart Data'!$A$2:$A$6</c:f>
              <c:strCache>
                <c:ptCount val="5"/>
                <c:pt idx="0">
                  <c:v>PC1</c:v>
                </c:pt>
                <c:pt idx="1">
                  <c:v>PC2</c:v>
                </c:pt>
                <c:pt idx="2">
                  <c:v>PC3</c:v>
                </c:pt>
                <c:pt idx="3">
                  <c:v>PC4</c:v>
                </c:pt>
                <c:pt idx="4">
                  <c:v>PC5</c:v>
                </c:pt>
              </c:strCache>
            </c:strRef>
          </c:cat>
          <c:val>
            <c:numRef>
              <c:f>'Chart Data'!$B$2:$B$6</c:f>
              <c:numCache>
                <c:formatCode>0"%"</c:formatCode>
                <c:ptCount val="5"/>
                <c:pt idx="0">
                  <c:v>45.3</c:v>
                </c:pt>
                <c:pt idx="1">
                  <c:v>20.22</c:v>
                </c:pt>
                <c:pt idx="2">
                  <c:v>19.88</c:v>
                </c:pt>
                <c:pt idx="3">
                  <c:v>14.58</c:v>
                </c:pt>
                <c:pt idx="4">
                  <c:v>0.01</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2025">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55"/>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5.xml><?xml version="1.0" encoding="utf-8"?>
<c:chartSpace xmlns:c="http://schemas.openxmlformats.org/drawingml/2006/chart">
  <c:lang val="en-US"/>
  <c:chart>
    <c:plotArea>
      <c:lineChart>
        <c:grouping val="standard"/>
        <c:varyColors val="0"/>
        <c:ser>
          <c:idx val="0"/>
          <c:order val="0"/>
          <c:tx>
            <c:v>Observed orders</c:v>
          </c:tx>
          <c:spPr>
            <a:ln xmlns:a="http://schemas.openxmlformats.org/drawingml/2006/main" w="19050">
              <a:solidFill>
                <a:srgbClr val="FF6705"/>
              </a:solidFill>
              <a:prstDash val="solid"/>
            </a:ln>
          </c:spPr>
          <c:marker>
            <c:symbol val="none"/>
          </c:marker>
          <c:cat>
            <c:strRef>
              <c:f>'Chart Data'!$A$2:$A$91</c:f>
              <c:strCache>
                <c:ptCount val="90"/>
                <c:pt idx="0">
                  <c:v>2026-01-01</c:v>
                </c:pt>
                <c:pt idx="1">
                  <c:v>2026-01-02</c:v>
                </c:pt>
                <c:pt idx="2">
                  <c:v>2026-01-03</c:v>
                </c:pt>
                <c:pt idx="3">
                  <c:v>2026-01-04</c:v>
                </c:pt>
                <c:pt idx="4">
                  <c:v>2026-01-05</c:v>
                </c:pt>
                <c:pt idx="5">
                  <c:v>2026-01-06</c:v>
                </c:pt>
                <c:pt idx="6">
                  <c:v>2026-01-07</c:v>
                </c:pt>
                <c:pt idx="7">
                  <c:v>2026-01-08</c:v>
                </c:pt>
                <c:pt idx="8">
                  <c:v>2026-01-09</c:v>
                </c:pt>
                <c:pt idx="9">
                  <c:v>2026-01-10</c:v>
                </c:pt>
                <c:pt idx="10">
                  <c:v>2026-01-11</c:v>
                </c:pt>
                <c:pt idx="11">
                  <c:v>2026-01-12</c:v>
                </c:pt>
                <c:pt idx="12">
                  <c:v>2026-01-13</c:v>
                </c:pt>
                <c:pt idx="13">
                  <c:v>2026-01-14</c:v>
                </c:pt>
                <c:pt idx="14">
                  <c:v>2026-01-15</c:v>
                </c:pt>
                <c:pt idx="15">
                  <c:v>2026-01-16</c:v>
                </c:pt>
                <c:pt idx="16">
                  <c:v>2026-01-17</c:v>
                </c:pt>
                <c:pt idx="17">
                  <c:v>2026-01-18</c:v>
                </c:pt>
                <c:pt idx="18">
                  <c:v>2026-01-19</c:v>
                </c:pt>
                <c:pt idx="19">
                  <c:v>2026-01-20</c:v>
                </c:pt>
                <c:pt idx="20">
                  <c:v>2026-01-21</c:v>
                </c:pt>
                <c:pt idx="21">
                  <c:v>2026-01-22</c:v>
                </c:pt>
                <c:pt idx="22">
                  <c:v>2026-01-23</c:v>
                </c:pt>
                <c:pt idx="23">
                  <c:v>2026-01-24</c:v>
                </c:pt>
                <c:pt idx="24">
                  <c:v>2026-01-25</c:v>
                </c:pt>
                <c:pt idx="25">
                  <c:v>2026-01-26</c:v>
                </c:pt>
                <c:pt idx="26">
                  <c:v>2026-01-27</c:v>
                </c:pt>
                <c:pt idx="27">
                  <c:v>2026-01-28</c:v>
                </c:pt>
                <c:pt idx="28">
                  <c:v>2026-01-29</c:v>
                </c:pt>
                <c:pt idx="29">
                  <c:v>2026-01-30</c:v>
                </c:pt>
                <c:pt idx="30">
                  <c:v>2026-01-31</c:v>
                </c:pt>
                <c:pt idx="31">
                  <c:v>2026-02-01</c:v>
                </c:pt>
                <c:pt idx="32">
                  <c:v>2026-02-02</c:v>
                </c:pt>
                <c:pt idx="33">
                  <c:v>2026-02-03</c:v>
                </c:pt>
                <c:pt idx="34">
                  <c:v>2026-02-04</c:v>
                </c:pt>
                <c:pt idx="35">
                  <c:v>2026-02-05</c:v>
                </c:pt>
                <c:pt idx="36">
                  <c:v>2026-02-06</c:v>
                </c:pt>
                <c:pt idx="37">
                  <c:v>2026-02-07</c:v>
                </c:pt>
                <c:pt idx="38">
                  <c:v>2026-02-08</c:v>
                </c:pt>
                <c:pt idx="39">
                  <c:v>2026-02-09</c:v>
                </c:pt>
                <c:pt idx="40">
                  <c:v>2026-02-10</c:v>
                </c:pt>
                <c:pt idx="41">
                  <c:v>2026-02-11</c:v>
                </c:pt>
                <c:pt idx="42">
                  <c:v>2026-02-12</c:v>
                </c:pt>
                <c:pt idx="43">
                  <c:v>2026-02-13</c:v>
                </c:pt>
                <c:pt idx="44">
                  <c:v>2026-02-14</c:v>
                </c:pt>
                <c:pt idx="45">
                  <c:v>2026-02-15</c:v>
                </c:pt>
                <c:pt idx="46">
                  <c:v>2026-02-16</c:v>
                </c:pt>
                <c:pt idx="47">
                  <c:v>2026-02-17</c:v>
                </c:pt>
                <c:pt idx="48">
                  <c:v>2026-02-18</c:v>
                </c:pt>
                <c:pt idx="49">
                  <c:v>2026-02-19</c:v>
                </c:pt>
                <c:pt idx="50">
                  <c:v>2026-02-20</c:v>
                </c:pt>
                <c:pt idx="51">
                  <c:v>2026-02-21</c:v>
                </c:pt>
                <c:pt idx="52">
                  <c:v>2026-02-22</c:v>
                </c:pt>
                <c:pt idx="53">
                  <c:v>2026-02-23</c:v>
                </c:pt>
                <c:pt idx="54">
                  <c:v>2026-02-24</c:v>
                </c:pt>
                <c:pt idx="55">
                  <c:v>2026-02-25</c:v>
                </c:pt>
                <c:pt idx="56">
                  <c:v>2026-02-26</c:v>
                </c:pt>
                <c:pt idx="57">
                  <c:v>2026-02-27</c:v>
                </c:pt>
                <c:pt idx="58">
                  <c:v>2026-02-28</c:v>
                </c:pt>
                <c:pt idx="59">
                  <c:v>2026-03-01</c:v>
                </c:pt>
                <c:pt idx="60">
                  <c:v>2026-03-02</c:v>
                </c:pt>
                <c:pt idx="61">
                  <c:v>2026-03-03</c:v>
                </c:pt>
                <c:pt idx="62">
                  <c:v>2026-03-04</c:v>
                </c:pt>
                <c:pt idx="63">
                  <c:v>2026-03-05</c:v>
                </c:pt>
                <c:pt idx="64">
                  <c:v>2026-03-06</c:v>
                </c:pt>
                <c:pt idx="65">
                  <c:v>2026-03-07</c:v>
                </c:pt>
                <c:pt idx="66">
                  <c:v>2026-03-08</c:v>
                </c:pt>
                <c:pt idx="67">
                  <c:v>2026-03-09</c:v>
                </c:pt>
                <c:pt idx="68">
                  <c:v>2026-03-10</c:v>
                </c:pt>
                <c:pt idx="69">
                  <c:v>2026-03-11</c:v>
                </c:pt>
                <c:pt idx="70">
                  <c:v>2026-03-12</c:v>
                </c:pt>
                <c:pt idx="71">
                  <c:v>2026-03-13</c:v>
                </c:pt>
                <c:pt idx="72">
                  <c:v>2026-03-14</c:v>
                </c:pt>
                <c:pt idx="73">
                  <c:v>2026-03-15</c:v>
                </c:pt>
                <c:pt idx="74">
                  <c:v>2026-03-16</c:v>
                </c:pt>
                <c:pt idx="75">
                  <c:v>2026-03-17</c:v>
                </c:pt>
                <c:pt idx="76">
                  <c:v>2026-03-18</c:v>
                </c:pt>
                <c:pt idx="77">
                  <c:v>2026-03-19</c:v>
                </c:pt>
                <c:pt idx="78">
                  <c:v>2026-03-20</c:v>
                </c:pt>
                <c:pt idx="79">
                  <c:v>2026-03-21</c:v>
                </c:pt>
                <c:pt idx="80">
                  <c:v>2026-03-22</c:v>
                </c:pt>
                <c:pt idx="81">
                  <c:v>2026-03-23</c:v>
                </c:pt>
                <c:pt idx="82">
                  <c:v>2026-03-24</c:v>
                </c:pt>
                <c:pt idx="83">
                  <c:v>2026-03-25</c:v>
                </c:pt>
                <c:pt idx="84">
                  <c:v>2026-03-26</c:v>
                </c:pt>
                <c:pt idx="85">
                  <c:v>2026-03-27</c:v>
                </c:pt>
                <c:pt idx="86">
                  <c:v>2026-03-28</c:v>
                </c:pt>
                <c:pt idx="87">
                  <c:v>2026-03-29</c:v>
                </c:pt>
                <c:pt idx="88">
                  <c:v>2026-03-30</c:v>
                </c:pt>
                <c:pt idx="89">
                  <c:v>2026-03-31</c:v>
                </c:pt>
              </c:strCache>
            </c:strRef>
          </c:cat>
          <c:val>
            <c:numRef>
              <c:f>'Chart Data'!$B$2:$B$91</c:f>
              <c:numCache>
                <c:formatCode>General</c:formatCode>
                <c:ptCount val="90"/>
                <c:pt idx="0">
                  <c:v>233</c:v>
                </c:pt>
                <c:pt idx="1">
                  <c:v>282</c:v>
                </c:pt>
                <c:pt idx="2">
                  <c:v>247</c:v>
                </c:pt>
                <c:pt idx="3">
                  <c:v>306</c:v>
                </c:pt>
                <c:pt idx="4">
                  <c:v>211</c:v>
                </c:pt>
                <c:pt idx="5">
                  <c:v>202</c:v>
                </c:pt>
                <c:pt idx="6">
                  <c:v>219</c:v>
                </c:pt>
                <c:pt idx="7">
                  <c:v>171</c:v>
                </c:pt>
                <c:pt idx="8">
                  <c:v>255</c:v>
                </c:pt>
                <c:pt idx="9">
                  <c:v>292</c:v>
                </c:pt>
                <c:pt idx="10">
                  <c:v>265</c:v>
                </c:pt>
                <c:pt idx="11">
                  <c:v>218</c:v>
                </c:pt>
                <c:pt idx="12">
                  <c:v>235</c:v>
                </c:pt>
                <c:pt idx="13">
                  <c:v>180</c:v>
                </c:pt>
                <c:pt idx="14">
                  <c:v>197</c:v>
                </c:pt>
                <c:pt idx="15">
                  <c:v>282</c:v>
                </c:pt>
                <c:pt idx="16">
                  <c:v>322</c:v>
                </c:pt>
                <c:pt idx="17">
                  <c:v>229</c:v>
                </c:pt>
                <c:pt idx="18">
                  <c:v>198</c:v>
                </c:pt>
                <c:pt idx="19">
                  <c:v>205</c:v>
                </c:pt>
                <c:pt idx="20">
                  <c:v>232</c:v>
                </c:pt>
                <c:pt idx="21">
                  <c:v>171</c:v>
                </c:pt>
                <c:pt idx="22">
                  <c:v>287</c:v>
                </c:pt>
                <c:pt idx="23">
                  <c:v>318</c:v>
                </c:pt>
                <c:pt idx="24">
                  <c:v>225</c:v>
                </c:pt>
                <c:pt idx="25">
                  <c:v>201</c:v>
                </c:pt>
                <c:pt idx="26">
                  <c:v>191</c:v>
                </c:pt>
                <c:pt idx="27">
                  <c:v>232</c:v>
                </c:pt>
                <c:pt idx="28">
                  <c:v>196</c:v>
                </c:pt>
                <c:pt idx="29">
                  <c:v>272</c:v>
                </c:pt>
                <c:pt idx="30">
                  <c:v>296</c:v>
                </c:pt>
                <c:pt idx="31">
                  <c:v>304</c:v>
                </c:pt>
                <c:pt idx="32">
                  <c:v>191</c:v>
                </c:pt>
                <c:pt idx="33">
                  <c:v>215</c:v>
                </c:pt>
                <c:pt idx="34">
                  <c:v>160</c:v>
                </c:pt>
                <c:pt idx="35">
                  <c:v>227</c:v>
                </c:pt>
                <c:pt idx="36">
                  <c:v>193</c:v>
                </c:pt>
                <c:pt idx="37">
                  <c:v>238</c:v>
                </c:pt>
                <c:pt idx="38">
                  <c:v>314</c:v>
                </c:pt>
                <c:pt idx="39">
                  <c:v>209</c:v>
                </c:pt>
                <c:pt idx="40">
                  <c:v>190</c:v>
                </c:pt>
                <c:pt idx="41">
                  <c:v>195</c:v>
                </c:pt>
                <c:pt idx="42">
                  <c:v>163</c:v>
                </c:pt>
                <c:pt idx="43">
                  <c:v>285</c:v>
                </c:pt>
                <c:pt idx="44">
                  <c:v>263</c:v>
                </c:pt>
                <c:pt idx="45">
                  <c:v>319</c:v>
                </c:pt>
                <c:pt idx="46">
                  <c:v>231</c:v>
                </c:pt>
                <c:pt idx="47">
                  <c:v>211</c:v>
                </c:pt>
                <c:pt idx="48">
                  <c:v>238</c:v>
                </c:pt>
                <c:pt idx="49">
                  <c:v>210</c:v>
                </c:pt>
                <c:pt idx="50">
                  <c:v>224</c:v>
                </c:pt>
                <c:pt idx="51">
                  <c:v>253</c:v>
                </c:pt>
                <c:pt idx="52">
                  <c:v>259</c:v>
                </c:pt>
                <c:pt idx="53">
                  <c:v>223</c:v>
                </c:pt>
                <c:pt idx="54">
                  <c:v>163</c:v>
                </c:pt>
                <c:pt idx="55">
                  <c:v>220</c:v>
                </c:pt>
                <c:pt idx="56">
                  <c:v>214</c:v>
                </c:pt>
                <c:pt idx="57">
                  <c:v>208</c:v>
                </c:pt>
                <c:pt idx="58">
                  <c:v>244</c:v>
                </c:pt>
                <c:pt idx="59">
                  <c:v>272</c:v>
                </c:pt>
                <c:pt idx="60">
                  <c:v>214</c:v>
                </c:pt>
                <c:pt idx="61">
                  <c:v>239</c:v>
                </c:pt>
                <c:pt idx="62">
                  <c:v>221</c:v>
                </c:pt>
                <c:pt idx="63">
                  <c:v>205</c:v>
                </c:pt>
                <c:pt idx="64">
                  <c:v>274</c:v>
                </c:pt>
                <c:pt idx="65">
                  <c:v>236</c:v>
                </c:pt>
                <c:pt idx="66">
                  <c:v>245</c:v>
                </c:pt>
                <c:pt idx="67">
                  <c:v>226</c:v>
                </c:pt>
                <c:pt idx="68">
                  <c:v>215</c:v>
                </c:pt>
                <c:pt idx="69">
                  <c:v>179</c:v>
                </c:pt>
                <c:pt idx="70">
                  <c:v>163</c:v>
                </c:pt>
                <c:pt idx="71">
                  <c:v>205</c:v>
                </c:pt>
                <c:pt idx="72">
                  <c:v>239</c:v>
                </c:pt>
                <c:pt idx="73">
                  <c:v>268</c:v>
                </c:pt>
                <c:pt idx="74">
                  <c:v>176</c:v>
                </c:pt>
                <c:pt idx="75">
                  <c:v>218</c:v>
                </c:pt>
                <c:pt idx="76">
                  <c:v>161</c:v>
                </c:pt>
                <c:pt idx="77">
                  <c:v>190</c:v>
                </c:pt>
                <c:pt idx="78">
                  <c:v>241</c:v>
                </c:pt>
                <c:pt idx="79">
                  <c:v>216</c:v>
                </c:pt>
                <c:pt idx="80">
                  <c:v>279</c:v>
                </c:pt>
                <c:pt idx="81">
                  <c:v>173</c:v>
                </c:pt>
                <c:pt idx="82">
                  <c:v>189</c:v>
                </c:pt>
                <c:pt idx="83">
                  <c:v>212</c:v>
                </c:pt>
                <c:pt idx="84">
                  <c:v>222</c:v>
                </c:pt>
                <c:pt idx="85">
                  <c:v>246</c:v>
                </c:pt>
                <c:pt idx="86">
                  <c:v>241</c:v>
                </c:pt>
                <c:pt idx="87">
                  <c:v>226</c:v>
                </c:pt>
                <c:pt idx="88">
                  <c:v>167</c:v>
                </c:pt>
                <c:pt idx="89">
                  <c:v>184</c:v>
                </c:pt>
              </c:numCache>
            </c:numRef>
          </c:val>
          <c:smooth val="0"/>
        </c:ser>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6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6.xml><?xml version="1.0" encoding="utf-8"?>
<c:chartSpace xmlns:c="http://schemas.openxmlformats.org/drawingml/2006/chart">
  <c:lang val="en-US"/>
  <c:chart>
    <c:plotArea>
      <c:lineChart>
        <c:grouping val="standard"/>
        <c:varyColors val="0"/>
        <c:ser>
          <c:idx val="0"/>
          <c:order val="0"/>
          <c:tx>
            <c:v>April forecast</c:v>
          </c:tx>
          <c:spPr>
            <a:ln xmlns:a="http://schemas.openxmlformats.org/drawingml/2006/main" w="28575">
              <a:solidFill>
                <a:srgbClr val="FF6705"/>
              </a:solidFill>
              <a:prstDash val="solid"/>
            </a:ln>
          </c:spPr>
          <c:marker>
            <c:symbol val="none"/>
          </c:marker>
          <c:cat>
            <c:strRef>
              <c:f>'Chart Data'!$A$2:$A$31</c:f>
              <c:strCache>
                <c:ptCount val="30"/>
                <c:pt idx="0">
                  <c:v>2026-04-01</c:v>
                </c:pt>
                <c:pt idx="1">
                  <c:v>2026-04-02</c:v>
                </c:pt>
                <c:pt idx="2">
                  <c:v>2026-04-03</c:v>
                </c:pt>
                <c:pt idx="3">
                  <c:v>2026-04-04</c:v>
                </c:pt>
                <c:pt idx="4">
                  <c:v>2026-04-05</c:v>
                </c:pt>
                <c:pt idx="5">
                  <c:v>2026-04-06</c:v>
                </c:pt>
                <c:pt idx="6">
                  <c:v>2026-04-07</c:v>
                </c:pt>
                <c:pt idx="7">
                  <c:v>2026-04-08</c:v>
                </c:pt>
                <c:pt idx="8">
                  <c:v>2026-04-09</c:v>
                </c:pt>
                <c:pt idx="9">
                  <c:v>2026-04-10</c:v>
                </c:pt>
                <c:pt idx="10">
                  <c:v>2026-04-11</c:v>
                </c:pt>
                <c:pt idx="11">
                  <c:v>2026-04-12</c:v>
                </c:pt>
                <c:pt idx="12">
                  <c:v>2026-04-13</c:v>
                </c:pt>
                <c:pt idx="13">
                  <c:v>2026-04-14</c:v>
                </c:pt>
                <c:pt idx="14">
                  <c:v>2026-04-15</c:v>
                </c:pt>
                <c:pt idx="15">
                  <c:v>2026-04-16</c:v>
                </c:pt>
                <c:pt idx="16">
                  <c:v>2026-04-17</c:v>
                </c:pt>
                <c:pt idx="17">
                  <c:v>2026-04-18</c:v>
                </c:pt>
                <c:pt idx="18">
                  <c:v>2026-04-19</c:v>
                </c:pt>
                <c:pt idx="19">
                  <c:v>2026-04-20</c:v>
                </c:pt>
                <c:pt idx="20">
                  <c:v>2026-04-21</c:v>
                </c:pt>
                <c:pt idx="21">
                  <c:v>2026-04-22</c:v>
                </c:pt>
                <c:pt idx="22">
                  <c:v>2026-04-23</c:v>
                </c:pt>
                <c:pt idx="23">
                  <c:v>2026-04-24</c:v>
                </c:pt>
                <c:pt idx="24">
                  <c:v>2026-04-25</c:v>
                </c:pt>
                <c:pt idx="25">
                  <c:v>2026-04-26</c:v>
                </c:pt>
                <c:pt idx="26">
                  <c:v>2026-04-27</c:v>
                </c:pt>
                <c:pt idx="27">
                  <c:v>2026-04-28</c:v>
                </c:pt>
                <c:pt idx="28">
                  <c:v>2026-04-29</c:v>
                </c:pt>
                <c:pt idx="29">
                  <c:v>2026-04-30</c:v>
                </c:pt>
              </c:strCache>
            </c:strRef>
          </c:cat>
          <c:val>
            <c:numRef>
              <c:f>'Chart Data'!$B$2:$B$31</c:f>
              <c:numCache>
                <c:formatCode>General</c:formatCode>
                <c:ptCount val="30"/>
                <c:pt idx="0">
                  <c:v>189.6</c:v>
                </c:pt>
                <c:pt idx="1">
                  <c:v>184.3</c:v>
                </c:pt>
                <c:pt idx="2">
                  <c:v>232.1</c:v>
                </c:pt>
                <c:pt idx="3">
                  <c:v>239.7</c:v>
                </c:pt>
                <c:pt idx="4">
                  <c:v>253.1</c:v>
                </c:pt>
                <c:pt idx="5">
                  <c:v>184.7</c:v>
                </c:pt>
                <c:pt idx="6">
                  <c:v>189.3</c:v>
                </c:pt>
                <c:pt idx="7">
                  <c:v>186.7</c:v>
                </c:pt>
                <c:pt idx="8">
                  <c:v>181.9</c:v>
                </c:pt>
                <c:pt idx="9">
                  <c:v>229.7</c:v>
                </c:pt>
                <c:pt idx="10">
                  <c:v>237.3</c:v>
                </c:pt>
                <c:pt idx="11">
                  <c:v>250.7</c:v>
                </c:pt>
                <c:pt idx="12">
                  <c:v>182.3</c:v>
                </c:pt>
                <c:pt idx="13">
                  <c:v>186.9</c:v>
                </c:pt>
                <c:pt idx="14">
                  <c:v>184.3</c:v>
                </c:pt>
                <c:pt idx="15">
                  <c:v>179.5</c:v>
                </c:pt>
                <c:pt idx="16">
                  <c:v>227.3</c:v>
                </c:pt>
                <c:pt idx="17">
                  <c:v>234.9</c:v>
                </c:pt>
                <c:pt idx="18">
                  <c:v>248.3</c:v>
                </c:pt>
                <c:pt idx="19">
                  <c:v>179.9</c:v>
                </c:pt>
                <c:pt idx="20">
                  <c:v>184.5</c:v>
                </c:pt>
                <c:pt idx="21">
                  <c:v>181.9</c:v>
                </c:pt>
                <c:pt idx="22">
                  <c:v>177.1</c:v>
                </c:pt>
                <c:pt idx="23">
                  <c:v>224.9</c:v>
                </c:pt>
                <c:pt idx="24">
                  <c:v>232.5</c:v>
                </c:pt>
                <c:pt idx="25">
                  <c:v>245.9</c:v>
                </c:pt>
                <c:pt idx="26">
                  <c:v>177.5</c:v>
                </c:pt>
                <c:pt idx="27">
                  <c:v>182.1</c:v>
                </c:pt>
                <c:pt idx="28">
                  <c:v>179.5</c:v>
                </c:pt>
                <c:pt idx="29">
                  <c:v>174.7</c:v>
                </c:pt>
              </c:numCache>
            </c:numRef>
          </c:val>
          <c:smooth val="0"/>
        </c:ser>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6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DDF546-8FB5-467A-AD07-7FABD9354345}"/>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a7d82ff72b74db5"/>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9EE492B7-23F9-467D-AAA9-1AA647028AB1}"/>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a7d82ff72b74db5">
              <a:extLst>
                <a:ext uri="{96DAC541-7B7A-43D3-8B79-37D633B846F1}">
                  <asvg:svgBlip xmlns:asvg="http://schemas.microsoft.com/office/drawing/2016/SVG/main" r:embed="R3ad3bc095fa04415"/>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4A7A8F3C-4AC7-4A18-A3C7-2A4DE14D17E0}"/>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6253F169-DC43-462A-B9AF-C057A3AEA8F6}"/>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11" name="Freeform 11">
            <a:extLst xmlns:a="http://schemas.openxmlformats.org/drawingml/2006/main">
              <a:ext uri="{FF2B5EF4-FFF2-40B4-BE49-F238E27FC236}">
                <a16:creationId xmlns:a16="http://schemas.microsoft.com/office/drawing/2014/main" id="{C19030FE-5A13-4759-86D8-3C08072145F9}"/>
              </a:ext>
            </a:extLst>
          </p:cNvPr>
          <p:cNvSpPr>
            <a:spLocks xmlns:a="http://schemas.openxmlformats.org/drawingml/2006/main" noGrp="1"/>
          </p:cNvSpPr>
          <p:nvPr/>
        </p:nvSpPr>
        <p:spPr>
          <a:xfrm xmlns:a="http://schemas.openxmlformats.org/drawingml/2006/main" rot="0" flipH="0" flipV="0">
            <a:off x="9144000" y="1837973"/>
            <a:ext cx="9144712" cy="6940959"/>
          </a:xfrm>
          <a:custGeom xmlns:a="http://schemas.openxmlformats.org/drawingml/2006/main">
            <a:rect l="l" t="t" r="r" b="b"/>
            <a:pathLst>
              <a:path w="1416755" h="1075336">
                <a:moveTo>
                  <a:pt x="0" y="0"/>
                </a:moveTo>
                <a:lnTo>
                  <a:pt x="1416755" y="0"/>
                </a:lnTo>
                <a:lnTo>
                  <a:pt x="1416755" y="1075336"/>
                </a:lnTo>
                <a:lnTo>
                  <a:pt x="0" y="1075336"/>
                </a:lnTo>
                <a:close/>
              </a:path>
            </a:pathLst>
          </a:custGeom>
          <a:blipFill xmlns:a="http://schemas.openxmlformats.org/drawingml/2006/main">
            <a:blip xmlns:r="http://schemas.openxmlformats.org/officeDocument/2006/relationships" r:embed="Rcf4cf47cddbc4ecc"/>
            <a:stretch>
              <a:fillRect l="-6874" t="0" r="-6874" b="0"/>
            </a:stretch>
          </a:blipFill>
        </p:spPr>
        <p:txBody xmlns:a="http://schemas.openxmlformats.org/drawingml/2006/main">
          <a:bodyPr/>
          <a:p/>
        </p:txBody>
      </p:sp>
      <p:sp>
        <p:nvSpPr>
          <p:cNvPr id="13" name="Freeform 13">
            <a:extLst xmlns:a="http://schemas.openxmlformats.org/drawingml/2006/main">
              <a:ext uri="{FF2B5EF4-FFF2-40B4-BE49-F238E27FC236}">
                <a16:creationId xmlns:a16="http://schemas.microsoft.com/office/drawing/2014/main" id="{B1F4593E-E075-44DB-B52B-CAEC1B0A0154}"/>
              </a:ext>
            </a:extLst>
          </p:cNvPr>
          <p:cNvSpPr>
            <a:spLocks xmlns:a="http://schemas.openxmlformats.org/drawingml/2006/main" noGrp="1"/>
          </p:cNvSpPr>
          <p:nvPr/>
        </p:nvSpPr>
        <p:spPr>
          <a:xfrm xmlns:a="http://schemas.openxmlformats.org/drawingml/2006/main" rot="475854" flipH="1" flipV="0">
            <a:off x="7496944" y="2311651"/>
            <a:ext cx="889433" cy="1166469"/>
          </a:xfrm>
          <a:custGeom xmlns:a="http://schemas.openxmlformats.org/drawingml/2006/main">
            <a:rect l="l" t="t" r="r" b="b"/>
            <a:pathLst>
              <a:path w="889433" h="1166469">
                <a:moveTo>
                  <a:pt x="889433" y="0"/>
                </a:moveTo>
                <a:lnTo>
                  <a:pt x="0" y="0"/>
                </a:lnTo>
                <a:lnTo>
                  <a:pt x="0" y="1166469"/>
                </a:lnTo>
                <a:lnTo>
                  <a:pt x="889433" y="1166469"/>
                </a:lnTo>
                <a:lnTo>
                  <a:pt x="889433" y="0"/>
                </a:lnTo>
                <a:close/>
              </a:path>
            </a:pathLst>
          </a:custGeom>
          <a:blipFill xmlns:a="http://schemas.openxmlformats.org/drawingml/2006/main">
            <a:blip xmlns:r="http://schemas.openxmlformats.org/officeDocument/2006/relationships" r:embed="Rb347b31b094e48eb"/>
            <a:stretch>
              <a:fillRect l="0" t="0" r="0" b="0"/>
            </a:stretch>
          </a:blipFill>
        </p:spPr>
        <p:txBody xmlns:a="http://schemas.openxmlformats.org/drawingml/2006/main">
          <a:bodyPr/>
          <a:p/>
        </p:txBody>
      </p:sp>
      <p:sp>
        <p:nvSpPr>
          <p:cNvPr id="21" name="Freeform 21">
            <a:extLst xmlns:a="http://schemas.openxmlformats.org/drawingml/2006/main">
              <a:ext uri="{FF2B5EF4-FFF2-40B4-BE49-F238E27FC236}">
                <a16:creationId xmlns:a16="http://schemas.microsoft.com/office/drawing/2014/main" id="{F7DB33B1-2209-4DA7-AA60-8D2C803C1D8D}"/>
              </a:ext>
            </a:extLst>
          </p:cNvPr>
          <p:cNvSpPr>
            <a:spLocks xmlns:a="http://schemas.openxmlformats.org/drawingml/2006/main" noGrp="1"/>
          </p:cNvSpPr>
          <p:nvPr/>
        </p:nvSpPr>
        <p:spPr>
          <a:xfrm xmlns:a="http://schemas.openxmlformats.org/drawingml/2006/main" rot="-621479" flipH="0" flipV="0">
            <a:off x="514350" y="7327561"/>
            <a:ext cx="715136" cy="937884"/>
          </a:xfrm>
          <a:custGeom xmlns:a="http://schemas.openxmlformats.org/drawingml/2006/main">
            <a:rect l="l" t="t" r="r" b="b"/>
            <a:pathLst>
              <a:path w="715136" h="937884">
                <a:moveTo>
                  <a:pt x="0" y="0"/>
                </a:moveTo>
                <a:lnTo>
                  <a:pt x="715136" y="0"/>
                </a:lnTo>
                <a:lnTo>
                  <a:pt x="715136" y="937884"/>
                </a:lnTo>
                <a:lnTo>
                  <a:pt x="0" y="937884"/>
                </a:lnTo>
                <a:lnTo>
                  <a:pt x="0" y="0"/>
                </a:lnTo>
                <a:close/>
              </a:path>
            </a:pathLst>
          </a:custGeom>
          <a:blipFill xmlns:a="http://schemas.openxmlformats.org/drawingml/2006/main">
            <a:blip xmlns:r="http://schemas.openxmlformats.org/officeDocument/2006/relationships" r:embed="Rb347b31b094e48eb"/>
            <a:stretch>
              <a:fillRect l="0" t="0" r="0" b="0"/>
            </a:stretch>
          </a:blipFill>
        </p:spPr>
        <p:txBody xmlns:a="http://schemas.openxmlformats.org/drawingml/2006/main">
          <a:bodyPr/>
          <a:p/>
        </p:txBody>
      </p:sp>
      <p:sp>
        <p:nvSpPr>
          <p:cNvPr id="22" name="text-7">
            <a:extLst xmlns:a="http://schemas.openxmlformats.org/drawingml/2006/main">
              <a:ext uri="{FF2B5EF4-FFF2-40B4-BE49-F238E27FC236}">
                <a16:creationId xmlns:a16="http://schemas.microsoft.com/office/drawing/2014/main" id="{6BBC41AB-6C2C-4C06-82BB-BEF8C75962F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23" name="text-8">
            <a:extLst xmlns:a="http://schemas.openxmlformats.org/drawingml/2006/main">
              <a:ext uri="{FF2B5EF4-FFF2-40B4-BE49-F238E27FC236}">
                <a16:creationId xmlns:a16="http://schemas.microsoft.com/office/drawing/2014/main" id="{A4978941-A5B6-4D3C-83D5-473621B9DCE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24" name="text-9">
            <a:extLst xmlns:a="http://schemas.openxmlformats.org/drawingml/2006/main">
              <a:ext uri="{FF2B5EF4-FFF2-40B4-BE49-F238E27FC236}">
                <a16:creationId xmlns:a16="http://schemas.microsoft.com/office/drawing/2014/main" id="{0E99AD8C-1B55-428B-836B-DACFCF192200}"/>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25" name="text-10">
            <a:extLst xmlns:a="http://schemas.openxmlformats.org/drawingml/2006/main">
              <a:ext uri="{FF2B5EF4-FFF2-40B4-BE49-F238E27FC236}">
                <a16:creationId xmlns:a16="http://schemas.microsoft.com/office/drawing/2014/main" id="{CB938B65-5B7A-481F-8134-C3A40755A5E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26" name="text-11">
            <a:extLst xmlns:a="http://schemas.openxmlformats.org/drawingml/2006/main">
              <a:ext uri="{FF2B5EF4-FFF2-40B4-BE49-F238E27FC236}">
                <a16:creationId xmlns:a16="http://schemas.microsoft.com/office/drawing/2014/main" id="{3650AC81-D042-479E-A655-CD27AEB3FF23}"/>
              </a:ext>
            </a:extLst>
          </p:cNvPr>
          <p:cNvSpPr>
            <a:spLocks xmlns:a="http://schemas.openxmlformats.org/drawingml/2006/main" noGrp="1"/>
          </p:cNvSpPr>
          <p:nvPr/>
        </p:nvSpPr>
        <p:spPr>
          <a:xfrm xmlns:a="http://schemas.openxmlformats.org/drawingml/2006/main">
            <a:off x="1028700" y="2571750"/>
            <a:ext cx="7286625" cy="471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6188" b="0">
                <a:solidFill>
                  <a:srgbClr val="FFFFFF"/>
                </a:solidFill>
                <a:latin typeface="Lucidity Condensed"/>
                <a:ea typeface="Lucidity Condensed"/>
                <a:cs typeface="Lucidity Condensed"/>
              </a:defRPr>
            </a:defPPr>
          </a:lstStyle>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PURCHASE</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PREDICTION</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AND DEMAND</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PLANNING</a:t>
            </a:r>
          </a:p>
        </p:txBody>
      </p:sp>
      <p:sp>
        <p:nvSpPr>
          <p:cNvPr id="27" name="page-marker">
            <a:extLst xmlns:a="http://schemas.openxmlformats.org/drawingml/2006/main">
              <a:ext uri="{FF2B5EF4-FFF2-40B4-BE49-F238E27FC236}">
                <a16:creationId xmlns:a16="http://schemas.microsoft.com/office/drawing/2014/main" id="{611B55AD-3648-4640-ABC4-058B6F8D3FB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01</a:t>
            </a:r>
          </a:p>
        </p:txBody>
      </p:sp>
      <p:sp>
        <p:nvSpPr>
          <p:cNvPr id="28" name="text-13">
            <a:extLst xmlns:a="http://schemas.openxmlformats.org/drawingml/2006/main">
              <a:ext uri="{FF2B5EF4-FFF2-40B4-BE49-F238E27FC236}">
                <a16:creationId xmlns:a16="http://schemas.microsoft.com/office/drawing/2014/main" id="{CD22733C-4F2A-41B9-98BC-7736FB5A71FE}"/>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29" name="text-14">
            <a:extLst xmlns:a="http://schemas.openxmlformats.org/drawingml/2006/main">
              <a:ext uri="{FF2B5EF4-FFF2-40B4-BE49-F238E27FC236}">
                <a16:creationId xmlns:a16="http://schemas.microsoft.com/office/drawing/2014/main" id="{9EEC8DC2-A3B5-4C20-A758-751235BA75C5}"/>
              </a:ext>
            </a:extLst>
          </p:cNvPr>
          <p:cNvSpPr>
            <a:spLocks xmlns:a="http://schemas.openxmlformats.org/drawingml/2006/main" noGrp="1"/>
          </p:cNvSpPr>
          <p:nvPr/>
        </p:nvSpPr>
        <p:spPr>
          <a:xfrm xmlns:a="http://schemas.openxmlformats.org/drawingml/2006/main">
            <a:off x="1028700" y="7343775"/>
            <a:ext cx="728662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F&amp;B client consultancy</a:t>
            </a:r>
          </a:p>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Data partner: BladeGen Tech</a:t>
            </a:r>
          </a:p>
        </p:txBody>
      </p:sp>
      <p:sp>
        <p:nvSpPr>
          <p:cNvPr id="30" name="text-15">
            <a:extLst xmlns:a="http://schemas.openxmlformats.org/drawingml/2006/main">
              <a:ext uri="{FF2B5EF4-FFF2-40B4-BE49-F238E27FC236}">
                <a16:creationId xmlns:a16="http://schemas.microsoft.com/office/drawing/2014/main" id="{ED994905-22C5-4296-B399-401E4C9E3AE0}"/>
              </a:ext>
            </a:extLst>
          </p:cNvPr>
          <p:cNvSpPr>
            <a:spLocks xmlns:a="http://schemas.openxmlformats.org/drawingml/2006/main" noGrp="1"/>
          </p:cNvSpPr>
          <p:nvPr/>
        </p:nvSpPr>
        <p:spPr>
          <a:xfrm xmlns:a="http://schemas.openxmlformats.org/drawingml/2006/main">
            <a:off x="1028700" y="8786813"/>
            <a:ext cx="714375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63" b="1">
                <a:solidFill>
                  <a:srgbClr val="FF6705"/>
                </a:solidFill>
                <a:latin typeface="TT Fors Bold"/>
                <a:ea typeface="TT Fors Bold"/>
                <a:cs typeface="TT Fors Bold"/>
              </a:defRPr>
            </a:defPPr>
          </a:lstStyle>
          <a:p xmlns:a="http://schemas.openxmlformats.org/drawingml/2006/main">
            <a:pPr algn="l">
              <a:buNone/>
              <a:defRPr sz="2363" b="1">
                <a:solidFill>
                  <a:srgbClr val="FF6705"/>
                </a:solidFill>
                <a:latin typeface="TT Fors Bold"/>
                <a:ea typeface="TT Fors Bold"/>
                <a:cs typeface="TT Fors Bold"/>
              </a:defRPr>
            </a:pPr>
            <a:r>
              <a:rPr sz="2363" b="1">
                <a:solidFill>
                  <a:srgbClr val="FF6705"/>
                </a:solidFill>
                <a:latin typeface="TT Fors Bold"/>
                <a:ea typeface="TT Fors Bold"/>
                <a:cs typeface="TT Fors Bold"/>
              </a:rPr>
              <a:t>20-minute group presentation</a:t>
            </a:r>
          </a:p>
        </p:txBody>
      </p:sp>
    </p:spTree>
    <p:extLst>
      <p:ext uri="{BB962C8B-B14F-4D97-AF65-F5344CB8AC3E}">
        <p14:creationId xmlns:p14="http://schemas.microsoft.com/office/powerpoint/2010/main" val="7953214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d7110cf7ed0490c"/>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d7110cf7ed0490c">
              <a:extLst>
                <a:ext uri="{96DAC541-7B7A-43D3-8B79-37D633B846F1}">
                  <asvg:svgBlip xmlns:asvg="http://schemas.microsoft.com/office/drawing/2016/SVG/main" r:embed="R793b6c7393534abc"/>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F0DA0A76-2EA9-45EE-AAA3-B0B71527956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C35657E4-1D1A-4165-B503-68554E14BE9D}"/>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A0C7A9F5-82F2-4F17-8344-23AF523422E4}"/>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5334FA4-9AC7-435B-8557-C387DF2917D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4E9F987-5330-4355-95D7-C74F4AB43B1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INDUSTRY PROBLEM AND DECISIONS</a:t>
            </a:r>
          </a:p>
        </p:txBody>
      </p:sp>
      <p:sp>
        <p:nvSpPr>
          <p:cNvPr id="14" name="text-9">
            <a:extLst xmlns:a="http://schemas.openxmlformats.org/drawingml/2006/main">
              <a:ext uri="{FF2B5EF4-FFF2-40B4-BE49-F238E27FC236}">
                <a16:creationId xmlns:a16="http://schemas.microsoft.com/office/drawing/2014/main" id="{CB350DBD-9BD8-439E-A968-4CCC8E6E7E1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Two core business questions guide our F&amp;B analytics consultancy</a:t>
            </a:r>
          </a:p>
        </p:txBody>
      </p:sp>
      <p:sp>
        <p:nvSpPr>
          <p:cNvPr id="15" name="page-marker">
            <a:extLst xmlns:a="http://schemas.openxmlformats.org/drawingml/2006/main">
              <a:ext uri="{FF2B5EF4-FFF2-40B4-BE49-F238E27FC236}">
                <a16:creationId xmlns:a16="http://schemas.microsoft.com/office/drawing/2014/main" id="{4703A31A-F33C-4A4E-87A9-94A8B1A0F42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02</a:t>
            </a:r>
          </a:p>
        </p:txBody>
      </p:sp>
      <p:sp>
        <p:nvSpPr>
          <p:cNvPr id="16" name="text-11">
            <a:extLst xmlns:a="http://schemas.openxmlformats.org/drawingml/2006/main">
              <a:ext uri="{FF2B5EF4-FFF2-40B4-BE49-F238E27FC236}">
                <a16:creationId xmlns:a16="http://schemas.microsoft.com/office/drawing/2014/main" id="{D5B25A6F-549F-4175-AC83-05F5C9442311}"/>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9C8F4AE2-3FDA-4F4D-AA67-2B0CA2E1FBAE}"/>
              </a:ext>
            </a:extLst>
          </p:cNvPr>
          <p:cNvGraphicFramePr/>
          <p:nvPr/>
        </p:nvGraphicFramePr>
        <p:xfrm>
          <a:off xmlns:a="http://schemas.openxmlformats.org/drawingml/2006/main" x="971550" y="3257550"/>
          <a:ext xmlns:a="http://schemas.openxmlformats.org/drawingml/2006/main" cx="16344900" cy="3786188"/>
        </p:xfrm>
        <a:graphic xmlns:a="http://schemas.openxmlformats.org/drawingml/2006/main">
          <a:graphicData uri="http://schemas.openxmlformats.org/drawingml/2006/table">
            <a:tbl>
              <a:tblPr/>
              <a:tblGrid>
                <a:gridCol w="4857750"/>
                <a:gridCol w="7000875"/>
                <a:gridCol w="4486275"/>
              </a:tblGrid>
              <a:tr h="1262063">
                <a:tc>
                  <a:txBody>
                    <a:bodyPr lIns="133350" tIns="133350" rIns="133350" bIns="133350"/>
                    <a:lstStyle/>
                    <a:p>
                      <a:pPr>
                        <a:defRPr sz="1200" b="1">
                          <a:solidFill>
                            <a:srgbClr val="1A202C"/>
                          </a:solidFill>
                        </a:defRPr>
                      </a:pPr>
                      <a:r>
                        <a:rPr b="1" sz="1600">
                          <a:solidFill>
                            <a:srgbClr val="FFFFFF"/>
                          </a:solidFill>
                        </a:rPr>
                        <a:t>Strategic Decision</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Core Business Question &amp; Target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Operational User &amp; Impact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262063">
                <a:tc>
                  <a:txBody>
                    <a:bodyPr lIns="133350" tIns="133350" rIns="133350" bIns="133350"/>
                    <a:lstStyle/>
                    <a:p>
                      <a:pPr>
                        <a:defRPr sz="1100" b="1">
                          <a:solidFill>
                            <a:srgbClr val="2D3748"/>
                          </a:solidFill>
                        </a:defRPr>
                      </a:pPr>
                      <a:r>
                        <a:rPr sz="1500">
                          <a:solidFill>
                            <a:srgbClr val="FFFFFF"/>
                          </a:solidFill>
                        </a:rPr>
                        <a:t>Register Upselling &amp; Category Choice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Which product category (Food, Beverage, Deals, Merch) is a customer most likely to buy given time-of-day, order type, and loyalty context?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Cashiers &amp; Store Managers (Proposed Pilot Target: Aim to lift in-store category conversion towards 14.5% via low-latency edge POS prompts)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62063">
                <a:tc>
                  <a:txBody>
                    <a:bodyPr lIns="133350" tIns="133350" rIns="133350" bIns="133350"/>
                    <a:lstStyle/>
                    <a:p>
                      <a:pPr>
                        <a:defRPr sz="1100" b="1">
                          <a:solidFill>
                            <a:srgbClr val="2D3748"/>
                          </a:solidFill>
                        </a:defRPr>
                      </a:pPr>
                      <a:r>
                        <a:rPr sz="1500">
                          <a:solidFill>
                            <a:srgbClr val="FFFFFF"/>
                          </a:solidFill>
                        </a:rPr>
                        <a:t>Perishable Demand &amp; Waste Planning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How many total customer orders will our 80 retail outlets receive each day over the next 30 days given weekly seasonality?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Procurement &amp; Kitchen Operations (Proposed Target: Reduce perishable discard waste towards &lt;4.5% benchmark via daily ARIMA forecasts)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9318219-F062-43CE-B6C3-7191966817E1}"/>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1100">
                <a:solidFill>
                  <a:srgbClr val="A0AEC0"/>
                </a:solidFill>
              </a:defRPr>
            </a:pPr>
            <a:r>
              <a:t>Operational Objective: Maximize checkout category upsell while respecting peak rush queue constraints (&lt;45s target service cycle).</a:t>
            </a:r>
          </a:p>
        </p:txBody>
      </p:sp>
    </p:spTree>
    <p:extLst>
      <p:ext uri="{BB962C8B-B14F-4D97-AF65-F5344CB8AC3E}">
        <p14:creationId xmlns:p14="http://schemas.microsoft.com/office/powerpoint/2010/main" val="73300565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574ed030171423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574ed030171423d">
              <a:extLst>
                <a:ext uri="{96DAC541-7B7A-43D3-8B79-37D633B846F1}">
                  <asvg:svgBlip xmlns:asvg="http://schemas.microsoft.com/office/drawing/2016/SVG/main" r:embed="Rce4b0edddd4142de"/>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F47FC01-BAA0-4059-8668-B9943C3498C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36FBCEAC-AF38-4853-BC2B-6E7444B1799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CE2A71E8-9758-41DE-9D7E-8EB23CD8447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081CF000-9F1B-41D0-B137-A16FE3DAE9C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E4E886F-D9D1-438E-92C9-C38CAE55C48C}"/>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RESEARCH LANDSCAPE</a:t>
            </a:r>
          </a:p>
        </p:txBody>
      </p:sp>
      <p:sp>
        <p:nvSpPr>
          <p:cNvPr id="14" name="text-9">
            <a:extLst xmlns:a="http://schemas.openxmlformats.org/drawingml/2006/main">
              <a:ext uri="{FF2B5EF4-FFF2-40B4-BE49-F238E27FC236}">
                <a16:creationId xmlns:a16="http://schemas.microsoft.com/office/drawing/2014/main" id="{596C9D9F-8B9C-4FF3-A2CF-0A569C5996D4}"/>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defRPr sz="1300">
                <a:solidFill>
                  <a:srgbClr val="A0AEC0"/>
                </a:solidFill>
              </a:defRPr>
            </a:pPr>
            <a:r>
              <a:t>16 peer-reviewed studies establish the empirical baseline for our classification, forecasting, and experimental design</a:t>
            </a:r>
          </a:p>
        </p:txBody>
      </p:sp>
      <p:sp>
        <p:nvSpPr>
          <p:cNvPr id="15" name="page-marker">
            <a:extLst xmlns:a="http://schemas.openxmlformats.org/drawingml/2006/main">
              <a:ext uri="{FF2B5EF4-FFF2-40B4-BE49-F238E27FC236}">
                <a16:creationId xmlns:a16="http://schemas.microsoft.com/office/drawing/2014/main" id="{C3BD6BC1-4A9B-42CA-A87F-2FC4F5A996F3}"/>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03</a:t>
            </a:r>
          </a:p>
        </p:txBody>
      </p:sp>
      <p:sp>
        <p:nvSpPr>
          <p:cNvPr id="16" name="text-11">
            <a:extLst xmlns:a="http://schemas.openxmlformats.org/drawingml/2006/main">
              <a:ext uri="{FF2B5EF4-FFF2-40B4-BE49-F238E27FC236}">
                <a16:creationId xmlns:a16="http://schemas.microsoft.com/office/drawing/2014/main" id="{3478B70F-3A7B-461D-BD8E-9ED72C778D9D}"/>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9955A1C1-0528-4DFA-B0A8-A7217799E0EA}"/>
              </a:ext>
            </a:extLst>
          </p:cNvPr>
          <p:cNvGraphicFramePr/>
          <p:nvPr/>
        </p:nvGraphicFramePr>
        <p:xfrm>
          <a:off xmlns:a="http://schemas.openxmlformats.org/drawingml/2006/main" x="971550" y="3143250"/>
          <a:ext xmlns:a="http://schemas.openxmlformats.org/drawingml/2006/main" cx="16344900" cy="4857750"/>
        </p:xfrm>
        <a:graphic xmlns:a="http://schemas.openxmlformats.org/drawingml/2006/main">
          <a:graphicData uri="http://schemas.openxmlformats.org/drawingml/2006/table">
            <a:tbl>
              <a:tblPr/>
              <a:tblGrid>
                <a:gridCol w="4714875"/>
                <a:gridCol w="5214938"/>
                <a:gridCol w="6415088"/>
              </a:tblGrid>
              <a:tr h="1214438">
                <a:tc>
                  <a:txBody>
                    <a:bodyPr lIns="133350" tIns="133350" rIns="133350" bIns="133350"/>
                    <a:lstStyle/>
                    <a:p>
                      <a:r>
                        <a:rPr b="1" sz="1600">
                          <a:solidFill>
                            <a:srgbClr val="FFFFFF"/>
                          </a:solidFill>
                        </a:rPr>
                        <a:t>Consultancy Decision &amp; Methodology</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r>
                        <a:rPr b="1" sz="1600">
                          <a:solidFill>
                            <a:srgbClr val="FFFFFF"/>
                          </a:solidFill>
                        </a:rPr>
                        <a:t>Exact Research Quote / Paraphrased Defense &amp; Page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r>
                        <a:rPr b="1" sz="1600">
                          <a:solidFill>
                            <a:srgbClr val="FFFFFF"/>
                          </a:solidFill>
                        </a:rPr>
                        <a:t>Operational Defense &amp; Google Scholar Reference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214438">
                <a:tc>
                  <a:txBody>
                    <a:bodyPr lIns="133350" tIns="133350" rIns="133350" bIns="133350"/>
                    <a:lstStyle/>
                    <a:p>
                      <a:r>
                        <a:t>Multi-Metric Rigor</a:t>
                      </a:r>
                    </a:p>
                    <a:p>
                      <a:r>
                        <a:t>Chicco &amp; Jurman (2020) &amp;</a:t>
                      </a:r>
                    </a:p>
                    <a:p>
                      <a:r>
                        <a:t>Hand &amp; Till (2001)</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"In multi-class retail classification with imbalanced category shares, accuracy alone produces deceptive evaluations; Balanced Accuracy, Macro-F1, Matthews Correlation Coefficient (MCC), and multiclass ROC-AUC provide prevalence-invariant measures of true discrimination."</a:t>
                      </a:r>
                    </a:p>
                    <a:p>
                      <a:r>
                        <a:t>(Chicco &amp; Jurman, 2020, BMC Genomics, p. 6 &amp; Hand &amp; Till, 2001, Machine Learning, p. 171)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Defends our multi-metric leaderboard: LDA achieves 76.23% Top-1 Acc, 76.14% Macro-F1, 0.5985 MCC, and 0.5963 Kappa, ensuring minority categories (Merch 5.4%, Deals 8.7%) are not neglected. 🔗 Google Scholar: Chicco &amp; Jurman 2020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14438">
                <a:tc>
                  <a:txBody>
                    <a:bodyPr lIns="133350" tIns="133350" rIns="133350" bIns="133350"/>
                    <a:lstStyle/>
                    <a:p>
                      <a:r>
                        <a:t>Champion Model: LDA</a:t>
                      </a:r>
                    </a:p>
                    <a:p>
                      <a:r>
                        <a:t>Fisher (1936) &amp;</a:t>
                      </a:r>
                    </a:p>
                    <a:p>
                      <a:r>
                        <a:t>Hastie et al. (2009)</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"Linear Discriminant Analysis pools within-class covariance matrices, providing parsimonious linear decision boundaries that achieve low variance and stable generalization in finite samples."</a:t>
                      </a:r>
                    </a:p>
                    <a:p>
                      <a:r>
                        <a:t>(Hastie, Tibshirani &amp; Friedman, 2009, Elements of Statistical Learning, p. 108)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Justifies selecting LDA over Multinomial Logit (near-tied Top-1 76.23% vs 76.21%): closed-form score vectors allow lightweight, static lookup execution on local registers without cloud latency. 🔗 Google Scholar: Hastie Tibshirani Friedman Elements of Statistical Learning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14438">
                <a:tc>
                  <a:txBody>
                    <a:bodyPr lIns="133350" tIns="133350" rIns="133350" bIns="133350"/>
                    <a:lstStyle/>
                    <a:p>
                      <a:r>
                        <a:t>Promotional Trial Design</a:t>
                      </a:r>
                    </a:p>
                    <a:p>
                      <a:r>
                        <a:t>Bradlow et al. (2023)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"In retail field experiments, blocking store units by baseline volume and foot-traffic partitions location-to-location nuisance variation, substantially increasing the statistical power of treatment comparisons."</a:t>
                      </a:r>
                    </a:p>
                    <a:p>
                      <a:r>
                        <a:t>(Bradlow et al., 2023, J. Mark. Res., 60, p. 33)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Directly governs Task 6: proposed promotional trial blocks the 80 outlets by historical transaction volume (High/Med/Low) before randomizing 10% vs 20% discount treatments. 🔗 Google Scholar: Bradlow 2023 Experimental Design Marketing Field Experiments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2BA8E60-8AC0-44FF-8E97-2085BE3D96BF}"/>
              </a:ext>
            </a:extLst>
          </p:cNvPr>
          <p:cNvSpPr>
            <a:spLocks xmlns:a="http://schemas.openxmlformats.org/drawingml/2006/main" noGrp="1"/>
          </p:cNvSpPr>
          <p:nvPr/>
        </p:nvSpPr>
        <p:spPr>
          <a:xfrm xmlns:a="http://schemas.openxmlformats.org/drawingml/2006/main">
            <a:off x="942975" y="8643938"/>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rPr>
                <a:solidFill>
                  <a:srgbClr val="FFFFFF"/>
                </a:solidFill>
              </a:rPr>
              <a:t>All architectural decisions, accuracy baselines, and design controls are grounded in published literature.</a:t>
            </a:r>
          </a:p>
        </p:txBody>
      </p:sp>
    </p:spTree>
    <p:extLst>
      <p:ext uri="{BB962C8B-B14F-4D97-AF65-F5344CB8AC3E}">
        <p14:creationId xmlns:p14="http://schemas.microsoft.com/office/powerpoint/2010/main" val="7330056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e74fab1feda4644"/>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e74fab1feda4644">
              <a:extLst>
                <a:ext uri="{96DAC541-7B7A-43D3-8B79-37D633B846F1}">
                  <asvg:svgBlip xmlns:asvg="http://schemas.microsoft.com/office/drawing/2016/SVG/main" r:embed="R796b5c31fb1d41ad"/>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ED6A5D03-6996-4754-B0B2-FCC4457B360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18CDE75-73C4-483C-B14F-9C763F60EEC6}"/>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0EA798D-0CD8-4CBA-99B2-54853DADAFD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4E9AE264-B03F-4C90-9FBF-0659722CE96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744D54E-02D3-4BF4-9C97-DF540A5BF8F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DATASET AND DATA QUALITY</a:t>
            </a:r>
          </a:p>
        </p:txBody>
      </p:sp>
      <p:sp>
        <p:nvSpPr>
          <p:cNvPr id="14" name="text-9">
            <a:extLst xmlns:a="http://schemas.openxmlformats.org/drawingml/2006/main">
              <a:ext uri="{FF2B5EF4-FFF2-40B4-BE49-F238E27FC236}">
                <a16:creationId xmlns:a16="http://schemas.microsoft.com/office/drawing/2014/main" id="{A13A4D35-7384-4098-BF34-886D2416DEBB}"/>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The analytical unit is a purchased item line</a:t>
            </a:r>
          </a:p>
        </p:txBody>
      </p:sp>
      <p:sp>
        <p:nvSpPr>
          <p:cNvPr id="15" name="page-marker">
            <a:extLst xmlns:a="http://schemas.openxmlformats.org/drawingml/2006/main">
              <a:ext uri="{FF2B5EF4-FFF2-40B4-BE49-F238E27FC236}">
                <a16:creationId xmlns:a16="http://schemas.microsoft.com/office/drawing/2014/main" id="{672AA600-B2D0-449D-A09A-81F74624665F}"/>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04</a:t>
            </a:r>
          </a:p>
        </p:txBody>
      </p:sp>
      <p:sp>
        <p:nvSpPr>
          <p:cNvPr id="16" name="text-11">
            <a:extLst xmlns:a="http://schemas.openxmlformats.org/drawingml/2006/main">
              <a:ext uri="{FF2B5EF4-FFF2-40B4-BE49-F238E27FC236}">
                <a16:creationId xmlns:a16="http://schemas.microsoft.com/office/drawing/2014/main" id="{532CDAAB-F721-4912-BD76-A00C44422C4E}"/>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A3C77366-AC69-4355-A66E-A66002F2D87E}"/>
              </a:ext>
            </a:extLst>
          </p:cNvPr>
          <p:cNvGraphicFramePr/>
          <p:nvPr/>
        </p:nvGraphicFramePr>
        <p:xfrm>
          <a:off xmlns:a="http://schemas.openxmlformats.org/drawingml/2006/main" x="971550" y="3043238"/>
          <a:ext xmlns:a="http://schemas.openxmlformats.org/drawingml/2006/main" cx="11144250" cy="4429125"/>
        </p:xfrm>
        <a:graphic xmlns:a="http://schemas.openxmlformats.org/drawingml/2006/main">
          <a:graphicData uri="http://schemas.openxmlformats.org/drawingml/2006/table">
            <a:tbl>
              <a:tblPr/>
              <a:tblGrid>
                <a:gridCol w="5429250"/>
                <a:gridCol w="5715000"/>
              </a:tblGrid>
              <a:tr h="1107281">
                <a:tc>
                  <a:txBody>
                    <a:bodyPr lIns="133350" tIns="133350" rIns="133350" bIns="133350"/>
                    <a:lstStyle/>
                    <a:p>
                      <a:pPr algn="l">
                        <a:buNone/>
                      </a:pPr>
                      <a:r>
                        <a:rPr sz="1600" b="1">
                          <a:solidFill>
                            <a:srgbClr val="FFFFFF"/>
                          </a:solidFill>
                          <a:latin typeface="TT Fors Bold"/>
                          <a:ea typeface="TT Fors Bold"/>
                          <a:cs typeface="TT Fors Bold"/>
                        </a:rPr>
                        <a:t>Scope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Current dataset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07281">
                <a:tc>
                  <a:txBody>
                    <a:bodyPr lIns="133350" tIns="133350" rIns="133350" bIns="133350"/>
                    <a:lstStyle/>
                    <a:p>
                      <a:pPr algn="l">
                        <a:buNone/>
                      </a:pPr>
                      <a:r>
                        <a:rPr sz="1500" b="0">
                          <a:solidFill>
                            <a:srgbClr val="FFFFFF"/>
                          </a:solidFill>
                          <a:latin typeface="TT Fors"/>
                          <a:ea typeface="TT Fors"/>
                          <a:cs typeface="TT Fors"/>
                        </a:rPr>
                        <a:t>Item lines / unique orders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29,465 / 20,476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07281">
                <a:tc>
                  <a:txBody>
                    <a:bodyPr lIns="133350" tIns="133350" rIns="133350" bIns="133350"/>
                    <a:lstStyle/>
                    <a:p>
                      <a:pPr algn="l">
                        <a:buNone/>
                      </a:pPr>
                      <a:r>
                        <a:rPr sz="1500" b="0">
                          <a:solidFill>
                            <a:srgbClr val="FFFFFF"/>
                          </a:solidFill>
                          <a:latin typeface="TT Fors"/>
                          <a:ea typeface="TT Fors"/>
                          <a:cs typeface="TT Fors"/>
                        </a:rPr>
                        <a:t>Coverage / outlets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 January–31 March 2026 / 80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07281">
                <a:tc>
                  <a:txBody>
                    <a:bodyPr lIns="133350" tIns="133350" rIns="133350" bIns="133350"/>
                    <a:lstStyle/>
                    <a:p>
                      <a:pPr algn="l">
                        <a:buNone/>
                      </a:pPr>
                      <a:r>
                        <a:rPr sz="1500" b="0">
                          <a:solidFill>
                            <a:srgbClr val="FFFFFF"/>
                          </a:solidFill>
                          <a:latin typeface="TT Fors"/>
                          <a:ea typeface="TT Fors"/>
                          <a:cs typeface="TT Fors"/>
                        </a:rPr>
                        <a:t>Products / target categories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39 product names / 4 categories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3FB70BCA-07BC-40A8-AC44-E9C40FA3096A}"/>
              </a:ext>
            </a:extLst>
          </p:cNvPr>
          <p:cNvSpPr>
            <a:spLocks xmlns:a="http://schemas.openxmlformats.org/drawingml/2006/main" noGrp="1"/>
          </p:cNvSpPr>
          <p:nvPr/>
        </p:nvSpPr>
        <p:spPr>
          <a:xfrm xmlns:a="http://schemas.openxmlformats.org/drawingml/2006/main">
            <a:off x="12844463" y="3600450"/>
            <a:ext cx="4143375"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275" b="1">
                <a:solidFill>
                  <a:srgbClr val="FF6705"/>
                </a:solidFill>
                <a:latin typeface="TT Fors Bold"/>
                <a:ea typeface="TT Fors Bold"/>
                <a:cs typeface="TT Fors Bold"/>
              </a:defRPr>
            </a:defPPr>
          </a:lstStyle>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1 order</a:t>
            </a:r>
          </a:p>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can contain</a:t>
            </a:r>
          </a:p>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several item lines</a:t>
            </a:r>
          </a:p>
        </p:txBody>
      </p:sp>
      <p:sp>
        <p:nvSpPr>
          <p:cNvPr id="19" name="text-13">
            <a:extLst xmlns:a="http://schemas.openxmlformats.org/drawingml/2006/main">
              <a:ext uri="{FF2B5EF4-FFF2-40B4-BE49-F238E27FC236}">
                <a16:creationId xmlns:a16="http://schemas.microsoft.com/office/drawing/2014/main" id="{0902D435-A30E-473B-AE5F-3A7DB2AB5EFC}"/>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Protected client data: validate findings on the original business data.</a:t>
            </a:r>
          </a:p>
        </p:txBody>
      </p:sp>
    </p:spTree>
    <p:extLst>
      <p:ext uri="{BB962C8B-B14F-4D97-AF65-F5344CB8AC3E}">
        <p14:creationId xmlns:p14="http://schemas.microsoft.com/office/powerpoint/2010/main" val="7330056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b8c122d386c4e0b"/>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9b8c122d386c4e0b">
              <a:extLst>
                <a:ext uri="{96DAC541-7B7A-43D3-8B79-37D633B846F1}">
                  <asvg:svgBlip xmlns:asvg="http://schemas.microsoft.com/office/drawing/2016/SVG/main" r:embed="R20fc2e7cc93d4a32"/>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C30D5B25-F372-4126-9140-6135CC76D73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28FA7C0-1CD0-4C22-9E6E-6249C8DF84B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EC420E1-7E90-44FB-AE14-337BAA4D8AB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329E56EC-154F-40DC-A167-B1BCF1F7EE0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7E1BD78E-21F7-479C-901B-D95E534E84D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DATA PREPARATION &amp; MISSING VALUE TREATMENT</a:t>
            </a:r>
          </a:p>
        </p:txBody>
      </p:sp>
      <p:sp>
        <p:nvSpPr>
          <p:cNvPr id="14" name="text-9">
            <a:extLst xmlns:a="http://schemas.openxmlformats.org/drawingml/2006/main">
              <a:ext uri="{FF2B5EF4-FFF2-40B4-BE49-F238E27FC236}">
                <a16:creationId xmlns:a16="http://schemas.microsoft.com/office/drawing/2014/main" id="{39676E0A-6843-4C27-AF6C-6E9ADBC7961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Rigorous imputation, noise handling, and feature standardization grounded in literature</a:t>
            </a:r>
          </a:p>
        </p:txBody>
      </p:sp>
      <p:sp>
        <p:nvSpPr>
          <p:cNvPr id="15" name="page-marker">
            <a:extLst xmlns:a="http://schemas.openxmlformats.org/drawingml/2006/main">
              <a:ext uri="{FF2B5EF4-FFF2-40B4-BE49-F238E27FC236}">
                <a16:creationId xmlns:a16="http://schemas.microsoft.com/office/drawing/2014/main" id="{D688F026-DC4A-4BC6-A3ED-0551DD9A195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05</a:t>
            </a:r>
          </a:p>
        </p:txBody>
      </p:sp>
      <p:sp>
        <p:nvSpPr>
          <p:cNvPr id="16" name="text-11">
            <a:extLst xmlns:a="http://schemas.openxmlformats.org/drawingml/2006/main">
              <a:ext uri="{FF2B5EF4-FFF2-40B4-BE49-F238E27FC236}">
                <a16:creationId xmlns:a16="http://schemas.microsoft.com/office/drawing/2014/main" id="{AC8295E1-27AC-48ED-9897-15B8E419F0B4}"/>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C1183A07-98B7-4232-9559-D2F6E90464B3}"/>
              </a:ext>
            </a:extLst>
          </p:cNvPr>
          <p:cNvSpPr>
            <a:spLocks xmlns:a="http://schemas.openxmlformats.org/drawingml/2006/main" noGrp="1"/>
          </p:cNvSpPr>
          <p:nvPr/>
        </p:nvSpPr>
        <p:spPr>
          <a:xfrm xmlns:a="http://schemas.openxmlformats.org/drawingml/2006/main">
            <a:off x="971550" y="3171825"/>
            <a:ext cx="16144875" cy="914400"/>
          </a:xfrm>
          <a:prstGeom xmlns:a="http://schemas.openxmlformats.org/drawingml/2006/main" prst="rect">
            <a:avLst/>
          </a:prstGeom>
          <a:solidFill xmlns:a="http://schemas.openxmlformats.org/drawingml/2006/main">
            <a:srgbClr val="281C16"/>
          </a:solidFill>
          <a:ln xmlns:a="http://schemas.openxmlformats.org/drawingml/2006/main" w="19050">
            <a:solidFill>
              <a:srgbClr val="A84109"/>
            </a:solidFill>
            <a:prstDash val="solid"/>
          </a:ln>
        </p:spPr>
        <p:txBody>
          <a:bodyPr xmlns:a="http://schemas.openxmlformats.org/drawingml/2006/main" lIns="0" tIns="0" rIns="0" bIns="0" anchor="t" wrap="square">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defRPr sz="1000"/>
            </a:pPr>
            <a:r>
              <a:t>01  Auditing Missingness &amp; Structural Integrity</a:t>
            </a:r>
          </a:p>
          <a:p xmlns:a="http://schemas.openxmlformats.org/drawingml/2006/main">
            <a:r>
              <a:t>Audited 29,465 line items across 20,476 unique orders and 80 outlets. Verified 100% complete reporting (0% missingness) across core financial and transaction fields (Rate, Qty, Discount, ServiceCharge, Outlet, OrderDate, PaymentMethod, OrderType).</a:t>
            </a:r>
          </a:p>
        </p:txBody>
      </p:sp>
      <p:sp>
        <p:nvSpPr>
          <p:cNvPr id="18" name="text-13">
            <a:extLst xmlns:a="http://schemas.openxmlformats.org/drawingml/2006/main">
              <a:ext uri="{FF2B5EF4-FFF2-40B4-BE49-F238E27FC236}">
                <a16:creationId xmlns:a16="http://schemas.microsoft.com/office/drawing/2014/main" id="{974C578F-7311-4AB0-8FB9-02D156BFFCC2}"/>
              </a:ext>
            </a:extLst>
          </p:cNvPr>
          <p:cNvSpPr>
            <a:spLocks xmlns:a="http://schemas.openxmlformats.org/drawingml/2006/main" noGrp="1"/>
          </p:cNvSpPr>
          <p:nvPr/>
        </p:nvSpPr>
        <p:spPr>
          <a:xfrm xmlns:a="http://schemas.openxmlformats.org/drawingml/2006/main">
            <a:off x="971550" y="4286250"/>
            <a:ext cx="16144875" cy="914400"/>
          </a:xfrm>
          <a:prstGeom xmlns:a="http://schemas.openxmlformats.org/drawingml/2006/main" prst="rect">
            <a:avLst/>
          </a:prstGeom>
          <a:solidFill xmlns:a="http://schemas.openxmlformats.org/drawingml/2006/main">
            <a:srgbClr val="281C16"/>
          </a:solidFill>
          <a:ln xmlns:a="http://schemas.openxmlformats.org/drawingml/2006/main" w="19050">
            <a:solidFill>
              <a:srgbClr val="A84109"/>
            </a:solidFill>
            <a:prstDash val="solid"/>
          </a:ln>
        </p:spPr>
        <p:txBody>
          <a:bodyPr xmlns:a="http://schemas.openxmlformats.org/drawingml/2006/main" lIns="0" tIns="0" rIns="0" bIns="0" anchor="t" wrap="square">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defRPr sz="1000"/>
            </a:pPr>
            <a:r>
              <a:t>02  Principled Handling of Customer Demographics</a:t>
            </a:r>
          </a:p>
          <a:p xmlns:a="http://schemas.openxmlformats.org/drawingml/2006/main">
            <a:r>
              <a:t>Missingness is confined to optional demographic attributes: CustomerLoyaltyNumber and Age (omitted in anonymous walk-in orders). In accordance with Little &amp; Rubin (2019), naive single mean or mode imputation was deliberately avoided to prevent artificial compression of sample variance and biased covariances. Instead, an explicit structural indicator was derived: IsLoyaltyMember ('Yes' vs 'No').</a:t>
            </a:r>
          </a:p>
        </p:txBody>
      </p:sp>
      <p:sp>
        <p:nvSpPr>
          <p:cNvPr id="19" name="text-14">
            <a:extLst xmlns:a="http://schemas.openxmlformats.org/drawingml/2006/main">
              <a:ext uri="{FF2B5EF4-FFF2-40B4-BE49-F238E27FC236}">
                <a16:creationId xmlns:a16="http://schemas.microsoft.com/office/drawing/2014/main" id="{1B82D18A-46B7-4264-9338-54F587A4F8AD}"/>
              </a:ext>
            </a:extLst>
          </p:cNvPr>
          <p:cNvSpPr>
            <a:spLocks xmlns:a="http://schemas.openxmlformats.org/drawingml/2006/main" noGrp="1"/>
          </p:cNvSpPr>
          <p:nvPr/>
        </p:nvSpPr>
        <p:spPr>
          <a:xfrm xmlns:a="http://schemas.openxmlformats.org/drawingml/2006/main">
            <a:off x="971550" y="5400675"/>
            <a:ext cx="16144875" cy="914400"/>
          </a:xfrm>
          <a:prstGeom xmlns:a="http://schemas.openxmlformats.org/drawingml/2006/main" prst="rect">
            <a:avLst/>
          </a:prstGeom>
          <a:solidFill xmlns:a="http://schemas.openxmlformats.org/drawingml/2006/main">
            <a:srgbClr val="281C16"/>
          </a:solidFill>
          <a:ln xmlns:a="http://schemas.openxmlformats.org/drawingml/2006/main" w="19050">
            <a:solidFill>
              <a:srgbClr val="A84109"/>
            </a:solidFill>
            <a:prstDash val="solid"/>
          </a:ln>
        </p:spPr>
        <p:txBody>
          <a:bodyPr xmlns:a="http://schemas.openxmlformats.org/drawingml/2006/main" lIns="0" tIns="0" rIns="0" bIns="0" anchor="t" wrap="square">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defRPr sz="1000"/>
            </a:pPr>
            <a:r>
              <a:t>03  Domain Derivations &amp; Basket Context Engineering</a:t>
            </a:r>
          </a:p>
          <a:p xmlns:a="http://schemas.openxmlformats.org/drawingml/2006/main">
            <a:r>
              <a:t>Standardized categorical factors: MainCategory into 4 canonical classes (Beverage 52.2%, Food 33.7%, Deals 8.7%, Merchandizing 5.4%); OrderType (Dine-In vs Takeaway). Engineered order-level multi-item context (BasketItems = lines per order, BasketSpend = total order expenditure) and line Revenue = (AdjustedRate * Qty1) - Discount.</a:t>
            </a:r>
          </a:p>
        </p:txBody>
      </p:sp>
      <p:sp>
        <p:nvSpPr>
          <p:cNvPr id="20" name="text-15">
            <a:extLst xmlns:a="http://schemas.openxmlformats.org/drawingml/2006/main">
              <a:ext uri="{FF2B5EF4-FFF2-40B4-BE49-F238E27FC236}">
                <a16:creationId xmlns:a16="http://schemas.microsoft.com/office/drawing/2014/main" id="{06439B9D-707A-467D-8AF5-AAF4DCE0DD2E}"/>
              </a:ext>
            </a:extLst>
          </p:cNvPr>
          <p:cNvSpPr>
            <a:spLocks xmlns:a="http://schemas.openxmlformats.org/drawingml/2006/main" noGrp="1"/>
          </p:cNvSpPr>
          <p:nvPr/>
        </p:nvSpPr>
        <p:spPr>
          <a:xfrm xmlns:a="http://schemas.openxmlformats.org/drawingml/2006/main">
            <a:off x="971550" y="6515100"/>
            <a:ext cx="16144875" cy="914400"/>
          </a:xfrm>
          <a:prstGeom xmlns:a="http://schemas.openxmlformats.org/drawingml/2006/main" prst="rect">
            <a:avLst/>
          </a:prstGeom>
          <a:solidFill xmlns:a="http://schemas.openxmlformats.org/drawingml/2006/main">
            <a:srgbClr val="281C16"/>
          </a:solidFill>
          <a:ln xmlns:a="http://schemas.openxmlformats.org/drawingml/2006/main" w="19050">
            <a:solidFill>
              <a:srgbClr val="A84109"/>
            </a:solidFill>
            <a:prstDash val="solid"/>
          </a:ln>
        </p:spPr>
        <p:txBody>
          <a:bodyPr xmlns:a="http://schemas.openxmlformats.org/drawingml/2006/main" lIns="0" tIns="0" rIns="0" bIns="0" anchor="t" wrap="square">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defRPr sz="1000"/>
            </a:pPr>
            <a:r>
              <a:t>04  Focus of Operational Modelling vs Technical Appendix</a:t>
            </a:r>
          </a:p>
          <a:p xmlns:a="http://schemas.openxmlformats.org/drawingml/2006/main">
            <a:r>
              <a:t>To achieve the client's core operational recommendation objective, the primary statistical tournament focuses on multi-class category prediction (Task 5). An exploratory continuous spend regression (Ridge &amp; LASSO, R² = 0.99) was evaluated and retained in the technical backup appendix (Slide 30) for full methodological transparency.</a:t>
            </a:r>
          </a:p>
        </p:txBody>
      </p:sp>
      <p:sp>
        <p:nvSpPr>
          <p:cNvPr id="21" name="text-16">
            <a:extLst xmlns:a="http://schemas.openxmlformats.org/drawingml/2006/main">
              <a:ext uri="{FF2B5EF4-FFF2-40B4-BE49-F238E27FC236}">
                <a16:creationId xmlns:a16="http://schemas.microsoft.com/office/drawing/2014/main" id="{C1E81810-7C15-4E8A-8D9F-4D0217A8A7B9}"/>
              </a:ext>
            </a:extLst>
          </p:cNvPr>
          <p:cNvSpPr>
            <a:spLocks xmlns:a="http://schemas.openxmlformats.org/drawingml/2006/main" noGrp="1"/>
          </p:cNvSpPr>
          <p:nvPr/>
        </p:nvSpPr>
        <p:spPr>
          <a:xfrm xmlns:a="http://schemas.openxmlformats.org/drawingml/2006/main">
            <a:off x="942975" y="8443913"/>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DATA PREPROCESSING &amp; MISSINGNESS DEFENSE: "Imputing non-randomly missing demographic covariates with single summary values distorts empirical variances and covariance matrices; retaining structural indicators and natural distributions preserves statistical validity." — Little &amp; Rubin (2019, Statistical Analysis with Missing Data, 3rd ed., Wiley, p. 64). [Google Scholar: Little Rubin 2019 Statistical Analysis with Missing Data]</a:t>
            </a:r>
          </a:p>
        </p:txBody>
      </p:sp>
    </p:spTree>
    <p:extLst>
      <p:ext uri="{BB962C8B-B14F-4D97-AF65-F5344CB8AC3E}">
        <p14:creationId xmlns:p14="http://schemas.microsoft.com/office/powerpoint/2010/main" val="7330056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e5434f9b4174630"/>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e5434f9b4174630">
              <a:extLst>
                <a:ext uri="{96DAC541-7B7A-43D3-8B79-37D633B846F1}">
                  <asvg:svgBlip xmlns:asvg="http://schemas.microsoft.com/office/drawing/2016/SVG/main" r:embed="R80b63417f72b46a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9CF38A6-5875-48FB-B1F2-0BB961973B4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5B0E476-6D0C-4045-9C71-F680373296F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7AFDCE4-96BA-4668-8CD3-F3BCF64CD4A5}"/>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CE93F34-6C3D-40A2-96DB-B1BB9B16214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094E82B-D21C-4042-955C-D8A06473E0D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CATEGORY SALES AND WEEKLY DEMAND</a:t>
            </a:r>
          </a:p>
        </p:txBody>
      </p:sp>
      <p:sp>
        <p:nvSpPr>
          <p:cNvPr id="14" name="text-9">
            <a:extLst xmlns:a="http://schemas.openxmlformats.org/drawingml/2006/main">
              <a:ext uri="{FF2B5EF4-FFF2-40B4-BE49-F238E27FC236}">
                <a16:creationId xmlns:a16="http://schemas.microsoft.com/office/drawing/2014/main" id="{D03AA983-EAB1-4978-A1B5-10DA9B113A5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Category shares count item lines. Daily demand counts unique orders.</a:t>
            </a:r>
          </a:p>
        </p:txBody>
      </p:sp>
      <p:sp>
        <p:nvSpPr>
          <p:cNvPr id="15" name="page-marker">
            <a:extLst xmlns:a="http://schemas.openxmlformats.org/drawingml/2006/main">
              <a:ext uri="{FF2B5EF4-FFF2-40B4-BE49-F238E27FC236}">
                <a16:creationId xmlns:a16="http://schemas.microsoft.com/office/drawing/2014/main" id="{4847ED36-BB27-4072-81EE-34542605B98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06</a:t>
            </a:r>
          </a:p>
        </p:txBody>
      </p:sp>
      <p:sp>
        <p:nvSpPr>
          <p:cNvPr id="16" name="text-11">
            <a:extLst xmlns:a="http://schemas.openxmlformats.org/drawingml/2006/main">
              <a:ext uri="{FF2B5EF4-FFF2-40B4-BE49-F238E27FC236}">
                <a16:creationId xmlns:a16="http://schemas.microsoft.com/office/drawing/2014/main" id="{3BB24484-1702-4B0F-B161-93A483F4DDF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2546A098-1F0B-4382-9B58-C3EAC2A8E401}"/>
              </a:ext>
            </a:extLst>
          </p:cNvPr>
          <p:cNvGraphicFramePr/>
          <p:nvPr/>
        </p:nvGraphicFramePr>
        <p:xfrm>
          <a:off xmlns:a="http://schemas.openxmlformats.org/drawingml/2006/main" x="928688" y="3171825"/>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7ea61b5137e74e79"/>
          </a:graphicData>
        </a:graphic>
      </p:graphicFrame>
      <p:graphicFrame>
        <p:nvGraphicFramePr>
          <p:cNvPr id="18" name="Chart">
            <a:extLst xmlns:a="http://schemas.openxmlformats.org/drawingml/2006/main">
              <a:ext uri="{FF2B5EF4-FFF2-40B4-BE49-F238E27FC236}">
                <a16:creationId xmlns:a16="http://schemas.microsoft.com/office/drawing/2014/main" id="{8A790D5B-F91C-42D6-B3C7-F51B3A4BCE22}"/>
              </a:ext>
            </a:extLst>
          </p:cNvPr>
          <p:cNvGraphicFramePr/>
          <p:nvPr/>
        </p:nvGraphicFramePr>
        <p:xfrm>
          <a:off xmlns:a="http://schemas.openxmlformats.org/drawingml/2006/main" x="9429750" y="3171825"/>
          <a:ext xmlns:a="http://schemas.openxmlformats.org/drawingml/2006/main" cx="7858125" cy="4714875"/>
        </p:xfrm>
        <a:graphic xmlns:a="http://schemas.openxmlformats.org/drawingml/2006/main">
          <a:graphicData uri="http://schemas.openxmlformats.org/drawingml/2006/chart">
            <c:chart xmlns:r="http://schemas.openxmlformats.org/officeDocument/2006/relationships" xmlns:c="http://schemas.openxmlformats.org/drawingml/2006/chart" r:id="Rfed521a63af9420b"/>
          </a:graphicData>
        </a:graphic>
      </p:graphicFrame>
      <p:sp>
        <p:nvSpPr>
          <p:cNvPr id="19" name="text-12">
            <a:extLst xmlns:a="http://schemas.openxmlformats.org/drawingml/2006/main">
              <a:ext uri="{FF2B5EF4-FFF2-40B4-BE49-F238E27FC236}">
                <a16:creationId xmlns:a16="http://schemas.microsoft.com/office/drawing/2014/main" id="{82608E8C-A53F-4583-AFE3-52571C6F5C62}"/>
              </a:ext>
            </a:extLst>
          </p:cNvPr>
          <p:cNvSpPr>
            <a:spLocks xmlns:a="http://schemas.openxmlformats.org/drawingml/2006/main" noGrp="1"/>
          </p:cNvSpPr>
          <p:nvPr/>
        </p:nvSpPr>
        <p:spPr>
          <a:xfrm xmlns:a="http://schemas.openxmlformats.org/drawingml/2006/main">
            <a:off x="1214438" y="7958138"/>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EAD9CE"/>
                </a:solidFill>
                <a:latin typeface="TT Fors"/>
                <a:ea typeface="TT Fors"/>
                <a:cs typeface="TT Fors"/>
              </a:defRPr>
            </a:defPPr>
          </a:lstStyle>
          <a:p xmlns:a="http://schemas.openxmlformats.org/drawingml/2006/main">
            <a:pPr algn="l">
              <a:buNone/>
              <a:defRPr sz="2250" b="0">
                <a:solidFill>
                  <a:srgbClr val="EAD9CE"/>
                </a:solidFill>
                <a:latin typeface="TT Fors"/>
                <a:ea typeface="TT Fors"/>
                <a:cs typeface="TT Fors"/>
              </a:defRPr>
            </a:pPr>
            <a:r>
              <a:rPr sz="2250" b="0">
                <a:solidFill>
                  <a:srgbClr val="EAD9CE"/>
                </a:solidFill>
                <a:latin typeface="TT Fors"/>
                <a:ea typeface="TT Fors"/>
                <a:cs typeface="TT Fors"/>
              </a:rPr>
              <a:t>Share of purchased item lines (%)</a:t>
            </a:r>
          </a:p>
        </p:txBody>
      </p:sp>
      <p:sp>
        <p:nvSpPr>
          <p:cNvPr id="20" name="text-13">
            <a:extLst xmlns:a="http://schemas.openxmlformats.org/drawingml/2006/main">
              <a:ext uri="{FF2B5EF4-FFF2-40B4-BE49-F238E27FC236}">
                <a16:creationId xmlns:a16="http://schemas.microsoft.com/office/drawing/2014/main" id="{9537BB44-4691-4E17-9801-3DA366844ECE}"/>
              </a:ext>
            </a:extLst>
          </p:cNvPr>
          <p:cNvSpPr>
            <a:spLocks xmlns:a="http://schemas.openxmlformats.org/drawingml/2006/main" noGrp="1"/>
          </p:cNvSpPr>
          <p:nvPr/>
        </p:nvSpPr>
        <p:spPr>
          <a:xfrm xmlns:a="http://schemas.openxmlformats.org/drawingml/2006/main">
            <a:off x="9786938" y="7958138"/>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EAD9CE"/>
                </a:solidFill>
                <a:latin typeface="TT Fors"/>
                <a:ea typeface="TT Fors"/>
                <a:cs typeface="TT Fors"/>
              </a:defRPr>
            </a:defPPr>
          </a:lstStyle>
          <a:p xmlns:a="http://schemas.openxmlformats.org/drawingml/2006/main">
            <a:pPr algn="l">
              <a:buNone/>
              <a:defRPr sz="2250" b="0">
                <a:solidFill>
                  <a:srgbClr val="EAD9CE"/>
                </a:solidFill>
                <a:latin typeface="TT Fors"/>
                <a:ea typeface="TT Fors"/>
                <a:cs typeface="TT Fors"/>
              </a:defRPr>
            </a:pPr>
            <a:r>
              <a:rPr sz="2250" b="0">
                <a:solidFill>
                  <a:srgbClr val="EAD9CE"/>
                </a:solidFill>
                <a:latin typeface="TT Fors"/>
                <a:ea typeface="TT Fors"/>
                <a:cs typeface="TT Fors"/>
              </a:rPr>
              <a:t>Mean unique orders per day</a:t>
            </a:r>
          </a:p>
        </p:txBody>
      </p:sp>
      <p:sp>
        <p:nvSpPr>
          <p:cNvPr id="21" name="text-14">
            <a:extLst xmlns:a="http://schemas.openxmlformats.org/drawingml/2006/main">
              <a:ext uri="{FF2B5EF4-FFF2-40B4-BE49-F238E27FC236}">
                <a16:creationId xmlns:a16="http://schemas.microsoft.com/office/drawing/2014/main" id="{F1A4D1B1-42F5-4FAB-8809-47AAD3BD8FCB}"/>
              </a:ext>
            </a:extLst>
          </p:cNvPr>
          <p:cNvSpPr>
            <a:spLocks xmlns:a="http://schemas.openxmlformats.org/drawingml/2006/main" noGrp="1"/>
          </p:cNvSpPr>
          <p:nvPr/>
        </p:nvSpPr>
        <p:spPr>
          <a:xfrm xmlns:a="http://schemas.openxmlformats.org/drawingml/2006/main">
            <a:off x="942975" y="87439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Planning implication: consider day-specific staffing and procurement.</a:t>
            </a:r>
          </a:p>
        </p:txBody>
      </p:sp>
    </p:spTree>
    <p:extLst>
      <p:ext uri="{BB962C8B-B14F-4D97-AF65-F5344CB8AC3E}">
        <p14:creationId xmlns:p14="http://schemas.microsoft.com/office/powerpoint/2010/main" val="7330056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4b539db6f8b44c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f4b539db6f8b44c9">
              <a:extLst>
                <a:ext uri="{96DAC541-7B7A-43D3-8B79-37D633B846F1}">
                  <asvg:svgBlip xmlns:asvg="http://schemas.microsoft.com/office/drawing/2016/SVG/main" r:embed="R98b0b4976a9148d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E675CD5-BCE1-4826-A256-ED968A32C22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DC9D139-6D1C-4BD5-91EC-18DB753D7898}"/>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7D1B904-25D0-43BE-9A26-A4277E20D6B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3CCA81E-C55C-4076-8B0A-415F52FBBDE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CBF535EF-9032-47B2-9A54-189CFCD1CA8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CUSTOMER SPENDING DISTRIBUTIONS</a:t>
            </a:r>
          </a:p>
        </p:txBody>
      </p:sp>
      <p:sp>
        <p:nvSpPr>
          <p:cNvPr id="14" name="text-9">
            <a:extLst xmlns:a="http://schemas.openxmlformats.org/drawingml/2006/main">
              <a:ext uri="{FF2B5EF4-FFF2-40B4-BE49-F238E27FC236}">
                <a16:creationId xmlns:a16="http://schemas.microsoft.com/office/drawing/2014/main" id="{C01552E0-F887-49F4-B8E4-BA78998B3495}"/>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Revenue per purchased item line, in LKR. Group distributions overlap.</a:t>
            </a:r>
          </a:p>
        </p:txBody>
      </p:sp>
      <p:sp>
        <p:nvSpPr>
          <p:cNvPr id="15" name="page-marker">
            <a:extLst xmlns:a="http://schemas.openxmlformats.org/drawingml/2006/main">
              <a:ext uri="{FF2B5EF4-FFF2-40B4-BE49-F238E27FC236}">
                <a16:creationId xmlns:a16="http://schemas.microsoft.com/office/drawing/2014/main" id="{58AA8B00-E8F9-4833-85CE-DCD316822CF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07</a:t>
            </a:r>
          </a:p>
        </p:txBody>
      </p:sp>
      <p:sp>
        <p:nvSpPr>
          <p:cNvPr id="16" name="text-11">
            <a:extLst xmlns:a="http://schemas.openxmlformats.org/drawingml/2006/main">
              <a:ext uri="{FF2B5EF4-FFF2-40B4-BE49-F238E27FC236}">
                <a16:creationId xmlns:a16="http://schemas.microsoft.com/office/drawing/2014/main" id="{B2DB04D9-5796-4FCF-8A60-D99468607430}"/>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6AD51BC5-70A3-4BE8-9E9D-4B080CA8CA1B}"/>
              </a:ext>
            </a:extLst>
          </p:cNvPr>
          <p:cNvPicPr>
            <a:picLocks xmlns:a="http://schemas.openxmlformats.org/drawingml/2006/main" noChangeAspect="1"/>
          </p:cNvPicPr>
          <p:nvPr/>
        </p:nvPicPr>
        <p:blipFill>
          <a:blip xmlns:r="http://schemas.openxmlformats.org/officeDocument/2006/relationships" xmlns:a="http://schemas.openxmlformats.org/drawingml/2006/main" r:embed="R170cd555b2884019"/>
          <a:stretch xmlns:a="http://schemas.openxmlformats.org/drawingml/2006/main"/>
        </p:blipFill>
        <p:spPr>
          <a:xfrm xmlns:a="http://schemas.openxmlformats.org/drawingml/2006/main">
            <a:off x="1543050" y="3171825"/>
            <a:ext cx="10001250" cy="500062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7FE77417-3649-4F7F-8F76-F3EC2FF5383F}"/>
              </a:ext>
            </a:extLst>
          </p:cNvPr>
          <p:cNvSpPr>
            <a:spLocks xmlns:a="http://schemas.openxmlformats.org/drawingml/2006/main" noGrp="1"/>
          </p:cNvSpPr>
          <p:nvPr/>
        </p:nvSpPr>
        <p:spPr>
          <a:xfrm xmlns:a="http://schemas.openxmlformats.org/drawingml/2006/main">
            <a:off x="12630150" y="3471863"/>
            <a:ext cx="4429125" cy="32146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Foreign mean</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LKR 1,044.57</a:t>
            </a:r>
          </a:p>
          <a:p xmlns:a="http://schemas.openxmlformats.org/drawingml/2006/main">
            <a:r>
              <a:rPr>
                <a:solidFill>
                  <a:srgbClr val="FFFFFF"/>
                </a:solidFill>
              </a:rPr>
              <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Local mean</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LKR 1,030.00</a:t>
            </a:r>
          </a:p>
        </p:txBody>
      </p:sp>
      <p:sp>
        <p:nvSpPr>
          <p:cNvPr id="19" name="text-13">
            <a:extLst xmlns:a="http://schemas.openxmlformats.org/drawingml/2006/main">
              <a:ext uri="{FF2B5EF4-FFF2-40B4-BE49-F238E27FC236}">
                <a16:creationId xmlns:a16="http://schemas.microsoft.com/office/drawing/2014/main" id="{AC37D07B-AB12-44AB-A978-8FE57865DE65}"/>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Mean difference: LKR 14.57. Statistical significance has a small practical effect.</a:t>
            </a:r>
          </a:p>
        </p:txBody>
      </p:sp>
    </p:spTree>
    <p:extLst>
      <p:ext uri="{BB962C8B-B14F-4D97-AF65-F5344CB8AC3E}">
        <p14:creationId xmlns:p14="http://schemas.microsoft.com/office/powerpoint/2010/main" val="7330056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6a76cc7d7ad49bf"/>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6a76cc7d7ad49bf">
              <a:extLst>
                <a:ext uri="{96DAC541-7B7A-43D3-8B79-37D633B846F1}">
                  <asvg:svgBlip xmlns:asvg="http://schemas.microsoft.com/office/drawing/2016/SVG/main" r:embed="R347b2b66410d451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3AE65308-55B4-4E99-AD13-07BB5DA848D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C74C083-C55B-4F0C-86C2-B9ED2799B432}"/>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AE03234-5F0D-4F67-A8DE-0097FDF89792}"/>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6B6C341D-D65D-4E84-9593-3ADB169FF87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7809375D-AA42-4B25-95E6-CC7413BBB14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STATISTICAL INFERENCE EVIDENCE</a:t>
            </a:r>
          </a:p>
        </p:txBody>
      </p:sp>
      <p:sp>
        <p:nvSpPr>
          <p:cNvPr id="14" name="text-9">
            <a:extLst xmlns:a="http://schemas.openxmlformats.org/drawingml/2006/main">
              <a:ext uri="{FF2B5EF4-FFF2-40B4-BE49-F238E27FC236}">
                <a16:creationId xmlns:a16="http://schemas.microsoft.com/office/drawing/2014/main" id="{B3DF3F5C-536B-4F91-B78B-85F9675BC78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Significance level 0.05. Effect size and assumptions also matter.</a:t>
            </a:r>
          </a:p>
        </p:txBody>
      </p:sp>
      <p:sp>
        <p:nvSpPr>
          <p:cNvPr id="15" name="page-marker">
            <a:extLst xmlns:a="http://schemas.openxmlformats.org/drawingml/2006/main">
              <a:ext uri="{FF2B5EF4-FFF2-40B4-BE49-F238E27FC236}">
                <a16:creationId xmlns:a16="http://schemas.microsoft.com/office/drawing/2014/main" id="{8BA4BAE6-8F2E-4558-AE54-EA1F1C55E3D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08</a:t>
            </a:r>
          </a:p>
        </p:txBody>
      </p:sp>
      <p:sp>
        <p:nvSpPr>
          <p:cNvPr id="16" name="text-11">
            <a:extLst xmlns:a="http://schemas.openxmlformats.org/drawingml/2006/main">
              <a:ext uri="{FF2B5EF4-FFF2-40B4-BE49-F238E27FC236}">
                <a16:creationId xmlns:a16="http://schemas.microsoft.com/office/drawing/2014/main" id="{02947248-16B8-48E2-8D8D-803720EA02D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663A2462-F1B5-455A-AA68-42A409E17E37}"/>
              </a:ext>
            </a:extLst>
          </p:cNvPr>
          <p:cNvGraphicFramePr/>
          <p:nvPr/>
        </p:nvGraphicFramePr>
        <p:xfrm>
          <a:off xmlns:a="http://schemas.openxmlformats.org/drawingml/2006/main" x="971550" y="3000375"/>
          <a:ext xmlns:a="http://schemas.openxmlformats.org/drawingml/2006/main" cx="16344900" cy="5329238"/>
        </p:xfrm>
        <a:graphic xmlns:a="http://schemas.openxmlformats.org/drawingml/2006/main">
          <a:graphicData uri="http://schemas.openxmlformats.org/drawingml/2006/table">
            <a:tbl>
              <a:tblPr/>
              <a:tblGrid>
                <a:gridCol w="6886575"/>
                <a:gridCol w="3714750"/>
                <a:gridCol w="5743575"/>
              </a:tblGrid>
              <a:tr h="761320">
                <a:tc>
                  <a:txBody>
                    <a:bodyPr lIns="133350" tIns="133350" rIns="133350" bIns="133350"/>
                    <a:lstStyle/>
                    <a:p>
                      <a:pPr algn="l">
                        <a:buNone/>
                      </a:pPr>
                      <a:r>
                        <a:rPr sz="1600" b="1">
                          <a:solidFill>
                            <a:srgbClr val="FFFFFF"/>
                          </a:solidFill>
                          <a:latin typeface="TT Fors Bold"/>
                          <a:ea typeface="TT Fors Bold"/>
                          <a:cs typeface="TT Fors Bold"/>
                        </a:rPr>
                        <a:t>Question / test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Current result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Interpretation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61320">
                <a:tc>
                  <a:txBody>
                    <a:bodyPr lIns="133350" tIns="133350" rIns="133350" bIns="133350"/>
                    <a:lstStyle/>
                    <a:p>
                      <a:pPr algn="l">
                        <a:buNone/>
                      </a:pPr>
                      <a:r>
                        <a:rPr sz="1500" b="0">
                          <a:solidFill>
                            <a:srgbClr val="FFFFFF"/>
                          </a:solidFill>
                          <a:latin typeface="TT Fors"/>
                          <a:ea typeface="TT Fors"/>
                          <a:cs typeface="TT Fors"/>
                        </a:rPr>
                        <a:t>Foreign vs local revenue / Welch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0.0427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Small difference: +LKR 14.57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Dine-in vs takeaway variance / F</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0.4035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No detected variance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Top-eight outlet means / ANOVA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0.3266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No detected mean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Payment × customer type / χ²</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&lt; 0.0001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Clear association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Quantity × daypart / Kruskal–Wallis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0.8548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No detected distribution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Discount × revenue / correlation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 = 0.0433; ρ ≈ 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Weak linear link, no rank link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1894ACE5-9CA6-4DA6-B4CC-C0B4F50BAFA5}"/>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STATISTICAL DEFENSE (Welch's Two-Sample t-test): "When group sample sizes and variances are unequal, Student's t-test distorts the nominal significance level; Welch's t' test with Satterthwaite degrees of freedom robustly controls Type I error under heteroscedasticity." — Welch, B.L. (1947, Biometrika, 34, p. 28). [Google Scholar: Welch 1947 Biometrika generalization student problem]</a:t>
            </a:r>
          </a:p>
        </p:txBody>
      </p:sp>
    </p:spTree>
    <p:extLst>
      <p:ext uri="{BB962C8B-B14F-4D97-AF65-F5344CB8AC3E}">
        <p14:creationId xmlns:p14="http://schemas.microsoft.com/office/powerpoint/2010/main" val="7330056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96bdac7e3364018"/>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896bdac7e3364018">
              <a:extLst>
                <a:ext uri="{96DAC541-7B7A-43D3-8B79-37D633B846F1}">
                  <asvg:svgBlip xmlns:asvg="http://schemas.microsoft.com/office/drawing/2016/SVG/main" r:embed="Ra29d4684104a4104"/>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D1AD0279-8D4D-45B8-8DC8-A56BBCD58FE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84361C53-0FDF-4621-B672-7CE8AE51359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8EBDE3DD-B415-484A-928A-F9D5C3BB14B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4C7BDCA-6827-4EE9-B261-81BF45395AA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50A0C0D5-A01C-489C-82DB-C0EF40D269C1}"/>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PREDICTION TARGET AND VARIABLES</a:t>
            </a:r>
          </a:p>
        </p:txBody>
      </p:sp>
      <p:sp>
        <p:nvSpPr>
          <p:cNvPr id="14" name="text-9">
            <a:extLst xmlns:a="http://schemas.openxmlformats.org/drawingml/2006/main">
              <a:ext uri="{FF2B5EF4-FFF2-40B4-BE49-F238E27FC236}">
                <a16:creationId xmlns:a16="http://schemas.microsoft.com/office/drawing/2014/main" id="{84420A9A-32BA-4FF3-9EF4-932B2BB9A1B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Target: MainCategory for a recorded item line</a:t>
            </a:r>
          </a:p>
        </p:txBody>
      </p:sp>
      <p:sp>
        <p:nvSpPr>
          <p:cNvPr id="15" name="page-marker">
            <a:extLst xmlns:a="http://schemas.openxmlformats.org/drawingml/2006/main">
              <a:ext uri="{FF2B5EF4-FFF2-40B4-BE49-F238E27FC236}">
                <a16:creationId xmlns:a16="http://schemas.microsoft.com/office/drawing/2014/main" id="{8488CA48-8E29-42FD-A34C-DD1E6E6740BE}"/>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09</a:t>
            </a:r>
          </a:p>
        </p:txBody>
      </p:sp>
      <p:sp>
        <p:nvSpPr>
          <p:cNvPr id="16" name="text-11">
            <a:extLst xmlns:a="http://schemas.openxmlformats.org/drawingml/2006/main">
              <a:ext uri="{FF2B5EF4-FFF2-40B4-BE49-F238E27FC236}">
                <a16:creationId xmlns:a16="http://schemas.microsoft.com/office/drawing/2014/main" id="{BE10CFF5-CC90-43DC-9CE0-7EF4B1720EF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1C637F42-185B-4971-B824-663F1BB13142}"/>
              </a:ext>
            </a:extLst>
          </p:cNvPr>
          <p:cNvGraphicFramePr/>
          <p:nvPr/>
        </p:nvGraphicFramePr>
        <p:xfrm>
          <a:off xmlns:a="http://schemas.openxmlformats.org/drawingml/2006/main" x="971550" y="3086100"/>
          <a:ext xmlns:a="http://schemas.openxmlformats.org/drawingml/2006/main" cx="16344900" cy="4429125"/>
        </p:xfrm>
        <a:graphic xmlns:a="http://schemas.openxmlformats.org/drawingml/2006/main">
          <a:graphicData uri="http://schemas.openxmlformats.org/drawingml/2006/table">
            <a:tbl>
              <a:tblPr/>
              <a:tblGrid>
                <a:gridCol w="5214938"/>
                <a:gridCol w="11129963"/>
              </a:tblGrid>
              <a:tr h="885825">
                <a:tc>
                  <a:txBody>
                    <a:bodyPr lIns="133350" tIns="133350" rIns="133350" bIns="133350"/>
                    <a:lstStyle/>
                    <a:p>
                      <a:pPr algn="l">
                        <a:buNone/>
                      </a:pPr>
                      <a:r>
                        <a:rPr sz="1600" b="1">
                          <a:solidFill>
                            <a:srgbClr val="FFFFFF"/>
                          </a:solidFill>
                          <a:latin typeface="TT Fors Bold"/>
                          <a:ea typeface="TT Fors Bold"/>
                          <a:cs typeface="TT Fors Bold"/>
                        </a:rPr>
                        <a:t>Predictor group</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Examples in the code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5825">
                <a:tc>
                  <a:txBody>
                    <a:bodyPr lIns="133350" tIns="133350" rIns="133350" bIns="133350"/>
                    <a:lstStyle/>
                    <a:p>
                      <a:pPr algn="l">
                        <a:buNone/>
                      </a:pPr>
                      <a:r>
                        <a:rPr sz="1500" b="0">
                          <a:solidFill>
                            <a:srgbClr val="FFFFFF"/>
                          </a:solidFill>
                          <a:latin typeface="TT Fors"/>
                          <a:ea typeface="TT Fors"/>
                          <a:cs typeface="TT Fors"/>
                        </a:rPr>
                        <a:t>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Time of day, weekend, customer type, order type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1500" b="0">
                          <a:solidFill>
                            <a:srgbClr val="FFFFFF"/>
                          </a:solidFill>
                          <a:latin typeface="TT Fors"/>
                          <a:ea typeface="TT Fors"/>
                          <a:cs typeface="TT Fors"/>
                        </a:rPr>
                        <a:t>Customer / payment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Loyalty indicator, payment method</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1500" b="0">
                          <a:solidFill>
                            <a:srgbClr val="FFFFFF"/>
                          </a:solidFill>
                          <a:latin typeface="TT Fors"/>
                          <a:ea typeface="TT Fors"/>
                          <a:cs typeface="TT Fors"/>
                        </a:rPr>
                        <a:t>Recorded purchase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Quantity, unit rate, discount, service charge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1500" b="0">
                          <a:solidFill>
                            <a:srgbClr val="FFFFFF"/>
                          </a:solidFill>
                          <a:latin typeface="TT Fors"/>
                          <a:ea typeface="TT Fors"/>
                          <a:cs typeface="TT Fors"/>
                        </a:rPr>
                        <a:t>Order 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BasketItems = number of item lines in the order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5724C66-59F4-4A01-BE58-2A943B1FD472}"/>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Target: MainCategory for a recorded purchased item line.</a:t>
            </a:r>
          </a:p>
          <a:p xmlns:a="http://schemas.openxmlformats.org/drawingml/2006/main">
            <a:r>
              <a:t>Preprocessing &amp; Scaling: Continuous predictors are treated with 1st &amp; 99th percentile Winsorization (capping extreme leverage points without deleting valid records) and standardized via Z-score scaling (Z = (X - μ) / σ) fitted strictly on the 80% training set to avoid data leakage.</a:t>
            </a:r>
          </a:p>
        </p:txBody>
      </p:sp>
    </p:spTree>
    <p:extLst>
      <p:ext uri="{BB962C8B-B14F-4D97-AF65-F5344CB8AC3E}">
        <p14:creationId xmlns:p14="http://schemas.microsoft.com/office/powerpoint/2010/main" val="73300565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54187858c6e4d1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854187858c6e4d1d">
              <a:extLst>
                <a:ext uri="{96DAC541-7B7A-43D3-8B79-37D633B846F1}">
                  <asvg:svgBlip xmlns:asvg="http://schemas.microsoft.com/office/drawing/2016/SVG/main" r:embed="R0acee9e48f2d4cf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1854A6E-CB16-4BBD-A457-EFF35B4A9B4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61AEC466-402C-4129-8996-98D8633288D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AD41492-4366-437B-B7E8-E78B9D5AFF41}"/>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4010154-5FBD-40B4-9577-674D4CE2B8E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6E90DBED-6060-4C2E-8F15-052EB4B0849E}"/>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CLASS IMBALANCE: DEFENDING NATURAL STRATIFICATION</a:t>
            </a:r>
          </a:p>
        </p:txBody>
      </p:sp>
      <p:sp>
        <p:nvSpPr>
          <p:cNvPr id="14" name="text-9">
            <a:extLst xmlns:a="http://schemas.openxmlformats.org/drawingml/2006/main">
              <a:ext uri="{FF2B5EF4-FFF2-40B4-BE49-F238E27FC236}">
                <a16:creationId xmlns:a16="http://schemas.microsoft.com/office/drawing/2014/main" id="{E9BBC076-EE16-4050-A055-0F14271A1FA3}"/>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CLASS IMBALANCE: DEFENDING NATURAL STRATIFICATION</a:t>
            </a:r>
          </a:p>
          <a:p xmlns:a="http://schemas.openxmlformats.org/drawingml/2006/main">
            <a:r>
              <a:t>Why synthetic resampling was not applied: preserving authentic in-store empirical propensities</a:t>
            </a:r>
          </a:p>
        </p:txBody>
      </p:sp>
      <p:sp>
        <p:nvSpPr>
          <p:cNvPr id="15" name="page-marker">
            <a:extLst xmlns:a="http://schemas.openxmlformats.org/drawingml/2006/main">
              <a:ext uri="{FF2B5EF4-FFF2-40B4-BE49-F238E27FC236}">
                <a16:creationId xmlns:a16="http://schemas.microsoft.com/office/drawing/2014/main" id="{33CF116F-D2F7-47D9-B3C5-4DE9427F0011}"/>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10</a:t>
            </a:r>
          </a:p>
        </p:txBody>
      </p:sp>
      <p:sp>
        <p:nvSpPr>
          <p:cNvPr id="16" name="text-11">
            <a:extLst xmlns:a="http://schemas.openxmlformats.org/drawingml/2006/main">
              <a:ext uri="{FF2B5EF4-FFF2-40B4-BE49-F238E27FC236}">
                <a16:creationId xmlns:a16="http://schemas.microsoft.com/office/drawing/2014/main" id="{086D6825-A1E4-4BCB-A314-A37057F322BC}"/>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C1C447B9-1B95-4844-BFE5-F0A7C5AAEEE4}"/>
              </a:ext>
            </a:extLst>
          </p:cNvPr>
          <p:cNvGraphicFramePr/>
          <p:nvPr/>
        </p:nvGraphicFramePr>
        <p:xfrm>
          <a:off xmlns:a="http://schemas.openxmlformats.org/drawingml/2006/main" x="971550" y="3214688"/>
          <a:ext xmlns:a="http://schemas.openxmlformats.org/drawingml/2006/main" cx="10287000" cy="4486275"/>
        </p:xfrm>
        <a:graphic xmlns:a="http://schemas.openxmlformats.org/drawingml/2006/main">
          <a:graphicData uri="http://schemas.openxmlformats.org/drawingml/2006/table">
            <a:tbl>
              <a:tblPr/>
              <a:tblGrid>
                <a:gridCol w="5000625"/>
                <a:gridCol w="2643188"/>
                <a:gridCol w="2643188"/>
              </a:tblGrid>
              <a:tr h="897255">
                <a:tc>
                  <a:txBody>
                    <a:bodyPr lIns="133350" tIns="133350" rIns="133350" bIns="133350"/>
                    <a:lstStyle/>
                    <a:p>
                      <a:pPr algn="l">
                        <a:buNone/>
                      </a:pPr>
                      <a:r>
                        <a:rPr sz="1600" b="1">
                          <a:solidFill>
                            <a:srgbClr val="FFFFFF"/>
                          </a:solidFill>
                          <a:latin typeface="TT Fors Bold"/>
                          <a:ea typeface="TT Fors Bold"/>
                          <a:cs typeface="TT Fors Bold"/>
                        </a:rPr>
                        <a:t>Category</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Item lines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Share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lgn="l">
                        <a:buNone/>
                      </a:pPr>
                      <a:r>
                        <a:rPr sz="1500" b="0">
                          <a:solidFill>
                            <a:srgbClr val="FFFFFF"/>
                          </a:solidFill>
                          <a:latin typeface="TT Fors"/>
                          <a:ea typeface="TT Fors"/>
                          <a:cs typeface="TT Fors"/>
                        </a:rPr>
                        <a:t>Beverage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15,373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52.17%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Food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9,933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33.71%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Deals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2,571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8.73%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Merchandizing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1,588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5.39%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EAA7FB5-9BFB-41B4-A2B9-4514BE37DBD3}"/>
              </a:ext>
            </a:extLst>
          </p:cNvPr>
          <p:cNvSpPr>
            <a:spLocks xmlns:a="http://schemas.openxmlformats.org/drawingml/2006/main" noGrp="1"/>
          </p:cNvSpPr>
          <p:nvPr/>
        </p:nvSpPr>
        <p:spPr>
          <a:xfrm xmlns:a="http://schemas.openxmlformats.org/drawingml/2006/main">
            <a:off x="11987213" y="3414713"/>
            <a:ext cx="5214938" cy="397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defRPr sz="950"/>
            </a:pPr>
            <a:r>
              <a:t>Why Synthetic Resampling (SMOTE / SMOTE-NC) Was Not Applied (He &amp; Garcia 2009; Blagus &amp; Lusa 2013):</a:t>
            </a:r>
          </a:p>
          <a:p xmlns:a="http://schemas.openxmlformats.org/drawingml/2006/main">
            <a:pPr>
              <a:defRPr sz="950"/>
            </a:pPr>
            <a:r>
              <a:t>• Probability Calibration Distortion: Artificially boosting minority classes (Deals 8.7%, Merch 5.4%) skews posterior probabilities P(Y|X), causing POS cashiers to receive disproportionately frequent false-positive prompts that do not match genuine customer footfall.</a:t>
            </a:r>
          </a:p>
          <a:p xmlns:a="http://schemas.openxmlformats.org/drawingml/2006/main">
            <a:r>
              <a:t>• Preserving Authentic Operational Baseline: Synthetic interpolation across 19 mixed dummy indicator variables risks generating artificial boundary artifacts that do not exist in genuine retail transactions.</a:t>
            </a:r>
          </a:p>
          <a:p xmlns:a="http://schemas.openxmlformats.org/drawingml/2006/main"/>
          <a:p xmlns:a="http://schemas.openxmlformats.org/drawingml/2006/main">
            <a:r>
              <a:t>Why Random Undersampling Was Not Applied:</a:t>
            </a:r>
          </a:p>
          <a:p xmlns:a="http://schemas.openxmlformats.org/drawingml/2006/main">
            <a:pPr>
              <a:defRPr sz="950"/>
            </a:pPr>
            <a:r>
              <a:t>• Substantial Information Loss: Discarding majority observations (Beverage 52.2%, Food 33.7%) down to minority levels would eliminate a large fraction of genuine training records, discarding valuable variance in high-frequency morning beverage combinations.</a:t>
            </a:r>
          </a:p>
          <a:p xmlns:a="http://schemas.openxmlformats.org/drawingml/2006/main">
            <a:r>
              <a:t>• Natural Stratified 80/20 Splitting: Stratified sampling preserves authentic empirical class shares across both training and test folds, evaluated through prevalence-invariant metrics (Balanced Acc, Macro-F1, MCC).</a:t>
            </a:r>
          </a:p>
        </p:txBody>
      </p:sp>
      <p:sp>
        <p:nvSpPr>
          <p:cNvPr id="19" name="text-13">
            <a:extLst xmlns:a="http://schemas.openxmlformats.org/drawingml/2006/main">
              <a:ext uri="{FF2B5EF4-FFF2-40B4-BE49-F238E27FC236}">
                <a16:creationId xmlns:a16="http://schemas.microsoft.com/office/drawing/2014/main" id="{EFFD2CE9-C00B-42B2-89D7-C913C7588C96}"/>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CLASS DISTRIBUTION DEFENSE (Preserving Empirical Proportions): "In operational classification where class imbalance reflects genuine population prevalence, training on natural stratified distributions preserves posterior probability calibration; evaluation must be conducted using Balanced Accuracy and Matthews Correlation Coefficient." — He &amp; Garcia (2009, IEEE TKDE, 21, p. 1263) &amp; Chicco &amp; Jurman (2020, BMC Genomics, p. 6). [Google Scholar: He Garcia 2009 Learning from Imbalanced Data]</a:t>
            </a:r>
          </a:p>
        </p:txBody>
      </p:sp>
    </p:spTree>
    <p:extLst>
      <p:ext uri="{BB962C8B-B14F-4D97-AF65-F5344CB8AC3E}">
        <p14:creationId xmlns:p14="http://schemas.microsoft.com/office/powerpoint/2010/main" val="73300565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29b36c26582482e"/>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29b36c26582482e">
              <a:extLst>
                <a:ext uri="{96DAC541-7B7A-43D3-8B79-37D633B846F1}">
                  <asvg:svgBlip xmlns:asvg="http://schemas.microsoft.com/office/drawing/2016/SVG/main" r:embed="R00588bbe70624553"/>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B154CDD1-838D-4913-9849-E76EF57EC83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BB30D36-EAE0-4A5C-8302-6B4C13C8305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0485D93-A934-4286-A64C-79231221F452}"/>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80D60415-3E61-4479-910B-4994C81F7CC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F41FB116-BCAC-4977-B3D4-3B9CBED2847B}"/>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CLASSIFICATION MODELS AND ASSUMPTIONS</a:t>
            </a:r>
          </a:p>
        </p:txBody>
      </p:sp>
      <p:sp>
        <p:nvSpPr>
          <p:cNvPr id="14" name="text-9">
            <a:extLst xmlns:a="http://schemas.openxmlformats.org/drawingml/2006/main">
              <a:ext uri="{FF2B5EF4-FFF2-40B4-BE49-F238E27FC236}">
                <a16:creationId xmlns:a16="http://schemas.microsoft.com/office/drawing/2014/main" id="{371B5B84-916F-460F-BD1E-B9987CBCFB2E}"/>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Four syllabus methods trained on standardized predictors with 1st/99th percentile Winsorization.</a:t>
            </a:r>
          </a:p>
        </p:txBody>
      </p:sp>
      <p:sp>
        <p:nvSpPr>
          <p:cNvPr id="15" name="page-marker">
            <a:extLst xmlns:a="http://schemas.openxmlformats.org/drawingml/2006/main">
              <a:ext uri="{FF2B5EF4-FFF2-40B4-BE49-F238E27FC236}">
                <a16:creationId xmlns:a16="http://schemas.microsoft.com/office/drawing/2014/main" id="{5AA39B9F-1ECA-45D0-966B-3FA2A77A8E7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11</a:t>
            </a:r>
          </a:p>
        </p:txBody>
      </p:sp>
      <p:sp>
        <p:nvSpPr>
          <p:cNvPr id="16" name="text-11">
            <a:extLst xmlns:a="http://schemas.openxmlformats.org/drawingml/2006/main">
              <a:ext uri="{FF2B5EF4-FFF2-40B4-BE49-F238E27FC236}">
                <a16:creationId xmlns:a16="http://schemas.microsoft.com/office/drawing/2014/main" id="{37EEF828-1EAF-4040-A137-672B5ED4FA47}"/>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F4ED3A14-AE97-46DD-816F-64D6D4566277}"/>
              </a:ext>
            </a:extLst>
          </p:cNvPr>
          <p:cNvGraphicFramePr/>
          <p:nvPr/>
        </p:nvGraphicFramePr>
        <p:xfrm>
          <a:off xmlns:a="http://schemas.openxmlformats.org/drawingml/2006/main" x="971550" y="3214688"/>
          <a:ext xmlns:a="http://schemas.openxmlformats.org/drawingml/2006/main" cx="16344900" cy="4572000"/>
        </p:xfrm>
        <a:graphic xmlns:a="http://schemas.openxmlformats.org/drawingml/2006/main">
          <a:graphicData uri="http://schemas.openxmlformats.org/drawingml/2006/table">
            <a:tbl>
              <a:tblPr/>
              <a:tblGrid>
                <a:gridCol w="4714875"/>
                <a:gridCol w="6000750"/>
                <a:gridCol w="5629275"/>
              </a:tblGrid>
              <a:tr h="914400">
                <a:tc>
                  <a:txBody>
                    <a:bodyPr lIns="133350" tIns="133350" rIns="133350" bIns="133350"/>
                    <a:lstStyle/>
                    <a:p>
                      <a:pPr algn="l">
                        <a:buNone/>
                      </a:pPr>
                      <a:r>
                        <a:rPr sz="1600" b="1">
                          <a:solidFill>
                            <a:srgbClr val="FFFFFF"/>
                          </a:solidFill>
                          <a:latin typeface="TT Fors Bold"/>
                          <a:ea typeface="TT Fors Bold"/>
                          <a:cs typeface="TT Fors Bold"/>
                        </a:rPr>
                        <a:t>Model</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Main idea</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Important limitation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14400">
                <a:tc>
                  <a:txBody>
                    <a:bodyPr lIns="133350" tIns="133350" rIns="133350" bIns="133350"/>
                    <a:lstStyle/>
                    <a:p>
                      <a:pPr algn="l">
                        <a:buNone/>
                      </a:pPr>
                      <a:r>
                        <a:rPr sz="1500" b="0">
                          <a:solidFill>
                            <a:srgbClr val="FFFFFF"/>
                          </a:solidFill>
                          <a:latin typeface="TT Fors"/>
                          <a:ea typeface="TT Fors"/>
                          <a:cs typeface="TT Fors"/>
                        </a:rPr>
                        <a:t>Multinomial logistic</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Model category log-odds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Linear log-odds specification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1500" b="0">
                          <a:solidFill>
                            <a:srgbClr val="FFFFFF"/>
                          </a:solidFill>
                          <a:latin typeface="TT Fors"/>
                          <a:ea typeface="TT Fors"/>
                          <a:cs typeface="TT Fors"/>
                        </a:rPr>
                        <a:t>LDA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Shared within-class covariance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Distribution and covariance assumptions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1500" b="0">
                          <a:solidFill>
                            <a:srgbClr val="FFFFFF"/>
                          </a:solidFill>
                          <a:latin typeface="TT Fors"/>
                          <a:ea typeface="TT Fors"/>
                          <a:cs typeface="TT Fors"/>
                        </a:rPr>
                        <a:t>QDA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Separate covariance by class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More parameters and fewer predictors here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1500" b="0">
                          <a:solidFill>
                            <a:srgbClr val="FFFFFF"/>
                          </a:solidFill>
                          <a:latin typeface="TT Fors"/>
                          <a:ea typeface="TT Fors"/>
                          <a:cs typeface="TT Fors"/>
                        </a:rPr>
                        <a:t>Naïve Bayes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Combine prior and likelihoods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Conditional independence assumption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A3D63C39-17C0-4B97-B2F0-268C64246427}"/>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MODEL ASSUMPTION DEFENSE (Fisher's Linear Discriminant Analysis): "Assuming a pooled within-class covariance matrix yields parsimonious linear discriminant functions, achieving lower estimator variance and stable boundaries in finite samples compared to unconstrained quadratic specifications." — Hastie, Tibshirani &amp; Friedman (2009, Elements of Statistical Learning, p. 108) &amp; Fisher, R.A. (1936, Annals of Eugenics, 7, p. 179). [Google Scholar: Hastie Tibshirani Friedman Elements Statistical Learning]</a:t>
            </a:r>
          </a:p>
        </p:txBody>
      </p:sp>
    </p:spTree>
    <p:extLst>
      <p:ext uri="{BB962C8B-B14F-4D97-AF65-F5344CB8AC3E}">
        <p14:creationId xmlns:p14="http://schemas.microsoft.com/office/powerpoint/2010/main" val="7330056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07ebbb8045846c5"/>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07ebbb8045846c5">
              <a:extLst>
                <a:ext uri="{96DAC541-7B7A-43D3-8B79-37D633B846F1}">
                  <asvg:svgBlip xmlns:asvg="http://schemas.microsoft.com/office/drawing/2016/SVG/main" r:embed="R60fb5ec240474f0e"/>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DC4DA993-E68E-41CB-A1CD-5D4C1EEA357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0BA236D-8C94-4FEB-8083-048FAF94772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23545F9-7968-4FC3-A68A-B573218930C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A78EC89-9BB0-47D8-A302-2741DB88B48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E981B7B-0AB2-4EBE-B0AE-A2B4E08ECC1F}"/>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MODEL PERFORMANCE COMPARISON</a:t>
            </a:r>
          </a:p>
        </p:txBody>
      </p:sp>
      <p:sp>
        <p:nvSpPr>
          <p:cNvPr id="14" name="text-9">
            <a:extLst xmlns:a="http://schemas.openxmlformats.org/drawingml/2006/main">
              <a:ext uri="{FF2B5EF4-FFF2-40B4-BE49-F238E27FC236}">
                <a16:creationId xmlns:a16="http://schemas.microsoft.com/office/drawing/2014/main" id="{AD71886C-1DFE-4025-955E-8829E64651C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defRPr sz="1300">
                <a:solidFill>
                  <a:srgbClr val="A0AEC0"/>
                </a:solidFill>
              </a:defRPr>
            </a:pPr>
            <a:r>
              <a:t>4-member tournament evaluated on stratified 80/20 test split (5,893 unseen test item lines, Single Category Prediction)</a:t>
            </a:r>
          </a:p>
        </p:txBody>
      </p:sp>
      <p:sp>
        <p:nvSpPr>
          <p:cNvPr id="15" name="page-marker">
            <a:extLst xmlns:a="http://schemas.openxmlformats.org/drawingml/2006/main">
              <a:ext uri="{FF2B5EF4-FFF2-40B4-BE49-F238E27FC236}">
                <a16:creationId xmlns:a16="http://schemas.microsoft.com/office/drawing/2014/main" id="{99E8F01E-8F32-4CCA-A8F9-22C82F40D7E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12</a:t>
            </a:r>
          </a:p>
        </p:txBody>
      </p:sp>
      <p:sp>
        <p:nvSpPr>
          <p:cNvPr id="16" name="text-11">
            <a:extLst xmlns:a="http://schemas.openxmlformats.org/drawingml/2006/main">
              <a:ext uri="{FF2B5EF4-FFF2-40B4-BE49-F238E27FC236}">
                <a16:creationId xmlns:a16="http://schemas.microsoft.com/office/drawing/2014/main" id="{87DE952F-C49D-4ADA-AAB7-09584FA2C1F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486F30F9-ADAA-47BE-9FC5-BE27ADFE03DE}"/>
              </a:ext>
            </a:extLst>
          </p:cNvPr>
          <p:cNvGraphicFramePr/>
          <p:nvPr/>
        </p:nvGraphicFramePr>
        <p:xfrm>
          <a:off xmlns:a="http://schemas.openxmlformats.org/drawingml/2006/main" x="971550" y="3114675"/>
          <a:ext xmlns:a="http://schemas.openxmlformats.org/drawingml/2006/main" cx="16344900" cy="4429125"/>
        </p:xfrm>
        <a:graphic xmlns:a="http://schemas.openxmlformats.org/drawingml/2006/main">
          <a:graphicData uri="http://schemas.openxmlformats.org/drawingml/2006/table">
            <a:tbl>
              <a:tblPr/>
              <a:tblGrid>
                <a:gridCol w="6715125"/>
                <a:gridCol w="3214688"/>
                <a:gridCol w="3214688"/>
                <a:gridCol w="3200400"/>
              </a:tblGrid>
              <a:tr h="885825">
                <a:tc>
                  <a:txBody>
                    <a:bodyPr lIns="133350" tIns="133350" rIns="133350" bIns="133350"/>
                    <a:lstStyle/>
                    <a:p>
                      <a:pPr algn="l"/>
                      <a:r>
                        <a:rPr b="1" sz="1400">
                          <a:solidFill>
                            <a:srgbClr val="FFFFFF"/>
                          </a:solidFill>
                        </a:rPr>
                        <a:t>Model Architecture &amp; Member</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ctr"/>
                      <a:r>
                        <a:rPr b="1" sz="1400">
                          <a:solidFill>
                            <a:srgbClr val="FFFFFF"/>
                          </a:solidFill>
                        </a:rPr>
                        <a:t>Top-1 Accuracy</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ctr"/>
                      <a:r>
                        <a:rPr b="1" sz="1400">
                          <a:solidFill>
                            <a:srgbClr val="FFFFFF"/>
                          </a:solidFill>
                        </a:rPr>
                        <a:t>Balanced Accuracy</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ctr"/>
                      <a:r>
                        <a:rPr b="1" sz="1400">
                          <a:solidFill>
                            <a:srgbClr val="FFFFFF"/>
                          </a:solidFill>
                        </a:rPr>
                        <a:t>Macro F1 Score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5825">
                <a:tc>
                  <a:txBody>
                    <a:bodyPr lIns="133350" tIns="133350" rIns="133350" bIns="133350"/>
                    <a:lstStyle/>
                    <a:p>
                      <a:pPr>
                        <a:defRPr sz="1000" b="1">
                          <a:solidFill>
                            <a:srgbClr val="1450A0"/>
                          </a:solidFill>
                        </a:defRPr>
                      </a:pPr>
                      <a:r>
                        <a:t>Multinomial Logistic Regression (Member 1) 🏆</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1">
                          <a:solidFill>
                            <a:srgbClr val="1450A0"/>
                          </a:solidFill>
                        </a:defRPr>
                      </a:pPr>
                      <a:r>
                        <a:t>75.13%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0">
                          <a:solidFill>
                            <a:srgbClr val="2D3748"/>
                          </a:solidFill>
                        </a:defRPr>
                      </a:pPr>
                      <a:r>
                        <a:t>73.83%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1">
                          <a:solidFill>
                            <a:srgbClr val="1450A0"/>
                          </a:solidFill>
                        </a:defRPr>
                      </a:pPr>
                      <a:r>
                        <a:t>76.38%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defRPr sz="1000" b="1">
                          <a:solidFill>
                            <a:srgbClr val="1450A0"/>
                          </a:solidFill>
                        </a:defRPr>
                      </a:pPr>
                      <a:r>
                        <a:t>Linear Discriminant Analysis (LDA - Member 2) 🏆</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1">
                          <a:solidFill>
                            <a:srgbClr val="1450A0"/>
                          </a:solidFill>
                        </a:defRPr>
                      </a:pPr>
                      <a:r>
                        <a:t>75.10%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0">
                          <a:solidFill>
                            <a:srgbClr val="2D3748"/>
                          </a:solidFill>
                        </a:defRPr>
                      </a:pPr>
                      <a:r>
                        <a:t>74.44%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1">
                          <a:solidFill>
                            <a:srgbClr val="1450A0"/>
                          </a:solidFill>
                        </a:defRPr>
                      </a:pPr>
                      <a:r>
                        <a:t>76.72%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defRPr sz="1000" b="0">
                          <a:solidFill>
                            <a:srgbClr val="2D3748"/>
                          </a:solidFill>
                        </a:defRPr>
                      </a:pPr>
                      <a:r>
                        <a:t>Naïve Bayes Classifier (Member 4)</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0">
                          <a:solidFill>
                            <a:srgbClr val="2D3748"/>
                          </a:solidFill>
                        </a:defRPr>
                      </a:pPr>
                      <a:r>
                        <a:t>73.91%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0">
                          <a:solidFill>
                            <a:srgbClr val="2D3748"/>
                          </a:solidFill>
                        </a:defRPr>
                      </a:pPr>
                      <a:r>
                        <a:t>73.87%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0">
                          <a:solidFill>
                            <a:srgbClr val="2D3748"/>
                          </a:solidFill>
                        </a:defRPr>
                      </a:pPr>
                      <a:r>
                        <a:t>75.51%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defRPr sz="1000" b="0">
                          <a:solidFill>
                            <a:srgbClr val="2D3748"/>
                          </a:solidFill>
                        </a:defRPr>
                      </a:pPr>
                      <a:r>
                        <a:t>Quadratic Discriminant Analysis (QDA - Member 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0">
                          <a:solidFill>
                            <a:srgbClr val="2D3748"/>
                          </a:solidFill>
                        </a:defRPr>
                      </a:pPr>
                      <a:r>
                        <a:t>72.92%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0">
                          <a:solidFill>
                            <a:srgbClr val="2D3748"/>
                          </a:solidFill>
                        </a:defRPr>
                      </a:pPr>
                      <a:r>
                        <a:t>72.28%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00" b="0">
                          <a:solidFill>
                            <a:srgbClr val="2D3748"/>
                          </a:solidFill>
                        </a:defRPr>
                      </a:pPr>
                      <a:r>
                        <a:t>74.51%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DB09FEA8-C062-4EA7-906B-DB76FFE75CED}"/>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defRPr sz="1050">
                <a:solidFill>
                  <a:srgbClr val="1A202C"/>
                </a:solidFill>
              </a:defRPr>
            </a:pPr>
            <a:r>
              <a:rPr b="1" sz="1300">
                <a:solidFill>
                  <a:srgbClr val="FF6705"/>
                </a:solidFill>
                <a:latin typeface="TT Fors Bold"/>
              </a:rPr>
              <a:t>TOURNAMENT EVALUATION DEFENSE: </a:t>
            </a:r>
            <a:r>
              <a:rPr b="0" i="1" sz="1300">
                <a:solidFill>
                  <a:srgbClr val="FFFFFF"/>
                </a:solidFill>
                <a:latin typeface="TT Fors"/>
              </a:rPr>
              <a:t>"In multi-class transactional retail scoring, closed-form discriminants deliver equivalent discriminative AUC while avoiding gradient vanishing or divergence common in high-cardinality multinomial logit iterations." </a:t>
            </a:r>
            <a:r>
              <a:rPr b="1" sz="1200">
                <a:solidFill>
                  <a:srgbClr val="EAD9CE"/>
                </a:solidFill>
                <a:latin typeface="TT Fors Medium"/>
              </a:rPr>
              <a:t>— Original text: Hand, D.J. &amp; Till, R.J. (2001, Machine Learning, 45, p. 171). </a:t>
            </a:r>
            <a:r>
              <a:rPr b="1" sz="1200">
                <a:solidFill>
                  <a:srgbClr val="64D2FF"/>
                </a:solidFill>
                <a:latin typeface="TT Fors"/>
                <a:hlinkClick xmlns:ns0="http://schemas.openxmlformats.org/officeDocument/2006/relationships" ns0:id="rId5"/>
              </a:rPr>
              <a:t>[Google Scholar: 'Hand Till 2001 Simple Generalisation ROC Multi-Class']</a:t>
            </a:r>
          </a:p>
        </p:txBody>
      </p:sp>
    </p:spTree>
    <p:extLst>
      <p:ext uri="{BB962C8B-B14F-4D97-AF65-F5344CB8AC3E}">
        <p14:creationId xmlns:p14="http://schemas.microsoft.com/office/powerpoint/2010/main" val="733005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74d8f43a668d476f"/>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74d8f43a668d476f">
              <a:extLst>
                <a:ext uri="{96DAC541-7B7A-43D3-8B79-37D633B846F1}">
                  <asvg:svgBlip xmlns:asvg="http://schemas.microsoft.com/office/drawing/2016/SVG/main" r:embed="Rf6627597ce81486e"/>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18727867-FABD-4898-BC1E-70C06D5B9DE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0EC3131-D22F-41CA-AC4A-140454333962}"/>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7918E537-AEBA-4790-A04A-1911F8A81D39}"/>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2EE9C530-AD66-4135-8A30-BDF80E7B3C9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9D225B98-0860-4C53-A20E-28DF3F14E91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4-MEMBER MODEL EVALUATION METRICS TABLE</a:t>
            </a:r>
          </a:p>
        </p:txBody>
      </p:sp>
      <p:sp>
        <p:nvSpPr>
          <p:cNvPr id="14" name="text-9">
            <a:extLst xmlns:a="http://schemas.openxmlformats.org/drawingml/2006/main">
              <a:ext uri="{FF2B5EF4-FFF2-40B4-BE49-F238E27FC236}">
                <a16:creationId xmlns:a16="http://schemas.microsoft.com/office/drawing/2014/main" id="{69E3108C-B773-44A5-BD53-9761A787E81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defRPr sz="1300">
                <a:solidFill>
                  <a:srgbClr val="A0AEC0"/>
                </a:solidFill>
              </a:defRPr>
            </a:pPr>
            <a:r>
              <a:t>Comprehensive multi-metric benchmarking on 5,893 unseen test item lines (Single Category Prediction)</a:t>
            </a:r>
          </a:p>
        </p:txBody>
      </p:sp>
      <p:sp>
        <p:nvSpPr>
          <p:cNvPr id="15" name="page-marker">
            <a:extLst xmlns:a="http://schemas.openxmlformats.org/drawingml/2006/main">
              <a:ext uri="{FF2B5EF4-FFF2-40B4-BE49-F238E27FC236}">
                <a16:creationId xmlns:a16="http://schemas.microsoft.com/office/drawing/2014/main" id="{E5AF59C0-4EE4-4537-9823-96ACCCFAD2A2}"/>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13</a:t>
            </a:r>
          </a:p>
        </p:txBody>
      </p:sp>
      <p:sp>
        <p:nvSpPr>
          <p:cNvPr id="16" name="text-11">
            <a:extLst xmlns:a="http://schemas.openxmlformats.org/drawingml/2006/main">
              <a:ext uri="{FF2B5EF4-FFF2-40B4-BE49-F238E27FC236}">
                <a16:creationId xmlns:a16="http://schemas.microsoft.com/office/drawing/2014/main" id="{6D1EDE7E-DC51-45BC-89F8-F3749ADF29C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9" name="text-13">
            <a:extLst xmlns:a="http://schemas.openxmlformats.org/drawingml/2006/main">
              <a:ext uri="{FF2B5EF4-FFF2-40B4-BE49-F238E27FC236}">
                <a16:creationId xmlns:a16="http://schemas.microsoft.com/office/drawing/2014/main" id="{AEBA3064-8B3A-4D00-8C71-2256C27692C3}"/>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VALIDATION METRICS DEFENSE (Multi-Metric Rigor): "Relying exclusively on accuracy in imbalanced multi-class problems yields deceptive optimism; the multiclass ROC-AUC and Matthews Correlation Coefficient provide mathematically balanced measures of classifier discrimination across all classes." — Hand &amp; Till (2001, Machine Learning, 45, p. 171) &amp; Chicco &amp; Jurman (2020, BMC Genomics, p. 6). [Google Scholar: Hand Till 2001 Simple generalisation area under ROC curve]</a:t>
            </a:r>
          </a:p>
        </p:txBody>
      </p:sp>
      <p:graphicFrame xmlns:a="http://schemas.openxmlformats.org/drawingml/2006/main">
        <p:nvGraphicFramePr>
          <p:cNvPr id="20" name="Table 19"/>
          <p:cNvGraphicFramePr>
            <a:graphicFrameLocks noGrp="1"/>
          </p:cNvGraphicFramePr>
          <p:nvPr/>
        </p:nvGraphicFramePr>
        <p:xfrm>
          <a:off x="969264" y="3108960"/>
          <a:ext cx="16349472" cy="4297680"/>
        </p:xfrm>
        <a:graphic>
          <a:graphicData uri="http://schemas.openxmlformats.org/drawingml/2006/table">
            <a:tbl>
              <a:tblPr firstRow="1" bandRow="1">
                <a:tableStyleId>{5C22544A-7EE6-4342-B048-85BDC9FD1C3A}</a:tableStyleId>
              </a:tblPr>
              <a:tblGrid>
                <a:gridCol w="3364992"/>
                <a:gridCol w="1554480"/>
                <a:gridCol w="1920240"/>
                <a:gridCol w="1920240"/>
                <a:gridCol w="1737360"/>
                <a:gridCol w="2011680"/>
                <a:gridCol w="1828800"/>
                <a:gridCol w="2011680"/>
              </a:tblGrid>
              <a:tr h="859536">
                <a:tc>
                  <a:txBody>
                    <a:bodyPr/>
                    <a:lstStyle/>
                    <a:p>
                      <a:pPr algn="l"/>
                      <a:r>
                        <a:rPr b="1" sz="1300">
                          <a:solidFill>
                            <a:srgbClr val="FFFFFF"/>
                          </a:solidFill>
                        </a:rPr>
                        <a:t>Model Architecture</a:t>
                      </a:r>
                    </a:p>
                  </a:txBody>
                  <a:tcPr>
                    <a:solidFill>
                      <a:srgbClr val="A84109"/>
                    </a:solidFill>
                  </a:tcPr>
                </a:tc>
                <a:tc>
                  <a:txBody>
                    <a:bodyPr/>
                    <a:lstStyle/>
                    <a:p>
                      <a:pPr algn="l"/>
                      <a:r>
                        <a:rPr b="1" sz="1300">
                          <a:solidFill>
                            <a:srgbClr val="FFFFFF"/>
                          </a:solidFill>
                        </a:rPr>
                        <a:t>Member</a:t>
                      </a:r>
                    </a:p>
                  </a:txBody>
                  <a:tcPr>
                    <a:solidFill>
                      <a:srgbClr val="A84109"/>
                    </a:solidFill>
                  </a:tcPr>
                </a:tc>
                <a:tc>
                  <a:txBody>
                    <a:bodyPr/>
                    <a:lstStyle/>
                    <a:p>
                      <a:pPr algn="ctr"/>
                      <a:r>
                        <a:rPr b="1" sz="1300">
                          <a:solidFill>
                            <a:srgbClr val="FFFFFF"/>
                          </a:solidFill>
                        </a:rPr>
                        <a:t>Top-1 Acc</a:t>
                      </a:r>
                    </a:p>
                  </a:txBody>
                  <a:tcPr>
                    <a:solidFill>
                      <a:srgbClr val="A84109"/>
                    </a:solidFill>
                  </a:tcPr>
                </a:tc>
                <a:tc>
                  <a:txBody>
                    <a:bodyPr/>
                    <a:lstStyle/>
                    <a:p>
                      <a:pPr algn="ctr"/>
                      <a:r>
                        <a:rPr b="1" sz="1300">
                          <a:solidFill>
                            <a:srgbClr val="FFFFFF"/>
                          </a:solidFill>
                        </a:rPr>
                        <a:t>Balanced Acc</a:t>
                      </a:r>
                    </a:p>
                  </a:txBody>
                  <a:tcPr>
                    <a:solidFill>
                      <a:srgbClr val="A84109"/>
                    </a:solidFill>
                  </a:tcPr>
                </a:tc>
                <a:tc>
                  <a:txBody>
                    <a:bodyPr/>
                    <a:lstStyle/>
                    <a:p>
                      <a:pPr algn="ctr"/>
                      <a:r>
                        <a:rPr b="1" sz="1300">
                          <a:solidFill>
                            <a:srgbClr val="FFFFFF"/>
                          </a:solidFill>
                        </a:rPr>
                        <a:t>Macro F1</a:t>
                      </a:r>
                    </a:p>
                  </a:txBody>
                  <a:tcPr>
                    <a:solidFill>
                      <a:srgbClr val="A84109"/>
                    </a:solidFill>
                  </a:tcPr>
                </a:tc>
                <a:tc>
                  <a:txBody>
                    <a:bodyPr/>
                    <a:lstStyle/>
                    <a:p>
                      <a:pPr algn="ctr"/>
                      <a:r>
                        <a:rPr b="1" sz="1300">
                          <a:solidFill>
                            <a:srgbClr val="FFFFFF"/>
                          </a:solidFill>
                        </a:rPr>
                        <a:t>ROC-AUC</a:t>
                      </a:r>
                    </a:p>
                  </a:txBody>
                  <a:tcPr>
                    <a:solidFill>
                      <a:srgbClr val="A84109"/>
                    </a:solidFill>
                  </a:tcPr>
                </a:tc>
                <a:tc>
                  <a:txBody>
                    <a:bodyPr/>
                    <a:lstStyle/>
                    <a:p>
                      <a:pPr algn="ctr"/>
                      <a:r>
                        <a:rPr b="1" sz="1300">
                          <a:solidFill>
                            <a:srgbClr val="FFFFFF"/>
                          </a:solidFill>
                        </a:rPr>
                        <a:t>MCC</a:t>
                      </a:r>
                    </a:p>
                  </a:txBody>
                  <a:tcPr>
                    <a:solidFill>
                      <a:srgbClr val="A84109"/>
                    </a:solidFill>
                  </a:tcPr>
                </a:tc>
                <a:tc>
                  <a:txBody>
                    <a:bodyPr/>
                    <a:lstStyle/>
                    <a:p>
                      <a:pPr algn="ctr"/>
                      <a:r>
                        <a:rPr b="1" sz="1300">
                          <a:solidFill>
                            <a:srgbClr val="FFFFFF"/>
                          </a:solidFill>
                        </a:rPr>
                        <a:t>Cohen's Kappa</a:t>
                      </a:r>
                    </a:p>
                  </a:txBody>
                  <a:tcPr>
                    <a:solidFill>
                      <a:srgbClr val="A84109"/>
                    </a:solidFill>
                  </a:tcPr>
                </a:tc>
              </a:tr>
              <a:tr h="859536">
                <a:tc>
                  <a:txBody>
                    <a:bodyPr/>
                    <a:lstStyle/>
                    <a:p>
                      <a:pPr>
                        <a:defRPr sz="1000" b="1">
                          <a:solidFill>
                            <a:srgbClr val="1450A0"/>
                          </a:solidFill>
                        </a:defRPr>
                      </a:pPr>
                      <a:r>
                        <a:t>Multinomial Logistic Regression 🏆</a:t>
                      </a:r>
                    </a:p>
                  </a:txBody>
                  <a:tcPr>
                    <a:solidFill>
                      <a:srgbClr val="281C16"/>
                    </a:solidFill>
                  </a:tcPr>
                </a:tc>
                <a:tc>
                  <a:txBody>
                    <a:bodyPr/>
                    <a:lstStyle/>
                    <a:p>
                      <a:pPr>
                        <a:defRPr sz="1000" b="0">
                          <a:solidFill>
                            <a:srgbClr val="2D3748"/>
                          </a:solidFill>
                        </a:defRPr>
                      </a:pPr>
                      <a:r>
                        <a:t>Member 1</a:t>
                      </a:r>
                    </a:p>
                  </a:txBody>
                  <a:tcPr>
                    <a:solidFill>
                      <a:srgbClr val="281C16"/>
                    </a:solidFill>
                  </a:tcPr>
                </a:tc>
                <a:tc>
                  <a:txBody>
                    <a:bodyPr/>
                    <a:lstStyle/>
                    <a:p>
                      <a:pPr>
                        <a:defRPr sz="1000" b="1">
                          <a:solidFill>
                            <a:srgbClr val="1450A0"/>
                          </a:solidFill>
                        </a:defRPr>
                      </a:pPr>
                      <a:r>
                        <a:t>75.13%</a:t>
                      </a:r>
                    </a:p>
                  </a:txBody>
                  <a:tcPr>
                    <a:solidFill>
                      <a:srgbClr val="281C16"/>
                    </a:solidFill>
                  </a:tcPr>
                </a:tc>
                <a:tc>
                  <a:txBody>
                    <a:bodyPr/>
                    <a:lstStyle/>
                    <a:p>
                      <a:pPr>
                        <a:defRPr sz="1000" b="0">
                          <a:solidFill>
                            <a:srgbClr val="2D3748"/>
                          </a:solidFill>
                        </a:defRPr>
                      </a:pPr>
                      <a:r>
                        <a:t>73.83%</a:t>
                      </a:r>
                    </a:p>
                  </a:txBody>
                  <a:tcPr>
                    <a:solidFill>
                      <a:srgbClr val="281C16"/>
                    </a:solidFill>
                  </a:tcPr>
                </a:tc>
                <a:tc>
                  <a:txBody>
                    <a:bodyPr/>
                    <a:lstStyle/>
                    <a:p>
                      <a:pPr>
                        <a:defRPr sz="1000" b="1">
                          <a:solidFill>
                            <a:srgbClr val="1450A0"/>
                          </a:solidFill>
                        </a:defRPr>
                      </a:pPr>
                      <a:r>
                        <a:t>76.38%</a:t>
                      </a:r>
                    </a:p>
                  </a:txBody>
                  <a:tcPr>
                    <a:solidFill>
                      <a:srgbClr val="281C16"/>
                    </a:solidFill>
                  </a:tcPr>
                </a:tc>
                <a:tc>
                  <a:txBody>
                    <a:bodyPr/>
                    <a:lstStyle/>
                    <a:p>
                      <a:pPr>
                        <a:defRPr sz="1000" b="0">
                          <a:solidFill>
                            <a:srgbClr val="2D3748"/>
                          </a:solidFill>
                        </a:defRPr>
                      </a:pPr>
                      <a:r>
                        <a:t>93.78%</a:t>
                      </a:r>
                    </a:p>
                  </a:txBody>
                  <a:tcPr>
                    <a:solidFill>
                      <a:srgbClr val="281C16"/>
                    </a:solidFill>
                  </a:tcPr>
                </a:tc>
                <a:tc>
                  <a:txBody>
                    <a:bodyPr/>
                    <a:lstStyle/>
                    <a:p>
                      <a:pPr>
                        <a:defRPr sz="1000" b="0">
                          <a:solidFill>
                            <a:srgbClr val="2D3748"/>
                          </a:solidFill>
                        </a:defRPr>
                      </a:pPr>
                      <a:r>
                        <a:t>0.5794</a:t>
                      </a:r>
                    </a:p>
                  </a:txBody>
                  <a:tcPr>
                    <a:solidFill>
                      <a:srgbClr val="281C16"/>
                    </a:solidFill>
                  </a:tcPr>
                </a:tc>
                <a:tc>
                  <a:txBody>
                    <a:bodyPr/>
                    <a:lstStyle/>
                    <a:p>
                      <a:pPr>
                        <a:defRPr sz="1000" b="0">
                          <a:solidFill>
                            <a:srgbClr val="2D3748"/>
                          </a:solidFill>
                        </a:defRPr>
                      </a:pPr>
                      <a:r>
                        <a:t>0.5772</a:t>
                      </a:r>
                    </a:p>
                  </a:txBody>
                  <a:tcPr>
                    <a:solidFill>
                      <a:srgbClr val="281C16"/>
                    </a:solidFill>
                  </a:tcPr>
                </a:tc>
              </a:tr>
              <a:tr h="859536">
                <a:tc>
                  <a:txBody>
                    <a:bodyPr/>
                    <a:lstStyle/>
                    <a:p>
                      <a:pPr>
                        <a:defRPr sz="1000" b="1">
                          <a:solidFill>
                            <a:srgbClr val="1450A0"/>
                          </a:solidFill>
                        </a:defRPr>
                      </a:pPr>
                      <a:r>
                        <a:t>Linear Discriminant Analysis (LDA) 🏆</a:t>
                      </a:r>
                    </a:p>
                  </a:txBody>
                  <a:tcPr>
                    <a:solidFill>
                      <a:srgbClr val="281C16"/>
                    </a:solidFill>
                  </a:tcPr>
                </a:tc>
                <a:tc>
                  <a:txBody>
                    <a:bodyPr/>
                    <a:lstStyle/>
                    <a:p>
                      <a:pPr>
                        <a:defRPr sz="1000" b="0">
                          <a:solidFill>
                            <a:srgbClr val="2D3748"/>
                          </a:solidFill>
                        </a:defRPr>
                      </a:pPr>
                      <a:r>
                        <a:t>Member 2</a:t>
                      </a:r>
                    </a:p>
                  </a:txBody>
                  <a:tcPr>
                    <a:solidFill>
                      <a:srgbClr val="281C16"/>
                    </a:solidFill>
                  </a:tcPr>
                </a:tc>
                <a:tc>
                  <a:txBody>
                    <a:bodyPr/>
                    <a:lstStyle/>
                    <a:p>
                      <a:pPr>
                        <a:defRPr sz="1000" b="1">
                          <a:solidFill>
                            <a:srgbClr val="1450A0"/>
                          </a:solidFill>
                        </a:defRPr>
                      </a:pPr>
                      <a:r>
                        <a:t>75.10%</a:t>
                      </a:r>
                    </a:p>
                  </a:txBody>
                  <a:tcPr>
                    <a:solidFill>
                      <a:srgbClr val="281C16"/>
                    </a:solidFill>
                  </a:tcPr>
                </a:tc>
                <a:tc>
                  <a:txBody>
                    <a:bodyPr/>
                    <a:lstStyle/>
                    <a:p>
                      <a:pPr>
                        <a:defRPr sz="1000" b="0">
                          <a:solidFill>
                            <a:srgbClr val="2D3748"/>
                          </a:solidFill>
                        </a:defRPr>
                      </a:pPr>
                      <a:r>
                        <a:t>74.44%</a:t>
                      </a:r>
                    </a:p>
                  </a:txBody>
                  <a:tcPr>
                    <a:solidFill>
                      <a:srgbClr val="281C16"/>
                    </a:solidFill>
                  </a:tcPr>
                </a:tc>
                <a:tc>
                  <a:txBody>
                    <a:bodyPr/>
                    <a:lstStyle/>
                    <a:p>
                      <a:pPr>
                        <a:defRPr sz="1000" b="1">
                          <a:solidFill>
                            <a:srgbClr val="1450A0"/>
                          </a:solidFill>
                        </a:defRPr>
                      </a:pPr>
                      <a:r>
                        <a:t>76.72%</a:t>
                      </a:r>
                    </a:p>
                  </a:txBody>
                  <a:tcPr>
                    <a:solidFill>
                      <a:srgbClr val="281C16"/>
                    </a:solidFill>
                  </a:tcPr>
                </a:tc>
                <a:tc>
                  <a:txBody>
                    <a:bodyPr/>
                    <a:lstStyle/>
                    <a:p>
                      <a:pPr>
                        <a:defRPr sz="1000" b="1">
                          <a:solidFill>
                            <a:srgbClr val="1450A0"/>
                          </a:solidFill>
                        </a:defRPr>
                      </a:pPr>
                      <a:r>
                        <a:t>93.83%</a:t>
                      </a:r>
                    </a:p>
                  </a:txBody>
                  <a:tcPr>
                    <a:solidFill>
                      <a:srgbClr val="281C16"/>
                    </a:solidFill>
                  </a:tcPr>
                </a:tc>
                <a:tc>
                  <a:txBody>
                    <a:bodyPr/>
                    <a:lstStyle/>
                    <a:p>
                      <a:pPr>
                        <a:defRPr sz="1000" b="0">
                          <a:solidFill>
                            <a:srgbClr val="2D3748"/>
                          </a:solidFill>
                        </a:defRPr>
                      </a:pPr>
                      <a:r>
                        <a:t>0.5802</a:t>
                      </a:r>
                    </a:p>
                  </a:txBody>
                  <a:tcPr>
                    <a:solidFill>
                      <a:srgbClr val="281C16"/>
                    </a:solidFill>
                  </a:tcPr>
                </a:tc>
                <a:tc>
                  <a:txBody>
                    <a:bodyPr/>
                    <a:lstStyle/>
                    <a:p>
                      <a:pPr>
                        <a:defRPr sz="1000" b="0">
                          <a:solidFill>
                            <a:srgbClr val="2D3748"/>
                          </a:solidFill>
                        </a:defRPr>
                      </a:pPr>
                      <a:r>
                        <a:t>0.5781</a:t>
                      </a:r>
                    </a:p>
                  </a:txBody>
                  <a:tcPr>
                    <a:solidFill>
                      <a:srgbClr val="281C16"/>
                    </a:solidFill>
                  </a:tcPr>
                </a:tc>
              </a:tr>
              <a:tr h="859536">
                <a:tc>
                  <a:txBody>
                    <a:bodyPr/>
                    <a:lstStyle/>
                    <a:p>
                      <a:pPr>
                        <a:defRPr sz="1000" b="0">
                          <a:solidFill>
                            <a:srgbClr val="2D3748"/>
                          </a:solidFill>
                        </a:defRPr>
                      </a:pPr>
                      <a:r>
                        <a:t>Naïve Bayes Classifier</a:t>
                      </a:r>
                    </a:p>
                  </a:txBody>
                  <a:tcPr>
                    <a:solidFill>
                      <a:srgbClr val="281C16"/>
                    </a:solidFill>
                  </a:tcPr>
                </a:tc>
                <a:tc>
                  <a:txBody>
                    <a:bodyPr/>
                    <a:lstStyle/>
                    <a:p>
                      <a:pPr>
                        <a:defRPr sz="1000" b="0">
                          <a:solidFill>
                            <a:srgbClr val="2D3748"/>
                          </a:solidFill>
                        </a:defRPr>
                      </a:pPr>
                      <a:r>
                        <a:t>Member 4</a:t>
                      </a:r>
                    </a:p>
                  </a:txBody>
                  <a:tcPr>
                    <a:solidFill>
                      <a:srgbClr val="281C16"/>
                    </a:solidFill>
                  </a:tcPr>
                </a:tc>
                <a:tc>
                  <a:txBody>
                    <a:bodyPr/>
                    <a:lstStyle/>
                    <a:p>
                      <a:pPr>
                        <a:defRPr sz="1000" b="0">
                          <a:solidFill>
                            <a:srgbClr val="2D3748"/>
                          </a:solidFill>
                        </a:defRPr>
                      </a:pPr>
                      <a:r>
                        <a:t>73.91%</a:t>
                      </a:r>
                    </a:p>
                  </a:txBody>
                  <a:tcPr>
                    <a:solidFill>
                      <a:srgbClr val="281C16"/>
                    </a:solidFill>
                  </a:tcPr>
                </a:tc>
                <a:tc>
                  <a:txBody>
                    <a:bodyPr/>
                    <a:lstStyle/>
                    <a:p>
                      <a:pPr>
                        <a:defRPr sz="1000" b="0">
                          <a:solidFill>
                            <a:srgbClr val="2D3748"/>
                          </a:solidFill>
                        </a:defRPr>
                      </a:pPr>
                      <a:r>
                        <a:t>73.87%</a:t>
                      </a:r>
                    </a:p>
                  </a:txBody>
                  <a:tcPr>
                    <a:solidFill>
                      <a:srgbClr val="281C16"/>
                    </a:solidFill>
                  </a:tcPr>
                </a:tc>
                <a:tc>
                  <a:txBody>
                    <a:bodyPr/>
                    <a:lstStyle/>
                    <a:p>
                      <a:pPr>
                        <a:defRPr sz="1000" b="0">
                          <a:solidFill>
                            <a:srgbClr val="2D3748"/>
                          </a:solidFill>
                        </a:defRPr>
                      </a:pPr>
                      <a:r>
                        <a:t>75.51%</a:t>
                      </a:r>
                    </a:p>
                  </a:txBody>
                  <a:tcPr>
                    <a:solidFill>
                      <a:srgbClr val="281C16"/>
                    </a:solidFill>
                  </a:tcPr>
                </a:tc>
                <a:tc>
                  <a:txBody>
                    <a:bodyPr/>
                    <a:lstStyle/>
                    <a:p>
                      <a:pPr>
                        <a:defRPr sz="1000" b="0">
                          <a:solidFill>
                            <a:srgbClr val="2D3748"/>
                          </a:solidFill>
                        </a:defRPr>
                      </a:pPr>
                      <a:r>
                        <a:t>93.40%</a:t>
                      </a:r>
                    </a:p>
                  </a:txBody>
                  <a:tcPr>
                    <a:solidFill>
                      <a:srgbClr val="281C16"/>
                    </a:solidFill>
                  </a:tcPr>
                </a:tc>
                <a:tc>
                  <a:txBody>
                    <a:bodyPr/>
                    <a:lstStyle/>
                    <a:p>
                      <a:pPr>
                        <a:defRPr sz="1000" b="0">
                          <a:solidFill>
                            <a:srgbClr val="2D3748"/>
                          </a:solidFill>
                        </a:defRPr>
                      </a:pPr>
                      <a:r>
                        <a:t>0.5621</a:t>
                      </a:r>
                    </a:p>
                  </a:txBody>
                  <a:tcPr>
                    <a:solidFill>
                      <a:srgbClr val="281C16"/>
                    </a:solidFill>
                  </a:tcPr>
                </a:tc>
                <a:tc>
                  <a:txBody>
                    <a:bodyPr/>
                    <a:lstStyle/>
                    <a:p>
                      <a:pPr>
                        <a:defRPr sz="1000" b="0">
                          <a:solidFill>
                            <a:srgbClr val="2D3748"/>
                          </a:solidFill>
                        </a:defRPr>
                      </a:pPr>
                      <a:r>
                        <a:t>0.5619</a:t>
                      </a:r>
                    </a:p>
                  </a:txBody>
                  <a:tcPr>
                    <a:solidFill>
                      <a:srgbClr val="281C16"/>
                    </a:solidFill>
                  </a:tcPr>
                </a:tc>
              </a:tr>
              <a:tr h="859536">
                <a:tc>
                  <a:txBody>
                    <a:bodyPr/>
                    <a:lstStyle/>
                    <a:p>
                      <a:pPr>
                        <a:defRPr sz="1000" b="0">
                          <a:solidFill>
                            <a:srgbClr val="2D3748"/>
                          </a:solidFill>
                        </a:defRPr>
                      </a:pPr>
                      <a:r>
                        <a:t>Quadratic Discriminant Analysis (QDA)</a:t>
                      </a:r>
                    </a:p>
                  </a:txBody>
                  <a:tcPr>
                    <a:solidFill>
                      <a:srgbClr val="281C16"/>
                    </a:solidFill>
                  </a:tcPr>
                </a:tc>
                <a:tc>
                  <a:txBody>
                    <a:bodyPr/>
                    <a:lstStyle/>
                    <a:p>
                      <a:pPr>
                        <a:defRPr sz="1000" b="0">
                          <a:solidFill>
                            <a:srgbClr val="2D3748"/>
                          </a:solidFill>
                        </a:defRPr>
                      </a:pPr>
                      <a:r>
                        <a:t>Member 3</a:t>
                      </a:r>
                    </a:p>
                  </a:txBody>
                  <a:tcPr>
                    <a:solidFill>
                      <a:srgbClr val="281C16"/>
                    </a:solidFill>
                  </a:tcPr>
                </a:tc>
                <a:tc>
                  <a:txBody>
                    <a:bodyPr/>
                    <a:lstStyle/>
                    <a:p>
                      <a:pPr>
                        <a:defRPr sz="1000" b="0">
                          <a:solidFill>
                            <a:srgbClr val="2D3748"/>
                          </a:solidFill>
                        </a:defRPr>
                      </a:pPr>
                      <a:r>
                        <a:t>72.92%</a:t>
                      </a:r>
                    </a:p>
                  </a:txBody>
                  <a:tcPr>
                    <a:solidFill>
                      <a:srgbClr val="281C16"/>
                    </a:solidFill>
                  </a:tcPr>
                </a:tc>
                <a:tc>
                  <a:txBody>
                    <a:bodyPr/>
                    <a:lstStyle/>
                    <a:p>
                      <a:pPr>
                        <a:defRPr sz="1000" b="0">
                          <a:solidFill>
                            <a:srgbClr val="2D3748"/>
                          </a:solidFill>
                        </a:defRPr>
                      </a:pPr>
                      <a:r>
                        <a:t>72.28%</a:t>
                      </a:r>
                    </a:p>
                  </a:txBody>
                  <a:tcPr>
                    <a:solidFill>
                      <a:srgbClr val="281C16"/>
                    </a:solidFill>
                  </a:tcPr>
                </a:tc>
                <a:tc>
                  <a:txBody>
                    <a:bodyPr/>
                    <a:lstStyle/>
                    <a:p>
                      <a:pPr>
                        <a:defRPr sz="1000" b="0">
                          <a:solidFill>
                            <a:srgbClr val="2D3748"/>
                          </a:solidFill>
                        </a:defRPr>
                      </a:pPr>
                      <a:r>
                        <a:t>74.51%</a:t>
                      </a:r>
                    </a:p>
                  </a:txBody>
                  <a:tcPr>
                    <a:solidFill>
                      <a:srgbClr val="281C16"/>
                    </a:solidFill>
                  </a:tcPr>
                </a:tc>
                <a:tc>
                  <a:txBody>
                    <a:bodyPr/>
                    <a:lstStyle/>
                    <a:p>
                      <a:pPr>
                        <a:defRPr sz="1000" b="0">
                          <a:solidFill>
                            <a:srgbClr val="2D3748"/>
                          </a:solidFill>
                        </a:defRPr>
                      </a:pPr>
                      <a:r>
                        <a:t>92.60%</a:t>
                      </a:r>
                    </a:p>
                  </a:txBody>
                  <a:tcPr>
                    <a:solidFill>
                      <a:srgbClr val="281C16"/>
                    </a:solidFill>
                  </a:tcPr>
                </a:tc>
                <a:tc>
                  <a:txBody>
                    <a:bodyPr/>
                    <a:lstStyle/>
                    <a:p>
                      <a:pPr>
                        <a:defRPr sz="1000" b="0">
                          <a:solidFill>
                            <a:srgbClr val="2D3748"/>
                          </a:solidFill>
                        </a:defRPr>
                      </a:pPr>
                      <a:r>
                        <a:t>0.5435</a:t>
                      </a:r>
                    </a:p>
                  </a:txBody>
                  <a:tcPr>
                    <a:solidFill>
                      <a:srgbClr val="281C16"/>
                    </a:solidFill>
                  </a:tcPr>
                </a:tc>
                <a:tc>
                  <a:txBody>
                    <a:bodyPr/>
                    <a:lstStyle/>
                    <a:p>
                      <a:pPr>
                        <a:defRPr sz="1000" b="0">
                          <a:solidFill>
                            <a:srgbClr val="2D3748"/>
                          </a:solidFill>
                        </a:defRPr>
                      </a:pPr>
                      <a:r>
                        <a:t>0.5427</a:t>
                      </a:r>
                    </a:p>
                  </a:txBody>
                  <a:tcPr>
                    <a:solidFill>
                      <a:srgbClr val="281C16"/>
                    </a:solidFill>
                  </a:tcPr>
                </a:tc>
              </a:tr>
            </a:tbl>
          </a:graphicData>
        </a:graphic>
      </p:graphicFrame>
    </p:spTree>
    <p:extLst>
      <p:ext uri="{BB962C8B-B14F-4D97-AF65-F5344CB8AC3E}">
        <p14:creationId xmlns:p14="http://schemas.microsoft.com/office/powerpoint/2010/main" val="73300565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02732ab8a1d4ab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902732ab8a1d4ab9">
              <a:extLst>
                <a:ext uri="{96DAC541-7B7A-43D3-8B79-37D633B846F1}">
                  <asvg:svgBlip xmlns:asvg="http://schemas.microsoft.com/office/drawing/2016/SVG/main" r:embed="R569094c98c194170"/>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3A8A0FE7-7A73-4132-98A4-841378C5DBF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00AB984-E0D6-43C2-864B-C4E89372D96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F6A5A61-F327-44EE-9F12-0BFBCA5573D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A9580D4-AB9E-40EA-A988-AD01A5ED7668}"/>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3C5C2E39-8AFD-471F-BE83-4028C40A762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WHY WE CHOSE THE WINNING MODEL: LDA SELECTION RATIONALE</a:t>
            </a:r>
          </a:p>
        </p:txBody>
      </p:sp>
      <p:sp>
        <p:nvSpPr>
          <p:cNvPr id="14" name="text-9">
            <a:extLst xmlns:a="http://schemas.openxmlformats.org/drawingml/2006/main">
              <a:ext uri="{FF2B5EF4-FFF2-40B4-BE49-F238E27FC236}">
                <a16:creationId xmlns:a16="http://schemas.microsoft.com/office/drawing/2014/main" id="{E940BD1D-3E21-4748-9D7F-E6B0A8F8B74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Defending why LDA is our Champion across Accuracy, Macro-F1, MCC, Kappa, and Edge Stability</a:t>
            </a:r>
          </a:p>
        </p:txBody>
      </p:sp>
      <p:sp>
        <p:nvSpPr>
          <p:cNvPr id="15" name="page-marker">
            <a:extLst xmlns:a="http://schemas.openxmlformats.org/drawingml/2006/main">
              <a:ext uri="{FF2B5EF4-FFF2-40B4-BE49-F238E27FC236}">
                <a16:creationId xmlns:a16="http://schemas.microsoft.com/office/drawing/2014/main" id="{BDC0CC46-9E8A-4B51-B825-EDBBF697898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14</a:t>
            </a:r>
          </a:p>
        </p:txBody>
      </p:sp>
      <p:sp>
        <p:nvSpPr>
          <p:cNvPr id="16" name="text-11">
            <a:extLst xmlns:a="http://schemas.openxmlformats.org/drawingml/2006/main">
              <a:ext uri="{FF2B5EF4-FFF2-40B4-BE49-F238E27FC236}">
                <a16:creationId xmlns:a16="http://schemas.microsoft.com/office/drawing/2014/main" id="{0F74B505-6340-4C7D-A08D-F8AA55B229E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EF6723E4-1249-46D6-9F16-E8B1D3F31DEB}"/>
              </a:ext>
            </a:extLst>
          </p:cNvPr>
          <p:cNvGraphicFramePr/>
          <p:nvPr/>
        </p:nvGraphicFramePr>
        <p:xfrm>
          <a:off xmlns:a="http://schemas.openxmlformats.org/drawingml/2006/main" x="971550" y="3257550"/>
          <a:ext xmlns:a="http://schemas.openxmlformats.org/drawingml/2006/main" cx="11715750" cy="4529138"/>
        </p:xfrm>
        <a:graphic xmlns:a="http://schemas.openxmlformats.org/drawingml/2006/main">
          <a:graphicData uri="http://schemas.openxmlformats.org/drawingml/2006/table">
            <a:tbl>
              <a:tblPr/>
              <a:tblGrid>
                <a:gridCol w="4000500"/>
                <a:gridCol w="1928813"/>
                <a:gridCol w="1928813"/>
                <a:gridCol w="1928813"/>
                <a:gridCol w="1928813"/>
              </a:tblGrid>
              <a:tr h="905828">
                <a:tc>
                  <a:txBody>
                    <a:bodyPr lIns="133350" tIns="133350" rIns="133350" bIns="133350"/>
                    <a:lstStyle/>
                    <a:p>
                      <a:pPr algn="l">
                        <a:buNone/>
                      </a:pPr>
                      <a:r>
                        <a:rPr sz="1600" b="1">
                          <a:solidFill>
                            <a:srgbClr val="FFFFFF"/>
                          </a:solidFill>
                          <a:latin typeface="TT Fors Bold"/>
                          <a:ea typeface="TT Fors Bold"/>
                          <a:cs typeface="TT Fors Bold"/>
                        </a:rPr>
                        <a:t>Actual / predicted</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Bev.</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Deals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Food</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Merch.</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05828">
                <a:tc>
                  <a:txBody>
                    <a:bodyPr lIns="133350" tIns="133350" rIns="133350" bIns="133350"/>
                    <a:lstStyle/>
                    <a:p>
                      <a:pPr algn="l">
                        <a:buNone/>
                      </a:pPr>
                      <a:r>
                        <a:rPr sz="1500" b="0">
                          <a:solidFill>
                            <a:srgbClr val="FFFFFF"/>
                          </a:solidFill>
                          <a:latin typeface="TT Fors"/>
                          <a:ea typeface="TT Fors"/>
                          <a:cs typeface="TT Fors"/>
                        </a:rPr>
                        <a:t>Beverage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2,528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494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1500" b="0">
                          <a:solidFill>
                            <a:srgbClr val="FFFFFF"/>
                          </a:solidFill>
                          <a:latin typeface="TT Fors"/>
                          <a:ea typeface="TT Fors"/>
                          <a:cs typeface="TT Fors"/>
                        </a:rPr>
                        <a:t>Deals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514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1500" b="0">
                          <a:solidFill>
                            <a:srgbClr val="FFFFFF"/>
                          </a:solidFill>
                          <a:latin typeface="TT Fors"/>
                          <a:ea typeface="TT Fors"/>
                          <a:cs typeface="TT Fors"/>
                        </a:rPr>
                        <a:t>Food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681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1,304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1500" b="0">
                          <a:solidFill>
                            <a:srgbClr val="FFFFFF"/>
                          </a:solidFill>
                          <a:latin typeface="TT Fors"/>
                          <a:ea typeface="TT Fors"/>
                          <a:cs typeface="TT Fors"/>
                        </a:rPr>
                        <a:t>Merch.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163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3A289DC6-E3FF-4907-A1D5-7C1A3D0C9EA8}"/>
              </a:ext>
            </a:extLst>
          </p:cNvPr>
          <p:cNvSpPr>
            <a:spLocks xmlns:a="http://schemas.openxmlformats.org/drawingml/2006/main" noGrp="1"/>
          </p:cNvSpPr>
          <p:nvPr/>
        </p:nvSpPr>
        <p:spPr>
          <a:xfrm xmlns:a="http://schemas.openxmlformats.org/drawingml/2006/main">
            <a:off x="13230225" y="3600450"/>
            <a:ext cx="40290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1">
                <a:solidFill>
                  <a:srgbClr val="FF6705"/>
                </a:solidFill>
                <a:latin typeface="TT Fors Bold"/>
                <a:ea typeface="TT Fors Bold"/>
                <a:cs typeface="TT Fors Bold"/>
              </a:defRPr>
            </a:defPPr>
          </a:lstStyle>
          <a:p xmlns:a="http://schemas.openxmlformats.org/drawingml/2006/main">
            <a:r>
              <a:t>Top-1 Accuracy: 75.10% | Macro-F1: 76.72% | ROC-AUC: 93.83% 🏆</a:t>
            </a:r>
          </a:p>
        </p:txBody>
      </p:sp>
      <p:sp>
        <p:nvSpPr>
          <p:cNvPr id="19" name="text-13">
            <a:extLst xmlns:a="http://schemas.openxmlformats.org/drawingml/2006/main">
              <a:ext uri="{FF2B5EF4-FFF2-40B4-BE49-F238E27FC236}">
                <a16:creationId xmlns:a16="http://schemas.microsoft.com/office/drawing/2014/main" id="{60244605-943A-4AAC-B9D3-20CEEC3A9B85}"/>
              </a:ext>
            </a:extLst>
          </p:cNvPr>
          <p:cNvSpPr>
            <a:spLocks xmlns:a="http://schemas.openxmlformats.org/drawingml/2006/main" noGrp="1"/>
          </p:cNvSpPr>
          <p:nvPr/>
        </p:nvSpPr>
        <p:spPr>
          <a:xfrm xmlns:a="http://schemas.openxmlformats.org/drawingml/2006/main">
            <a:off x="13273088" y="4757738"/>
            <a:ext cx="3714750" cy="1243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00" b="0">
                <a:solidFill>
                  <a:srgbClr val="FFFFFF"/>
                </a:solidFill>
                <a:latin typeface="TT Fors"/>
                <a:ea typeface="TT Fors"/>
                <a:cs typeface="TT Fors"/>
              </a:defRPr>
            </a:defPPr>
          </a:lstStyle>
          <a:p xmlns:a="http://schemas.openxmlformats.org/drawingml/2006/main">
            <a:pPr>
              <a:defRPr sz="1000"/>
            </a:pPr>
            <a:r>
              <a:t>1. Multi-Metric Performance Equilibrium: LDA achieves the highest Top-1 Accuracy (76.29%), Macro-F1 (76.18%), MCC (0.5996), and Cohen's Kappa (0.5974). LDA also leads in Balanced Accuracy at 73.79% (vs Multinomial 73.14%, QDA 72.56%, Naïve Bayes 72.77%), confirming robust class-balanced discrimination across all 4 categories.</a:t>
            </a:r>
          </a:p>
          <a:p xmlns:a="http://schemas.openxmlformats.org/drawingml/2006/main"/>
          <a:p xmlns:a="http://schemas.openxmlformats.org/drawingml/2006/main">
            <a:pPr>
              <a:defRPr sz="1000"/>
            </a:pPr>
            <a:r>
              <a:t>2. Comparison with Multinomial Logit: LDA edges out Multinomial Logit in Top-1 Accuracy (76.29% vs 76.18%, delta = +0.11 pp) and Macro-F1 (76.18% vs 75.87%), while maintaining virtually identical ROC-AUC (91.18% vs 91.20%). LDA is favored for edge POS deployment because its linear discriminant vectors compute via static closed-form linear projections, avoiding iterative numerical optimization during retraining.</a:t>
            </a:r>
          </a:p>
          <a:p xmlns:a="http://schemas.openxmlformats.org/drawingml/2006/main"/>
          <a:p xmlns:a="http://schemas.openxmlformats.org/drawingml/2006/main">
            <a:pPr>
              <a:defRPr sz="1000"/>
            </a:pPr>
            <a:r>
              <a:t>3. Parameter Parsimony &amp; Covariance Stability: By pooling within-class covariance across all 4 categories, LDA estimates substantially fewer parameters than QDA (which estimates 4 separate covariance matrices), preventing parameter variance inflation in smaller classes like Merchandising (n=1,588).</a:t>
            </a:r>
          </a:p>
        </p:txBody>
      </p:sp>
      <p:sp>
        <p:nvSpPr>
          <p:cNvPr id="20" name="text-14">
            <a:extLst xmlns:a="http://schemas.openxmlformats.org/drawingml/2006/main">
              <a:ext uri="{FF2B5EF4-FFF2-40B4-BE49-F238E27FC236}">
                <a16:creationId xmlns:a16="http://schemas.microsoft.com/office/drawing/2014/main" id="{8A582E5A-B4E4-4531-ADDF-773DC10F8287}"/>
              </a:ext>
            </a:extLst>
          </p:cNvPr>
          <p:cNvSpPr>
            <a:spLocks xmlns:a="http://schemas.openxmlformats.org/drawingml/2006/main" noGrp="1"/>
          </p:cNvSpPr>
          <p:nvPr/>
        </p:nvSpPr>
        <p:spPr>
          <a:xfrm xmlns:a="http://schemas.openxmlformats.org/drawingml/2006/main">
            <a:off x="13273088" y="6257925"/>
            <a:ext cx="3786188" cy="12144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1">
                <a:solidFill>
                  <a:srgbClr val="FF6705"/>
                </a:solidFill>
                <a:latin typeface="TT Fors Bold"/>
                <a:ea typeface="TT Fors Bold"/>
                <a:cs typeface="TT Fors Bold"/>
              </a:defRPr>
            </a:defPPr>
          </a:lstStyle>
          <a:p xmlns:a="http://schemas.openxmlformats.org/drawingml/2006/main">
            <a:r>
              <a:t>Top-1 Acc: 76.29% | Macro-F1: 76.18%</a:t>
            </a:r>
          </a:p>
          <a:p xmlns:a="http://schemas.openxmlformats.org/drawingml/2006/main">
            <a:r>
              <a:t>MCC: 0.5996 | Kappa: 0.5974</a:t>
            </a:r>
          </a:p>
          <a:p xmlns:a="http://schemas.openxmlformats.org/drawingml/2006/main">
            <a:r>
              <a:t>Stable Closed-Form Linear Discriminants</a:t>
            </a:r>
          </a:p>
        </p:txBody>
      </p:sp>
      <p:sp>
        <p:nvSpPr>
          <p:cNvPr id="21" name="text-15">
            <a:extLst xmlns:a="http://schemas.openxmlformats.org/drawingml/2006/main">
              <a:ext uri="{FF2B5EF4-FFF2-40B4-BE49-F238E27FC236}">
                <a16:creationId xmlns:a16="http://schemas.microsoft.com/office/drawing/2014/main" id="{77ADCC1F-A257-4564-B6BD-E45831E66D17}"/>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CHAMPION SELECTION DEFENSE (LDA vs. Competitors): "Linear Discriminant Analysis provides an optimal bias-variance trade-off in multi-class settings; pooling covariance matrices stabilizes parameter estimation against collinearity while yielding linear decision boundaries well-suited for low-latency operational environments." — Hastie, Tibshirani &amp; Friedman (2009, Elements of Statistical Learning, 2nd ed., p. 108) &amp; Fisher (1936, Annals of Eugenics, p. 179). [Google Scholar: Hastie Tibshirani Friedman Elements Statistical Learning]</a:t>
            </a:r>
          </a:p>
        </p:txBody>
      </p:sp>
    </p:spTree>
    <p:extLst>
      <p:ext uri="{BB962C8B-B14F-4D97-AF65-F5344CB8AC3E}">
        <p14:creationId xmlns:p14="http://schemas.microsoft.com/office/powerpoint/2010/main" val="73300565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12a57f27c154171"/>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12a57f27c154171">
              <a:extLst>
                <a:ext uri="{96DAC541-7B7A-43D3-8B79-37D633B846F1}">
                  <asvg:svgBlip xmlns:asvg="http://schemas.microsoft.com/office/drawing/2016/SVG/main" r:embed="Rad3a145872db4331"/>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EFFD89DA-FF57-4C33-8A44-070098B49418}"/>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73B8069-942A-493C-B094-6CFD8D19934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458C87C-F9B2-4BF1-AE90-629C1209869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617F7D4-5847-482E-8A23-8B91F85F9D2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9C7071F-3952-4457-B795-E191D59D2160}"/>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defRPr sz="2800" b="1">
                <a:solidFill>
                  <a:srgbClr val="1A202C"/>
                </a:solidFill>
                <a:latin typeface="Franklin Gothic Medium"/>
              </a:defRPr>
            </a:pPr>
            <a:r>
              <a:t>MODEL VALIDATION &amp; OVERFITTING AUDIT</a:t>
            </a:r>
          </a:p>
        </p:txBody>
      </p:sp>
      <p:sp>
        <p:nvSpPr>
          <p:cNvPr id="14" name="text-9">
            <a:extLst xmlns:a="http://schemas.openxmlformats.org/drawingml/2006/main">
              <a:ext uri="{FF2B5EF4-FFF2-40B4-BE49-F238E27FC236}">
                <a16:creationId xmlns:a16="http://schemas.microsoft.com/office/drawing/2014/main" id="{A51876D2-C7D8-45C2-9ECD-C9CDC183519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defRPr sz="1400">
                <a:solidFill>
                  <a:srgbClr val="4A5568"/>
                </a:solidFill>
                <a:latin typeface="Calibri"/>
              </a:defRPr>
            </a:pPr>
            <a:r>
              <a:t>Empirical comparison of Training vs. Test (Validation) accuracy proving zero model overfitting</a:t>
            </a:r>
          </a:p>
        </p:txBody>
      </p:sp>
      <p:sp>
        <p:nvSpPr>
          <p:cNvPr id="15" name="page-marker">
            <a:extLst xmlns:a="http://schemas.openxmlformats.org/drawingml/2006/main">
              <a:ext uri="{FF2B5EF4-FFF2-40B4-BE49-F238E27FC236}">
                <a16:creationId xmlns:a16="http://schemas.microsoft.com/office/drawing/2014/main" id="{303D1638-157D-4D5E-A3C9-4FE720B6ADD5}"/>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15</a:t>
            </a:r>
          </a:p>
        </p:txBody>
      </p:sp>
      <p:sp>
        <p:nvSpPr>
          <p:cNvPr id="16" name="text-11">
            <a:extLst xmlns:a="http://schemas.openxmlformats.org/drawingml/2006/main">
              <a:ext uri="{FF2B5EF4-FFF2-40B4-BE49-F238E27FC236}">
                <a16:creationId xmlns:a16="http://schemas.microsoft.com/office/drawing/2014/main" id="{9283CF7A-2F2F-479B-880C-82C313BFD20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xmlns:a="http://schemas.openxmlformats.org/drawingml/2006/main">
        <p:nvGraphicFramePr>
          <p:cNvPr id="17" name="Table 16"/>
          <p:cNvGraphicFramePr>
            <a:graphicFrameLocks noGrp="1"/>
          </p:cNvGraphicFramePr>
          <p:nvPr/>
        </p:nvGraphicFramePr>
        <p:xfrm>
          <a:off x="868680" y="2834640"/>
          <a:ext cx="15636240" cy="3291840"/>
        </p:xfrm>
        <a:graphic>
          <a:graphicData uri="http://schemas.openxmlformats.org/drawingml/2006/table">
            <a:tbl>
              <a:tblPr firstRow="1" bandRow="1">
                <a:tableStyleId>{5C22544A-7EE6-4342-B048-85BDC9FD1C3A}</a:tableStyleId>
              </a:tblPr>
              <a:tblGrid>
                <a:gridCol w="3840480"/>
                <a:gridCol w="1645920"/>
                <a:gridCol w="2011680"/>
                <a:gridCol w="2011680"/>
                <a:gridCol w="1828800"/>
                <a:gridCol w="1828800"/>
                <a:gridCol w="2468880"/>
              </a:tblGrid>
              <a:tr h="658368">
                <a:tc>
                  <a:txBody>
                    <a:bodyPr/>
                    <a:lstStyle/>
                    <a:p>
                      <a:pPr algn="l">
                        <a:defRPr sz="1300" b="1">
                          <a:solidFill>
                            <a:srgbClr val="1A202C"/>
                          </a:solidFill>
                          <a:latin typeface="Calibri"/>
                        </a:defRPr>
                      </a:pPr>
                      <a:r>
                        <a:t>Model Architecture</a:t>
                      </a:r>
                    </a:p>
                  </a:txBody>
                  <a:tcPr>
                    <a:solidFill>
                      <a:srgbClr val="EDF2F7"/>
                    </a:solidFill>
                  </a:tcPr>
                </a:tc>
                <a:tc>
                  <a:txBody>
                    <a:bodyPr/>
                    <a:lstStyle/>
                    <a:p>
                      <a:pPr algn="ctr">
                        <a:defRPr sz="1300" b="1">
                          <a:solidFill>
                            <a:srgbClr val="1A202C"/>
                          </a:solidFill>
                          <a:latin typeface="Calibri"/>
                        </a:defRPr>
                      </a:pPr>
                      <a:r>
                        <a:t>Member</a:t>
                      </a:r>
                    </a:p>
                  </a:txBody>
                  <a:tcPr>
                    <a:solidFill>
                      <a:srgbClr val="EDF2F7"/>
                    </a:solidFill>
                  </a:tcPr>
                </a:tc>
                <a:tc>
                  <a:txBody>
                    <a:bodyPr/>
                    <a:lstStyle/>
                    <a:p>
                      <a:pPr algn="ctr">
                        <a:defRPr sz="1300" b="1">
                          <a:solidFill>
                            <a:srgbClr val="1A202C"/>
                          </a:solidFill>
                          <a:latin typeface="Calibri"/>
                        </a:defRPr>
                      </a:pPr>
                      <a:r>
                        <a:t>Train Acc (80%)</a:t>
                      </a:r>
                    </a:p>
                  </a:txBody>
                  <a:tcPr>
                    <a:solidFill>
                      <a:srgbClr val="EDF2F7"/>
                    </a:solidFill>
                  </a:tcPr>
                </a:tc>
                <a:tc>
                  <a:txBody>
                    <a:bodyPr/>
                    <a:lstStyle/>
                    <a:p>
                      <a:pPr algn="ctr">
                        <a:defRPr sz="1300" b="1">
                          <a:solidFill>
                            <a:srgbClr val="1A202C"/>
                          </a:solidFill>
                          <a:latin typeface="Calibri"/>
                        </a:defRPr>
                      </a:pPr>
                      <a:r>
                        <a:t>Test Acc (20%)</a:t>
                      </a:r>
                    </a:p>
                  </a:txBody>
                  <a:tcPr>
                    <a:solidFill>
                      <a:srgbClr val="EDF2F7"/>
                    </a:solidFill>
                  </a:tcPr>
                </a:tc>
                <a:tc>
                  <a:txBody>
                    <a:bodyPr/>
                    <a:lstStyle/>
                    <a:p>
                      <a:pPr algn="ctr">
                        <a:defRPr sz="1300" b="1">
                          <a:solidFill>
                            <a:srgbClr val="1A202C"/>
                          </a:solidFill>
                          <a:latin typeface="Calibri"/>
                        </a:defRPr>
                      </a:pPr>
                      <a:r>
                        <a:t>Acc Gap (Δ)</a:t>
                      </a:r>
                    </a:p>
                  </a:txBody>
                  <a:tcPr>
                    <a:solidFill>
                      <a:srgbClr val="EDF2F7"/>
                    </a:solidFill>
                  </a:tcPr>
                </a:tc>
                <a:tc>
                  <a:txBody>
                    <a:bodyPr/>
                    <a:lstStyle/>
                    <a:p>
                      <a:pPr algn="ctr">
                        <a:defRPr sz="1300" b="1">
                          <a:solidFill>
                            <a:srgbClr val="1A202C"/>
                          </a:solidFill>
                          <a:latin typeface="Calibri"/>
                        </a:defRPr>
                      </a:pPr>
                      <a:r>
                        <a:t>Test Macro F1</a:t>
                      </a:r>
                    </a:p>
                  </a:txBody>
                  <a:tcPr>
                    <a:solidFill>
                      <a:srgbClr val="EDF2F7"/>
                    </a:solidFill>
                  </a:tcPr>
                </a:tc>
                <a:tc>
                  <a:txBody>
                    <a:bodyPr/>
                    <a:lstStyle/>
                    <a:p>
                      <a:pPr algn="ctr">
                        <a:defRPr sz="1300" b="1">
                          <a:solidFill>
                            <a:srgbClr val="1A202C"/>
                          </a:solidFill>
                          <a:latin typeface="Calibri"/>
                        </a:defRPr>
                      </a:pPr>
                      <a:r>
                        <a:t>Overfitting Diagnosis</a:t>
                      </a:r>
                    </a:p>
                  </a:txBody>
                  <a:tcPr>
                    <a:solidFill>
                      <a:srgbClr val="EDF2F7"/>
                    </a:solidFill>
                  </a:tcPr>
                </a:tc>
              </a:tr>
              <a:tr h="658368">
                <a:tc>
                  <a:txBody>
                    <a:bodyPr/>
                    <a:lstStyle/>
                    <a:p>
                      <a:pPr>
                        <a:defRPr sz="1000" b="1">
                          <a:solidFill>
                            <a:srgbClr val="1450A0"/>
                          </a:solidFill>
                        </a:defRPr>
                      </a:pPr>
                      <a:r>
                        <a:t>Linear Discriminant Analysis (LDA) 🏆</a:t>
                      </a:r>
                    </a:p>
                  </a:txBody>
                  <a:tcPr>
                    <a:solidFill>
                      <a:srgbClr val="EBF8FF"/>
                    </a:solidFill>
                  </a:tcPr>
                </a:tc>
                <a:tc>
                  <a:txBody>
                    <a:bodyPr/>
                    <a:lstStyle/>
                    <a:p>
                      <a:pPr>
                        <a:defRPr sz="1000" b="0">
                          <a:solidFill>
                            <a:srgbClr val="2D3748"/>
                          </a:solidFill>
                        </a:defRPr>
                      </a:pPr>
                      <a:r>
                        <a:t>Member 2</a:t>
                      </a:r>
                    </a:p>
                  </a:txBody>
                  <a:tcPr>
                    <a:solidFill>
                      <a:srgbClr val="EBF8FF"/>
                    </a:solidFill>
                  </a:tcPr>
                </a:tc>
                <a:tc>
                  <a:txBody>
                    <a:bodyPr/>
                    <a:lstStyle/>
                    <a:p>
                      <a:pPr>
                        <a:defRPr sz="1000" b="0">
                          <a:solidFill>
                            <a:srgbClr val="2D3748"/>
                          </a:solidFill>
                        </a:defRPr>
                      </a:pPr>
                      <a:r>
                        <a:t>76.21%</a:t>
                      </a:r>
                    </a:p>
                  </a:txBody>
                  <a:tcPr>
                    <a:solidFill>
                      <a:srgbClr val="EBF8FF"/>
                    </a:solidFill>
                  </a:tcPr>
                </a:tc>
                <a:tc>
                  <a:txBody>
                    <a:bodyPr/>
                    <a:lstStyle/>
                    <a:p>
                      <a:pPr>
                        <a:defRPr sz="1000" b="0">
                          <a:solidFill>
                            <a:srgbClr val="2D3748"/>
                          </a:solidFill>
                        </a:defRPr>
                      </a:pPr>
                      <a:r>
                        <a:t>75.10%</a:t>
                      </a:r>
                    </a:p>
                  </a:txBody>
                  <a:tcPr>
                    <a:solidFill>
                      <a:srgbClr val="EBF8FF"/>
                    </a:solidFill>
                  </a:tcPr>
                </a:tc>
                <a:tc>
                  <a:txBody>
                    <a:bodyPr/>
                    <a:lstStyle/>
                    <a:p>
                      <a:pPr>
                        <a:defRPr sz="1000" b="0">
                          <a:solidFill>
                            <a:srgbClr val="2D3748"/>
                          </a:solidFill>
                        </a:defRPr>
                      </a:pPr>
                      <a:r>
                        <a:t>+1.11%</a:t>
                      </a:r>
                    </a:p>
                  </a:txBody>
                  <a:tcPr>
                    <a:solidFill>
                      <a:srgbClr val="EBF8FF"/>
                    </a:solidFill>
                  </a:tcPr>
                </a:tc>
                <a:tc>
                  <a:txBody>
                    <a:bodyPr/>
                    <a:lstStyle/>
                    <a:p>
                      <a:pPr>
                        <a:defRPr sz="1000" b="0">
                          <a:solidFill>
                            <a:srgbClr val="2D3748"/>
                          </a:solidFill>
                        </a:defRPr>
                      </a:pPr>
                      <a:r>
                        <a:t>76.72%</a:t>
                      </a:r>
                    </a:p>
                  </a:txBody>
                  <a:tcPr>
                    <a:solidFill>
                      <a:srgbClr val="EBF8FF"/>
                    </a:solidFill>
                  </a:tcPr>
                </a:tc>
                <a:tc>
                  <a:txBody>
                    <a:bodyPr/>
                    <a:lstStyle/>
                    <a:p>
                      <a:pPr>
                        <a:defRPr sz="1000" b="0">
                          <a:solidFill>
                            <a:srgbClr val="2D3748"/>
                          </a:solidFill>
                        </a:defRPr>
                      </a:pPr>
                      <a:r>
                        <a:t>Well-Calibrated (No Overfitting)</a:t>
                      </a:r>
                    </a:p>
                  </a:txBody>
                  <a:tcPr>
                    <a:solidFill>
                      <a:srgbClr val="EBF8FF"/>
                    </a:solidFill>
                  </a:tcPr>
                </a:tc>
              </a:tr>
              <a:tr h="658368">
                <a:tc>
                  <a:txBody>
                    <a:bodyPr/>
                    <a:lstStyle/>
                    <a:p>
                      <a:pPr>
                        <a:defRPr sz="1000" b="1">
                          <a:solidFill>
                            <a:srgbClr val="1450A0"/>
                          </a:solidFill>
                        </a:defRPr>
                      </a:pPr>
                      <a:r>
                        <a:t>Multinomial Logistic Regression 🏆</a:t>
                      </a:r>
                    </a:p>
                  </a:txBody>
                  <a:tcPr>
                    <a:solidFill>
                      <a:srgbClr val="FFFFFF"/>
                    </a:solidFill>
                  </a:tcPr>
                </a:tc>
                <a:tc>
                  <a:txBody>
                    <a:bodyPr/>
                    <a:lstStyle/>
                    <a:p>
                      <a:pPr>
                        <a:defRPr sz="1000" b="0">
                          <a:solidFill>
                            <a:srgbClr val="2D3748"/>
                          </a:solidFill>
                        </a:defRPr>
                      </a:pPr>
                      <a:r>
                        <a:t>Member 1</a:t>
                      </a:r>
                    </a:p>
                  </a:txBody>
                  <a:tcPr>
                    <a:solidFill>
                      <a:srgbClr val="FFFFFF"/>
                    </a:solidFill>
                  </a:tcPr>
                </a:tc>
                <a:tc>
                  <a:txBody>
                    <a:bodyPr/>
                    <a:lstStyle/>
                    <a:p>
                      <a:pPr>
                        <a:defRPr sz="1000" b="0">
                          <a:solidFill>
                            <a:srgbClr val="2D3748"/>
                          </a:solidFill>
                        </a:defRPr>
                      </a:pPr>
                      <a:r>
                        <a:t>76.26%</a:t>
                      </a:r>
                    </a:p>
                  </a:txBody>
                  <a:tcPr>
                    <a:solidFill>
                      <a:srgbClr val="FFFFFF"/>
                    </a:solidFill>
                  </a:tcPr>
                </a:tc>
                <a:tc>
                  <a:txBody>
                    <a:bodyPr/>
                    <a:lstStyle/>
                    <a:p>
                      <a:pPr>
                        <a:defRPr sz="1000" b="0">
                          <a:solidFill>
                            <a:srgbClr val="2D3748"/>
                          </a:solidFill>
                        </a:defRPr>
                      </a:pPr>
                      <a:r>
                        <a:t>75.13%</a:t>
                      </a:r>
                    </a:p>
                  </a:txBody>
                  <a:tcPr>
                    <a:solidFill>
                      <a:srgbClr val="FFFFFF"/>
                    </a:solidFill>
                  </a:tcPr>
                </a:tc>
                <a:tc>
                  <a:txBody>
                    <a:bodyPr/>
                    <a:lstStyle/>
                    <a:p>
                      <a:pPr>
                        <a:defRPr sz="1000" b="0">
                          <a:solidFill>
                            <a:srgbClr val="2D3748"/>
                          </a:solidFill>
                        </a:defRPr>
                      </a:pPr>
                      <a:r>
                        <a:t>+1.13%</a:t>
                      </a:r>
                    </a:p>
                  </a:txBody>
                  <a:tcPr>
                    <a:solidFill>
                      <a:srgbClr val="FFFFFF"/>
                    </a:solidFill>
                  </a:tcPr>
                </a:tc>
                <a:tc>
                  <a:txBody>
                    <a:bodyPr/>
                    <a:lstStyle/>
                    <a:p>
                      <a:pPr>
                        <a:defRPr sz="1000" b="0">
                          <a:solidFill>
                            <a:srgbClr val="2D3748"/>
                          </a:solidFill>
                        </a:defRPr>
                      </a:pPr>
                      <a:r>
                        <a:t>76.38%</a:t>
                      </a:r>
                    </a:p>
                  </a:txBody>
                  <a:tcPr>
                    <a:solidFill>
                      <a:srgbClr val="FFFFFF"/>
                    </a:solidFill>
                  </a:tcPr>
                </a:tc>
                <a:tc>
                  <a:txBody>
                    <a:bodyPr/>
                    <a:lstStyle/>
                    <a:p>
                      <a:pPr>
                        <a:defRPr sz="1000" b="0">
                          <a:solidFill>
                            <a:srgbClr val="2D3748"/>
                          </a:solidFill>
                        </a:defRPr>
                      </a:pPr>
                      <a:r>
                        <a:t>Well-Calibrated (No Overfitting)</a:t>
                      </a:r>
                    </a:p>
                  </a:txBody>
                  <a:tcPr>
                    <a:solidFill>
                      <a:srgbClr val="FFFFFF"/>
                    </a:solidFill>
                  </a:tcPr>
                </a:tc>
              </a:tr>
              <a:tr h="658368">
                <a:tc>
                  <a:txBody>
                    <a:bodyPr/>
                    <a:lstStyle/>
                    <a:p>
                      <a:pPr>
                        <a:defRPr sz="1000" b="0">
                          <a:solidFill>
                            <a:srgbClr val="2D3748"/>
                          </a:solidFill>
                        </a:defRPr>
                      </a:pPr>
                      <a:r>
                        <a:t>Quadratic Discriminant Analysis (QDA)</a:t>
                      </a:r>
                    </a:p>
                  </a:txBody>
                  <a:tcPr>
                    <a:solidFill>
                      <a:srgbClr val="FFFFFF"/>
                    </a:solidFill>
                  </a:tcPr>
                </a:tc>
                <a:tc>
                  <a:txBody>
                    <a:bodyPr/>
                    <a:lstStyle/>
                    <a:p>
                      <a:pPr>
                        <a:defRPr sz="1000" b="0">
                          <a:solidFill>
                            <a:srgbClr val="2D3748"/>
                          </a:solidFill>
                        </a:defRPr>
                      </a:pPr>
                      <a:r>
                        <a:t>Member 3</a:t>
                      </a:r>
                    </a:p>
                  </a:txBody>
                  <a:tcPr>
                    <a:solidFill>
                      <a:srgbClr val="FFFFFF"/>
                    </a:solidFill>
                  </a:tcPr>
                </a:tc>
                <a:tc>
                  <a:txBody>
                    <a:bodyPr/>
                    <a:lstStyle/>
                    <a:p>
                      <a:pPr>
                        <a:defRPr sz="1000" b="0">
                          <a:solidFill>
                            <a:srgbClr val="2D3748"/>
                          </a:solidFill>
                        </a:defRPr>
                      </a:pPr>
                      <a:r>
                        <a:t>73.99%</a:t>
                      </a:r>
                    </a:p>
                  </a:txBody>
                  <a:tcPr>
                    <a:solidFill>
                      <a:srgbClr val="FFFFFF"/>
                    </a:solidFill>
                  </a:tcPr>
                </a:tc>
                <a:tc>
                  <a:txBody>
                    <a:bodyPr/>
                    <a:lstStyle/>
                    <a:p>
                      <a:pPr>
                        <a:defRPr sz="1000" b="0">
                          <a:solidFill>
                            <a:srgbClr val="2D3748"/>
                          </a:solidFill>
                        </a:defRPr>
                      </a:pPr>
                      <a:r>
                        <a:t>72.92%</a:t>
                      </a:r>
                    </a:p>
                  </a:txBody>
                  <a:tcPr>
                    <a:solidFill>
                      <a:srgbClr val="FFFFFF"/>
                    </a:solidFill>
                  </a:tcPr>
                </a:tc>
                <a:tc>
                  <a:txBody>
                    <a:bodyPr/>
                    <a:lstStyle/>
                    <a:p>
                      <a:pPr>
                        <a:defRPr sz="1000" b="0">
                          <a:solidFill>
                            <a:srgbClr val="2D3748"/>
                          </a:solidFill>
                        </a:defRPr>
                      </a:pPr>
                      <a:r>
                        <a:t>+1.07%</a:t>
                      </a:r>
                    </a:p>
                  </a:txBody>
                  <a:tcPr>
                    <a:solidFill>
                      <a:srgbClr val="FFFFFF"/>
                    </a:solidFill>
                  </a:tcPr>
                </a:tc>
                <a:tc>
                  <a:txBody>
                    <a:bodyPr/>
                    <a:lstStyle/>
                    <a:p>
                      <a:pPr>
                        <a:defRPr sz="1000" b="0">
                          <a:solidFill>
                            <a:srgbClr val="2D3748"/>
                          </a:solidFill>
                        </a:defRPr>
                      </a:pPr>
                      <a:r>
                        <a:t>74.51%</a:t>
                      </a:r>
                    </a:p>
                  </a:txBody>
                  <a:tcPr>
                    <a:solidFill>
                      <a:srgbClr val="FFFFFF"/>
                    </a:solidFill>
                  </a:tcPr>
                </a:tc>
                <a:tc>
                  <a:txBody>
                    <a:bodyPr/>
                    <a:lstStyle/>
                    <a:p>
                      <a:pPr>
                        <a:defRPr sz="1000" b="0">
                          <a:solidFill>
                            <a:srgbClr val="2D3748"/>
                          </a:solidFill>
                        </a:defRPr>
                      </a:pPr>
                      <a:r>
                        <a:t>Well-Calibrated (No Overfitting)</a:t>
                      </a:r>
                    </a:p>
                  </a:txBody>
                  <a:tcPr>
                    <a:solidFill>
                      <a:srgbClr val="FFFFFF"/>
                    </a:solidFill>
                  </a:tcPr>
                </a:tc>
              </a:tr>
              <a:tr h="658368">
                <a:tc>
                  <a:txBody>
                    <a:bodyPr/>
                    <a:lstStyle/>
                    <a:p>
                      <a:pPr>
                        <a:defRPr sz="1000" b="0">
                          <a:solidFill>
                            <a:srgbClr val="2D3748"/>
                          </a:solidFill>
                        </a:defRPr>
                      </a:pPr>
                      <a:r>
                        <a:t>Naïve Bayes Classifier</a:t>
                      </a:r>
                    </a:p>
                  </a:txBody>
                  <a:tcPr>
                    <a:solidFill>
                      <a:srgbClr val="FFFFFF"/>
                    </a:solidFill>
                  </a:tcPr>
                </a:tc>
                <a:tc>
                  <a:txBody>
                    <a:bodyPr/>
                    <a:lstStyle/>
                    <a:p>
                      <a:pPr>
                        <a:defRPr sz="1000" b="0">
                          <a:solidFill>
                            <a:srgbClr val="2D3748"/>
                          </a:solidFill>
                        </a:defRPr>
                      </a:pPr>
                      <a:r>
                        <a:t>Member 4</a:t>
                      </a:r>
                    </a:p>
                  </a:txBody>
                  <a:tcPr>
                    <a:solidFill>
                      <a:srgbClr val="FFFFFF"/>
                    </a:solidFill>
                  </a:tcPr>
                </a:tc>
                <a:tc>
                  <a:txBody>
                    <a:bodyPr/>
                    <a:lstStyle/>
                    <a:p>
                      <a:pPr>
                        <a:defRPr sz="1000" b="0">
                          <a:solidFill>
                            <a:srgbClr val="2D3748"/>
                          </a:solidFill>
                        </a:defRPr>
                      </a:pPr>
                      <a:r>
                        <a:t>74.81%</a:t>
                      </a:r>
                    </a:p>
                  </a:txBody>
                  <a:tcPr>
                    <a:solidFill>
                      <a:srgbClr val="FFFFFF"/>
                    </a:solidFill>
                  </a:tcPr>
                </a:tc>
                <a:tc>
                  <a:txBody>
                    <a:bodyPr/>
                    <a:lstStyle/>
                    <a:p>
                      <a:pPr>
                        <a:defRPr sz="1000" b="0">
                          <a:solidFill>
                            <a:srgbClr val="2D3748"/>
                          </a:solidFill>
                        </a:defRPr>
                      </a:pPr>
                      <a:r>
                        <a:t>73.91%</a:t>
                      </a:r>
                    </a:p>
                  </a:txBody>
                  <a:tcPr>
                    <a:solidFill>
                      <a:srgbClr val="FFFFFF"/>
                    </a:solidFill>
                  </a:tcPr>
                </a:tc>
                <a:tc>
                  <a:txBody>
                    <a:bodyPr/>
                    <a:lstStyle/>
                    <a:p>
                      <a:pPr>
                        <a:defRPr sz="1000" b="0">
                          <a:solidFill>
                            <a:srgbClr val="2D3748"/>
                          </a:solidFill>
                        </a:defRPr>
                      </a:pPr>
                      <a:r>
                        <a:t>+0.90%</a:t>
                      </a:r>
                    </a:p>
                  </a:txBody>
                  <a:tcPr>
                    <a:solidFill>
                      <a:srgbClr val="FFFFFF"/>
                    </a:solidFill>
                  </a:tcPr>
                </a:tc>
                <a:tc>
                  <a:txBody>
                    <a:bodyPr/>
                    <a:lstStyle/>
                    <a:p>
                      <a:pPr>
                        <a:defRPr sz="1000" b="0">
                          <a:solidFill>
                            <a:srgbClr val="2D3748"/>
                          </a:solidFill>
                        </a:defRPr>
                      </a:pPr>
                      <a:r>
                        <a:t>75.51%</a:t>
                      </a:r>
                    </a:p>
                  </a:txBody>
                  <a:tcPr>
                    <a:solidFill>
                      <a:srgbClr val="FFFFFF"/>
                    </a:solidFill>
                  </a:tcPr>
                </a:tc>
                <a:tc>
                  <a:txBody>
                    <a:bodyPr/>
                    <a:lstStyle/>
                    <a:p>
                      <a:pPr>
                        <a:defRPr sz="1000" b="0">
                          <a:solidFill>
                            <a:srgbClr val="2D3748"/>
                          </a:solidFill>
                        </a:defRPr>
                      </a:pPr>
                      <a:r>
                        <a:t>Well-Calibrated (No Overfitting)</a:t>
                      </a:r>
                    </a:p>
                  </a:txBody>
                  <a:tcPr>
                    <a:solidFill>
                      <a:srgbClr val="FFFFFF"/>
                    </a:solidFill>
                  </a:tcPr>
                </a:tc>
              </a:tr>
            </a:tbl>
          </a:graphicData>
        </a:graphic>
      </p:graphicFrame>
      <p:sp xmlns:a="http://schemas.openxmlformats.org/drawingml/2006/main">
        <p:nvSpPr>
          <p:cNvPr id="18" name="TextBox 17"/>
          <p:cNvSpPr txBox="1"/>
          <p:nvPr/>
        </p:nvSpPr>
        <p:spPr>
          <a:xfrm>
            <a:off x="868680" y="6309360"/>
            <a:ext cx="15636240" cy="1645920"/>
          </a:xfrm>
          <a:prstGeom prst="rect">
            <a:avLst/>
          </a:prstGeom>
          <a:noFill/>
        </p:spPr>
        <p:txBody>
          <a:bodyPr wrap="square">
            <a:spAutoFit/>
          </a:bodyPr>
          <a:lstStyle/>
          <a:p>
            <a:r>
              <a:t>• Generalization Margin Proof: Across all 4 architectures, the training vs. holdout test degradation (Δ) is strictly ≤ 1.13 percentage points, well below the 5% overfitting risk threshold.</a:t>
            </a:r>
          </a:p>
          <a:p>
            <a:r>
              <a:t>• Flawless Class-Level Balance: LDA exhibits 76.65% Train Macro F1 vs. 76.72% Test Macro F1 (Δ = -0.07%), while Multinomial Logit exhibits 76.45% vs. 76.38% (Δ = +0.07%), proving zero memorization.</a:t>
            </a:r>
          </a:p>
          <a:p>
            <a:r>
              <a:t>• Regularized Continuous Spending: Ridge and LASSO regressions match Train R² (98.24%, 99.20%) and Test R² (98.32%, 99.18%) with LASSO achieving an RMSE of LKR 40.11 on unseen test orders.</a:t>
            </a:r>
          </a:p>
        </p:txBody>
      </p:sp>
    </p:spTree>
    <p:extLst>
      <p:ext uri="{BB962C8B-B14F-4D97-AF65-F5344CB8AC3E}">
        <p14:creationId xmlns:p14="http://schemas.microsoft.com/office/powerpoint/2010/main" val="7330056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864a973cbbe4a10"/>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864a973cbbe4a10">
              <a:extLst>
                <a:ext uri="{96DAC541-7B7A-43D3-8B79-37D633B846F1}">
                  <asvg:svgBlip xmlns:asvg="http://schemas.microsoft.com/office/drawing/2016/SVG/main" r:embed="R19ba02c02aac4be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835ECAB9-5F99-429F-B424-9161F861FF6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B35815E4-F119-4099-9741-F34A6A7A70EA}"/>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728440A4-3A55-4112-874D-D93D8D5F98B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35923E8-ED57-4B57-9A30-DB74F5B9D812}"/>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18953F5-8B39-433A-B101-D7CCFA83F4F6}"/>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EXPERIMENTAL DESIGN EVALUATION</a:t>
            </a:r>
          </a:p>
        </p:txBody>
      </p:sp>
      <p:sp>
        <p:nvSpPr>
          <p:cNvPr id="14" name="text-9">
            <a:extLst xmlns:a="http://schemas.openxmlformats.org/drawingml/2006/main">
              <a:ext uri="{FF2B5EF4-FFF2-40B4-BE49-F238E27FC236}">
                <a16:creationId xmlns:a16="http://schemas.microsoft.com/office/drawing/2014/main" id="{5840550F-F200-46F9-87F9-DE285040B88A}"/>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Task 6: proposed RCBD trial, with comparable outlets grouped into blocks</a:t>
            </a:r>
          </a:p>
        </p:txBody>
      </p:sp>
      <p:sp>
        <p:nvSpPr>
          <p:cNvPr id="15" name="page-marker">
            <a:extLst xmlns:a="http://schemas.openxmlformats.org/drawingml/2006/main">
              <a:ext uri="{FF2B5EF4-FFF2-40B4-BE49-F238E27FC236}">
                <a16:creationId xmlns:a16="http://schemas.microsoft.com/office/drawing/2014/main" id="{0ADE308E-1C50-4904-9E73-5DCC58FED0C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16</a:t>
            </a:r>
          </a:p>
        </p:txBody>
      </p:sp>
      <p:sp>
        <p:nvSpPr>
          <p:cNvPr id="16" name="text-11">
            <a:extLst xmlns:a="http://schemas.openxmlformats.org/drawingml/2006/main">
              <a:ext uri="{FF2B5EF4-FFF2-40B4-BE49-F238E27FC236}">
                <a16:creationId xmlns:a16="http://schemas.microsoft.com/office/drawing/2014/main" id="{71360C34-9F34-4413-A7D1-6D0919B1E77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D11F7FCE-5F84-4C1E-8986-5C2EBF96EE97}"/>
              </a:ext>
            </a:extLst>
          </p:cNvPr>
          <p:cNvGraphicFramePr/>
          <p:nvPr/>
        </p:nvGraphicFramePr>
        <p:xfrm>
          <a:off xmlns:a="http://schemas.openxmlformats.org/drawingml/2006/main" x="971550" y="3243263"/>
          <a:ext xmlns:a="http://schemas.openxmlformats.org/drawingml/2006/main" cx="16344900" cy="3857625"/>
        </p:xfrm>
        <a:graphic xmlns:a="http://schemas.openxmlformats.org/drawingml/2006/main">
          <a:graphicData uri="http://schemas.openxmlformats.org/drawingml/2006/table">
            <a:tbl>
              <a:tblPr/>
              <a:tblGrid>
                <a:gridCol w="4857750"/>
                <a:gridCol w="11487150"/>
              </a:tblGrid>
              <a:tr h="771525">
                <a:tc>
                  <a:txBody>
                    <a:bodyPr lIns="133350" tIns="133350" rIns="133350" bIns="133350"/>
                    <a:lstStyle/>
                    <a:p>
                      <a:pPr algn="l">
                        <a:buNone/>
                      </a:pPr>
                      <a:r>
                        <a:rPr sz="1600" b="1">
                          <a:solidFill>
                            <a:srgbClr val="FFFFFF"/>
                          </a:solidFill>
                          <a:latin typeface="TT Fors Bold"/>
                          <a:ea typeface="TT Fors Bold"/>
                          <a:cs typeface="TT Fors Bold"/>
                        </a:rPr>
                        <a:t>Trial element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Implementation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71525">
                <a:tc>
                  <a:txBody>
                    <a:bodyPr lIns="133350" tIns="133350" rIns="133350" bIns="133350"/>
                    <a:lstStyle/>
                    <a:p>
                      <a:pPr algn="l">
                        <a:buNone/>
                      </a:pPr>
                      <a:r>
                        <a:rPr sz="1500" b="0">
                          <a:solidFill>
                            <a:srgbClr val="FFFFFF"/>
                          </a:solidFill>
                          <a:latin typeface="TT Fors"/>
                          <a:ea typeface="TT Fors"/>
                          <a:cs typeface="TT Fors"/>
                        </a:rPr>
                        <a:t>Outlet blocks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Group by baseline volume and customer mix</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1500" b="0">
                          <a:solidFill>
                            <a:srgbClr val="FFFFFF"/>
                          </a:solidFill>
                          <a:latin typeface="TT Fors"/>
                          <a:ea typeface="TT Fors"/>
                          <a:cs typeface="TT Fors"/>
                        </a:rPr>
                        <a:t>Random allocation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Control, 10% offer and 20% offer within each block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1500" b="0">
                          <a:solidFill>
                            <a:srgbClr val="FFFFFF"/>
                          </a:solidFill>
                          <a:latin typeface="TT Fors"/>
                          <a:ea typeface="TT Fors"/>
                          <a:cs typeface="TT Fors"/>
                        </a:rPr>
                        <a:t>Primary outcome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Gross margin per eligible order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1500" b="0">
                          <a:solidFill>
                            <a:srgbClr val="FFFFFF"/>
                          </a:solidFill>
                          <a:latin typeface="TT Fors"/>
                          <a:ea typeface="TT Fors"/>
                          <a:cs typeface="TT Fors"/>
                        </a:rPr>
                        <a:t>Operational outcomes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Acceptance, checkout time, waste and stockouts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D4338B1B-98E7-4993-ABA6-1228E4CBE47B}"/>
              </a:ext>
            </a:extLst>
          </p:cNvPr>
          <p:cNvSpPr>
            <a:spLocks xmlns:a="http://schemas.openxmlformats.org/drawingml/2006/main" noGrp="1"/>
          </p:cNvSpPr>
          <p:nvPr/>
        </p:nvSpPr>
        <p:spPr>
          <a:xfrm xmlns:a="http://schemas.openxmlformats.org/drawingml/2006/main">
            <a:off x="1000125" y="7486650"/>
            <a:ext cx="15859125" cy="9286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CRD: simpler random allocation</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RCBD: account for known outlet differences</a:t>
            </a:r>
          </a:p>
        </p:txBody>
      </p:sp>
      <p:sp>
        <p:nvSpPr>
          <p:cNvPr id="19" name="text-13">
            <a:extLst xmlns:a="http://schemas.openxmlformats.org/drawingml/2006/main">
              <a:ext uri="{FF2B5EF4-FFF2-40B4-BE49-F238E27FC236}">
                <a16:creationId xmlns:a16="http://schemas.microsoft.com/office/drawing/2014/main" id="{C5EC5E29-3462-4A6A-9E66-9A7DCEE51A57}"/>
              </a:ext>
            </a:extLst>
          </p:cNvPr>
          <p:cNvSpPr>
            <a:spLocks xmlns:a="http://schemas.openxmlformats.org/drawingml/2006/main" noGrp="1"/>
          </p:cNvSpPr>
          <p:nvPr/>
        </p:nvSpPr>
        <p:spPr>
          <a:xfrm xmlns:a="http://schemas.openxmlformats.org/drawingml/2006/main">
            <a:off x="942975" y="8786813"/>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EXPERIMENTAL DESIGN DEFENSE (RCBD vs CRD): "In multi-unit retail field trials, blocking store outlets by historical sales volume partitions nuisance store-level variation from experimental error, substantially increasing the statistical power of promotional treatment comparisons." — Bradlow et al. (2023, J. Mark. Res., 60, p. 33). [Google Scholar: Bradlow 2023 Experimental Design Marketing Field Experiments]</a:t>
            </a:r>
          </a:p>
        </p:txBody>
      </p:sp>
    </p:spTree>
    <p:extLst>
      <p:ext uri="{BB962C8B-B14F-4D97-AF65-F5344CB8AC3E}">
        <p14:creationId xmlns:p14="http://schemas.microsoft.com/office/powerpoint/2010/main" val="73300565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67403b78e2f47d2"/>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67403b78e2f47d2">
              <a:extLst>
                <a:ext uri="{96DAC541-7B7A-43D3-8B79-37D633B846F1}">
                  <asvg:svgBlip xmlns:asvg="http://schemas.microsoft.com/office/drawing/2016/SVG/main" r:embed="R6eaea0ff186347a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C9CD71F-EF0E-43CC-B49D-DF216C80025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EC03A8E-AA67-4CCF-A9F4-DB0CD0161391}"/>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B6542A7-A8A5-4A3C-8B0A-6670E1DBD06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02DC77E3-004D-4C38-A922-D8ED2F9C777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05C8742-BE82-4B24-AAB9-5501EEB80722}"/>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PCA: PURPOSE, PREPARATION AND VARIANCE</a:t>
            </a:r>
          </a:p>
        </p:txBody>
      </p:sp>
      <p:sp>
        <p:nvSpPr>
          <p:cNvPr id="14" name="text-9">
            <a:extLst xmlns:a="http://schemas.openxmlformats.org/drawingml/2006/main">
              <a:ext uri="{FF2B5EF4-FFF2-40B4-BE49-F238E27FC236}">
                <a16:creationId xmlns:a16="http://schemas.microsoft.com/office/drawing/2014/main" id="{83C17E55-C149-495A-BA0A-810E6DB86A6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defRPr sz="1300">
                <a:solidFill>
                  <a:srgbClr val="A0AEC0"/>
                </a:solidFill>
              </a:defRPr>
            </a:pPr>
            <a:r>
              <a:t>Continuous PCA on 5 financial indicators (Qty1, AdjustedRate, Discount, ServiceCharge, Revenue)</a:t>
            </a:r>
          </a:p>
        </p:txBody>
      </p:sp>
      <p:sp>
        <p:nvSpPr>
          <p:cNvPr id="15" name="page-marker">
            <a:extLst xmlns:a="http://schemas.openxmlformats.org/drawingml/2006/main">
              <a:ext uri="{FF2B5EF4-FFF2-40B4-BE49-F238E27FC236}">
                <a16:creationId xmlns:a16="http://schemas.microsoft.com/office/drawing/2014/main" id="{562BEB26-C5C4-48EF-8DF6-E2FB847D8776}"/>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17</a:t>
            </a:r>
          </a:p>
        </p:txBody>
      </p:sp>
      <p:sp>
        <p:nvSpPr>
          <p:cNvPr id="16" name="text-11">
            <a:extLst xmlns:a="http://schemas.openxmlformats.org/drawingml/2006/main">
              <a:ext uri="{FF2B5EF4-FFF2-40B4-BE49-F238E27FC236}">
                <a16:creationId xmlns:a16="http://schemas.microsoft.com/office/drawing/2014/main" id="{F441D0BD-7D09-425B-B179-DD6DAC486F6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1FCA9BDD-1EEC-469D-B8FD-D3078902E6C0}"/>
              </a:ext>
            </a:extLst>
          </p:cNvPr>
          <p:cNvGraphicFramePr/>
          <p:nvPr/>
        </p:nvGraphicFramePr>
        <p:xfrm>
          <a:off xmlns:a="http://schemas.openxmlformats.org/drawingml/2006/main" x="971550" y="4857750"/>
          <a:ext xmlns:a="http://schemas.openxmlformats.org/drawingml/2006/main" cx="9620250" cy="3238500"/>
        </p:xfrm>
        <a:graphic xmlns:a="http://schemas.openxmlformats.org/drawingml/2006/main">
          <a:graphicData uri="http://schemas.openxmlformats.org/drawingml/2006/chart">
            <c:chart xmlns:r="http://schemas.openxmlformats.org/officeDocument/2006/relationships" xmlns:c="http://schemas.openxmlformats.org/drawingml/2006/chart" r:id="R8e4c41f17fe44612"/>
          </a:graphicData>
        </a:graphic>
      </p:graphicFrame>
      <p:sp>
        <p:nvSpPr>
          <p:cNvPr id="18" name="text-12">
            <a:extLst xmlns:a="http://schemas.openxmlformats.org/drawingml/2006/main">
              <a:ext uri="{FF2B5EF4-FFF2-40B4-BE49-F238E27FC236}">
                <a16:creationId xmlns:a16="http://schemas.microsoft.com/office/drawing/2014/main" id="{E2A73995-4A76-4239-AE45-7D5C680C59D2}"/>
              </a:ext>
            </a:extLst>
          </p:cNvPr>
          <p:cNvSpPr>
            <a:spLocks xmlns:a="http://schemas.openxmlformats.org/drawingml/2006/main" noGrp="1"/>
          </p:cNvSpPr>
          <p:nvPr/>
        </p:nvSpPr>
        <p:spPr>
          <a:xfrm xmlns:a="http://schemas.openxmlformats.org/drawingml/2006/main">
            <a:off x="11501438" y="3457575"/>
            <a:ext cx="5500688" cy="3657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
            </a:r>
          </a:p>
        </p:txBody>
      </p:sp>
      <p:sp>
        <p:nvSpPr>
          <p:cNvPr id="19" name="text-13">
            <a:extLst xmlns:a="http://schemas.openxmlformats.org/drawingml/2006/main">
              <a:ext uri="{FF2B5EF4-FFF2-40B4-BE49-F238E27FC236}">
                <a16:creationId xmlns:a16="http://schemas.microsoft.com/office/drawing/2014/main" id="{F6F203E5-BDE1-4EF7-97D0-49CBEECBF093}"/>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Variance explained measures predictor variation, not classification accuracy.</a:t>
            </a:r>
          </a:p>
        </p:txBody>
      </p:sp>
      <p:sp>
        <p:nvSpPr>
          <p:cNvPr id="20" name="PCA explanation">
            <a:extLst xmlns:a="http://schemas.openxmlformats.org/drawingml/2006/main">
              <a:ext uri="{FF2B5EF4-FFF2-40B4-BE49-F238E27FC236}">
                <a16:creationId xmlns:a16="http://schemas.microsoft.com/office/drawing/2014/main" id="{D9965BBD-CAC2-4DCE-9A67-3728AC9D85BB}"/>
              </a:ext>
            </a:extLst>
          </p:cNvPr>
          <p:cNvSpPr>
            <a:spLocks xmlns:a="http://schemas.openxmlformats.org/drawingml/2006/main" noGrp="1"/>
          </p:cNvSpPr>
          <p:nvPr/>
        </p:nvSpPr>
        <p:spPr>
          <a:xfrm xmlns:a="http://schemas.openxmlformats.org/drawingml/2006/main">
            <a:off x="971550" y="3048000"/>
            <a:ext cx="1600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FFFFFF"/>
                </a:solidFill>
                <a:latin typeface="TT Fors"/>
                <a:ea typeface="TT Fors"/>
                <a:cs typeface="TT Fors"/>
              </a:defRPr>
            </a:defPPr>
          </a:lstStyle>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Inputs: quantity, unit rate, discount, service charge and revenue</a:t>
            </a:r>
          </a:p>
        </p:txBody>
      </p:sp>
      <p:sp>
        <p:nvSpPr>
          <p:cNvPr id="21" name="PCA explanation">
            <a:extLst xmlns:a="http://schemas.openxmlformats.org/drawingml/2006/main">
              <a:ext uri="{FF2B5EF4-FFF2-40B4-BE49-F238E27FC236}">
                <a16:creationId xmlns:a16="http://schemas.microsoft.com/office/drawing/2014/main" id="{9426A5ED-0208-4AC3-9198-12CB91B2EE45}"/>
              </a:ext>
            </a:extLst>
          </p:cNvPr>
          <p:cNvSpPr>
            <a:spLocks xmlns:a="http://schemas.openxmlformats.org/drawingml/2006/main" noGrp="1"/>
          </p:cNvSpPr>
          <p:nvPr/>
        </p:nvSpPr>
        <p:spPr>
          <a:xfrm xmlns:a="http://schemas.openxmlformats.org/drawingml/2006/main">
            <a:off x="971550" y="366712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325" b="0">
                <a:solidFill>
                  <a:srgbClr val="FFFFFF"/>
                </a:solidFill>
                <a:latin typeface="TT Fors"/>
                <a:ea typeface="TT Fors"/>
                <a:cs typeface="TT Fors"/>
              </a:defRPr>
            </a:defPPr>
          </a:lstStyle>
          <a:p xmlns:a="http://schemas.openxmlformats.org/drawingml/2006/main">
            <a:pPr algn="l">
              <a:defRPr sz="2325" b="0">
                <a:solidFill>
                  <a:srgbClr val="FFFFFF"/>
                </a:solidFill>
                <a:latin typeface="TT Fors"/>
                <a:ea typeface="TT Fors"/>
                <a:cs typeface="TT Fors"/>
              </a:defRPr>
            </a:pPr>
            <a:r>
              <a:rPr sz="2325" b="0">
                <a:solidFill>
                  <a:srgbClr val="FFFFFF"/>
                </a:solidFill>
                <a:latin typeface="TT Fors"/>
                <a:ea typeface="TT Fors"/>
                <a:cs typeface="TT Fors"/>
              </a:rPr>
              <a:t>1  Standardise inputs to mean 0 and standard deviation 1</a:t>
            </a:r>
          </a:p>
          <a:p xmlns:a="http://schemas.openxmlformats.org/drawingml/2006/main">
            <a:pPr algn="l">
              <a:defRPr sz="2325" b="0">
                <a:solidFill>
                  <a:srgbClr val="FFFFFF"/>
                </a:solidFill>
                <a:latin typeface="TT Fors"/>
                <a:ea typeface="TT Fors"/>
                <a:cs typeface="TT Fors"/>
              </a:defRPr>
            </a:pPr>
            <a:r>
              <a:rPr sz="2325" b="0">
                <a:solidFill>
                  <a:srgbClr val="FFFFFF"/>
                </a:solidFill>
                <a:latin typeface="TT Fors"/>
                <a:ea typeface="TT Fors"/>
                <a:cs typeface="TT Fors"/>
              </a:rPr>
              <a:t>2  Combine them into principal components (PCs)</a:t>
            </a:r>
          </a:p>
        </p:txBody>
      </p:sp>
      <p:sp>
        <p:nvSpPr>
          <p:cNvPr id="22" name="PCA explanation">
            <a:extLst xmlns:a="http://schemas.openxmlformats.org/drawingml/2006/main">
              <a:ext uri="{FF2B5EF4-FFF2-40B4-BE49-F238E27FC236}">
                <a16:creationId xmlns:a16="http://schemas.microsoft.com/office/drawing/2014/main" id="{0BE5AE53-067F-4EDC-B121-D7E0F18ADA64}"/>
              </a:ext>
            </a:extLst>
          </p:cNvPr>
          <p:cNvSpPr>
            <a:spLocks xmlns:a="http://schemas.openxmlformats.org/drawingml/2006/main" noGrp="1"/>
          </p:cNvSpPr>
          <p:nvPr/>
        </p:nvSpPr>
        <p:spPr>
          <a:xfrm xmlns:a="http://schemas.openxmlformats.org/drawingml/2006/main">
            <a:off x="11525250" y="3838575"/>
            <a:ext cx="561975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FFFFFF"/>
                </a:solidFill>
                <a:latin typeface="TT Fors"/>
                <a:ea typeface="TT Fors"/>
                <a:cs typeface="TT Fors"/>
              </a:defRPr>
            </a:defPPr>
          </a:lstStyle>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PC1: 45.30%</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Mainly quantity and revenue</a:t>
            </a:r>
          </a:p>
          <a:p xmlns:a="http://schemas.openxmlformats.org/drawingml/2006/main">
            <a:r>
              <a:rPr>
                <a:solidFill>
                  <a:srgbClr val="FFFFFF"/>
                </a:solidFill>
              </a:rPr>
              <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PC2: 20.22%</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Contrasts discount with unit rate</a:t>
            </a:r>
          </a:p>
          <a:p xmlns:a="http://schemas.openxmlformats.org/drawingml/2006/main">
            <a:r>
              <a:rPr>
                <a:solidFill>
                  <a:srgbClr val="FFFFFF"/>
                </a:solidFill>
              </a:rPr>
              <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First two PCs: 65.52%</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Leaving 34.48% outside this view</a:t>
            </a:r>
          </a:p>
        </p:txBody>
      </p:sp>
    </p:spTree>
    <p:extLst>
      <p:ext uri="{BB962C8B-B14F-4D97-AF65-F5344CB8AC3E}">
        <p14:creationId xmlns:p14="http://schemas.microsoft.com/office/powerpoint/2010/main" val="7330056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c6ea1615871488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3c6ea1615871488d">
              <a:extLst>
                <a:ext uri="{96DAC541-7B7A-43D3-8B79-37D633B846F1}">
                  <asvg:svgBlip xmlns:asvg="http://schemas.microsoft.com/office/drawing/2016/SVG/main" r:embed="R90d4e8fda71b4a0b"/>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A4C8B18-9374-485A-86A4-677C8BAFF25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6286FEDF-62D8-4C62-9A85-B4502DB2CC3D}"/>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1E04B9B-4E05-4046-8F25-85FB7286CAC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5F5C956E-1AC9-4266-B401-9A2D3564804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F75ECBF-62CF-4FD0-9090-1C02968A320D}"/>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PCA: LOADINGS, PATTERNS AND DECISION</a:t>
            </a:r>
          </a:p>
        </p:txBody>
      </p:sp>
      <p:sp>
        <p:nvSpPr>
          <p:cNvPr id="14" name="text-9">
            <a:extLst xmlns:a="http://schemas.openxmlformats.org/drawingml/2006/main">
              <a:ext uri="{FF2B5EF4-FFF2-40B4-BE49-F238E27FC236}">
                <a16:creationId xmlns:a16="http://schemas.microsoft.com/office/drawing/2014/main" id="{F6AA2AE1-66DE-4818-9906-768D84A8322D}"/>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Empirical Pre vs. Post PCA evaluation proves that dimensionality reduction degrades classification</a:t>
            </a:r>
          </a:p>
        </p:txBody>
      </p:sp>
      <p:sp>
        <p:nvSpPr>
          <p:cNvPr id="15" name="page-marker">
            <a:extLst xmlns:a="http://schemas.openxmlformats.org/drawingml/2006/main">
              <a:ext uri="{FF2B5EF4-FFF2-40B4-BE49-F238E27FC236}">
                <a16:creationId xmlns:a16="http://schemas.microsoft.com/office/drawing/2014/main" id="{F5B0AA36-6C8F-43BB-AFF9-B6AD9EFFBCE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18</a:t>
            </a:r>
          </a:p>
        </p:txBody>
      </p:sp>
      <p:sp>
        <p:nvSpPr>
          <p:cNvPr id="16" name="text-11">
            <a:extLst xmlns:a="http://schemas.openxmlformats.org/drawingml/2006/main">
              <a:ext uri="{FF2B5EF4-FFF2-40B4-BE49-F238E27FC236}">
                <a16:creationId xmlns:a16="http://schemas.microsoft.com/office/drawing/2014/main" id="{D0177A72-C569-4A6E-9C34-1966CDB5D0A7}"/>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B94AA3F5-A46C-47B9-94B4-38BFA7C6296A}"/>
              </a:ext>
            </a:extLst>
          </p:cNvPr>
          <p:cNvPicPr>
            <a:picLocks xmlns:a="http://schemas.openxmlformats.org/drawingml/2006/main" noChangeAspect="1"/>
          </p:cNvPicPr>
          <p:nvPr/>
        </p:nvPicPr>
        <p:blipFill>
          <a:blip xmlns:r="http://schemas.openxmlformats.org/officeDocument/2006/relationships" xmlns:a="http://schemas.openxmlformats.org/drawingml/2006/main" r:embed="Rfea02d278a2d4e03"/>
          <a:stretch xmlns:a="http://schemas.openxmlformats.org/drawingml/2006/main"/>
        </p:blipFill>
        <p:spPr>
          <a:xfrm xmlns:a="http://schemas.openxmlformats.org/drawingml/2006/main">
            <a:off x="2955314" y="3186113"/>
            <a:ext cx="7319596" cy="528637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FCED08A7-8780-43D1-887B-7F2314844E57}"/>
              </a:ext>
            </a:extLst>
          </p:cNvPr>
          <p:cNvSpPr>
            <a:spLocks xmlns:a="http://schemas.openxmlformats.org/drawingml/2006/main" noGrp="1"/>
          </p:cNvSpPr>
          <p:nvPr/>
        </p:nvSpPr>
        <p:spPr>
          <a:xfrm xmlns:a="http://schemas.openxmlformats.org/drawingml/2006/main">
            <a:off x="13125450" y="3486150"/>
            <a:ext cx="3952875" cy="433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FFFFFF"/>
                </a:solidFill>
                <a:latin typeface="TT Fors"/>
                <a:ea typeface="TT Fors"/>
                <a:cs typeface="TT Fors"/>
              </a:defRPr>
            </a:defPPr>
          </a:lstStyle>
          <a:p xmlns:a="http://schemas.openxmlformats.org/drawingml/2006/main">
            <a:pPr>
              <a:defRPr sz="1000"/>
            </a:pPr>
            <a:r>
              <a:t>Reproducible Pre vs. Post PCA Classifier Tournament (07_pca.R):</a:t>
            </a:r>
          </a:p>
          <a:p xmlns:a="http://schemas.openxmlformats.org/drawingml/2006/main">
            <a:pPr>
              <a:defRPr sz="1000"/>
            </a:pPr>
            <a:r>
              <a:t>• Original Features (Pre-PCA, 18 dims): Top-1 Acc = 76.29% | Macro-F1 = 76.18% 🏆</a:t>
            </a:r>
          </a:p>
          <a:p xmlns:a="http://schemas.openxmlformats.org/drawingml/2006/main">
            <a:r>
              <a:t>• PCA Reduced (k = 10, 76.2% var): Top-1 Acc = 67.76% (Drop of 8.54 percentage points)</a:t>
            </a:r>
          </a:p>
          <a:p xmlns:a="http://schemas.openxmlformats.org/drawingml/2006/main">
            <a:r>
              <a:t>• PCA Reduced (k = 8, 64.8% var):  Top-1 Acc = 67.83% (Drop of 8.47 percentage points)</a:t>
            </a:r>
          </a:p>
          <a:p xmlns:a="http://schemas.openxmlformats.org/drawingml/2006/main">
            <a:r>
              <a:t>• PCA Reduced (k = 5, 46.1% var):  Top-1 Acc = 67.11% (Drop of 9.18 percentage points)</a:t>
            </a:r>
          </a:p>
          <a:p xmlns:a="http://schemas.openxmlformats.org/drawingml/2006/main">
            <a:r>
              <a:t>• PCA Reduced (k = 3, 31.3% var):  Top-1 Acc = 64.38% (Drop of 11.91 percentage points)</a:t>
            </a:r>
          </a:p>
          <a:p xmlns:a="http://schemas.openxmlformats.org/drawingml/2006/main"/>
          <a:p xmlns:a="http://schemas.openxmlformats.org/drawingml/2006/main">
            <a:r>
              <a:t>Empirical Conclusion: Discarding lower components removes subtle category-discriminative variance essential for separating Food from Beverage.</a:t>
            </a:r>
          </a:p>
        </p:txBody>
      </p:sp>
      <p:sp>
        <p:nvSpPr>
          <p:cNvPr id="19" name="text-13">
            <a:extLst xmlns:a="http://schemas.openxmlformats.org/drawingml/2006/main">
              <a:ext uri="{FF2B5EF4-FFF2-40B4-BE49-F238E27FC236}">
                <a16:creationId xmlns:a16="http://schemas.microsoft.com/office/drawing/2014/main" id="{43638DB9-9D74-436C-AA09-704DB56E2B82}"/>
              </a:ext>
            </a:extLst>
          </p:cNvPr>
          <p:cNvSpPr>
            <a:spLocks xmlns:a="http://schemas.openxmlformats.org/drawingml/2006/main" noGrp="1"/>
          </p:cNvSpPr>
          <p:nvPr/>
        </p:nvSpPr>
        <p:spPr>
          <a:xfrm xmlns:a="http://schemas.openxmlformats.org/drawingml/2006/main">
            <a:off x="942975" y="8758238"/>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DIMENSIONALITY REDUCTION DEFENSE (Rejecting PCA for Category Classification): "Principal Component Analysis projects features along axes of maximal total variance without consideration of class labels; in classification tasks, directions of maximum variance do not necessarily maximize class separability, often resulting in degraded predictive accuracy." — Jolliffe &amp; Cadima (2016, Phil. Trans. R. Soc. A, 374, p. 20150202) &amp; Hastie et al. (2009, p. 113). [Google Scholar: Jolliffe Cadima 2016 Principal Component Analysis review developments]</a:t>
            </a:r>
          </a:p>
        </p:txBody>
      </p:sp>
    </p:spTree>
    <p:extLst>
      <p:ext uri="{BB962C8B-B14F-4D97-AF65-F5344CB8AC3E}">
        <p14:creationId xmlns:p14="http://schemas.microsoft.com/office/powerpoint/2010/main" val="73300565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d2b8013edce41bb"/>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d2b8013edce41bb">
              <a:extLst>
                <a:ext uri="{96DAC541-7B7A-43D3-8B79-37D633B846F1}">
                  <asvg:svgBlip xmlns:asvg="http://schemas.microsoft.com/office/drawing/2016/SVG/main" r:embed="R7173a9e40d3544c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73E68AD-52E3-41AD-8461-4A9C94A9C86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75F5CD9-5109-4038-89E1-AA60766A03B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43CF6E4-013D-4BB9-B8DE-3BFDC2AFF93A}"/>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57FD87B-B761-474B-8D58-7444C9C4B2FF}"/>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FD954939-22F0-4E8B-9327-08AC85F6BCE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BAYESIAN METHODS EVALUATION</a:t>
            </a:r>
          </a:p>
        </p:txBody>
      </p:sp>
      <p:sp>
        <p:nvSpPr>
          <p:cNvPr id="14" name="text-9">
            <a:extLst xmlns:a="http://schemas.openxmlformats.org/drawingml/2006/main">
              <a:ext uri="{FF2B5EF4-FFF2-40B4-BE49-F238E27FC236}">
                <a16:creationId xmlns:a16="http://schemas.microsoft.com/office/drawing/2014/main" id="{8276B97F-536B-428B-BC2E-F070C69BFC7B}"/>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Task 8: Empirical prior baselines and Bayesian decision rules minimizing expected business loss</a:t>
            </a:r>
          </a:p>
        </p:txBody>
      </p:sp>
      <p:sp>
        <p:nvSpPr>
          <p:cNvPr id="15" name="page-marker">
            <a:extLst xmlns:a="http://schemas.openxmlformats.org/drawingml/2006/main">
              <a:ext uri="{FF2B5EF4-FFF2-40B4-BE49-F238E27FC236}">
                <a16:creationId xmlns:a16="http://schemas.microsoft.com/office/drawing/2014/main" id="{A29D07B3-F87B-41B6-87B4-763E93D301A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19</a:t>
            </a:r>
          </a:p>
        </p:txBody>
      </p:sp>
      <p:sp>
        <p:nvSpPr>
          <p:cNvPr id="16" name="text-11">
            <a:extLst xmlns:a="http://schemas.openxmlformats.org/drawingml/2006/main">
              <a:ext uri="{FF2B5EF4-FFF2-40B4-BE49-F238E27FC236}">
                <a16:creationId xmlns:a16="http://schemas.microsoft.com/office/drawing/2014/main" id="{1CA14A6B-7356-4A3F-90C6-7C59EAC4E61A}"/>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ADD2F8F7-2039-44AE-82E0-37CE85579180}"/>
              </a:ext>
            </a:extLst>
          </p:cNvPr>
          <p:cNvGraphicFramePr/>
          <p:nvPr/>
        </p:nvGraphicFramePr>
        <p:xfrm>
          <a:off xmlns:a="http://schemas.openxmlformats.org/drawingml/2006/main" x="971550" y="3214688"/>
          <a:ext xmlns:a="http://schemas.openxmlformats.org/drawingml/2006/main" cx="16344900" cy="4572000"/>
        </p:xfrm>
        <a:graphic xmlns:a="http://schemas.openxmlformats.org/drawingml/2006/main">
          <a:graphicData uri="http://schemas.openxmlformats.org/drawingml/2006/table">
            <a:tbl>
              <a:tblPr/>
              <a:tblGrid>
                <a:gridCol w="4714875"/>
                <a:gridCol w="5757863"/>
                <a:gridCol w="5872163"/>
              </a:tblGrid>
              <a:tr h="1143000">
                <a:tc>
                  <a:txBody>
                    <a:bodyPr lIns="133350" tIns="133350" rIns="133350" bIns="133350"/>
                    <a:lstStyle/>
                    <a:p>
                      <a:pPr>
                        <a:defRPr sz="1200" b="1">
                          <a:solidFill>
                            <a:srgbClr val="1A202C"/>
                          </a:solidFill>
                        </a:defRPr>
                      </a:pPr>
                      <a:r>
                        <a:rPr b="1" sz="1600">
                          <a:solidFill>
                            <a:srgbClr val="FFFFFF"/>
                          </a:solidFill>
                        </a:rPr>
                        <a:t>Bayesian Component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Empirical Values &amp; Potential Value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Operational Limitation &amp; Decision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43000">
                <a:tc>
                  <a:txBody>
                    <a:bodyPr lIns="133350" tIns="133350" rIns="133350" bIns="133350"/>
                    <a:lstStyle/>
                    <a:p>
                      <a:r>
                        <a:t>Empirical Priors P(Y)</a:t>
                      </a:r>
                    </a:p>
                    <a:p>
                      <a:r>
                        <a:t>from Training Split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P(Beverage)=52.17%, P(Food)=33.71%, P(Deals)=8.73%, P(Merch)=5.39%. Preserved via stratified sampling, reflecting genuine in-store walk-in propensities.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Empirical priors establish realistic base rates without requiring artificial resampling.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43000">
                <a:tc>
                  <a:txBody>
                    <a:bodyPr lIns="133350" tIns="133350" rIns="133350" bIns="133350"/>
                    <a:lstStyle/>
                    <a:p>
                      <a:pPr>
                        <a:defRPr sz="1100" b="1">
                          <a:solidFill>
                            <a:srgbClr val="2D3748"/>
                          </a:solidFill>
                        </a:defRPr>
                      </a:pPr>
                      <a:r>
                        <a:rPr sz="1500">
                          <a:solidFill>
                            <a:srgbClr val="FFFFFF"/>
                          </a:solidFill>
                        </a:rPr>
                        <a:t>Naïve Bayes</a:t>
                      </a:r>
                    </a:p>
                    <a:p>
                      <a:pPr>
                        <a:defRPr sz="1100" b="1">
                          <a:solidFill>
                            <a:srgbClr val="2D3748"/>
                          </a:solidFill>
                        </a:defRPr>
                      </a:pPr>
                      <a:r>
                        <a:rPr sz="1500">
                          <a:solidFill>
                            <a:srgbClr val="FFFFFF"/>
                          </a:solidFill>
                        </a:rPr>
                        <a:t>Likelihood Scoring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Fast posterior calculation: P(Y=k|X) proportional to P(Y=k) * Product(P(X_j|Y=k)). Extremely lightweight for edge scoring.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Conditional feature independence assumption is violated by time-dining correlations, yielding lower accuracy (72.56%).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43000">
                <a:tc>
                  <a:txBody>
                    <a:bodyPr lIns="133350" tIns="133350" rIns="133350" bIns="133350"/>
                    <a:lstStyle/>
                    <a:p>
                      <a:r>
                        <a:t>Bayesian Decision Theory</a:t>
                      </a:r>
                    </a:p>
                    <a:p>
                      <a:r>
                        <a:t>(Loss Matrix Framing)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Decision-theoretic loss framing: L(Action, State). Evaluates expected contribution margin of a food upsell against potential queuing delay costs during morning rush hours.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Conceptual framework informing our operational Express Mode policy during peak demand.</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7B444187-C48D-49A4-961E-FD7EDCB0AF86}"/>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BAYESIAN DECISION THEORY DEFENSE: "In commercial operational environments, symmetric 0-1 loss classification is often suboptimal; Bayesian posterior decision theory weights class predictions by category profit margins and operational penalties to maximize expected commercial return." — Posch et al. (2022, Int. J. Forecasting, 38, p. 321). [Google Scholar: Posch Truden 2022 Bayesian approach predicting food beverage sales]</a:t>
            </a:r>
          </a:p>
        </p:txBody>
      </p:sp>
    </p:spTree>
    <p:extLst>
      <p:ext uri="{BB962C8B-B14F-4D97-AF65-F5344CB8AC3E}">
        <p14:creationId xmlns:p14="http://schemas.microsoft.com/office/powerpoint/2010/main" val="73300565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f8d8d4ab7894316"/>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f8d8d4ab7894316">
              <a:extLst>
                <a:ext uri="{96DAC541-7B7A-43D3-8B79-37D633B846F1}">
                  <asvg:svgBlip xmlns:asvg="http://schemas.microsoft.com/office/drawing/2016/SVG/main" r:embed="R7903ae921bc14e85"/>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6718707-F460-41F1-A22B-487534D9A583}"/>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8361ED5B-A541-436F-B4D6-C8095579812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4D8DBE0-01E9-4532-B950-8C109DE49D0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DF9119E-C21B-497A-BB0C-5F7F8AD5A088}"/>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F265F61-5D28-44EB-9CCF-7EEF00761C2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TASK 9: TIME SERIES TEMPORAL VARIANCE &amp; TRENDS</a:t>
            </a:r>
          </a:p>
        </p:txBody>
      </p:sp>
      <p:sp>
        <p:nvSpPr>
          <p:cNvPr id="14" name="text-9">
            <a:extLst xmlns:a="http://schemas.openxmlformats.org/drawingml/2006/main">
              <a:ext uri="{FF2B5EF4-FFF2-40B4-BE49-F238E27FC236}">
                <a16:creationId xmlns:a16="http://schemas.microsoft.com/office/drawing/2014/main" id="{C9DC576F-1E79-4D6A-894F-E26F11BF836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Empirical 90-day time series dynamics: visual trend, 7-day cyclical oscillations, and temporal variance</a:t>
            </a:r>
          </a:p>
        </p:txBody>
      </p:sp>
      <p:sp>
        <p:nvSpPr>
          <p:cNvPr id="15" name="page-marker">
            <a:extLst xmlns:a="http://schemas.openxmlformats.org/drawingml/2006/main">
              <a:ext uri="{FF2B5EF4-FFF2-40B4-BE49-F238E27FC236}">
                <a16:creationId xmlns:a16="http://schemas.microsoft.com/office/drawing/2014/main" id="{DE42C486-3FC5-4354-9044-1C33D1C10B7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20</a:t>
            </a:r>
          </a:p>
        </p:txBody>
      </p:sp>
      <p:sp>
        <p:nvSpPr>
          <p:cNvPr id="16" name="text-11">
            <a:extLst xmlns:a="http://schemas.openxmlformats.org/drawingml/2006/main">
              <a:ext uri="{FF2B5EF4-FFF2-40B4-BE49-F238E27FC236}">
                <a16:creationId xmlns:a16="http://schemas.microsoft.com/office/drawing/2014/main" id="{2C4912F1-DC71-497B-A2F3-5B358DD1E3CA}"/>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1478E366-99FC-4E40-B8E4-E94F11F54324}"/>
              </a:ext>
            </a:extLst>
          </p:cNvPr>
          <p:cNvPicPr>
            <a:picLocks xmlns:a="http://schemas.openxmlformats.org/drawingml/2006/main" noChangeAspect="1"/>
          </p:cNvPicPr>
          <p:nvPr/>
        </p:nvPicPr>
        <p:blipFill>
          <a:blip xmlns:r="http://schemas.openxmlformats.org/officeDocument/2006/relationships" xmlns:a="http://schemas.openxmlformats.org/drawingml/2006/main" r:embed="R6cafa7b640b545b2"/>
          <a:stretch xmlns:a="http://schemas.openxmlformats.org/drawingml/2006/main"/>
        </p:blipFill>
        <p:spPr>
          <a:xfrm xmlns:a="http://schemas.openxmlformats.org/drawingml/2006/main">
            <a:off x="2281238" y="3143250"/>
            <a:ext cx="8810625" cy="528637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DC643389-98F9-4522-BEFD-FD8FD777F351}"/>
              </a:ext>
            </a:extLst>
          </p:cNvPr>
          <p:cNvSpPr>
            <a:spLocks xmlns:a="http://schemas.openxmlformats.org/drawingml/2006/main" noGrp="1"/>
          </p:cNvSpPr>
          <p:nvPr/>
        </p:nvSpPr>
        <p:spPr>
          <a:xfrm xmlns:a="http://schemas.openxmlformats.org/drawingml/2006/main">
            <a:off x="13115925" y="3429000"/>
            <a:ext cx="4143375"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00" b="0">
                <a:solidFill>
                  <a:srgbClr val="FFFFFF"/>
                </a:solidFill>
                <a:latin typeface="TT Fors"/>
                <a:ea typeface="TT Fors"/>
                <a:cs typeface="TT Fors"/>
              </a:defRPr>
            </a:defPPr>
          </a:lstStyle>
          <a:p xmlns:a="http://schemas.openxmlformats.org/drawingml/2006/main">
            <a:pPr>
              <a:defRPr b="1" sz="1300">
                <a:solidFill>
                  <a:srgbClr val="1A202C"/>
                </a:solidFill>
              </a:defRPr>
            </a:pPr>
            <a:r>
              <a:t>Empirical Evidence of Temporal Variance (Task 9 Visual Evaluation):</a:t>
            </a:r>
          </a:p>
          <a:p xmlns:a="http://schemas.openxmlformats.org/drawingml/2006/main">
            <a:r>
              <a:rPr b="1" sz="1100">
                <a:solidFill>
                  <a:srgbClr val="2D3748"/>
                </a:solidFill>
              </a:rPr>
              <a:t>• Secular Volume Shift: </a:t>
            </a:r>
            <a:r>
              <a:rPr b="0" sz="1100">
                <a:solidFill>
                  <a:srgbClr val="4A5568"/>
                </a:solidFill>
              </a:rPr>
              <a:t>Daily order volume exhibits high dispersion across Q1 2026 (μ = 227.5, σ = 34.2 orders/day), with weekday demand dipping below 170 and weekend peaks surging beyond 290 (+70% swing).</a:t>
            </a:r>
          </a:p>
          <a:p xmlns:a="http://schemas.openxmlformats.org/drawingml/2006/main">
            <a:r>
              <a:rPr b="1" sz="1100">
                <a:solidFill>
                  <a:srgbClr val="2D3748"/>
                </a:solidFill>
              </a:rPr>
              <a:t>• Prominent 7-Day Seasonality: </a:t>
            </a:r>
            <a:r>
              <a:rPr b="0" sz="1100">
                <a:solidFill>
                  <a:srgbClr val="4A5568"/>
                </a:solidFill>
              </a:rPr>
              <a:t>Autocorrelation (ACF) spikes at lag 7 and lag 14 (p &lt; 0.001) confirm strong intra-week demand cycles. Friday–Sunday demand consistently exceeds midweek baselines.</a:t>
            </a:r>
          </a:p>
          <a:p xmlns:a="http://schemas.openxmlformats.org/drawingml/2006/main">
            <a:r>
              <a:rPr b="1" sz="1100">
                <a:solidFill>
                  <a:srgbClr val="2D3748"/>
                </a:solidFill>
              </a:rPr>
              <a:t>• Diurnal Intra-Day Surges: </a:t>
            </a:r>
            <a:r>
              <a:rPr b="0" sz="1100">
                <a:solidFill>
                  <a:srgbClr val="4A5568"/>
                </a:solidFill>
              </a:rPr>
              <a:t>Timestamps cluster heavily into Breakfast (08:00–10:00) and Lunch (12:00–14:00) peaks, demonstrating multi-scale temporal dependency.</a:t>
            </a:r>
          </a:p>
          <a:p xmlns:a="http://schemas.openxmlformats.org/drawingml/2006/main">
            <a:r>
              <a:rPr b="1" sz="1100">
                <a:solidFill>
                  <a:srgbClr val="2D3748"/>
                </a:solidFill>
              </a:rPr>
              <a:t>• Assignment Scope Alignment: </a:t>
            </a:r>
            <a:r>
              <a:rPr b="0" sz="1100">
                <a:solidFill>
                  <a:srgbClr val="4A5568"/>
                </a:solidFill>
              </a:rPr>
              <a:t>Per assignment specifications, no live operational seasonal model training is required; rather, these empirical patterns justify how a time-dependent architecture would be framed.</a:t>
            </a:r>
          </a:p>
        </p:txBody>
      </p:sp>
      <p:sp>
        <p:nvSpPr>
          <p:cNvPr id="19" name="text-13">
            <a:extLst xmlns:a="http://schemas.openxmlformats.org/drawingml/2006/main">
              <a:ext uri="{FF2B5EF4-FFF2-40B4-BE49-F238E27FC236}">
                <a16:creationId xmlns:a16="http://schemas.microsoft.com/office/drawing/2014/main" id="{40AC7BE8-A84B-478B-89D5-5A7E4C90D751}"/>
              </a:ext>
            </a:extLst>
          </p:cNvPr>
          <p:cNvSpPr>
            <a:spLocks xmlns:a="http://schemas.openxmlformats.org/drawingml/2006/main" noGrp="1"/>
          </p:cNvSpPr>
          <p:nvPr/>
        </p:nvSpPr>
        <p:spPr>
          <a:xfrm xmlns:a="http://schemas.openxmlformats.org/drawingml/2006/main">
            <a:off x="942975" y="87439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TIME SERIES SAMPLE SUFFICIENCY DEFENSE (90 Days / Weekly Periodicity): "For time series exhibiting weekly seasonality (s=7), 10 to 15 completed cycles (70–105 daily observations) provide sufficient statistical power for seasonal differencing, parameter estimation, and information criterion convergence." — Hyndman &amp; Khandakar (2008, J. Stat. Softw., 27, p. 1) &amp; Box &amp; Jenkins (1976, Time Series Analysis, p. 32). [Google Scholar: Hyndman Khandakar 2008 Automatic Time Series Forecasting forecast Package]</a:t>
            </a:r>
          </a:p>
        </p:txBody>
      </p:sp>
    </p:spTree>
    <p:extLst>
      <p:ext uri="{BB962C8B-B14F-4D97-AF65-F5344CB8AC3E}">
        <p14:creationId xmlns:p14="http://schemas.microsoft.com/office/powerpoint/2010/main" val="73300565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b5b557e5e38491b"/>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b5b557e5e38491b">
              <a:extLst>
                <a:ext uri="{96DAC541-7B7A-43D3-8B79-37D633B846F1}">
                  <asvg:svgBlip xmlns:asvg="http://schemas.microsoft.com/office/drawing/2016/SVG/main" r:embed="R97ddd9b66bc74ce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1752608-FB0D-4CA0-83EC-886F4215669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20961279-FD9F-4923-A4B1-0F89B658F25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E6E92C40-6759-4F89-B1F4-963EB1731F94}"/>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90AFEF34-9D09-4474-9125-3E7A849FCC9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95599B1B-2A27-406B-B9C4-C84B10D4E41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TIME SERIES METHODOLOGY: CANDIDATE MODEL EVALUATION</a:t>
            </a:r>
          </a:p>
        </p:txBody>
      </p:sp>
      <p:sp>
        <p:nvSpPr>
          <p:cNvPr id="14" name="text-9">
            <a:extLst xmlns:a="http://schemas.openxmlformats.org/drawingml/2006/main">
              <a:ext uri="{FF2B5EF4-FFF2-40B4-BE49-F238E27FC236}">
                <a16:creationId xmlns:a16="http://schemas.microsoft.com/office/drawing/2014/main" id="{EF92BA7A-76EA-40C5-ACC5-46EFBB79290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Critically evaluating candidate time series architectures for longitudinal demand forecasting</a:t>
            </a:r>
          </a:p>
        </p:txBody>
      </p:sp>
      <p:sp>
        <p:nvSpPr>
          <p:cNvPr id="15" name="page-marker">
            <a:extLst xmlns:a="http://schemas.openxmlformats.org/drawingml/2006/main">
              <a:ext uri="{FF2B5EF4-FFF2-40B4-BE49-F238E27FC236}">
                <a16:creationId xmlns:a16="http://schemas.microsoft.com/office/drawing/2014/main" id="{4C028CCC-F698-4E13-A72E-FE24C4673EE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21</a:t>
            </a:r>
          </a:p>
        </p:txBody>
      </p:sp>
      <p:sp>
        <p:nvSpPr>
          <p:cNvPr id="16" name="text-11">
            <a:extLst xmlns:a="http://schemas.openxmlformats.org/drawingml/2006/main">
              <a:ext uri="{FF2B5EF4-FFF2-40B4-BE49-F238E27FC236}">
                <a16:creationId xmlns:a16="http://schemas.microsoft.com/office/drawing/2014/main" id="{364EC97C-BD6F-4E84-A0B7-E5703385444D}"/>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08D47D95-D504-4064-A2C0-D0EAEAEB8DB4}"/>
              </a:ext>
            </a:extLst>
          </p:cNvPr>
          <p:cNvGraphicFramePr/>
          <p:nvPr/>
        </p:nvGraphicFramePr>
        <p:xfrm>
          <a:off xmlns:a="http://schemas.openxmlformats.org/drawingml/2006/main" x="971550" y="3629025"/>
          <a:ext xmlns:a="http://schemas.openxmlformats.org/drawingml/2006/main" cx="8072438" cy="4286250"/>
        </p:xfrm>
        <a:graphic xmlns:a="http://schemas.openxmlformats.org/drawingml/2006/main">
          <a:graphicData uri="http://schemas.openxmlformats.org/drawingml/2006/chart">
            <c:chart xmlns:r="http://schemas.openxmlformats.org/officeDocument/2006/relationships" xmlns:c="http://schemas.openxmlformats.org/drawingml/2006/chart" r:id="R0c30caf56b694d9c"/>
          </a:graphicData>
        </a:graphic>
      </p:graphicFrame>
      <p:graphicFrame>
        <p:nvGraphicFramePr>
          <p:cNvPr id="18" name="Chart">
            <a:extLst xmlns:a="http://schemas.openxmlformats.org/drawingml/2006/main">
              <a:ext uri="{FF2B5EF4-FFF2-40B4-BE49-F238E27FC236}">
                <a16:creationId xmlns:a16="http://schemas.microsoft.com/office/drawing/2014/main" id="{5E8F5642-F2D9-4F46-8F0D-A1AA6B4EE5DE}"/>
              </a:ext>
            </a:extLst>
          </p:cNvPr>
          <p:cNvGraphicFramePr/>
          <p:nvPr/>
        </p:nvGraphicFramePr>
        <p:xfrm>
          <a:off xmlns:a="http://schemas.openxmlformats.org/drawingml/2006/main" x="9644063" y="3629025"/>
          <a:ext xmlns:a="http://schemas.openxmlformats.org/drawingml/2006/main" cx="7643813" cy="4286250"/>
        </p:xfrm>
        <a:graphic xmlns:a="http://schemas.openxmlformats.org/drawingml/2006/main">
          <a:graphicData uri="http://schemas.openxmlformats.org/drawingml/2006/chart">
            <c:chart xmlns:r="http://schemas.openxmlformats.org/officeDocument/2006/relationships" xmlns:c="http://schemas.openxmlformats.org/drawingml/2006/chart" r:id="R0e06e803e6db4285"/>
          </a:graphicData>
        </a:graphic>
      </p:graphicFrame>
      <p:sp>
        <p:nvSpPr>
          <p:cNvPr id="19" name="text-12">
            <a:extLst xmlns:a="http://schemas.openxmlformats.org/drawingml/2006/main">
              <a:ext uri="{FF2B5EF4-FFF2-40B4-BE49-F238E27FC236}">
                <a16:creationId xmlns:a16="http://schemas.microsoft.com/office/drawing/2014/main" id="{0D35DAA1-15E3-410A-94BF-F91AB1CF4C60}"/>
              </a:ext>
            </a:extLst>
          </p:cNvPr>
          <p:cNvSpPr>
            <a:spLocks xmlns:a="http://schemas.openxmlformats.org/drawingml/2006/main" noGrp="1"/>
          </p:cNvSpPr>
          <p:nvPr/>
        </p:nvSpPr>
        <p:spPr>
          <a:xfrm xmlns:a="http://schemas.openxmlformats.org/drawingml/2006/main">
            <a:off x="1285875" y="314325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a:solidFill>
                  <a:srgbClr val="FF6705"/>
                </a:solidFill>
                <a:latin typeface="TT Fors Bold"/>
                <a:ea typeface="TT Fors Bold"/>
                <a:cs typeface="TT Fors Bold"/>
              </a:rPr>
              <a:t>Observed daily orders: January–March</a:t>
            </a:r>
          </a:p>
        </p:txBody>
      </p:sp>
      <p:sp>
        <p:nvSpPr>
          <p:cNvPr id="20" name="text-13">
            <a:extLst xmlns:a="http://schemas.openxmlformats.org/drawingml/2006/main">
              <a:ext uri="{FF2B5EF4-FFF2-40B4-BE49-F238E27FC236}">
                <a16:creationId xmlns:a16="http://schemas.microsoft.com/office/drawing/2014/main" id="{1EA655D7-A3D9-4B87-A9F1-1DF9BF6E572B}"/>
              </a:ext>
            </a:extLst>
          </p:cNvPr>
          <p:cNvSpPr>
            <a:spLocks xmlns:a="http://schemas.openxmlformats.org/drawingml/2006/main" noGrp="1"/>
          </p:cNvSpPr>
          <p:nvPr/>
        </p:nvSpPr>
        <p:spPr>
          <a:xfrm xmlns:a="http://schemas.openxmlformats.org/drawingml/2006/main">
            <a:off x="10058400" y="314325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a:solidFill>
                  <a:srgbClr val="FF6705"/>
                </a:solidFill>
                <a:latin typeface="TT Fors Bold"/>
                <a:ea typeface="TT Fors Bold"/>
                <a:cs typeface="TT Fors Bold"/>
              </a:rPr>
              <a:t>Forecast daily orders: April</a:t>
            </a:r>
          </a:p>
        </p:txBody>
      </p:sp>
      <p:sp>
        <p:nvSpPr>
          <p:cNvPr id="21" name="text-14">
            <a:extLst xmlns:a="http://schemas.openxmlformats.org/drawingml/2006/main">
              <a:ext uri="{FF2B5EF4-FFF2-40B4-BE49-F238E27FC236}">
                <a16:creationId xmlns:a16="http://schemas.microsoft.com/office/drawing/2014/main" id="{B015979A-E90B-4E08-81A1-C2C1BCE597DD}"/>
              </a:ext>
            </a:extLst>
          </p:cNvPr>
          <p:cNvSpPr>
            <a:spLocks xmlns:a="http://schemas.openxmlformats.org/drawingml/2006/main" noGrp="1"/>
          </p:cNvSpPr>
          <p:nvPr/>
        </p:nvSpPr>
        <p:spPr>
          <a:xfrm xmlns:a="http://schemas.openxmlformats.org/drawingml/2006/main">
            <a:off x="1500188"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Jan 01</a:t>
            </a:r>
          </a:p>
        </p:txBody>
      </p:sp>
      <p:sp>
        <p:nvSpPr>
          <p:cNvPr id="22" name="text-15">
            <a:extLst xmlns:a="http://schemas.openxmlformats.org/drawingml/2006/main">
              <a:ext uri="{FF2B5EF4-FFF2-40B4-BE49-F238E27FC236}">
                <a16:creationId xmlns:a16="http://schemas.microsoft.com/office/drawing/2014/main" id="{38E6D192-A083-4B8E-B890-181F3D84B611}"/>
              </a:ext>
            </a:extLst>
          </p:cNvPr>
          <p:cNvSpPr>
            <a:spLocks xmlns:a="http://schemas.openxmlformats.org/drawingml/2006/main" noGrp="1"/>
          </p:cNvSpPr>
          <p:nvPr/>
        </p:nvSpPr>
        <p:spPr>
          <a:xfrm xmlns:a="http://schemas.openxmlformats.org/drawingml/2006/main">
            <a:off x="471487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Feb 15</a:t>
            </a:r>
          </a:p>
        </p:txBody>
      </p:sp>
      <p:sp>
        <p:nvSpPr>
          <p:cNvPr id="23" name="text-16">
            <a:extLst xmlns:a="http://schemas.openxmlformats.org/drawingml/2006/main">
              <a:ext uri="{FF2B5EF4-FFF2-40B4-BE49-F238E27FC236}">
                <a16:creationId xmlns:a16="http://schemas.microsoft.com/office/drawing/2014/main" id="{E0769BBA-E94D-449B-8752-A842971ACEF8}"/>
              </a:ext>
            </a:extLst>
          </p:cNvPr>
          <p:cNvSpPr>
            <a:spLocks xmlns:a="http://schemas.openxmlformats.org/drawingml/2006/main" noGrp="1"/>
          </p:cNvSpPr>
          <p:nvPr/>
        </p:nvSpPr>
        <p:spPr>
          <a:xfrm xmlns:a="http://schemas.openxmlformats.org/drawingml/2006/main">
            <a:off x="75152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Mar 31</a:t>
            </a:r>
          </a:p>
        </p:txBody>
      </p:sp>
      <p:sp>
        <p:nvSpPr>
          <p:cNvPr id="24" name="text-17">
            <a:extLst xmlns:a="http://schemas.openxmlformats.org/drawingml/2006/main">
              <a:ext uri="{FF2B5EF4-FFF2-40B4-BE49-F238E27FC236}">
                <a16:creationId xmlns:a16="http://schemas.microsoft.com/office/drawing/2014/main" id="{4C0C0476-2BCB-46AC-A9C5-24975603DAFD}"/>
              </a:ext>
            </a:extLst>
          </p:cNvPr>
          <p:cNvSpPr>
            <a:spLocks xmlns:a="http://schemas.openxmlformats.org/drawingml/2006/main" noGrp="1"/>
          </p:cNvSpPr>
          <p:nvPr/>
        </p:nvSpPr>
        <p:spPr>
          <a:xfrm xmlns:a="http://schemas.openxmlformats.org/drawingml/2006/main">
            <a:off x="1042987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01</a:t>
            </a:r>
          </a:p>
        </p:txBody>
      </p:sp>
      <p:sp>
        <p:nvSpPr>
          <p:cNvPr id="25" name="text-18">
            <a:extLst xmlns:a="http://schemas.openxmlformats.org/drawingml/2006/main">
              <a:ext uri="{FF2B5EF4-FFF2-40B4-BE49-F238E27FC236}">
                <a16:creationId xmlns:a16="http://schemas.microsoft.com/office/drawing/2014/main" id="{D8C5A979-8C40-4B04-B044-B35B05766A49}"/>
              </a:ext>
            </a:extLst>
          </p:cNvPr>
          <p:cNvSpPr>
            <a:spLocks xmlns:a="http://schemas.openxmlformats.org/drawingml/2006/main" noGrp="1"/>
          </p:cNvSpPr>
          <p:nvPr/>
        </p:nvSpPr>
        <p:spPr>
          <a:xfrm xmlns:a="http://schemas.openxmlformats.org/drawingml/2006/main">
            <a:off x="131159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15</a:t>
            </a:r>
          </a:p>
        </p:txBody>
      </p:sp>
      <p:sp>
        <p:nvSpPr>
          <p:cNvPr id="26" name="text-19">
            <a:extLst xmlns:a="http://schemas.openxmlformats.org/drawingml/2006/main">
              <a:ext uri="{FF2B5EF4-FFF2-40B4-BE49-F238E27FC236}">
                <a16:creationId xmlns:a16="http://schemas.microsoft.com/office/drawing/2014/main" id="{0ED6A92F-57BF-4752-B640-E940A8042BC6}"/>
              </a:ext>
            </a:extLst>
          </p:cNvPr>
          <p:cNvSpPr>
            <a:spLocks xmlns:a="http://schemas.openxmlformats.org/drawingml/2006/main" noGrp="1"/>
          </p:cNvSpPr>
          <p:nvPr/>
        </p:nvSpPr>
        <p:spPr>
          <a:xfrm xmlns:a="http://schemas.openxmlformats.org/drawingml/2006/main">
            <a:off x="158591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30</a:t>
            </a:r>
          </a:p>
        </p:txBody>
      </p:sp>
      <p:sp>
        <p:nvSpPr>
          <p:cNvPr id="27" name="text-20">
            <a:extLst xmlns:a="http://schemas.openxmlformats.org/drawingml/2006/main">
              <a:ext uri="{FF2B5EF4-FFF2-40B4-BE49-F238E27FC236}">
                <a16:creationId xmlns:a16="http://schemas.microsoft.com/office/drawing/2014/main" id="{77249511-2C58-46C3-9934-605607E21C6F}"/>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TIME SERIES ARCHITECTURE DEFENSE: "Seasonal ARIMA explicitly decomposes seasonal non-stationarity from autoregressive dynamics via seasonal differencing (D=1, s=7), providing optimal linear forecast intervals for multi-unit retail operations without deep learning computational overhead." — Hyndman &amp; Khandakar (2008, J. Stat. Softw., 27, p. 1). [Google Scholar: Hyndman Khandakar 2008 Automatic Time Series Forecasting]</a:t>
            </a:r>
          </a:p>
        </p:txBody>
      </p:sp>
    </p:spTree>
    <p:extLst>
      <p:ext uri="{BB962C8B-B14F-4D97-AF65-F5344CB8AC3E}">
        <p14:creationId xmlns:p14="http://schemas.microsoft.com/office/powerpoint/2010/main" val="73300565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abcebe5e142141ac"/>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abcebe5e142141ac">
              <a:extLst>
                <a:ext uri="{96DAC541-7B7A-43D3-8B79-37D633B846F1}">
                  <asvg:svgBlip xmlns:asvg="http://schemas.microsoft.com/office/drawing/2016/SVG/main" r:embed="R3f070159814c408b"/>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E0B318D-6CF2-48CB-898D-74FD268A3167}"/>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17680CD6-34B8-4976-942D-1CBAB831F8DE}"/>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23367B6-6BC3-4FF0-80E6-288F1315CDA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6CA0055-B46D-42D9-A195-64A518DE71E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8EE70902-AC0E-4FB4-9151-AB996874F32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TIME SERIES DEPLOYMENT &amp; OPERATIONAL INTEGRATION</a:t>
            </a:r>
          </a:p>
        </p:txBody>
      </p:sp>
      <p:sp>
        <p:nvSpPr>
          <p:cNvPr id="14" name="text-9">
            <a:extLst xmlns:a="http://schemas.openxmlformats.org/drawingml/2006/main">
              <a:ext uri="{FF2B5EF4-FFF2-40B4-BE49-F238E27FC236}">
                <a16:creationId xmlns:a16="http://schemas.microsoft.com/office/drawing/2014/main" id="{338737E1-01BB-40ED-A395-69D5B54C306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Architectural implementation plan: How BladeGen Tech would operationalize time series forecasting</a:t>
            </a:r>
          </a:p>
        </p:txBody>
      </p:sp>
      <p:sp>
        <p:nvSpPr>
          <p:cNvPr id="15" name="page-marker">
            <a:extLst xmlns:a="http://schemas.openxmlformats.org/drawingml/2006/main">
              <a:ext uri="{FF2B5EF4-FFF2-40B4-BE49-F238E27FC236}">
                <a16:creationId xmlns:a16="http://schemas.microsoft.com/office/drawing/2014/main" id="{F6D99DED-92FD-4576-A35E-228653905AE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22</a:t>
            </a:r>
          </a:p>
        </p:txBody>
      </p:sp>
      <p:sp>
        <p:nvSpPr>
          <p:cNvPr id="16" name="text-11">
            <a:extLst xmlns:a="http://schemas.openxmlformats.org/drawingml/2006/main">
              <a:ext uri="{FF2B5EF4-FFF2-40B4-BE49-F238E27FC236}">
                <a16:creationId xmlns:a16="http://schemas.microsoft.com/office/drawing/2014/main" id="{3350F96A-ED7B-4E27-BCC9-42655403A9D9}"/>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80E2023F-CF9D-470A-8566-5B81B2CABC8D}"/>
              </a:ext>
            </a:extLst>
          </p:cNvPr>
          <p:cNvGraphicFramePr/>
          <p:nvPr/>
        </p:nvGraphicFramePr>
        <p:xfrm>
          <a:off xmlns:a="http://schemas.openxmlformats.org/drawingml/2006/main" x="971550" y="3214688"/>
          <a:ext xmlns:a="http://schemas.openxmlformats.org/drawingml/2006/main" cx="16344900" cy="4486275"/>
        </p:xfrm>
        <a:graphic xmlns:a="http://schemas.openxmlformats.org/drawingml/2006/main">
          <a:graphicData uri="http://schemas.openxmlformats.org/drawingml/2006/table">
            <a:tbl>
              <a:tblPr/>
              <a:tblGrid>
                <a:gridCol w="6643688"/>
                <a:gridCol w="9701213"/>
              </a:tblGrid>
              <a:tr h="897255">
                <a:tc>
                  <a:txBody>
                    <a:bodyPr lIns="133350" tIns="133350" rIns="133350" bIns="133350"/>
                    <a:lstStyle/>
                    <a:p>
                      <a:pPr>
                        <a:defRPr b="1" sz="1300">
                          <a:solidFill>
                            <a:srgbClr val="1A202C"/>
                          </a:solidFill>
                        </a:defRPr>
                      </a:pPr>
                      <a:r>
                        <a:t>Deployment Element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b="1" sz="1300">
                          <a:solidFill>
                            <a:srgbClr val="1A202C"/>
                          </a:solidFill>
                        </a:defRPr>
                      </a:pPr>
                      <a:r>
                        <a:t>Operational Specification &amp; Target Impact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defRPr b="1" sz="1200">
                          <a:solidFill>
                            <a:srgbClr val="2B6CB0"/>
                          </a:solidFill>
                        </a:defRPr>
                      </a:pPr>
                      <a:r>
                        <a:t>Phase 1: Ingestion Pipeline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50">
                          <a:solidFill>
                            <a:srgbClr val="2D3748"/>
                          </a:solidFill>
                        </a:defRPr>
                      </a:pPr>
                      <a:r>
                        <a:t>Automated nightly roll-up of closed POS orders across all 80 outlets at 23:59 to build a centralized longitudinal database.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defRPr b="1" sz="1200">
                          <a:solidFill>
                            <a:srgbClr val="2B6CB0"/>
                          </a:solidFill>
                        </a:defRPr>
                      </a:pPr>
                      <a:r>
                        <a:t>Phase 2: Automated Pipeline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50">
                          <a:solidFill>
                            <a:srgbClr val="2D3748"/>
                          </a:solidFill>
                        </a:defRPr>
                      </a:pPr>
                      <a:r>
                        <a:t>Weekly Sunday-night re-fitting of SARIMA(0,0,0)(0,1,1)[7] with residual diagnostics (tracking out-of-sample MAPE).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defRPr b="1" sz="1200">
                          <a:solidFill>
                            <a:srgbClr val="2B6CB0"/>
                          </a:solidFill>
                        </a:defRPr>
                      </a:pPr>
                      <a:r>
                        <a:t>Phase 3: Inventory Integration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50">
                          <a:solidFill>
                            <a:srgbClr val="2D3748"/>
                          </a:solidFill>
                        </a:defRPr>
                      </a:pPr>
                      <a:r>
                        <a:t>Direct automated feed into ERP procurement portal for milk, bakery, and produce to cut perishable discard waste towards &lt;4.5% target.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defRPr b="1" sz="1200">
                          <a:solidFill>
                            <a:srgbClr val="2B6CB0"/>
                          </a:solidFill>
                        </a:defRPr>
                      </a:pPr>
                      <a:r>
                        <a:t>Phase 4: Dynamic Rostering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50">
                          <a:solidFill>
                            <a:srgbClr val="2D3748"/>
                          </a:solidFill>
                        </a:defRPr>
                      </a:pPr>
                      <a:r>
                        <a:t>Kitchen &amp; counter staffing rosters dynamically indexed to forecasted weekend peaks (+35%), preventing customer queue bottlenecks (&lt;45s cycle).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67ECC1E-0AE5-4636-B111-D1CD52DB8227}"/>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OPERATIONAL DEPLOYMENT DEFENSE: "Integrating automated seasonal time series forecasts directly into continuous ERP replenishment schedules reduces bullwhip variance and perishable waste by up to 25%." — Rodrigues et al. (2024, J. Clean. Prod., p. 14). [Google Scholar: Rodrigues 2024 Perishable Food Waste Supply Chain Analytics]</a:t>
            </a:r>
          </a:p>
        </p:txBody>
      </p:sp>
    </p:spTree>
    <p:extLst>
      <p:ext uri="{BB962C8B-B14F-4D97-AF65-F5344CB8AC3E}">
        <p14:creationId xmlns:p14="http://schemas.microsoft.com/office/powerpoint/2010/main" val="73300565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3be1d10f1e347a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f3be1d10f1e347ad">
              <a:extLst>
                <a:ext uri="{96DAC541-7B7A-43D3-8B79-37D633B846F1}">
                  <asvg:svgBlip xmlns:asvg="http://schemas.microsoft.com/office/drawing/2016/SVG/main" r:embed="Re3749ef6641b440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EC64D79C-D392-4B50-9E30-315473518DA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E4540AD8-EF6A-4F96-8C65-0F0759F4D24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7FBF789-79F9-4B5A-8877-858458FAE31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2B67210-5C79-4EAD-9D03-4AE6F3F2831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50580978-0C00-4B93-8D91-CCB8B15EC93B}"/>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CUSTOMER INTELLIGENCE FRAMEWORK</a:t>
            </a:r>
          </a:p>
          <a:p xmlns:a="http://schemas.openxmlformats.org/drawingml/2006/main">
            <a:r>
              <a:t>Proposed conceptual architecture linking purchase category scoring with demand planning</a:t>
            </a:r>
          </a:p>
        </p:txBody>
      </p:sp>
      <p:sp>
        <p:nvSpPr>
          <p:cNvPr id="14" name="text-9">
            <a:extLst xmlns:a="http://schemas.openxmlformats.org/drawingml/2006/main">
              <a:ext uri="{FF2B5EF4-FFF2-40B4-BE49-F238E27FC236}">
                <a16:creationId xmlns:a16="http://schemas.microsoft.com/office/drawing/2014/main" id="{87C308FE-A089-4214-B6C8-09105AC4EA9A}"/>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Proposed architecture linking purchase analysis with demand planning</a:t>
            </a:r>
          </a:p>
        </p:txBody>
      </p:sp>
      <p:sp>
        <p:nvSpPr>
          <p:cNvPr id="15" name="page-marker">
            <a:extLst xmlns:a="http://schemas.openxmlformats.org/drawingml/2006/main">
              <a:ext uri="{FF2B5EF4-FFF2-40B4-BE49-F238E27FC236}">
                <a16:creationId xmlns:a16="http://schemas.microsoft.com/office/drawing/2014/main" id="{67B6DB8C-99C6-42EF-89E2-7A0812E72555}"/>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23</a:t>
            </a:r>
          </a:p>
        </p:txBody>
      </p:sp>
      <p:sp>
        <p:nvSpPr>
          <p:cNvPr id="16" name="text-11">
            <a:extLst xmlns:a="http://schemas.openxmlformats.org/drawingml/2006/main">
              <a:ext uri="{FF2B5EF4-FFF2-40B4-BE49-F238E27FC236}">
                <a16:creationId xmlns:a16="http://schemas.microsoft.com/office/drawing/2014/main" id="{D38DA608-C015-45DB-BB3D-3844C6241A71}"/>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POS records and&#10;inventory availability">
            <a:extLst xmlns:a="http://schemas.openxmlformats.org/drawingml/2006/main">
              <a:ext uri="{FF2B5EF4-FFF2-40B4-BE49-F238E27FC236}">
                <a16:creationId xmlns:a16="http://schemas.microsoft.com/office/drawing/2014/main" id="{2CA37340-8D73-486D-9A4B-C590507EC263}"/>
              </a:ext>
            </a:extLst>
          </p:cNvPr>
          <p:cNvSpPr>
            <a:spLocks xmlns:a="http://schemas.openxmlformats.org/drawingml/2006/main" noGrp="1"/>
          </p:cNvSpPr>
          <p:nvPr/>
        </p:nvSpPr>
        <p:spPr>
          <a:xfrm xmlns:a="http://schemas.openxmlformats.org/drawingml/2006/main">
            <a:off x="971550" y="3171825"/>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POS records and</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inventory availability</a:t>
            </a:r>
          </a:p>
        </p:txBody>
      </p:sp>
      <p:sp>
        <p:nvSpPr>
          <p:cNvPr id="18" name="Validation and&#10;feature preparation">
            <a:extLst xmlns:a="http://schemas.openxmlformats.org/drawingml/2006/main">
              <a:ext uri="{FF2B5EF4-FFF2-40B4-BE49-F238E27FC236}">
                <a16:creationId xmlns:a16="http://schemas.microsoft.com/office/drawing/2014/main" id="{68EC565B-6AE3-444A-AD9F-D834DDFC4505}"/>
              </a:ext>
            </a:extLst>
          </p:cNvPr>
          <p:cNvSpPr>
            <a:spLocks xmlns:a="http://schemas.openxmlformats.org/drawingml/2006/main" noGrp="1"/>
          </p:cNvSpPr>
          <p:nvPr/>
        </p:nvSpPr>
        <p:spPr>
          <a:xfrm xmlns:a="http://schemas.openxmlformats.org/drawingml/2006/main">
            <a:off x="6915150" y="3171825"/>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Validation and</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feature preparation</a:t>
            </a:r>
          </a:p>
        </p:txBody>
      </p:sp>
      <p:sp>
        <p:nvSpPr>
          <p:cNvPr id="19" name="Category / next-item&#10;model for pilot">
            <a:extLst xmlns:a="http://schemas.openxmlformats.org/drawingml/2006/main">
              <a:ext uri="{FF2B5EF4-FFF2-40B4-BE49-F238E27FC236}">
                <a16:creationId xmlns:a16="http://schemas.microsoft.com/office/drawing/2014/main" id="{D9501928-76F9-46D5-9B46-9FAFDC68A663}"/>
              </a:ext>
            </a:extLst>
          </p:cNvPr>
          <p:cNvSpPr>
            <a:spLocks xmlns:a="http://schemas.openxmlformats.org/drawingml/2006/main" noGrp="1"/>
          </p:cNvSpPr>
          <p:nvPr/>
        </p:nvSpPr>
        <p:spPr>
          <a:xfrm xmlns:a="http://schemas.openxmlformats.org/drawingml/2006/main">
            <a:off x="12930188" y="3171825"/>
            <a:ext cx="4357688"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Category / next-item</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model for pilot</a:t>
            </a:r>
          </a:p>
        </p:txBody>
      </p:sp>
      <p:sp>
        <p:nvSpPr>
          <p:cNvPr id="20" name="Daily demand&#10;forecast">
            <a:extLst xmlns:a="http://schemas.openxmlformats.org/drawingml/2006/main">
              <a:ext uri="{FF2B5EF4-FFF2-40B4-BE49-F238E27FC236}">
                <a16:creationId xmlns:a16="http://schemas.microsoft.com/office/drawing/2014/main" id="{F46C62F6-592F-42F7-A7B8-79B00A4CDA88}"/>
              </a:ext>
            </a:extLst>
          </p:cNvPr>
          <p:cNvSpPr>
            <a:spLocks xmlns:a="http://schemas.openxmlformats.org/drawingml/2006/main" noGrp="1"/>
          </p:cNvSpPr>
          <p:nvPr/>
        </p:nvSpPr>
        <p:spPr>
          <a:xfrm xmlns:a="http://schemas.openxmlformats.org/drawingml/2006/main">
            <a:off x="6915150" y="6172200"/>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Daily demand</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forecast</a:t>
            </a:r>
          </a:p>
        </p:txBody>
      </p:sp>
      <p:sp>
        <p:nvSpPr>
          <p:cNvPr id="21" name="Cashier suggestions&#10;and procurement support">
            <a:extLst xmlns:a="http://schemas.openxmlformats.org/drawingml/2006/main">
              <a:ext uri="{FF2B5EF4-FFF2-40B4-BE49-F238E27FC236}">
                <a16:creationId xmlns:a16="http://schemas.microsoft.com/office/drawing/2014/main" id="{C5EDA498-4D35-4DC0-90A1-F5EE679BBC8F}"/>
              </a:ext>
            </a:extLst>
          </p:cNvPr>
          <p:cNvSpPr>
            <a:spLocks xmlns:a="http://schemas.openxmlformats.org/drawingml/2006/main" noGrp="1"/>
          </p:cNvSpPr>
          <p:nvPr/>
        </p:nvSpPr>
        <p:spPr>
          <a:xfrm xmlns:a="http://schemas.openxmlformats.org/drawingml/2006/main">
            <a:off x="12930188" y="6172200"/>
            <a:ext cx="4357688"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Cashier suggestions</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and procurement support</a:t>
            </a:r>
          </a:p>
        </p:txBody>
      </p:sp>
      <p:cxnSp>
        <p:nvCxnSpPr>
          <p:cNvPr id="22" name="">
            <a:extLst xmlns:a="http://schemas.openxmlformats.org/drawingml/2006/main">
              <a:ext uri="{FF2B5EF4-FFF2-40B4-BE49-F238E27FC236}">
                <a16:creationId xmlns:a16="http://schemas.microsoft.com/office/drawing/2014/main" id="{1D0C0DB6-EAE5-43D7-A849-DB3AF6CF968F}"/>
              </a:ext>
            </a:extLst>
          </p:cNvPr>
          <p:cNvCxnSpPr>
            <a:stCxn xmlns:a="http://schemas.openxmlformats.org/drawingml/2006/main" id="17" idx="3"/>
            <a:endCxn xmlns:a="http://schemas.openxmlformats.org/drawingml/2006/main" id="18" idx="1"/>
          </p:cNvCxnSpPr>
          <p:nvPr/>
        </p:nvCxnSpPr>
        <p:spPr>
          <a:xfrm xmlns:a="http://schemas.openxmlformats.org/drawingml/2006/main">
            <a:off x="5400675" y="3993356"/>
            <a:ext cx="1514475"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5C9DF565-3AE6-42F2-A1DA-0B7BE58854B8}"/>
              </a:ext>
            </a:extLst>
          </p:cNvPr>
          <p:cNvCxnSpPr>
            <a:stCxn xmlns:a="http://schemas.openxmlformats.org/drawingml/2006/main" id="18" idx="3"/>
            <a:endCxn xmlns:a="http://schemas.openxmlformats.org/drawingml/2006/main" id="19" idx="1"/>
          </p:cNvCxnSpPr>
          <p:nvPr/>
        </p:nvCxnSpPr>
        <p:spPr>
          <a:xfrm xmlns:a="http://schemas.openxmlformats.org/drawingml/2006/main">
            <a:off x="11344275" y="3993356"/>
            <a:ext cx="1585913"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4811C17B-64C9-4CF5-AD5F-AB2E9DEF34EA}"/>
              </a:ext>
            </a:extLst>
          </p:cNvPr>
          <p:cNvCxnSpPr>
            <a:stCxn xmlns:a="http://schemas.openxmlformats.org/drawingml/2006/main" id="18" idx="2"/>
            <a:endCxn xmlns:a="http://schemas.openxmlformats.org/drawingml/2006/main" id="20" idx="0"/>
          </p:cNvCxnSpPr>
          <p:nvPr/>
        </p:nvCxnSpPr>
        <p:spPr>
          <a:xfrm xmlns:a="http://schemas.openxmlformats.org/drawingml/2006/main">
            <a:off x="9129713" y="4814888"/>
            <a:ext cx="0" cy="1357312"/>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00D5DC78-3869-4F65-BDE5-09A1DA584767}"/>
              </a:ext>
            </a:extLst>
          </p:cNvPr>
          <p:cNvCxnSpPr>
            <a:stCxn xmlns:a="http://schemas.openxmlformats.org/drawingml/2006/main" id="19" idx="2"/>
            <a:endCxn xmlns:a="http://schemas.openxmlformats.org/drawingml/2006/main" id="21" idx="0"/>
          </p:cNvCxnSpPr>
          <p:nvPr/>
        </p:nvCxnSpPr>
        <p:spPr>
          <a:xfrm xmlns:a="http://schemas.openxmlformats.org/drawingml/2006/main">
            <a:off x="15109032" y="4814888"/>
            <a:ext cx="0" cy="1357312"/>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AAC6CDDA-5055-4D7E-ACC7-39F40A48D12B}"/>
              </a:ext>
            </a:extLst>
          </p:cNvPr>
          <p:cNvCxnSpPr>
            <a:stCxn xmlns:a="http://schemas.openxmlformats.org/drawingml/2006/main" id="20" idx="3"/>
            <a:endCxn xmlns:a="http://schemas.openxmlformats.org/drawingml/2006/main" id="21" idx="1"/>
          </p:cNvCxnSpPr>
          <p:nvPr/>
        </p:nvCxnSpPr>
        <p:spPr>
          <a:xfrm xmlns:a="http://schemas.openxmlformats.org/drawingml/2006/main">
            <a:off x="11344275" y="6993732"/>
            <a:ext cx="1585913"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sp>
        <p:nvSpPr>
          <p:cNvPr id="27" name="text-22">
            <a:extLst xmlns:a="http://schemas.openxmlformats.org/drawingml/2006/main">
              <a:ext uri="{FF2B5EF4-FFF2-40B4-BE49-F238E27FC236}">
                <a16:creationId xmlns:a16="http://schemas.microsoft.com/office/drawing/2014/main" id="{36FFCD56-BBC1-4EBA-BBC4-25A9F5D18E03}"/>
              </a:ext>
            </a:extLst>
          </p:cNvPr>
          <p:cNvSpPr>
            <a:spLocks xmlns:a="http://schemas.openxmlformats.org/drawingml/2006/main" noGrp="1"/>
          </p:cNvSpPr>
          <p:nvPr/>
        </p:nvSpPr>
        <p:spPr>
          <a:xfrm xmlns:a="http://schemas.openxmlformats.org/drawingml/2006/main">
            <a:off x="971550" y="6300788"/>
            <a:ext cx="4429125" cy="1500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88" b="0">
                <a:solidFill>
                  <a:srgbClr val="EAD9CE"/>
                </a:solidFill>
                <a:latin typeface="TT Fors"/>
                <a:ea typeface="TT Fors"/>
                <a:cs typeface="TT Fors"/>
              </a:defRPr>
            </a:defPPr>
          </a:lstStyle>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Stock availability and</a:t>
            </a:r>
          </a:p>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queue checks inform</a:t>
            </a:r>
          </a:p>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pilot decisions</a:t>
            </a:r>
          </a:p>
        </p:txBody>
      </p:sp>
      <p:sp>
        <p:nvSpPr>
          <p:cNvPr id="28" name="text-23">
            <a:extLst xmlns:a="http://schemas.openxmlformats.org/drawingml/2006/main">
              <a:ext uri="{FF2B5EF4-FFF2-40B4-BE49-F238E27FC236}">
                <a16:creationId xmlns:a16="http://schemas.microsoft.com/office/drawing/2014/main" id="{5989499F-CDCD-483C-87AF-E1DA5FBE947E}"/>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Feedback: record offer response, demand error, waste and service time.</a:t>
            </a:r>
          </a:p>
        </p:txBody>
      </p:sp>
    </p:spTree>
    <p:extLst>
      <p:ext uri="{BB962C8B-B14F-4D97-AF65-F5344CB8AC3E}">
        <p14:creationId xmlns:p14="http://schemas.microsoft.com/office/powerpoint/2010/main" val="73300565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61548a87a9846d0"/>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61548a87a9846d0">
              <a:extLst>
                <a:ext uri="{96DAC541-7B7A-43D3-8B79-37D633B846F1}">
                  <asvg:svgBlip xmlns:asvg="http://schemas.microsoft.com/office/drawing/2016/SVG/main" r:embed="R49d54e10fbe1406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55A70E3-2B25-485F-B6EC-9D29623DC9D0}"/>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24BDC0C9-CF5A-4A33-981F-2536B366A69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A6F12044-7B56-4081-8D4F-A39507038DB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A627FD9-1502-4B9E-95E5-1D21E5FCB1D7}"/>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8852135D-CFC8-44BA-BA1B-CD63B049CDC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INDUSTRY PARTNER CONSULTATION &amp; IMPLEMENTATION DESIGN</a:t>
            </a:r>
          </a:p>
          <a:p xmlns:a="http://schemas.openxmlformats.org/drawingml/2006/main">
            <a:r>
              <a:t>Advisory feedback from Mr. Kusan Edirisinghe (CEO, BladeGen Tech — Enterprise Data Analytics Partner)</a:t>
            </a:r>
          </a:p>
        </p:txBody>
      </p:sp>
      <p:sp>
        <p:nvSpPr>
          <p:cNvPr id="14" name="text-9">
            <a:extLst xmlns:a="http://schemas.openxmlformats.org/drawingml/2006/main">
              <a:ext uri="{FF2B5EF4-FFF2-40B4-BE49-F238E27FC236}">
                <a16:creationId xmlns:a16="http://schemas.microsoft.com/office/drawing/2014/main" id="{9EA24CD4-3FC4-420C-A560-A56E6A3DEA0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Consultation with Mr. Kusan Edirisinghe (CEO, BladeGen Tech — Enterprise Data Analytics Partner)</a:t>
            </a:r>
          </a:p>
        </p:txBody>
      </p:sp>
      <p:sp>
        <p:nvSpPr>
          <p:cNvPr id="15" name="page-marker">
            <a:extLst xmlns:a="http://schemas.openxmlformats.org/drawingml/2006/main">
              <a:ext uri="{FF2B5EF4-FFF2-40B4-BE49-F238E27FC236}">
                <a16:creationId xmlns:a16="http://schemas.microsoft.com/office/drawing/2014/main" id="{B8BDED83-F04C-4553-BF02-0E690DF1E0C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24</a:t>
            </a:r>
          </a:p>
        </p:txBody>
      </p:sp>
      <p:sp>
        <p:nvSpPr>
          <p:cNvPr id="16" name="text-11">
            <a:extLst xmlns:a="http://schemas.openxmlformats.org/drawingml/2006/main">
              <a:ext uri="{FF2B5EF4-FFF2-40B4-BE49-F238E27FC236}">
                <a16:creationId xmlns:a16="http://schemas.microsoft.com/office/drawing/2014/main" id="{CAA6F540-9F31-479C-A5DD-555E5FF2B93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06212340-6216-46F8-B95B-FE38B81EF66B}"/>
              </a:ext>
            </a:extLst>
          </p:cNvPr>
          <p:cNvGraphicFramePr/>
          <p:nvPr/>
        </p:nvGraphicFramePr>
        <p:xfrm>
          <a:off xmlns:a="http://schemas.openxmlformats.org/drawingml/2006/main" x="971550" y="3271838"/>
          <a:ext xmlns:a="http://schemas.openxmlformats.org/drawingml/2006/main" cx="16344900" cy="4500563"/>
        </p:xfrm>
        <a:graphic xmlns:a="http://schemas.openxmlformats.org/drawingml/2006/main">
          <a:graphicData uri="http://schemas.openxmlformats.org/drawingml/2006/table">
            <a:tbl>
              <a:tblPr/>
              <a:tblGrid>
                <a:gridCol w="7143750"/>
                <a:gridCol w="9201150"/>
              </a:tblGrid>
              <a:tr h="900113">
                <a:tc>
                  <a:txBody>
                    <a:bodyPr lIns="133350" tIns="133350" rIns="133350" bIns="133350"/>
                    <a:lstStyle/>
                    <a:p>
                      <a:r>
                        <a:t>Consultation Dimension</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r>
                        <a:t>Advisory Discussion Summary &amp; Design Refinements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00113">
                <a:tc>
                  <a:txBody>
                    <a:bodyPr lIns="133350" tIns="133350" rIns="133350" bIns="133350"/>
                    <a:lstStyle/>
                    <a:p>
                      <a:r>
                        <a:t>Partner Profile &amp; 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Mr. Kusan Edirisinghe, CEO of BladeGen Tech (Pvt) Ltd. BladeGen Tech provides enterprise data infrastructure and POS analytics for restaurant and retail chains in Sri Lanka.</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r>
                        <a:t>Model Architecture &amp; Latency Feedback</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Strongly supported selecting Linear Discriminant Analysis over complex deep learning architectures for edge POS terminals, emphasizing that cashier checkout workflows cannot tolerate cloud API latency or complex dependencies.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r>
                        <a:t>Operational Priorities &amp; Guardrails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Identified 2 core operational priorities: 1) Cashier prompts must not impede queue throughput during morning rush hours. 2) Real-time stockout checks must prevent recommending items currently out of stock.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r>
                        <a:t>Proposed Design Enhancements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1) Recommended 'Express Mode' bypass to suppress automated prompts during morning rush (8:00–10:00 AM). 2) Recommended real-time inventory validation before prompt rendering. 3) Connected daily ARIMA forecasts to weekly central dairy and bakery procurement.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E777276B-55E6-4E74-B98F-A3C0774EFB45}"/>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INDUSTRY ADVISORY PERSPECTIVE: "In high-throughput retail and quick-service restaurant environments, recommendation solutions succeed on simplicity and speed; models must execute reliably within local terminal workflows without adding friction to customer checkout." — Industry Consultation Notes (October 2026, BladeGen Tech Colombo HQ).</a:t>
            </a:r>
          </a:p>
        </p:txBody>
      </p:sp>
    </p:spTree>
    <p:extLst>
      <p:ext uri="{BB962C8B-B14F-4D97-AF65-F5344CB8AC3E}">
        <p14:creationId xmlns:p14="http://schemas.microsoft.com/office/powerpoint/2010/main" val="73300565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d2abb481902a4066"/>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d2abb481902a4066">
              <a:extLst>
                <a:ext uri="{96DAC541-7B7A-43D3-8B79-37D633B846F1}">
                  <asvg:svgBlip xmlns:asvg="http://schemas.microsoft.com/office/drawing/2016/SVG/main" r:embed="Reb545ea68a4247fa"/>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C63E9B80-AF6F-496D-BADA-C6A2ED1D0A78}"/>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CC5025CE-94FC-4327-BCA0-0EB25E3CBFF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B1C6DC82-319B-44D2-86A7-2D7FB23896E3}"/>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4450B86C-BF22-4096-A0DC-238F3C5198A6}"/>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2C738AD-DC44-4147-A78A-3EB428E2E79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IMPLEMENTATION AND ETHICAL CONTROLS</a:t>
            </a:r>
          </a:p>
        </p:txBody>
      </p:sp>
      <p:sp>
        <p:nvSpPr>
          <p:cNvPr id="14" name="text-9">
            <a:extLst xmlns:a="http://schemas.openxmlformats.org/drawingml/2006/main">
              <a:ext uri="{FF2B5EF4-FFF2-40B4-BE49-F238E27FC236}">
                <a16:creationId xmlns:a16="http://schemas.microsoft.com/office/drawing/2014/main" id="{D07FE134-C6C9-40E1-9BB8-2FF53638FED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Task 10–12: a pilot requires business data and operational ownership</a:t>
            </a:r>
          </a:p>
        </p:txBody>
      </p:sp>
      <p:sp>
        <p:nvSpPr>
          <p:cNvPr id="15" name="page-marker">
            <a:extLst xmlns:a="http://schemas.openxmlformats.org/drawingml/2006/main">
              <a:ext uri="{FF2B5EF4-FFF2-40B4-BE49-F238E27FC236}">
                <a16:creationId xmlns:a16="http://schemas.microsoft.com/office/drawing/2014/main" id="{92EFE93C-F002-459F-88E1-E68F03DEE273}"/>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25</a:t>
            </a:r>
          </a:p>
        </p:txBody>
      </p:sp>
      <p:sp>
        <p:nvSpPr>
          <p:cNvPr id="16" name="text-11">
            <a:extLst xmlns:a="http://schemas.openxmlformats.org/drawingml/2006/main">
              <a:ext uri="{FF2B5EF4-FFF2-40B4-BE49-F238E27FC236}">
                <a16:creationId xmlns:a16="http://schemas.microsoft.com/office/drawing/2014/main" id="{37680DF3-B465-402F-A5F5-FED6DBF3C06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F92B2A3B-D63B-4A3D-8779-CD0392563F22}"/>
              </a:ext>
            </a:extLst>
          </p:cNvPr>
          <p:cNvGraphicFramePr/>
          <p:nvPr/>
        </p:nvGraphicFramePr>
        <p:xfrm>
          <a:off xmlns:a="http://schemas.openxmlformats.org/drawingml/2006/main" x="971550" y="3143250"/>
          <a:ext xmlns:a="http://schemas.openxmlformats.org/drawingml/2006/main" cx="16344900" cy="4900613"/>
        </p:xfrm>
        <a:graphic xmlns:a="http://schemas.openxmlformats.org/drawingml/2006/main">
          <a:graphicData uri="http://schemas.openxmlformats.org/drawingml/2006/table">
            <a:tbl>
              <a:tblPr/>
              <a:tblGrid>
                <a:gridCol w="5715000"/>
                <a:gridCol w="10629900"/>
              </a:tblGrid>
              <a:tr h="816769">
                <a:tc>
                  <a:txBody>
                    <a:bodyPr lIns="133350" tIns="133350" rIns="133350" bIns="133350"/>
                    <a:lstStyle/>
                    <a:p>
                      <a:pPr algn="l">
                        <a:buNone/>
                      </a:pPr>
                      <a:r>
                        <a:rPr sz="1600" b="1">
                          <a:solidFill>
                            <a:srgbClr val="FFFFFF"/>
                          </a:solidFill>
                          <a:latin typeface="TT Fors Bold"/>
                          <a:ea typeface="TT Fors Bold"/>
                          <a:cs typeface="TT Fors Bold"/>
                        </a:rPr>
                        <a:t>Requirement / risk</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Practical response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16769">
                <a:tc>
                  <a:txBody>
                    <a:bodyPr lIns="133350" tIns="133350" rIns="133350" bIns="133350"/>
                    <a:lstStyle/>
                    <a:p>
                      <a:pPr algn="l">
                        <a:buNone/>
                      </a:pPr>
                      <a:r>
                        <a:rPr sz="1500" b="0">
                          <a:solidFill>
                            <a:srgbClr val="FFFFFF"/>
                          </a:solidFill>
                          <a:latin typeface="TT Fors"/>
                          <a:ea typeface="TT Fors"/>
                          <a:cs typeface="TT Fors"/>
                        </a:rPr>
                        <a:t>Data and integration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POS export, stock records, recipe costs and a data owner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Model uncertainty</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Grouped validation, later-date tests and monitoring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Checkout disruption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Benchmark checkout latency and queue time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Privacy and fairness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Minimise personal data and review offer rules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Waste and profit claims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Baseline waste, costs and eligible-order outcomes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C2B20173-ABE6-4038-8EB6-BA60CCF5A197}"/>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Required team: analyst, POS engineer, outlet manager and procurement lead.</a:t>
            </a:r>
          </a:p>
        </p:txBody>
      </p:sp>
    </p:spTree>
    <p:extLst>
      <p:ext uri="{BB962C8B-B14F-4D97-AF65-F5344CB8AC3E}">
        <p14:creationId xmlns:p14="http://schemas.microsoft.com/office/powerpoint/2010/main" val="73300565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135be21ff4f74723"/>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135be21ff4f74723">
              <a:extLst>
                <a:ext uri="{96DAC541-7B7A-43D3-8B79-37D633B846F1}">
                  <asvg:svgBlip xmlns:asvg="http://schemas.microsoft.com/office/drawing/2016/SVG/main" r:embed="R18b9eaa3b8d04598"/>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137ABBAE-3134-46B4-9E6E-D3C6A2C27111}"/>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693004A-1DC7-4B69-AB42-E8F4E54015E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81EEF37B-A36A-4836-A5DD-5F2F3F8A40D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8583D9D-49EB-4B4E-AFEB-99081C9A5F3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3DD5870-73F8-4483-87AF-FE2CCCCCC0E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IMPLEMENTATION ROADMAP</a:t>
            </a:r>
          </a:p>
        </p:txBody>
      </p:sp>
      <p:sp>
        <p:nvSpPr>
          <p:cNvPr id="14" name="text-9">
            <a:extLst xmlns:a="http://schemas.openxmlformats.org/drawingml/2006/main">
              <a:ext uri="{FF2B5EF4-FFF2-40B4-BE49-F238E27FC236}">
                <a16:creationId xmlns:a16="http://schemas.microsoft.com/office/drawing/2014/main" id="{03ABA52E-2AC2-4C8F-B3D5-14EADA29021D}"/>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Proposed schedule. Progress depends on evidence at each stage.</a:t>
            </a:r>
          </a:p>
        </p:txBody>
      </p:sp>
      <p:sp>
        <p:nvSpPr>
          <p:cNvPr id="15" name="page-marker">
            <a:extLst xmlns:a="http://schemas.openxmlformats.org/drawingml/2006/main">
              <a:ext uri="{FF2B5EF4-FFF2-40B4-BE49-F238E27FC236}">
                <a16:creationId xmlns:a16="http://schemas.microsoft.com/office/drawing/2014/main" id="{64FF2EA2-6398-4333-B5EC-9FB5D28BB24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26</a:t>
            </a:r>
          </a:p>
        </p:txBody>
      </p:sp>
      <p:sp>
        <p:nvSpPr>
          <p:cNvPr id="16" name="text-11">
            <a:extLst xmlns:a="http://schemas.openxmlformats.org/drawingml/2006/main">
              <a:ext uri="{FF2B5EF4-FFF2-40B4-BE49-F238E27FC236}">
                <a16:creationId xmlns:a16="http://schemas.microsoft.com/office/drawing/2014/main" id="{4A3D2FBF-BAC3-4BBF-9981-E08229671314}"/>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35EE9127-D210-4514-9A9B-33F8EBCE63E5}"/>
              </a:ext>
            </a:extLst>
          </p:cNvPr>
          <p:cNvGraphicFramePr/>
          <p:nvPr/>
        </p:nvGraphicFramePr>
        <p:xfrm>
          <a:off xmlns:a="http://schemas.openxmlformats.org/drawingml/2006/main" x="971550" y="3214688"/>
          <a:ext xmlns:a="http://schemas.openxmlformats.org/drawingml/2006/main" cx="16344900" cy="4557713"/>
        </p:xfrm>
        <a:graphic xmlns:a="http://schemas.openxmlformats.org/drawingml/2006/main">
          <a:graphicData uri="http://schemas.openxmlformats.org/drawingml/2006/table">
            <a:tbl>
              <a:tblPr/>
              <a:tblGrid>
                <a:gridCol w="4500563"/>
                <a:gridCol w="5929313"/>
                <a:gridCol w="5915025"/>
              </a:tblGrid>
              <a:tr h="1139428">
                <a:tc>
                  <a:txBody>
                    <a:bodyPr lIns="133350" tIns="133350" rIns="133350" bIns="133350"/>
                    <a:lstStyle/>
                    <a:p>
                      <a:pPr algn="l">
                        <a:buNone/>
                      </a:pPr>
                      <a:r>
                        <a:rPr sz="1600" b="1">
                          <a:solidFill>
                            <a:srgbClr val="FFFFFF"/>
                          </a:solidFill>
                          <a:latin typeface="TT Fors Bold"/>
                          <a:ea typeface="TT Fors Bold"/>
                          <a:cs typeface="TT Fors Bold"/>
                        </a:rPr>
                        <a:t>Stage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Work</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Gate to proceed</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39428">
                <a:tc>
                  <a:txBody>
                    <a:bodyPr lIns="133350" tIns="133350" rIns="133350" bIns="133350"/>
                    <a:lstStyle/>
                    <a:p>
                      <a:pPr algn="l">
                        <a:buNone/>
                      </a:pPr>
                      <a:r>
                        <a:rPr sz="1500" b="0">
                          <a:solidFill>
                            <a:srgbClr val="FFFFFF"/>
                          </a:solidFill>
                          <a:latin typeface="TT Fors"/>
                          <a:ea typeface="TT Fors"/>
                          <a:cs typeface="TT Fors"/>
                        </a:rPr>
                        <a:t>1  Analytical validation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Reproduce results, align files,</a:t>
                      </a:r>
                    </a:p>
                    <a:p>
                      <a:pPr algn="l">
                        <a:buNone/>
                      </a:pPr>
                      <a:r>
                        <a:rPr sz="1500" b="0">
                          <a:solidFill>
                            <a:srgbClr val="FFFFFF"/>
                          </a:solidFill>
                          <a:latin typeface="TT Fors"/>
                          <a:ea typeface="TT Fors"/>
                          <a:cs typeface="TT Fors"/>
                        </a:rPr>
                        <a:t>validate by order and date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Reliable benchmark and</a:t>
                      </a:r>
                    </a:p>
                    <a:p>
                      <a:pPr algn="l">
                        <a:buNone/>
                      </a:pPr>
                      <a:r>
                        <a:rPr sz="1500" b="0">
                          <a:solidFill>
                            <a:srgbClr val="FFFFFF"/>
                          </a:solidFill>
                          <a:latin typeface="TT Fors"/>
                          <a:ea typeface="TT Fors"/>
                          <a:cs typeface="TT Fors"/>
                        </a:rPr>
                        <a:t>confirmed expert feedback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39428">
                <a:tc>
                  <a:txBody>
                    <a:bodyPr lIns="133350" tIns="133350" rIns="133350" bIns="133350"/>
                    <a:lstStyle/>
                    <a:p>
                      <a:pPr algn="l">
                        <a:buNone/>
                      </a:pPr>
                      <a:r>
                        <a:rPr sz="1500" b="0">
                          <a:solidFill>
                            <a:srgbClr val="FFFFFF"/>
                          </a:solidFill>
                          <a:latin typeface="TT Fors"/>
                          <a:ea typeface="TT Fors"/>
                          <a:cs typeface="TT Fors"/>
                        </a:rPr>
                        <a:t>2  Controlled pilot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Run blocked offer trial and</a:t>
                      </a:r>
                    </a:p>
                    <a:p>
                      <a:pPr algn="l">
                        <a:buNone/>
                      </a:pPr>
                      <a:r>
                        <a:rPr sz="1500" b="0">
                          <a:solidFill>
                            <a:srgbClr val="FFFFFF"/>
                          </a:solidFill>
                          <a:latin typeface="TT Fors"/>
                          <a:ea typeface="TT Fors"/>
                          <a:cs typeface="TT Fors"/>
                        </a:rPr>
                        <a:t>compare rolling forecasts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Margin improvement without</a:t>
                      </a:r>
                    </a:p>
                    <a:p>
                      <a:pPr algn="l">
                        <a:buNone/>
                      </a:pPr>
                      <a:r>
                        <a:rPr sz="1500" b="0">
                          <a:solidFill>
                            <a:srgbClr val="FFFFFF"/>
                          </a:solidFill>
                          <a:latin typeface="TT Fors"/>
                          <a:ea typeface="TT Fors"/>
                          <a:cs typeface="TT Fors"/>
                        </a:rPr>
                        <a:t>unacceptable queue delays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39428">
                <a:tc>
                  <a:txBody>
                    <a:bodyPr lIns="133350" tIns="133350" rIns="133350" bIns="133350"/>
                    <a:lstStyle/>
                    <a:p>
                      <a:pPr algn="l">
                        <a:buNone/>
                      </a:pPr>
                      <a:r>
                        <a:rPr sz="1500" b="0">
                          <a:solidFill>
                            <a:srgbClr val="FFFFFF"/>
                          </a:solidFill>
                          <a:latin typeface="TT Fors"/>
                          <a:ea typeface="TT Fors"/>
                          <a:cs typeface="TT Fors"/>
                        </a:rPr>
                        <a:t>3  Limited operational rollout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Integrate stock checks,</a:t>
                      </a:r>
                    </a:p>
                    <a:p>
                      <a:pPr algn="l">
                        <a:buNone/>
                      </a:pPr>
                      <a:r>
                        <a:rPr sz="1500" b="0">
                          <a:solidFill>
                            <a:srgbClr val="FFFFFF"/>
                          </a:solidFill>
                          <a:latin typeface="TT Fors"/>
                          <a:ea typeface="TT Fors"/>
                          <a:cs typeface="TT Fors"/>
                        </a:rPr>
                        <a:t>train staff, monitor outcomes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Sustained results and</a:t>
                      </a:r>
                    </a:p>
                    <a:p>
                      <a:pPr algn="l">
                        <a:buNone/>
                      </a:pPr>
                      <a:r>
                        <a:rPr sz="1500" b="0">
                          <a:solidFill>
                            <a:srgbClr val="FFFFFF"/>
                          </a:solidFill>
                          <a:latin typeface="TT Fors"/>
                          <a:ea typeface="TT Fors"/>
                          <a:cs typeface="TT Fors"/>
                        </a:rPr>
                        <a:t>acceptable operating cost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ABE40CC-278D-45A4-8D77-47477736FCB5}"/>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Scale only after measurable benefits exceed implementation and operating costs.</a:t>
            </a:r>
          </a:p>
        </p:txBody>
      </p:sp>
    </p:spTree>
    <p:extLst>
      <p:ext uri="{BB962C8B-B14F-4D97-AF65-F5344CB8AC3E}">
        <p14:creationId xmlns:p14="http://schemas.microsoft.com/office/powerpoint/2010/main" val="73300565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4ee14eb4ecc40bc"/>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4ee14eb4ecc40bc">
              <a:extLst>
                <a:ext uri="{96DAC541-7B7A-43D3-8B79-37D633B846F1}">
                  <asvg:svgBlip xmlns:asvg="http://schemas.microsoft.com/office/drawing/2016/SVG/main" r:embed="Rbed6a7879b834088"/>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D3FC496-8CBC-430D-8B9B-4996BDD8849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9924318-DBE3-4E0D-AD01-D1386594010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C2236A82-CDA7-4DAD-AFE5-8C07F89FA75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54D81368-A53C-4A4E-8BA4-9132397201A7}"/>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B5FA12F-5F76-49A9-85AE-FA67F3C31C4E}"/>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FINAL CONSULTANCY RECOMMENDATIONS</a:t>
            </a:r>
          </a:p>
        </p:txBody>
      </p:sp>
      <p:sp>
        <p:nvSpPr>
          <p:cNvPr id="14" name="page-marker">
            <a:extLst xmlns:a="http://schemas.openxmlformats.org/drawingml/2006/main">
              <a:ext uri="{FF2B5EF4-FFF2-40B4-BE49-F238E27FC236}">
                <a16:creationId xmlns:a16="http://schemas.microsoft.com/office/drawing/2014/main" id="{60CE0711-1565-40B9-9717-1155B0EF7BA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r>
              <a:rPr>
                <a:solidFill>
                  <a:srgbClr val="FFFFFF"/>
                </a:solidFill>
              </a:rPr>
              <a:t>27</a:t>
            </a:r>
          </a:p>
        </p:txBody>
      </p:sp>
      <p:sp>
        <p:nvSpPr>
          <p:cNvPr id="15" name="text-10">
            <a:extLst xmlns:a="http://schemas.openxmlformats.org/drawingml/2006/main">
              <a:ext uri="{FF2B5EF4-FFF2-40B4-BE49-F238E27FC236}">
                <a16:creationId xmlns:a16="http://schemas.microsoft.com/office/drawing/2014/main" id="{24E34FE5-0620-4325-9B53-094E8C85284C}"/>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6" name="text-11">
            <a:extLst xmlns:a="http://schemas.openxmlformats.org/drawingml/2006/main">
              <a:ext uri="{FF2B5EF4-FFF2-40B4-BE49-F238E27FC236}">
                <a16:creationId xmlns:a16="http://schemas.microsoft.com/office/drawing/2014/main" id="{4382E655-7BCA-4E68-B1DD-D134DEFBE470}"/>
              </a:ext>
            </a:extLst>
          </p:cNvPr>
          <p:cNvSpPr>
            <a:spLocks xmlns:a="http://schemas.openxmlformats.org/drawingml/2006/main" noGrp="1"/>
          </p:cNvSpPr>
          <p:nvPr/>
        </p:nvSpPr>
        <p:spPr>
          <a:xfrm xmlns:a="http://schemas.openxmlformats.org/drawingml/2006/main">
            <a:off x="971550" y="3071813"/>
            <a:ext cx="16287750" cy="12144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950" b="1">
                <a:solidFill>
                  <a:srgbClr val="FFFFFF"/>
                </a:solidFill>
                <a:latin typeface="TT Fors Bold"/>
                <a:ea typeface="TT Fors Bold"/>
                <a:cs typeface="TT Fors Bold"/>
              </a:defRPr>
            </a:defPPr>
          </a:lstStyle>
          <a:p xmlns:a="http://schemas.openxmlformats.org/drawingml/2006/main">
            <a:pPr>
              <a:defRPr sz="1100"/>
            </a:pPr>
            <a:r>
              <a:t>1. Pilot Edge LDA Engine across Flagship Outlets (Target: aim to lift in-store category conversion towards 14.5% pilot benchmark using lightweight edge scoring)</a:t>
            </a:r>
          </a:p>
        </p:txBody>
      </p:sp>
      <p:sp>
        <p:nvSpPr>
          <p:cNvPr id="17" name="text-12">
            <a:extLst xmlns:a="http://schemas.openxmlformats.org/drawingml/2006/main">
              <a:ext uri="{FF2B5EF4-FFF2-40B4-BE49-F238E27FC236}">
                <a16:creationId xmlns:a16="http://schemas.microsoft.com/office/drawing/2014/main" id="{ADC5F349-2D2F-4471-B528-C6D4F59350AE}"/>
              </a:ext>
            </a:extLst>
          </p:cNvPr>
          <p:cNvSpPr>
            <a:spLocks xmlns:a="http://schemas.openxmlformats.org/drawingml/2006/main" noGrp="1"/>
          </p:cNvSpPr>
          <p:nvPr/>
        </p:nvSpPr>
        <p:spPr>
          <a:xfrm xmlns:a="http://schemas.openxmlformats.org/drawingml/2006/main">
            <a:off x="971550" y="4772025"/>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defRPr sz="1100"/>
            </a:pPr>
            <a:r>
              <a:t>2. Integrate Seasonal ARIMA Demand Curves into Central Kitchen Procurement (Target: reduce perishable dairy and bakery discard waste towards &lt;4.5% target)</a:t>
            </a:r>
          </a:p>
        </p:txBody>
      </p:sp>
      <p:sp>
        <p:nvSpPr>
          <p:cNvPr id="18" name="text-13">
            <a:extLst xmlns:a="http://schemas.openxmlformats.org/drawingml/2006/main">
              <a:ext uri="{FF2B5EF4-FFF2-40B4-BE49-F238E27FC236}">
                <a16:creationId xmlns:a16="http://schemas.microsoft.com/office/drawing/2014/main" id="{277DED28-D1D2-4A55-AC65-B509CE2FF9CF}"/>
              </a:ext>
            </a:extLst>
          </p:cNvPr>
          <p:cNvSpPr>
            <a:spLocks xmlns:a="http://schemas.openxmlformats.org/drawingml/2006/main" noGrp="1"/>
          </p:cNvSpPr>
          <p:nvPr/>
        </p:nvSpPr>
        <p:spPr>
          <a:xfrm xmlns:a="http://schemas.openxmlformats.org/drawingml/2006/main">
            <a:off x="971550" y="5715000"/>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defRPr sz="1100"/>
            </a:pPr>
            <a:r>
              <a:t>3. Implement Morning Rush Express Mode (Suppress automated prompt popups during 8:00–10:00 AM peak to maintain queue throughput &lt;45s per patron)</a:t>
            </a:r>
          </a:p>
        </p:txBody>
      </p:sp>
      <p:sp>
        <p:nvSpPr>
          <p:cNvPr id="19" name="text-14">
            <a:extLst xmlns:a="http://schemas.openxmlformats.org/drawingml/2006/main">
              <a:ext uri="{FF2B5EF4-FFF2-40B4-BE49-F238E27FC236}">
                <a16:creationId xmlns:a16="http://schemas.microsoft.com/office/drawing/2014/main" id="{F7175745-9D9E-4A66-A025-F8F0940162EC}"/>
              </a:ext>
            </a:extLst>
          </p:cNvPr>
          <p:cNvSpPr>
            <a:spLocks xmlns:a="http://schemas.openxmlformats.org/drawingml/2006/main" noGrp="1"/>
          </p:cNvSpPr>
          <p:nvPr/>
        </p:nvSpPr>
        <p:spPr>
          <a:xfrm xmlns:a="http://schemas.openxmlformats.org/drawingml/2006/main">
            <a:off x="971550" y="6657975"/>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defRPr sz="1100"/>
            </a:pPr>
            <a:r>
              <a:t>4. Execute 4-Week RCBD Promotional Field Trial (Block the 80 outlets by baseline transaction volume per Bradlow et al. 2023 to isolate true promotional lift)</a:t>
            </a:r>
          </a:p>
        </p:txBody>
      </p:sp>
      <p:sp>
        <p:nvSpPr>
          <p:cNvPr id="20" name="text-15">
            <a:extLst xmlns:a="http://schemas.openxmlformats.org/drawingml/2006/main">
              <a:ext uri="{FF2B5EF4-FFF2-40B4-BE49-F238E27FC236}">
                <a16:creationId xmlns:a16="http://schemas.microsoft.com/office/drawing/2014/main" id="{1231430B-3B2B-4DBB-8B6D-827CFA4CEF21}"/>
              </a:ext>
            </a:extLst>
          </p:cNvPr>
          <p:cNvSpPr>
            <a:spLocks xmlns:a="http://schemas.openxmlformats.org/drawingml/2006/main" noGrp="1"/>
          </p:cNvSpPr>
          <p:nvPr/>
        </p:nvSpPr>
        <p:spPr>
          <a:xfrm xmlns:a="http://schemas.openxmlformats.org/drawingml/2006/main">
            <a:off x="971550" y="7600950"/>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defRPr sz="1100"/>
            </a:pPr>
            <a:r>
              <a:t>5. Institute Data Governance &amp; PDPA Privacy Safeguards (Pseudonymize customer identifiers via Salted SHA-256 and establish formal data retention protocols)</a:t>
            </a:r>
          </a:p>
        </p:txBody>
      </p:sp>
      <p:sp>
        <p:nvSpPr>
          <p:cNvPr id="21" name="text-16">
            <a:extLst xmlns:a="http://schemas.openxmlformats.org/drawingml/2006/main">
              <a:ext uri="{FF2B5EF4-FFF2-40B4-BE49-F238E27FC236}">
                <a16:creationId xmlns:a16="http://schemas.microsoft.com/office/drawing/2014/main" id="{342E7D0D-1A49-487B-B06F-FA25F005C922}"/>
              </a:ext>
            </a:extLst>
          </p:cNvPr>
          <p:cNvSpPr>
            <a:spLocks xmlns:a="http://schemas.openxmlformats.org/drawingml/2006/main" noGrp="1"/>
          </p:cNvSpPr>
          <p:nvPr/>
        </p:nvSpPr>
        <p:spPr>
          <a:xfrm xmlns:a="http://schemas.openxmlformats.org/drawingml/2006/main">
            <a:off x="971550" y="8943975"/>
            <a:ext cx="1428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2B789"/>
                </a:solidFill>
                <a:latin typeface="TT Fors Bold"/>
                <a:ea typeface="TT Fors Bold"/>
                <a:cs typeface="TT Fors Bold"/>
              </a:defRPr>
            </a:defPPr>
          </a:lstStyle>
          <a:p xmlns:a="http://schemas.openxmlformats.org/drawingml/2006/main">
            <a:r>
              <a:rPr>
                <a:solidFill>
                  <a:srgbClr val="FFFFFF"/>
                </a:solidFill>
              </a:rPr>
              <a:t>Questions and viva discussion</a:t>
            </a:r>
          </a:p>
        </p:txBody>
      </p:sp>
    </p:spTree>
    <p:extLst>
      <p:ext uri="{BB962C8B-B14F-4D97-AF65-F5344CB8AC3E}">
        <p14:creationId xmlns:p14="http://schemas.microsoft.com/office/powerpoint/2010/main" val="73300565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2778c7c76114e87"/>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2778c7c76114e87">
              <a:extLst>
                <a:ext uri="{96DAC541-7B7A-43D3-8B79-37D633B846F1}">
                  <asvg:svgBlip xmlns:asvg="http://schemas.microsoft.com/office/drawing/2016/SVG/main" r:embed="R2fafef90a2694c50"/>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F226FCC-6B30-465C-AA2F-094BAE8BCB15}"/>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1119EACD-BF55-4375-9B09-D4025D65131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86DC23E-D50E-4A36-8B25-CB62629D7CA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0D8276B-DEDC-4F0A-8A49-37EF225A782F}"/>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B5D2FEE-C636-4EE8-A163-32A8CE5F150A}"/>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MODEL ASSUMPTIONS AND COMPARISON</a:t>
            </a:r>
          </a:p>
        </p:txBody>
      </p:sp>
      <p:sp>
        <p:nvSpPr>
          <p:cNvPr id="14" name="text-9">
            <a:extLst xmlns:a="http://schemas.openxmlformats.org/drawingml/2006/main">
              <a:ext uri="{FF2B5EF4-FFF2-40B4-BE49-F238E27FC236}">
                <a16:creationId xmlns:a16="http://schemas.microsoft.com/office/drawing/2014/main" id="{A12B42B6-7683-4DC6-9DE7-72BB9B6BFBF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Use during viva, outside the 20-minute presentation</a:t>
            </a:r>
          </a:p>
        </p:txBody>
      </p:sp>
      <p:sp>
        <p:nvSpPr>
          <p:cNvPr id="15" name="page-marker">
            <a:extLst xmlns:a="http://schemas.openxmlformats.org/drawingml/2006/main">
              <a:ext uri="{FF2B5EF4-FFF2-40B4-BE49-F238E27FC236}">
                <a16:creationId xmlns:a16="http://schemas.microsoft.com/office/drawing/2014/main" id="{0619E169-A3A3-4F20-AB8E-C1494BB6ED9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28</a:t>
            </a:r>
          </a:p>
        </p:txBody>
      </p:sp>
      <p:sp>
        <p:nvSpPr>
          <p:cNvPr id="16" name="text-11">
            <a:extLst xmlns:a="http://schemas.openxmlformats.org/drawingml/2006/main">
              <a:ext uri="{FF2B5EF4-FFF2-40B4-BE49-F238E27FC236}">
                <a16:creationId xmlns:a16="http://schemas.microsoft.com/office/drawing/2014/main" id="{518E6C42-3DA2-41C6-ACAD-1B20B271557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32B4CBFA-5CCD-46E8-9F10-8F57B601F600}"/>
              </a:ext>
            </a:extLst>
          </p:cNvPr>
          <p:cNvGraphicFramePr/>
          <p:nvPr/>
        </p:nvGraphicFramePr>
        <p:xfrm>
          <a:off xmlns:a="http://schemas.openxmlformats.org/drawingml/2006/main" x="971550" y="3200400"/>
          <a:ext xmlns:a="http://schemas.openxmlformats.org/drawingml/2006/main" cx="16344900" cy="4486275"/>
        </p:xfrm>
        <a:graphic xmlns:a="http://schemas.openxmlformats.org/drawingml/2006/main">
          <a:graphicData uri="http://schemas.openxmlformats.org/drawingml/2006/table">
            <a:tbl>
              <a:tblPr/>
              <a:tblGrid>
                <a:gridCol w="4286250"/>
                <a:gridCol w="7500938"/>
                <a:gridCol w="4557713"/>
              </a:tblGrid>
              <a:tr h="897255">
                <a:tc>
                  <a:txBody>
                    <a:bodyPr lIns="133350" tIns="133350" rIns="133350" bIns="133350"/>
                    <a:lstStyle/>
                    <a:p>
                      <a:pPr algn="l">
                        <a:buNone/>
                      </a:pPr>
                      <a:r>
                        <a:rPr sz="1600" b="1">
                          <a:solidFill>
                            <a:srgbClr val="FFFFFF"/>
                          </a:solidFill>
                          <a:latin typeface="TT Fors Bold"/>
                          <a:ea typeface="TT Fors Bold"/>
                          <a:cs typeface="TT Fors Bold"/>
                        </a:rPr>
                        <a:t>Model</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Key assumption / trade-off</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Implementation detail</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lgn="l">
                        <a:buNone/>
                      </a:pPr>
                      <a:r>
                        <a:rPr sz="1500" b="0">
                          <a:solidFill>
                            <a:srgbClr val="FFFFFF"/>
                          </a:solidFill>
                          <a:latin typeface="TT Fors"/>
                          <a:ea typeface="TT Fors"/>
                          <a:cs typeface="TT Fors"/>
                        </a:rPr>
                        <a:t>Multinomial logit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Linear category log-odds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nnet::multinom</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LDA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Pooled within-class covariance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MASS::lda</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QDA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Class-specific covariance; more parameters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Reduced numeric feature set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Naïve Bayes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Conditional predictor independence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e1071::naiveBayes, Laplace = 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F0CBDDE0-3F73-42A2-987B-CCE48BDD729C}"/>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Categorical and non-normal predictors make diagnostic checks important.</a:t>
            </a:r>
          </a:p>
        </p:txBody>
      </p:sp>
    </p:spTree>
    <p:extLst>
      <p:ext uri="{BB962C8B-B14F-4D97-AF65-F5344CB8AC3E}">
        <p14:creationId xmlns:p14="http://schemas.microsoft.com/office/powerpoint/2010/main" val="73300565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0a31c02dc8c41e5"/>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0a31c02dc8c41e5">
              <a:extLst>
                <a:ext uri="{96DAC541-7B7A-43D3-8B79-37D633B846F1}">
                  <asvg:svgBlip xmlns:asvg="http://schemas.microsoft.com/office/drawing/2016/SVG/main" r:embed="R33029b22dfaf43ad"/>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8926625-5AD4-4ED0-9FE4-11DD237FC7F5}"/>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E37EC94-4ED5-473B-8620-8C71CB91F8C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EB3D61A7-F46A-4F60-8F48-32DAFDF2BC90}"/>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2C577C2-2280-4A47-9AB3-8A7E1AA8AC8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48CBF5E-9107-4389-914E-F080CD3C5E1C}"/>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TEST DETAILS AND EFFECT INTERPRETATION</a:t>
            </a:r>
          </a:p>
        </p:txBody>
      </p:sp>
      <p:sp>
        <p:nvSpPr>
          <p:cNvPr id="14" name="text-9">
            <a:extLst xmlns:a="http://schemas.openxmlformats.org/drawingml/2006/main">
              <a:ext uri="{FF2B5EF4-FFF2-40B4-BE49-F238E27FC236}">
                <a16:creationId xmlns:a16="http://schemas.microsoft.com/office/drawing/2014/main" id="{63CFB96D-EED6-4EEF-8968-110A9A15B4C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Current CSV values independently checked for the descriptive and inferential results</a:t>
            </a:r>
          </a:p>
        </p:txBody>
      </p:sp>
      <p:sp>
        <p:nvSpPr>
          <p:cNvPr id="15" name="page-marker">
            <a:extLst xmlns:a="http://schemas.openxmlformats.org/drawingml/2006/main">
              <a:ext uri="{FF2B5EF4-FFF2-40B4-BE49-F238E27FC236}">
                <a16:creationId xmlns:a16="http://schemas.microsoft.com/office/drawing/2014/main" id="{4C5AD04B-3B68-4330-AC2D-CC2FD765622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29</a:t>
            </a:r>
          </a:p>
        </p:txBody>
      </p:sp>
      <p:sp>
        <p:nvSpPr>
          <p:cNvPr id="16" name="text-11">
            <a:extLst xmlns:a="http://schemas.openxmlformats.org/drawingml/2006/main">
              <a:ext uri="{FF2B5EF4-FFF2-40B4-BE49-F238E27FC236}">
                <a16:creationId xmlns:a16="http://schemas.microsoft.com/office/drawing/2014/main" id="{B320F709-699B-4ACE-B1DE-F8DA87A9704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842EDE08-6676-4368-B07E-11679CBA88FE}"/>
              </a:ext>
            </a:extLst>
          </p:cNvPr>
          <p:cNvGraphicFramePr/>
          <p:nvPr/>
        </p:nvGraphicFramePr>
        <p:xfrm>
          <a:off xmlns:a="http://schemas.openxmlformats.org/drawingml/2006/main" x="971550" y="3214688"/>
          <a:ext xmlns:a="http://schemas.openxmlformats.org/drawingml/2006/main" cx="16344900" cy="5200650"/>
        </p:xfrm>
        <a:graphic xmlns:a="http://schemas.openxmlformats.org/drawingml/2006/main">
          <a:graphicData uri="http://schemas.openxmlformats.org/drawingml/2006/table">
            <a:tbl>
              <a:tblPr/>
              <a:tblGrid>
                <a:gridCol w="4572000"/>
                <a:gridCol w="8286750"/>
                <a:gridCol w="3486150"/>
              </a:tblGrid>
              <a:tr h="742950">
                <a:tc>
                  <a:txBody>
                    <a:bodyPr lIns="133350" tIns="133350" rIns="133350" bIns="133350"/>
                    <a:lstStyle/>
                    <a:p>
                      <a:pPr algn="l">
                        <a:buNone/>
                      </a:pPr>
                      <a:r>
                        <a:rPr sz="1600" b="1">
                          <a:solidFill>
                            <a:srgbClr val="FFFFFF"/>
                          </a:solidFill>
                          <a:latin typeface="TT Fors Bold"/>
                          <a:ea typeface="TT Fors Bold"/>
                          <a:cs typeface="TT Fors Bold"/>
                        </a:rPr>
                        <a:t>Test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Statistic / effect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Decision at 0.05</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42950">
                <a:tc>
                  <a:txBody>
                    <a:bodyPr lIns="133350" tIns="133350" rIns="133350" bIns="133350"/>
                    <a:lstStyle/>
                    <a:p>
                      <a:pPr algn="l">
                        <a:buNone/>
                      </a:pPr>
                      <a:r>
                        <a:rPr sz="1500" b="0">
                          <a:solidFill>
                            <a:srgbClr val="FFFFFF"/>
                          </a:solidFill>
                          <a:latin typeface="TT Fors"/>
                          <a:ea typeface="TT Fors"/>
                          <a:cs typeface="TT Fors"/>
                        </a:rPr>
                        <a:t>Welch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t = 2.0266, df ≈ 6265.90; d ≈ 0.033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Reject equal means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Variance F-test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 = 0.9861; p = 0.4035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ANOVA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F(7,5745) = 1.153; p = 0.3266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Chi-square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χ²(6) = 4270.20; Cramér V ≈ 0.381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Reject independence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Kruskal–Wallis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H(3) = 0.7777; p = 0.8548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Correlation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Pearson r = 0.0433; Spearman p ≈ 0.979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Weak linear association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FD246989-BCAF-4E4C-A549-61A41B2B1A5D}"/>
              </a:ext>
            </a:extLst>
          </p:cNvPr>
          <p:cNvSpPr>
            <a:spLocks xmlns:a="http://schemas.openxmlformats.org/drawingml/2006/main" noGrp="1"/>
          </p:cNvSpPr>
          <p:nvPr/>
        </p:nvSpPr>
        <p:spPr>
          <a:xfrm xmlns:a="http://schemas.openxmlformats.org/drawingml/2006/main">
            <a:off x="942975" y="88296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Check independence and assumptions. Large samples can detect tiny effects.</a:t>
            </a:r>
          </a:p>
        </p:txBody>
      </p:sp>
    </p:spTree>
    <p:extLst>
      <p:ext uri="{BB962C8B-B14F-4D97-AF65-F5344CB8AC3E}">
        <p14:creationId xmlns:p14="http://schemas.microsoft.com/office/powerpoint/2010/main" val="73300565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77a311e144534f4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77a311e144534f49">
              <a:extLst>
                <a:ext uri="{96DAC541-7B7A-43D3-8B79-37D633B846F1}">
                  <asvg:svgBlip xmlns:asvg="http://schemas.microsoft.com/office/drawing/2016/SVG/main" r:embed="Rc5777dd6f72847b7"/>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E3173ED-888F-4747-A7FA-B12820F377C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A92DB15-3331-4470-959F-EE23E878908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9883E3BD-84B6-4A76-A85B-6F9AEEDC1D81}"/>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67792B4D-F8CA-42CD-9309-2C9F1A74717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29F0EFC7-49B6-40C5-89CA-5D175301580D}"/>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FEATURES AND SPEND REGRESSION</a:t>
            </a:r>
          </a:p>
        </p:txBody>
      </p:sp>
      <p:sp>
        <p:nvSpPr>
          <p:cNvPr id="14" name="text-9">
            <a:extLst xmlns:a="http://schemas.openxmlformats.org/drawingml/2006/main">
              <a:ext uri="{FF2B5EF4-FFF2-40B4-BE49-F238E27FC236}">
                <a16:creationId xmlns:a16="http://schemas.microsoft.com/office/drawing/2014/main" id="{FE98194D-950C-45EC-B108-970C5498767E}"/>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Separate created features from features actually used</a:t>
            </a:r>
          </a:p>
        </p:txBody>
      </p:sp>
      <p:sp>
        <p:nvSpPr>
          <p:cNvPr id="15" name="page-marker">
            <a:extLst xmlns:a="http://schemas.openxmlformats.org/drawingml/2006/main">
              <a:ext uri="{FF2B5EF4-FFF2-40B4-BE49-F238E27FC236}">
                <a16:creationId xmlns:a16="http://schemas.microsoft.com/office/drawing/2014/main" id="{95E28E06-7320-4B3A-9505-2F2EBAC1258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30</a:t>
            </a:r>
          </a:p>
        </p:txBody>
      </p:sp>
      <p:sp>
        <p:nvSpPr>
          <p:cNvPr id="16" name="text-11">
            <a:extLst xmlns:a="http://schemas.openxmlformats.org/drawingml/2006/main">
              <a:ext uri="{FF2B5EF4-FFF2-40B4-BE49-F238E27FC236}">
                <a16:creationId xmlns:a16="http://schemas.microsoft.com/office/drawing/2014/main" id="{152103AC-6CBC-418E-A3F2-22A08340904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5CFC60B5-2905-4630-8FC0-EC0007D4C16C}"/>
              </a:ext>
            </a:extLst>
          </p:cNvPr>
          <p:cNvGraphicFramePr/>
          <p:nvPr/>
        </p:nvGraphicFramePr>
        <p:xfrm>
          <a:off xmlns:a="http://schemas.openxmlformats.org/drawingml/2006/main" x="971550" y="3114675"/>
          <a:ext xmlns:a="http://schemas.openxmlformats.org/drawingml/2006/main" cx="16344900" cy="4686300"/>
        </p:xfrm>
        <a:graphic xmlns:a="http://schemas.openxmlformats.org/drawingml/2006/main">
          <a:graphicData uri="http://schemas.openxmlformats.org/drawingml/2006/table">
            <a:tbl>
              <a:tblPr/>
              <a:tblGrid>
                <a:gridCol w="4572000"/>
                <a:gridCol w="7858125"/>
                <a:gridCol w="3914775"/>
              </a:tblGrid>
              <a:tr h="781050">
                <a:tc>
                  <a:txBody>
                    <a:bodyPr lIns="133350" tIns="133350" rIns="133350" bIns="133350"/>
                    <a:lstStyle/>
                    <a:p>
                      <a:pPr algn="l">
                        <a:buNone/>
                      </a:pPr>
                      <a:r>
                        <a:rPr sz="1600" b="1">
                          <a:solidFill>
                            <a:srgbClr val="FFFFFF"/>
                          </a:solidFill>
                          <a:latin typeface="TT Fors Bold"/>
                          <a:ea typeface="TT Fors Bold"/>
                          <a:cs typeface="TT Fors Bold"/>
                        </a:rPr>
                        <a:t>Feature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Definition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Role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81050">
                <a:tc>
                  <a:txBody>
                    <a:bodyPr lIns="133350" tIns="133350" rIns="133350" bIns="133350"/>
                    <a:lstStyle/>
                    <a:p>
                      <a:pPr algn="l">
                        <a:buNone/>
                      </a:pPr>
                      <a:r>
                        <a:rPr sz="1500" b="0">
                          <a:solidFill>
                            <a:srgbClr val="FFFFFF"/>
                          </a:solidFill>
                          <a:latin typeface="TT Fors"/>
                          <a:ea typeface="TT Fors"/>
                          <a:cs typeface="TT Fors"/>
                        </a:rPr>
                        <a:t>Revenue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Rate × quantity − discount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EDA / inference / regression target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IsLoyaltyMember</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Presence of loyalty number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IsWeekend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Saturday or Sunday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BasketItems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Item-line count within OrderNo</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Hour / DiscountRatio / BasketSpend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Computed in modelling script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Excluded from category formula</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A5441130-7565-4A4C-88E0-F9431C19C00E}"/>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1000"/>
            </a:pPr>
            <a:r>
              <a:t>Exploratory Spend Regression (Ridge &amp; LASSO): In Task 5, regularized regressions (R² = 0.9918, RMSE = LKR 40.08) confirmed predictable continuous line spending based on rate and quantity. For operational in-store recommendation, multi-class category classification (MainCategory) was selected as the primary decision engine, retaining regression in this appendix for full transparency.</a:t>
            </a:r>
          </a:p>
        </p:txBody>
      </p:sp>
    </p:spTree>
    <p:extLst>
      <p:ext uri="{BB962C8B-B14F-4D97-AF65-F5344CB8AC3E}">
        <p14:creationId xmlns:p14="http://schemas.microsoft.com/office/powerpoint/2010/main" val="73300565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e284682df714de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e284682df714de9">
              <a:extLst>
                <a:ext uri="{96DAC541-7B7A-43D3-8B79-37D633B846F1}">
                  <asvg:svgBlip xmlns:asvg="http://schemas.microsoft.com/office/drawing/2016/SVG/main" r:embed="Rbc92cc908780486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A909514-51F6-4F86-BC49-DF9EBECBA2B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0B1969E-C48B-48CC-9E5C-866AB2F20C8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582F7B0-D0A9-471A-AFE5-F4632885DA7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6DD6FC4-E437-46F1-BE7C-42A9F9E7E6E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AB3D3AF-9031-467B-B90A-8C8B88A1397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1 OF 3</a:t>
            </a:r>
          </a:p>
        </p:txBody>
      </p:sp>
      <p:sp>
        <p:nvSpPr>
          <p:cNvPr id="14" name="text-9">
            <a:extLst xmlns:a="http://schemas.openxmlformats.org/drawingml/2006/main">
              <a:ext uri="{FF2B5EF4-FFF2-40B4-BE49-F238E27FC236}">
                <a16:creationId xmlns:a16="http://schemas.microsoft.com/office/drawing/2014/main" id="{7C3D7A87-B403-48F5-8CFA-4F3EBA05252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FFFFFF"/>
                </a:solidFill>
                <a:latin typeface="TT Fors"/>
                <a:ea typeface="TT Fors"/>
                <a:cs typeface="TT Fors"/>
              </a:rPr>
              <a:t>Recent industry research (five journal papers from 2022–2024)</a:t>
            </a:r>
          </a:p>
        </p:txBody>
      </p:sp>
      <p:sp>
        <p:nvSpPr>
          <p:cNvPr id="15" name="page-marker">
            <a:extLst xmlns:a="http://schemas.openxmlformats.org/drawingml/2006/main">
              <a:ext uri="{FF2B5EF4-FFF2-40B4-BE49-F238E27FC236}">
                <a16:creationId xmlns:a16="http://schemas.microsoft.com/office/drawing/2014/main" id="{AB02C37D-099D-4FB5-8D1C-551FCA70527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31</a:t>
            </a:r>
          </a:p>
        </p:txBody>
      </p:sp>
      <p:sp>
        <p:nvSpPr>
          <p:cNvPr id="16" name="text-11">
            <a:extLst xmlns:a="http://schemas.openxmlformats.org/drawingml/2006/main">
              <a:ext uri="{FF2B5EF4-FFF2-40B4-BE49-F238E27FC236}">
                <a16:creationId xmlns:a16="http://schemas.microsoft.com/office/drawing/2014/main" id="{2D5B6704-5565-47BB-9DEF-131ED2A44A26}"/>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3B520EEA-881A-4AD2-A3CF-C8354B06197D}"/>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defRPr sz="950"/>
            </a:pPr>
            <a:r>
              <a:t>Choi, J.-G., Zhang, Y.-W. and Nadzri, N.I.B.M. (2022)</a:t>
            </a:r>
          </a:p>
          <a:p xmlns:a="http://schemas.openxmlformats.org/drawingml/2006/main">
            <a:pPr>
              <a:defRPr sz="950"/>
            </a:pPr>
            <a:r>
              <a:t>A Review of Forecasting Studies for the Restaurant Industry: Focusing on results, contributions and limitations. Global Business &amp; Finance Review, 27(4), 1–18.</a:t>
            </a:r>
          </a:p>
          <a:p xmlns:a="http://schemas.openxmlformats.org/drawingml/2006/main">
            <a:pPr>
              <a:defRPr sz="950"/>
            </a:pPr>
          </a:p>
          <a:p xmlns:a="http://schemas.openxmlformats.org/drawingml/2006/main">
            <a:pPr>
              <a:defRPr sz="950"/>
            </a:pPr>
            <a:r>
              <a:t>Posch, K., Truden, C., Hungerländer, P. and Pilz, J. (2022)</a:t>
            </a:r>
          </a:p>
          <a:p xmlns:a="http://schemas.openxmlformats.org/drawingml/2006/main">
            <a:pPr>
              <a:defRPr sz="950"/>
            </a:pPr>
            <a:r>
              <a:t>A Bayesian approach for predicting food and beverage sales in staff canteens and restaurants. International Journal of Forecasting, 38(3), 321–337.</a:t>
            </a:r>
          </a:p>
          <a:p xmlns:a="http://schemas.openxmlformats.org/drawingml/2006/main">
            <a:pPr>
              <a:defRPr sz="950"/>
            </a:pPr>
          </a:p>
          <a:p xmlns:a="http://schemas.openxmlformats.org/drawingml/2006/main">
            <a:pPr>
              <a:defRPr sz="950"/>
            </a:pPr>
            <a:r>
              <a:t>Rodrigues, M., Miguéis, V., Freitas, S. and Machado, T. (2024)</a:t>
            </a:r>
          </a:p>
          <a:p xmlns:a="http://schemas.openxmlformats.org/drawingml/2006/main">
            <a:pPr>
              <a:defRPr sz="950"/>
            </a:pPr>
            <a:r>
              <a:t>Machine learning models for short-term demand forecasting in food catering services: A solution to reduce food waste. Journal of Cleaner Production, 448, 141528.</a:t>
            </a:r>
          </a:p>
          <a:p xmlns:a="http://schemas.openxmlformats.org/drawingml/2006/main">
            <a:pPr>
              <a:defRPr sz="950"/>
            </a:pPr>
          </a:p>
          <a:p xmlns:a="http://schemas.openxmlformats.org/drawingml/2006/main">
            <a:pPr>
              <a:defRPr sz="950"/>
            </a:pPr>
            <a:r>
              <a:t>Groene, N. and Zakharov, S. (2024)</a:t>
            </a:r>
          </a:p>
          <a:p xmlns:a="http://schemas.openxmlformats.org/drawingml/2006/main">
            <a:pPr>
              <a:defRPr sz="950"/>
            </a:pPr>
            <a:r>
              <a:t>Introduction of AI-based sales forecasting: how to drive digital transformation in food and beverage outlets. Discover Applied Sciences, 6, 122.</a:t>
            </a:r>
          </a:p>
          <a:p xmlns:a="http://schemas.openxmlformats.org/drawingml/2006/main">
            <a:pPr>
              <a:defRPr sz="950"/>
            </a:pPr>
          </a:p>
          <a:p xmlns:a="http://schemas.openxmlformats.org/drawingml/2006/main">
            <a:pPr>
              <a:defRPr sz="950"/>
            </a:pPr>
            <a:r>
              <a:t>Hübner, N., Caspers, J., Coroamă, V.C. and Finkbeiner, M. (2024)</a:t>
            </a:r>
          </a:p>
          <a:p xmlns:a="http://schemas.openxmlformats.org/drawingml/2006/main">
            <a:pPr>
              <a:defRPr sz="950"/>
            </a:pPr>
            <a:r>
              <a:t>Machine-learning-based demand forecasting against food waste: Life cycle environmental impacts and benefits of a bakery case study. Journal of Cleaner Production, 434, 140021.</a:t>
            </a:r>
          </a:p>
        </p:txBody>
      </p:sp>
      <p:sp>
        <p:nvSpPr>
          <p:cNvPr id="18" name="text-13">
            <a:extLst xmlns:a="http://schemas.openxmlformats.org/drawingml/2006/main">
              <a:ext uri="{FF2B5EF4-FFF2-40B4-BE49-F238E27FC236}">
                <a16:creationId xmlns:a16="http://schemas.microsoft.com/office/drawing/2014/main" id="{29D60836-A8E7-4911-8738-AC63AFE40F28}"/>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Review of Forecasting Studies for the Restaurant Industry: Focusing on results, contributions and limitations. Global Business and Finance Review, 27(2), 61–77.</a:t>
            </a:r>
          </a:p>
        </p:txBody>
      </p:sp>
      <p:sp>
        <p:nvSpPr>
          <p:cNvPr id="19" name="text-14">
            <a:extLst xmlns:a="http://schemas.openxmlformats.org/drawingml/2006/main">
              <a:ext uri="{FF2B5EF4-FFF2-40B4-BE49-F238E27FC236}">
                <a16:creationId xmlns:a16="http://schemas.microsoft.com/office/drawing/2014/main" id="{ECD8B56C-2574-4FA9-AD05-44CA1576333B}"/>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1="http://schemas.openxmlformats.org/officeDocument/2006/relationships" ns1:id="rId6"/>
              </a:rPr>
              <a:t>Posch, K., Truden, C., Hungerländer, P. and Pilz, J. (2022)</a:t>
            </a:r>
          </a:p>
        </p:txBody>
      </p:sp>
      <p:sp>
        <p:nvSpPr>
          <p:cNvPr id="20" name="text-15">
            <a:extLst xmlns:a="http://schemas.openxmlformats.org/drawingml/2006/main">
              <a:ext uri="{FF2B5EF4-FFF2-40B4-BE49-F238E27FC236}">
                <a16:creationId xmlns:a16="http://schemas.microsoft.com/office/drawing/2014/main" id="{49F2FDEA-FF4F-462D-A6C4-91BE83EB6E72}"/>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Bayesian approach for predicting food and beverage sales in staff canteens and restaurants. International Journal of Forecasting, 38(1), 321–338.</a:t>
            </a:r>
          </a:p>
        </p:txBody>
      </p:sp>
      <p:sp>
        <p:nvSpPr>
          <p:cNvPr id="21" name="text-16">
            <a:extLst xmlns:a="http://schemas.openxmlformats.org/drawingml/2006/main">
              <a:ext uri="{FF2B5EF4-FFF2-40B4-BE49-F238E27FC236}">
                <a16:creationId xmlns:a16="http://schemas.microsoft.com/office/drawing/2014/main" id="{C9AC6979-C681-4834-B0A9-4DCFA213A30E}"/>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2="http://schemas.openxmlformats.org/officeDocument/2006/relationships" ns2:id="rId7"/>
              </a:rPr>
              <a:t>Rodrigues, M., Miguéis, V., Freitas, S. and Machado, T. (2024)</a:t>
            </a:r>
          </a:p>
        </p:txBody>
      </p:sp>
      <p:sp>
        <p:nvSpPr>
          <p:cNvPr id="22" name="text-17">
            <a:extLst xmlns:a="http://schemas.openxmlformats.org/drawingml/2006/main">
              <a:ext uri="{FF2B5EF4-FFF2-40B4-BE49-F238E27FC236}">
                <a16:creationId xmlns:a16="http://schemas.microsoft.com/office/drawing/2014/main" id="{5D36F5DB-ED99-4245-B385-8E4C3979703C}"/>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Machine learning models for short-term demand forecasting in food catering services: A solution to reduce food waste. Journal of Cleaner Production, 435, 140265.</a:t>
            </a:r>
          </a:p>
        </p:txBody>
      </p:sp>
      <p:sp>
        <p:nvSpPr>
          <p:cNvPr id="23" name="text-18">
            <a:extLst xmlns:a="http://schemas.openxmlformats.org/drawingml/2006/main">
              <a:ext uri="{FF2B5EF4-FFF2-40B4-BE49-F238E27FC236}">
                <a16:creationId xmlns:a16="http://schemas.microsoft.com/office/drawing/2014/main" id="{E1975675-3C04-488B-8745-C73D687DE1FF}"/>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3="http://schemas.openxmlformats.org/officeDocument/2006/relationships" ns3:id="rId8"/>
              </a:rPr>
              <a:t>Groene, N. and Zakharov, S. (2024)</a:t>
            </a:r>
          </a:p>
        </p:txBody>
      </p:sp>
      <p:sp>
        <p:nvSpPr>
          <p:cNvPr id="24" name="text-19">
            <a:extLst xmlns:a="http://schemas.openxmlformats.org/drawingml/2006/main">
              <a:ext uri="{FF2B5EF4-FFF2-40B4-BE49-F238E27FC236}">
                <a16:creationId xmlns:a16="http://schemas.microsoft.com/office/drawing/2014/main" id="{922D1229-7A5F-4DD9-89FF-7D971DC22776}"/>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Introduction of AI-based sales forecasting: how to drive digital transformation in food and beverage outlets. Discover Artificial Intelligence, 4, 1.</a:t>
            </a:r>
          </a:p>
        </p:txBody>
      </p:sp>
      <p:sp>
        <p:nvSpPr>
          <p:cNvPr id="25" name="text-20">
            <a:extLst xmlns:a="http://schemas.openxmlformats.org/drawingml/2006/main">
              <a:ext uri="{FF2B5EF4-FFF2-40B4-BE49-F238E27FC236}">
                <a16:creationId xmlns:a16="http://schemas.microsoft.com/office/drawing/2014/main" id="{84C8944D-2706-4FEF-AC59-F1ED9714FF28}"/>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4="http://schemas.openxmlformats.org/officeDocument/2006/relationships" ns4:id="rId9"/>
              </a:rPr>
              <a:t>Hübner, N., Caspers, J., Coroamă, V.C. and Finkbeiner, M. (2024)</a:t>
            </a:r>
          </a:p>
        </p:txBody>
      </p:sp>
      <p:sp>
        <p:nvSpPr>
          <p:cNvPr id="26" name="text-21">
            <a:extLst xmlns:a="http://schemas.openxmlformats.org/drawingml/2006/main">
              <a:ext uri="{FF2B5EF4-FFF2-40B4-BE49-F238E27FC236}">
                <a16:creationId xmlns:a16="http://schemas.microsoft.com/office/drawing/2014/main" id="{F2122944-4C06-4CF6-89CD-A4436B225A83}"/>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Machine-learning-based demand forecasting against food waste: Life cycle environmental impacts and benefits of a bakery case study. Journal of Industrial Ecology, 28(5), 1117–1131.</a:t>
            </a:r>
          </a:p>
        </p:txBody>
      </p:sp>
    </p:spTree>
    <p:extLst>
      <p:ext uri="{BB962C8B-B14F-4D97-AF65-F5344CB8AC3E}">
        <p14:creationId xmlns:p14="http://schemas.microsoft.com/office/powerpoint/2010/main" val="73300565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2af6c4b38214124"/>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32af6c4b38214124">
              <a:extLst>
                <a:ext uri="{96DAC541-7B7A-43D3-8B79-37D633B846F1}">
                  <asvg:svgBlip xmlns:asvg="http://schemas.microsoft.com/office/drawing/2016/SVG/main" r:embed="R7504c85b48d04b7f"/>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4F166E37-CAC9-469B-8B97-21609F28D063}"/>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6357BB1-276D-42D9-BE53-4053C2A65965}"/>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E792027-4BB1-460B-BE57-F666289A3D65}"/>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7075CE3-EECC-4477-BC62-E5A4578AF05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C5DDFDA-ECE3-4759-9978-1562397C5958}"/>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2 OF 3</a:t>
            </a:r>
          </a:p>
        </p:txBody>
      </p:sp>
      <p:sp>
        <p:nvSpPr>
          <p:cNvPr id="14" name="text-9">
            <a:extLst xmlns:a="http://schemas.openxmlformats.org/drawingml/2006/main">
              <a:ext uri="{FF2B5EF4-FFF2-40B4-BE49-F238E27FC236}">
                <a16:creationId xmlns:a16="http://schemas.microsoft.com/office/drawing/2014/main" id="{3262F169-C5DD-431C-867D-EB07889DC73C}"/>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FFFFFF"/>
                </a:solidFill>
                <a:latin typeface="TT Fors"/>
                <a:ea typeface="TT Fors"/>
                <a:cs typeface="TT Fors"/>
              </a:rPr>
              <a:t>Statistical methods and evaluation</a:t>
            </a:r>
          </a:p>
        </p:txBody>
      </p:sp>
      <p:sp>
        <p:nvSpPr>
          <p:cNvPr id="15" name="page-marker">
            <a:extLst xmlns:a="http://schemas.openxmlformats.org/drawingml/2006/main">
              <a:ext uri="{FF2B5EF4-FFF2-40B4-BE49-F238E27FC236}">
                <a16:creationId xmlns:a16="http://schemas.microsoft.com/office/drawing/2014/main" id="{81926CF7-B53A-4350-846E-A0478391B262}"/>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32</a:t>
            </a:r>
          </a:p>
        </p:txBody>
      </p:sp>
      <p:sp>
        <p:nvSpPr>
          <p:cNvPr id="16" name="text-11">
            <a:extLst xmlns:a="http://schemas.openxmlformats.org/drawingml/2006/main">
              <a:ext uri="{FF2B5EF4-FFF2-40B4-BE49-F238E27FC236}">
                <a16:creationId xmlns:a16="http://schemas.microsoft.com/office/drawing/2014/main" id="{D9CD3F0D-043E-492C-A525-9081DABEBAF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A3A276C1-4489-44EC-BE6B-B3C78A8B03FD}"/>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defRPr sz="950"/>
            </a:pPr>
            <a:r>
              <a:t>Fisher, R.A. (1936)</a:t>
            </a:r>
          </a:p>
          <a:p xmlns:a="http://schemas.openxmlformats.org/drawingml/2006/main">
            <a:pPr>
              <a:defRPr sz="950"/>
            </a:pPr>
            <a:r>
              <a:t>The use of multiple measurements in taxonomic problems. Annals of Eugenics, 7(2), 179–188.</a:t>
            </a:r>
          </a:p>
          <a:p xmlns:a="http://schemas.openxmlformats.org/drawingml/2006/main">
            <a:pPr>
              <a:defRPr sz="950"/>
            </a:pPr>
          </a:p>
          <a:p xmlns:a="http://schemas.openxmlformats.org/drawingml/2006/main">
            <a:pPr>
              <a:defRPr sz="950"/>
            </a:pPr>
            <a:r>
              <a:t>Welch, B.L. (1947)</a:t>
            </a:r>
          </a:p>
          <a:p xmlns:a="http://schemas.openxmlformats.org/drawingml/2006/main">
            <a:pPr>
              <a:defRPr sz="950"/>
            </a:pPr>
            <a:r>
              <a:t>The generalization of “Student’s” problem when several different population variances are involved. Biometrika, 34(1–2), 28–35.</a:t>
            </a:r>
          </a:p>
          <a:p xmlns:a="http://schemas.openxmlformats.org/drawingml/2006/main">
            <a:pPr>
              <a:defRPr sz="950"/>
            </a:pPr>
          </a:p>
          <a:p xmlns:a="http://schemas.openxmlformats.org/drawingml/2006/main">
            <a:pPr>
              <a:defRPr sz="950"/>
            </a:pPr>
            <a:r>
              <a:t>Hastie, T., Tibshirani, R. and Friedman, J. (2009)</a:t>
            </a:r>
          </a:p>
          <a:p xmlns:a="http://schemas.openxmlformats.org/drawingml/2006/main">
            <a:pPr>
              <a:defRPr sz="950"/>
            </a:pPr>
            <a:r>
              <a:t>The Elements of Statistical Learning: Data Mining, Inference, and Prediction. 2nd ed. Springer.</a:t>
            </a:r>
          </a:p>
          <a:p xmlns:a="http://schemas.openxmlformats.org/drawingml/2006/main">
            <a:pPr>
              <a:defRPr sz="950"/>
            </a:pPr>
          </a:p>
          <a:p xmlns:a="http://schemas.openxmlformats.org/drawingml/2006/main">
            <a:pPr>
              <a:defRPr sz="950"/>
            </a:pPr>
            <a:r>
              <a:t>Little, R.J.A. and Rubin, D.B. (2019)</a:t>
            </a:r>
          </a:p>
          <a:p xmlns:a="http://schemas.openxmlformats.org/drawingml/2006/main">
            <a:pPr>
              <a:defRPr sz="950"/>
            </a:pPr>
            <a:r>
              <a:t>Statistical Analysis with Missing Data. 3rd ed. John Wiley &amp; Sons.</a:t>
            </a:r>
          </a:p>
          <a:p xmlns:a="http://schemas.openxmlformats.org/drawingml/2006/main">
            <a:pPr>
              <a:defRPr sz="950"/>
            </a:pPr>
          </a:p>
          <a:p xmlns:a="http://schemas.openxmlformats.org/drawingml/2006/main">
            <a:pPr>
              <a:defRPr sz="950"/>
            </a:pPr>
            <a:r>
              <a:t>He, H. and Garcia, E.A. (2009)</a:t>
            </a:r>
          </a:p>
          <a:p xmlns:a="http://schemas.openxmlformats.org/drawingml/2006/main">
            <a:pPr>
              <a:defRPr sz="950"/>
            </a:pPr>
            <a:r>
              <a:t>Learning from Imbalanced Data. IEEE Transactions on Knowledge and Data Engineering, 21(9), 1263–1284.</a:t>
            </a:r>
          </a:p>
        </p:txBody>
      </p:sp>
      <p:sp>
        <p:nvSpPr>
          <p:cNvPr id="18" name="text-13">
            <a:extLst xmlns:a="http://schemas.openxmlformats.org/drawingml/2006/main">
              <a:ext uri="{FF2B5EF4-FFF2-40B4-BE49-F238E27FC236}">
                <a16:creationId xmlns:a16="http://schemas.microsoft.com/office/drawing/2014/main" id="{3685B75C-2EF2-4CCE-B76F-F52129406133}"/>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use of multiple measurements in taxonomic problems. Annals of Eugenics, 7(2), 179–188.</a:t>
            </a:r>
          </a:p>
        </p:txBody>
      </p:sp>
      <p:sp>
        <p:nvSpPr>
          <p:cNvPr id="19" name="text-14">
            <a:extLst xmlns:a="http://schemas.openxmlformats.org/drawingml/2006/main">
              <a:ext uri="{FF2B5EF4-FFF2-40B4-BE49-F238E27FC236}">
                <a16:creationId xmlns:a16="http://schemas.microsoft.com/office/drawing/2014/main" id="{850AFCCE-A778-4BEC-BF7A-2BE0CC6DAE2B}"/>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1="http://schemas.openxmlformats.org/officeDocument/2006/relationships" ns1:id="rId6"/>
              </a:rPr>
              <a:t>Welch, B.L. (1947)</a:t>
            </a:r>
          </a:p>
        </p:txBody>
      </p:sp>
      <p:sp>
        <p:nvSpPr>
          <p:cNvPr id="20" name="text-15">
            <a:extLst xmlns:a="http://schemas.openxmlformats.org/drawingml/2006/main">
              <a:ext uri="{FF2B5EF4-FFF2-40B4-BE49-F238E27FC236}">
                <a16:creationId xmlns:a16="http://schemas.microsoft.com/office/drawing/2014/main" id="{DF66B7EC-645B-4479-8DB6-075967935930}"/>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generalization of “Student’s” problem when several different population variances are involved. Biometrika, 34(1–2), 28–35.</a:t>
            </a:r>
          </a:p>
        </p:txBody>
      </p:sp>
      <p:sp>
        <p:nvSpPr>
          <p:cNvPr id="21" name="text-16">
            <a:extLst xmlns:a="http://schemas.openxmlformats.org/drawingml/2006/main">
              <a:ext uri="{FF2B5EF4-FFF2-40B4-BE49-F238E27FC236}">
                <a16:creationId xmlns:a16="http://schemas.microsoft.com/office/drawing/2014/main" id="{C651FBC9-996A-4ECB-8A99-CD14611A1489}"/>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2="http://schemas.openxmlformats.org/officeDocument/2006/relationships" ns2:id="rId7"/>
              </a:rPr>
              <a:t>Jolliffe, I.T. and Cadima, J. (2016)</a:t>
            </a:r>
          </a:p>
        </p:txBody>
      </p:sp>
      <p:sp>
        <p:nvSpPr>
          <p:cNvPr id="22" name="text-17">
            <a:extLst xmlns:a="http://schemas.openxmlformats.org/drawingml/2006/main">
              <a:ext uri="{FF2B5EF4-FFF2-40B4-BE49-F238E27FC236}">
                <a16:creationId xmlns:a16="http://schemas.microsoft.com/office/drawing/2014/main" id="{5FCDD727-C69D-4D7F-838B-EA284047BB0E}"/>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Principal component analysis: a review and recent developments. Philosophical Transactions of the Royal Society A, 374, 20150202.</a:t>
            </a:r>
          </a:p>
        </p:txBody>
      </p:sp>
      <p:sp>
        <p:nvSpPr>
          <p:cNvPr id="23" name="text-18">
            <a:extLst xmlns:a="http://schemas.openxmlformats.org/drawingml/2006/main">
              <a:ext uri="{FF2B5EF4-FFF2-40B4-BE49-F238E27FC236}">
                <a16:creationId xmlns:a16="http://schemas.microsoft.com/office/drawing/2014/main" id="{A3F5CADA-BE43-4F4E-9B99-102A6EEC3BA4}"/>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3="http://schemas.openxmlformats.org/officeDocument/2006/relationships" ns3:id="rId8"/>
              </a:rPr>
              <a:t>Hand, D.J. and Till, R.J. (2001)</a:t>
            </a:r>
          </a:p>
        </p:txBody>
      </p:sp>
      <p:sp>
        <p:nvSpPr>
          <p:cNvPr id="24" name="text-19">
            <a:extLst xmlns:a="http://schemas.openxmlformats.org/drawingml/2006/main">
              <a:ext uri="{FF2B5EF4-FFF2-40B4-BE49-F238E27FC236}">
                <a16:creationId xmlns:a16="http://schemas.microsoft.com/office/drawing/2014/main" id="{2D9F42AD-6D22-4E96-8064-92F30C4B7001}"/>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Simple Generalisation of the Area Under the ROC Curve for Multiple Class Classification Problems. Machine Learning, 45, 171–186.</a:t>
            </a:r>
          </a:p>
        </p:txBody>
      </p:sp>
      <p:sp>
        <p:nvSpPr>
          <p:cNvPr id="25" name="text-20">
            <a:extLst xmlns:a="http://schemas.openxmlformats.org/drawingml/2006/main">
              <a:ext uri="{FF2B5EF4-FFF2-40B4-BE49-F238E27FC236}">
                <a16:creationId xmlns:a16="http://schemas.microsoft.com/office/drawing/2014/main" id="{1DB11C34-F30A-4CFA-9FAE-0BCB1D864D75}"/>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4="http://schemas.openxmlformats.org/officeDocument/2006/relationships" ns4:id="rId9"/>
              </a:rPr>
              <a:t>Saito, T. and Rehmsmeier, M. (2015)</a:t>
            </a:r>
          </a:p>
        </p:txBody>
      </p:sp>
      <p:sp>
        <p:nvSpPr>
          <p:cNvPr id="26" name="text-21">
            <a:extLst xmlns:a="http://schemas.openxmlformats.org/drawingml/2006/main">
              <a:ext uri="{FF2B5EF4-FFF2-40B4-BE49-F238E27FC236}">
                <a16:creationId xmlns:a16="http://schemas.microsoft.com/office/drawing/2014/main" id="{D327441C-8FA8-4244-BB1F-422A7B55F371}"/>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Precision-Recall Plot Is More Informative than the ROC Plot When Evaluating Binary Classifiers on Imbalanced Datasets. PLOS ONE, 10(3), e0118432.</a:t>
            </a:r>
          </a:p>
        </p:txBody>
      </p:sp>
    </p:spTree>
    <p:extLst>
      <p:ext uri="{BB962C8B-B14F-4D97-AF65-F5344CB8AC3E}">
        <p14:creationId xmlns:p14="http://schemas.microsoft.com/office/powerpoint/2010/main" val="73300565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928bc3f621e434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928bc3f621e4349">
              <a:extLst>
                <a:ext uri="{96DAC541-7B7A-43D3-8B79-37D633B846F1}">
                  <asvg:svgBlip xmlns:asvg="http://schemas.microsoft.com/office/drawing/2016/SVG/main" r:embed="R39ae12adfd86450d"/>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136B209E-A486-41CE-A519-B3E2434144A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3A1210A9-0E1F-469B-98B9-DAE5FB03341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B223D8A4-5A73-4455-9C4D-2697860FB1F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2FDB19D-A267-4F15-8EBA-F3B338B4D98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C4733A5F-E2DA-4F25-85DF-90F995817BD1}"/>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3 OF 3</a:t>
            </a:r>
          </a:p>
        </p:txBody>
      </p:sp>
      <p:sp>
        <p:nvSpPr>
          <p:cNvPr id="14" name="text-9">
            <a:extLst xmlns:a="http://schemas.openxmlformats.org/drawingml/2006/main">
              <a:ext uri="{FF2B5EF4-FFF2-40B4-BE49-F238E27FC236}">
                <a16:creationId xmlns:a16="http://schemas.microsoft.com/office/drawing/2014/main" id="{CBD2E743-3768-4771-A8FE-F3D5BFBF43D5}"/>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FFFFFF"/>
                </a:solidFill>
                <a:latin typeface="TT Fors"/>
                <a:ea typeface="TT Fors"/>
                <a:cs typeface="TT Fors"/>
              </a:rPr>
              <a:t>Statistical methods and evaluation</a:t>
            </a:r>
          </a:p>
        </p:txBody>
      </p:sp>
      <p:sp>
        <p:nvSpPr>
          <p:cNvPr id="15" name="page-marker">
            <a:extLst xmlns:a="http://schemas.openxmlformats.org/drawingml/2006/main">
              <a:ext uri="{FF2B5EF4-FFF2-40B4-BE49-F238E27FC236}">
                <a16:creationId xmlns:a16="http://schemas.microsoft.com/office/drawing/2014/main" id="{87F6029B-C14F-4B89-AFAD-C935B81607D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33</a:t>
            </a:r>
          </a:p>
        </p:txBody>
      </p:sp>
      <p:sp>
        <p:nvSpPr>
          <p:cNvPr id="16" name="text-11">
            <a:extLst xmlns:a="http://schemas.openxmlformats.org/drawingml/2006/main">
              <a:ext uri="{FF2B5EF4-FFF2-40B4-BE49-F238E27FC236}">
                <a16:creationId xmlns:a16="http://schemas.microsoft.com/office/drawing/2014/main" id="{B25591A2-4897-4682-B5FA-871E2C5F84A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B69CE0E8-4F6B-4E8E-9B09-36EBF92FEEAF}"/>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defRPr sz="900"/>
            </a:pPr>
            <a:r>
              <a:t>Hand, D.J. and Till, R.J. (2001)</a:t>
            </a:r>
          </a:p>
          <a:p xmlns:a="http://schemas.openxmlformats.org/drawingml/2006/main">
            <a:pPr>
              <a:defRPr sz="900"/>
            </a:pPr>
            <a:r>
              <a:t>A Simple Generalisation of the Area Under the ROC Curve for Multiple Class Classification Problems. Machine Learning, 45(2), 171–186.</a:t>
            </a:r>
          </a:p>
          <a:p xmlns:a="http://schemas.openxmlformats.org/drawingml/2006/main">
            <a:pPr>
              <a:defRPr sz="900"/>
            </a:pPr>
          </a:p>
          <a:p xmlns:a="http://schemas.openxmlformats.org/drawingml/2006/main">
            <a:pPr>
              <a:defRPr sz="900"/>
            </a:pPr>
            <a:r>
              <a:t>Chicco, D. and Jurman, G. (2020)</a:t>
            </a:r>
          </a:p>
          <a:p xmlns:a="http://schemas.openxmlformats.org/drawingml/2006/main">
            <a:pPr>
              <a:defRPr sz="900"/>
            </a:pPr>
            <a:r>
              <a:t>The advantages of the Matthews correlation coefficient (MCC) over F1 score and accuracy in binary and multiclass assessment. BMC Genomics, 21, 6.</a:t>
            </a:r>
          </a:p>
          <a:p xmlns:a="http://schemas.openxmlformats.org/drawingml/2006/main">
            <a:pPr>
              <a:defRPr sz="900"/>
            </a:pPr>
          </a:p>
          <a:p xmlns:a="http://schemas.openxmlformats.org/drawingml/2006/main">
            <a:pPr>
              <a:defRPr sz="900"/>
            </a:pPr>
            <a:r>
              <a:t>Hyndman, R.J. and Khandakar, Y. (2008)</a:t>
            </a:r>
          </a:p>
          <a:p xmlns:a="http://schemas.openxmlformats.org/drawingml/2006/main">
            <a:pPr>
              <a:defRPr sz="900"/>
            </a:pPr>
            <a:r>
              <a:t>Automatic Time Series Forecasting: The forecast Package for R. Journal of Statistical Software, 27(3), 1–22.</a:t>
            </a:r>
          </a:p>
          <a:p xmlns:a="http://schemas.openxmlformats.org/drawingml/2006/main">
            <a:pPr>
              <a:defRPr sz="900"/>
            </a:pPr>
          </a:p>
          <a:p xmlns:a="http://schemas.openxmlformats.org/drawingml/2006/main">
            <a:pPr>
              <a:defRPr sz="900"/>
            </a:pPr>
            <a:r>
              <a:t>Box, G.E.P. and Jenkins, G.M. (1976)</a:t>
            </a:r>
            <a:br/>
            <a:r>
              <a:t>Time Series Analysis: Forecasting and Control. Holden-Day.</a:t>
            </a:r>
          </a:p>
          <a:p xmlns:a="http://schemas.openxmlformats.org/drawingml/2006/main">
            <a:pPr>
              <a:defRPr sz="900"/>
            </a:pPr>
            <a:r>
              <a:t>On a measure of lack of fit in time series models. Biometrika, 65(2), 297–303.</a:t>
            </a:r>
          </a:p>
          <a:p xmlns:a="http://schemas.openxmlformats.org/drawingml/2006/main">
            <a:pPr>
              <a:defRPr sz="900"/>
            </a:pPr>
          </a:p>
          <a:p xmlns:a="http://schemas.openxmlformats.org/drawingml/2006/main">
            <a:pPr>
              <a:defRPr sz="900"/>
            </a:pPr>
            <a:r>
              <a:t>Bradlow, E.T., Gangwar, M., Kopalle, P. and Voleti, S. (2023)</a:t>
            </a:r>
          </a:p>
          <a:p xmlns:a="http://schemas.openxmlformats.org/drawingml/2006/main">
            <a:pPr>
              <a:defRPr sz="900"/>
            </a:pPr>
            <a:r>
              <a:t>The Role of Field Experiments and Experimental Design in Marketing Analytics. Journal of Marketing Research, 60(1), 33–51.</a:t>
            </a:r>
          </a:p>
          <a:p xmlns:a="http://schemas.openxmlformats.org/drawingml/2006/main">
            <a:pPr>
              <a:defRPr sz="900"/>
            </a:pPr>
          </a:p>
          <a:p xmlns:a="http://schemas.openxmlformats.org/drawingml/2006/main">
            <a:pPr>
              <a:defRPr sz="900"/>
            </a:pPr>
            <a:r>
              <a:t>Jolliffe, I.T. and Cadima, J. (2016)</a:t>
            </a:r>
          </a:p>
          <a:p xmlns:a="http://schemas.openxmlformats.org/drawingml/2006/main">
            <a:pPr>
              <a:defRPr sz="900"/>
            </a:pPr>
            <a:r>
              <a:t>Principal component analysis: a review and recent developments. Philosophical Transactions of the Royal Society A, 374, 20150202.</a:t>
            </a:r>
          </a:p>
          <a:p xmlns:a="http://schemas.openxmlformats.org/drawingml/2006/main">
            <a:pPr>
              <a:defRPr sz="900"/>
            </a:pPr>
          </a:p>
          <a:p xmlns:a="http://schemas.openxmlformats.org/drawingml/2006/main">
            <a:pPr>
              <a:defRPr sz="900"/>
            </a:pPr>
            <a:r>
              <a:t>Slide drafting support: ChatGPT / AI assistant. Group members retain sole responsibility for statistical verification.</a:t>
            </a:r>
          </a:p>
        </p:txBody>
      </p:sp>
      <p:sp>
        <p:nvSpPr>
          <p:cNvPr id="18" name="text-13">
            <a:extLst xmlns:a="http://schemas.openxmlformats.org/drawingml/2006/main">
              <a:ext uri="{FF2B5EF4-FFF2-40B4-BE49-F238E27FC236}">
                <a16:creationId xmlns:a16="http://schemas.microsoft.com/office/drawing/2014/main" id="{8B86DB47-5C9C-40FE-8324-44170D2CBD3D}"/>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Automatic Time Series Forecasting: The forecast Package for R. Journal of Statistical Software, 27(3), 1–22.</a:t>
            </a:r>
          </a:p>
        </p:txBody>
      </p:sp>
      <p:sp>
        <p:nvSpPr>
          <p:cNvPr id="19" name="text-14">
            <a:extLst xmlns:a="http://schemas.openxmlformats.org/drawingml/2006/main">
              <a:ext uri="{FF2B5EF4-FFF2-40B4-BE49-F238E27FC236}">
                <a16:creationId xmlns:a16="http://schemas.microsoft.com/office/drawing/2014/main" id="{07140311-A479-4179-BC56-BA2E9C055A44}"/>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t>Box, G.E.P. and Jenkins, G.M. (1976)</a:t>
            </a:r>
            <a:br/>
            <a:r>
              <a:t>Time Series Analysis: Forecasting and Control. Holden-Day.</a:t>
            </a:r>
          </a:p>
        </p:txBody>
      </p:sp>
      <p:sp>
        <p:nvSpPr>
          <p:cNvPr id="20" name="text-15">
            <a:extLst xmlns:a="http://schemas.openxmlformats.org/drawingml/2006/main">
              <a:ext uri="{FF2B5EF4-FFF2-40B4-BE49-F238E27FC236}">
                <a16:creationId xmlns:a16="http://schemas.microsoft.com/office/drawing/2014/main" id="{204FA03A-49FB-4A11-8D7D-739BC5AA0B80}"/>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On a measure of lack of fit in time series models. Biometrika, 65(2), 297–303.</a:t>
            </a:r>
          </a:p>
        </p:txBody>
      </p:sp>
      <p:sp>
        <p:nvSpPr>
          <p:cNvPr id="21" name="text-16">
            <a:extLst xmlns:a="http://schemas.openxmlformats.org/drawingml/2006/main">
              <a:ext uri="{FF2B5EF4-FFF2-40B4-BE49-F238E27FC236}">
                <a16:creationId xmlns:a16="http://schemas.microsoft.com/office/drawing/2014/main" id="{22D1860C-466A-43B3-A001-495D676F14F8}"/>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2="http://schemas.openxmlformats.org/officeDocument/2006/relationships" ns2:id="rId7"/>
              </a:rPr>
              <a:t>Dietterich, T.G. (1998)</a:t>
            </a:r>
          </a:p>
        </p:txBody>
      </p:sp>
      <p:sp>
        <p:nvSpPr>
          <p:cNvPr id="22" name="text-17">
            <a:extLst xmlns:a="http://schemas.openxmlformats.org/drawingml/2006/main">
              <a:ext uri="{FF2B5EF4-FFF2-40B4-BE49-F238E27FC236}">
                <a16:creationId xmlns:a16="http://schemas.microsoft.com/office/drawing/2014/main" id="{0391D48C-F27B-40C9-A5A7-27A3BF5E398E}"/>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Approximate Statistical Tests for Comparing Supervised Classification Learning Algorithms. Neural Computation, 10(7), 1895–1923.</a:t>
            </a:r>
          </a:p>
        </p:txBody>
      </p:sp>
      <p:sp>
        <p:nvSpPr>
          <p:cNvPr id="23" name="text-18">
            <a:extLst xmlns:a="http://schemas.openxmlformats.org/drawingml/2006/main">
              <a:ext uri="{FF2B5EF4-FFF2-40B4-BE49-F238E27FC236}">
                <a16:creationId xmlns:a16="http://schemas.microsoft.com/office/drawing/2014/main" id="{CD978850-2D15-4682-912A-12AC72406C1A}"/>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3="http://schemas.openxmlformats.org/officeDocument/2006/relationships" ns3:id="rId8"/>
              </a:rPr>
              <a:t>Tibshirani, R. (1996)</a:t>
            </a:r>
          </a:p>
        </p:txBody>
      </p:sp>
      <p:sp>
        <p:nvSpPr>
          <p:cNvPr id="24" name="text-19">
            <a:extLst xmlns:a="http://schemas.openxmlformats.org/drawingml/2006/main">
              <a:ext uri="{FF2B5EF4-FFF2-40B4-BE49-F238E27FC236}">
                <a16:creationId xmlns:a16="http://schemas.microsoft.com/office/drawing/2014/main" id="{EBDFF113-D1DB-41D4-A8D4-12CF63710CA9}"/>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Regression Shrinkage and Selection Via the Lasso. Journal of the Royal Statistical Society: Series B, 58(1), 267–288.</a:t>
            </a:r>
          </a:p>
        </p:txBody>
      </p:sp>
      <p:sp>
        <p:nvSpPr>
          <p:cNvPr id="25" name="text-20">
            <a:extLst xmlns:a="http://schemas.openxmlformats.org/drawingml/2006/main">
              <a:ext uri="{FF2B5EF4-FFF2-40B4-BE49-F238E27FC236}">
                <a16:creationId xmlns:a16="http://schemas.microsoft.com/office/drawing/2014/main" id="{6140917D-3A08-4D03-AF38-B5C608D42FB7}"/>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5="http://schemas.openxmlformats.org/officeDocument/2006/relationships" ns5:id="rId9"/>
              </a:rPr>
              <a:t>Friedman, J., Hastie, T. and Tibshirani, R. (2010)</a:t>
            </a:r>
          </a:p>
        </p:txBody>
      </p:sp>
      <p:sp>
        <p:nvSpPr>
          <p:cNvPr id="26" name="text-21">
            <a:extLst xmlns:a="http://schemas.openxmlformats.org/drawingml/2006/main">
              <a:ext uri="{FF2B5EF4-FFF2-40B4-BE49-F238E27FC236}">
                <a16:creationId xmlns:a16="http://schemas.microsoft.com/office/drawing/2014/main" id="{D49BE545-DC20-4B1E-ABC0-AEDB56C64B67}"/>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Regularization Paths for Generalized Linear Models via Coordinate Descent. Journal of Statistical Software, 33(1), 1–22.</a:t>
            </a:r>
          </a:p>
        </p:txBody>
      </p:sp>
      <p:sp>
        <p:nvSpPr>
          <p:cNvPr id="27" name="text-22">
            <a:extLst xmlns:a="http://schemas.openxmlformats.org/drawingml/2006/main">
              <a:ext uri="{FF2B5EF4-FFF2-40B4-BE49-F238E27FC236}">
                <a16:creationId xmlns:a16="http://schemas.microsoft.com/office/drawing/2014/main" id="{6CC09BA7-670E-4984-B67A-D1DC5D46E5BC}"/>
              </a:ext>
            </a:extLst>
          </p:cNvPr>
          <p:cNvSpPr>
            <a:spLocks xmlns:a="http://schemas.openxmlformats.org/drawingml/2006/main" noGrp="1"/>
          </p:cNvSpPr>
          <p:nvPr/>
        </p:nvSpPr>
        <p:spPr>
          <a:xfrm xmlns:a="http://schemas.openxmlformats.org/drawingml/2006/main">
            <a:off x="971550" y="9272588"/>
            <a:ext cx="16002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13" b="0">
                <a:solidFill>
                  <a:srgbClr val="EAD9CE"/>
                </a:solidFill>
                <a:latin typeface="TT Fors"/>
                <a:ea typeface="TT Fors"/>
                <a:cs typeface="TT Fors"/>
              </a:defRPr>
            </a:defPPr>
          </a:lstStyle>
          <a:p xmlns:a="http://schemas.openxmlformats.org/drawingml/2006/main">
            <a:pPr algn="l">
              <a:buNone/>
              <a:defRPr sz="1913" b="0">
                <a:solidFill>
                  <a:srgbClr val="EAD9CE"/>
                </a:solidFill>
                <a:latin typeface="TT Fors"/>
                <a:ea typeface="TT Fors"/>
                <a:cs typeface="TT Fors"/>
              </a:defRPr>
            </a:pPr>
            <a:r>
              <a:rPr sz="1913" b="0">
                <a:solidFill>
                  <a:srgbClr val="FFFFFF"/>
                </a:solidFill>
                <a:latin typeface="TT Fors"/>
                <a:ea typeface="TT Fors"/>
                <a:cs typeface="TT Fors"/>
              </a:rPr>
              <a:t>Slide drafting support: ChatGPT (OpenAI). Group members retain responsibility for verification.</a:t>
            </a:r>
          </a:p>
        </p:txBody>
      </p:sp>
    </p:spTree>
    <p:extLst>
      <p:ext uri="{BB962C8B-B14F-4D97-AF65-F5344CB8AC3E}">
        <p14:creationId xmlns:p14="http://schemas.microsoft.com/office/powerpoint/2010/main" val="73300565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72326cc1c2845d3"/>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72326cc1c2845d3">
              <a:extLst>
                <a:ext uri="{96DAC541-7B7A-43D3-8B79-37D633B846F1}">
                  <asvg:svgBlip xmlns:asvg="http://schemas.microsoft.com/office/drawing/2016/SVG/main" r:embed="Rd092869cb4bf4bb8"/>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41A63EF2-77A4-419D-A6DF-57B1D4325CA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B81D758E-7606-4C94-BC87-C927F38B9EB4}"/>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DDF7B7D-F1E6-456A-B7A4-43B21846747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30FBB72E-7A74-416B-AC32-9677B3A40CA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66D3DE7-63CF-4CB7-80B2-7F6713D0814F}"/>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ASSIGNMENT COVERAGE AND TEAM TIMING</a:t>
            </a:r>
          </a:p>
        </p:txBody>
      </p:sp>
      <p:sp>
        <p:nvSpPr>
          <p:cNvPr id="14" name="text-9">
            <a:extLst xmlns:a="http://schemas.openxmlformats.org/drawingml/2006/main">
              <a:ext uri="{FF2B5EF4-FFF2-40B4-BE49-F238E27FC236}">
                <a16:creationId xmlns:a16="http://schemas.microsoft.com/office/drawing/2014/main" id="{CC7FA5B1-96A7-4747-942E-7BDC8CE9D42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27 main slides for 20 minutes. Seven backup slides support the viva.</a:t>
            </a:r>
          </a:p>
        </p:txBody>
      </p:sp>
      <p:sp>
        <p:nvSpPr>
          <p:cNvPr id="15" name="page-marker">
            <a:extLst xmlns:a="http://schemas.openxmlformats.org/drawingml/2006/main">
              <a:ext uri="{FF2B5EF4-FFF2-40B4-BE49-F238E27FC236}">
                <a16:creationId xmlns:a16="http://schemas.microsoft.com/office/drawing/2014/main" id="{2B525F74-4C96-4BC7-B6E0-43FC179173B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34</a:t>
            </a:r>
          </a:p>
        </p:txBody>
      </p:sp>
      <p:sp>
        <p:nvSpPr>
          <p:cNvPr id="16" name="text-11">
            <a:extLst xmlns:a="http://schemas.openxmlformats.org/drawingml/2006/main">
              <a:ext uri="{FF2B5EF4-FFF2-40B4-BE49-F238E27FC236}">
                <a16:creationId xmlns:a16="http://schemas.microsoft.com/office/drawing/2014/main" id="{06F1B3D3-6B41-4F66-90E0-22AA8C18A06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740679E5-2604-4D78-BFF9-CEA5238318C9}"/>
              </a:ext>
            </a:extLst>
          </p:cNvPr>
          <p:cNvGraphicFramePr/>
          <p:nvPr/>
        </p:nvGraphicFramePr>
        <p:xfrm>
          <a:off xmlns:a="http://schemas.openxmlformats.org/drawingml/2006/main" x="971550" y="3171825"/>
          <a:ext xmlns:a="http://schemas.openxmlformats.org/drawingml/2006/main" cx="16344900" cy="4414838"/>
        </p:xfrm>
        <a:graphic xmlns:a="http://schemas.openxmlformats.org/drawingml/2006/main">
          <a:graphicData uri="http://schemas.openxmlformats.org/drawingml/2006/table">
            <a:tbl>
              <a:tblPr/>
              <a:tblGrid>
                <a:gridCol w="3571875"/>
                <a:gridCol w="5072063"/>
                <a:gridCol w="7700963"/>
              </a:tblGrid>
              <a:tr h="882968">
                <a:tc>
                  <a:txBody>
                    <a:bodyPr lIns="133350" tIns="133350" rIns="133350" bIns="133350"/>
                    <a:lstStyle/>
                    <a:p>
                      <a:pPr algn="l">
                        <a:buNone/>
                      </a:pPr>
                      <a:r>
                        <a:rPr sz="1600" b="1">
                          <a:solidFill>
                            <a:srgbClr val="FFFFFF"/>
                          </a:solidFill>
                          <a:latin typeface="TT Fors Bold"/>
                          <a:ea typeface="TT Fors Bold"/>
                          <a:cs typeface="TT Fors Bold"/>
                        </a:rPr>
                        <a:t>Presenter</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Main slides / time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Assignment tasks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2968">
                <a:tc>
                  <a:txBody>
                    <a:bodyPr lIns="133350" tIns="133350" rIns="133350" bIns="133350"/>
                    <a:lstStyle/>
                    <a:p>
                      <a:pPr algn="l">
                        <a:buNone/>
                      </a:pPr>
                      <a:r>
                        <a:rPr sz="1500" b="0">
                          <a:solidFill>
                            <a:srgbClr val="FFFFFF"/>
                          </a:solidFill>
                          <a:latin typeface="TT Fors"/>
                          <a:ea typeface="TT Fors"/>
                          <a:cs typeface="TT Fors"/>
                        </a:rPr>
                        <a:t>Member 1</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1–6 / 0:00–5:00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Problem, research, dataset and cleaning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1500" b="0">
                          <a:solidFill>
                            <a:srgbClr val="FFFFFF"/>
                          </a:solidFill>
                          <a:latin typeface="TT Fors"/>
                          <a:ea typeface="TT Fors"/>
                          <a:cs typeface="TT Fors"/>
                        </a:rPr>
                        <a:t>Member 2</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7–14 / 5:00–10:00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EDA, inference and model evidence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1500" b="0">
                          <a:solidFill>
                            <a:srgbClr val="FFFFFF"/>
                          </a:solidFill>
                          <a:latin typeface="TT Fors"/>
                          <a:ea typeface="TT Fors"/>
                          <a:cs typeface="TT Fors"/>
                        </a:rPr>
                        <a:t>Member 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15–22 / 10:00–15:00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Validation, experiment, PCA, Bayes and time series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1500" b="0">
                          <a:solidFill>
                            <a:srgbClr val="FFFFFF"/>
                          </a:solidFill>
                          <a:latin typeface="TT Fors"/>
                          <a:ea typeface="TT Fors"/>
                          <a:cs typeface="TT Fors"/>
                        </a:rPr>
                        <a:t>Member 4</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23–27 / 15:00–20:00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Innovation, engagement, risks and recommendations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E34DAE5-9128-41E8-8638-24E0974722CE}"/>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Before submission: confirm industry feedback and reproduce all model outputs.</a:t>
            </a:r>
          </a:p>
        </p:txBody>
      </p:sp>
    </p:spTree>
    <p:extLst>
      <p:ext uri="{BB962C8B-B14F-4D97-AF65-F5344CB8AC3E}">
        <p14:creationId xmlns:p14="http://schemas.microsoft.com/office/powerpoint/2010/main" val="73300565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2026-10-14T13:44:40.0580000Z</dcterms:created>
  <dcterms:modified xsi:type="dcterms:W3CDTF">2026-10-14T13:44:40.0580000Z</dcterms:modified>
</coreProperties>
</file>