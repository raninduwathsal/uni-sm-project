
<file path=[Content_Types].xml><?xml version="1.0" encoding="utf-8"?>
<Types xmlns="http://schemas.openxmlformats.org/package/2006/content-types">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69" d="100"/>
          <a:sy n="69" d="100"/>
        </p:scale>
        <p:origin x="756"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54924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1 | TIME ALLOCATION: 0:00 - 0:45]</a:t>
            </a:r>
          </a:p>
          <a:p/>
          <a:p>
            <a:r>
              <a:t>TALKING POINTS &amp; VIVA DEFENSE:</a:t>
            </a:r>
          </a:p>
          <a:p>
            <a:r>
              <a:t>Good morning members of the Board of Directors and lecturers. We represent Statistical Innovation Consulting Group 4. Today, we present data-driven solutions to optimize product assortment, basket sizes, and inventory procurement for BladeGen Tech.</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1 | TIME ALLOCATION: 0:45 - 1:15]</a:t>
            </a:r>
          </a:p>
          <a:p/>
          <a:p>
            <a:r>
              <a:t>TALKING POINTS &amp; VIVA DEFENSE:</a:t>
            </a:r>
          </a:p>
          <a:p>
            <a:r>
              <a:t>Here is our 4-stage roadmap today. We cover the entire data-to-decision continuum, spanning descriptive analytics, inferential hypothesis testing, 4 distinct predictive algorithms, time series forecasting, and strategic implementation.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1 | TIME ALLOCATION: 1:15 - 2:30]</a:t>
            </a:r>
          </a:p>
          <a:p/>
          <a:p>
            <a:r>
              <a:t>TALKING POINTS &amp; VIVA DEFENSE:</a:t>
            </a:r>
          </a:p>
          <a:p>
            <a:r>
              <a:t>In Task 1, we unpack BladeGen Tech's operating dilemma. While foot traffic is strong, store managers struggle with demand volatility. Pastries are discarded at closing time, while morning rush hours experience cashier bottlenecks. Our consultancy mandate is to transform passive transaction logs into an active predictive engine.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1 | TIME ALLOCATION: 2:30 - 3:30]</a:t>
            </a:r>
          </a:p>
          <a:p/>
          <a:p>
            <a:r>
              <a:t>TALKING POINTS &amp; VIVA DEFENSE:</a:t>
            </a:r>
          </a:p>
          <a:p>
            <a:r>
              <a:t>In Task 2, we conducted an exhaustive review of 16 peer-reviewed papers. Research confirms that while deep learning works well in e-commerce, physical F&amp;B POS systems require lightweight, interpretable models. We identify a critical gap: existing studies isolate predictive modeling from inventory replenishment. Our project unifies both.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2 | TIME ALLOCATION: 3:30 - 4:45]</a:t>
            </a:r>
          </a:p>
          <a:p/>
          <a:p>
            <a:r>
              <a:t>TALKING POINTS &amp; VIVA DEFENSE:</a:t>
            </a:r>
          </a:p>
          <a:p>
            <a:r>
              <a:t>I am Presenter 2, covering Tasks 3 and 4. To overcome the single-day limitation of the raw data, we generated a 90-day multi-period dataset preserving BladeGen Tech's empirical menu prices, outlet weights, and customer profiles. With 29,465 clean records, we engineered our core revenue indicators and verified that price variance remained tightly bounded.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2 | TIME ALLOCATION: 4:45 - 6:00]</a:t>
            </a:r>
          </a:p>
          <a:p/>
          <a:p>
            <a:r>
              <a:t>TALKING POINTS &amp; VIVA DEFENSE:</a:t>
            </a:r>
          </a:p>
          <a:p>
            <a:r>
              <a:t>Looking at our descriptive findings, Beverages dominate with over 54% of revenue. However, Food accounts for 37% of revenue and is our primary margin-expansion lever. We see extreme intra-day concentration: morning hours generate high beverage velocity, while afternoons drive food. Furthermore, weekend volume surges by 35% over midweek baselines.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2 | TIME ALLOCATION: 6:00 - 7:30]</a:t>
            </a:r>
          </a:p>
          <a:p/>
          <a:p>
            <a:r>
              <a:t>TALKING POINTS &amp; VIVA DEFENSE:</a:t>
            </a:r>
          </a:p>
          <a:p>
            <a:r>
              <a:t>In Task 4, we grounded our decisions in rigorous hypothesis testing. Our Welch's t-test confirmed with high statistical significance (p &lt; 0.001) that foreign tourists spend LKR 25.32 more per item than locals. The Chi-square test revealed extreme payment segregation: tourists exclusively use international cards, while locals utilize delivery wallets and cash. Finally, correlation analysis proved that discounts stimulate net basket revenue.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3 | TIME ALLOCATION: 7:30 - 8:45]</a:t>
            </a:r>
          </a:p>
          <a:p/>
          <a:p>
            <a:r>
              <a:t>TALKING POINTS &amp; VIVA DEFENSE:</a:t>
            </a:r>
          </a:p>
          <a:p>
            <a:r>
              <a:t>I am Presenter 3, presenting our predictive models and advanced methods. In Task 5, each group member was assigned a distinct machine learning architecture. On an unseen 20% test partition, Member 2's Decision Tree emerged as the champion with 54.38% accuracy and 52.86% Macro-F1. Crucially, it executes in just 0.77 seconds and provides transparent decision rules that baristas and cashiers can easily understand.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3 | TIME ALLOCATION: 8:45 - 9:45]</a:t>
            </a:r>
          </a:p>
          <a:p/>
          <a:p>
            <a:r>
              <a:t>TALKING POINTS &amp; VIVA DEFENSE:</a:t>
            </a:r>
          </a:p>
          <a:p>
            <a:r>
              <a:t>In Task 6, we critically evaluated experimental designs for future pricing A/B tests. An unblocked Completely Randomized Design would suffer severe confounding because store baseline sales vary widely. We recommend a Randomized Complete Block Design, blocking by store outlet. This isolates geographic nuisance variance, reducing experimental error and delivering 30-40% higher statistical power.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3 | TIME ALLOCATION: 9:45 - 10:45]</a:t>
            </a:r>
          </a:p>
          <a:p/>
          <a:p>
            <a:r>
              <a:t>TALKING POINTS &amp; VIVA DEFENSE:</a:t>
            </a:r>
          </a:p>
          <a:p>
            <a:r>
              <a:t>In Task 7, we performed Principal Component Analysis. The Scree plot and Kaiser criterion demonstrate that the first two components retain 65.52% of all numeric variance. PC1 captures overall transaction scale, while PC2 captures promotional discount sensitivity. While PCA is excellent for constructing composite customer scoring indices, we advise retaining raw features at the POS to preserve cashier interpretability.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3 | TIME ALLOCATION: 10:45 - 11:30]</a:t>
            </a:r>
          </a:p>
          <a:p/>
          <a:p>
            <a:r>
              <a:t>TALKING POINTS &amp; VIVA DEFENSE:</a:t>
            </a:r>
          </a:p>
          <a:p>
            <a:r>
              <a:t>Task 8 evaluated Bayesian methods. Member 4's Naïve Bayes model leveraged historical category priors, achieving 53.72% accuracy. The true power of Bayesian statistics lies in decision theory: by incorporating an asymmetric financial loss matrix, we adjust decision thresholds to penalize costly food stockouts more heavily than cheap coffee over-preparation, optimizing net profit.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4 | TIME ALLOCATION: 11:30 - 12:30]</a:t>
            </a:r>
          </a:p>
          <a:p/>
          <a:p>
            <a:r>
              <a:t>TALKING POINTS &amp; VIVA DEFENSE:</a:t>
            </a:r>
          </a:p>
          <a:p>
            <a:r>
              <a:t>I am Presenter 4, concluding with our time-series forecasting, innovation proposal, and executive recommendations. In Task 9, we fitted an optimal Seasonal ARIMA model with weekly differencing. With a 9.9% MAPE and validated white-noise residuals, our 30-day forecast projects ~6,800 orders in April. Automating milk and pastry procurement against this curve directly reduces food spoilage from 12% to under 4.5%.</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4 | TIME ALLOCATION: 12:30 - 13:30]</a:t>
            </a:r>
          </a:p>
          <a:p/>
          <a:p>
            <a:r>
              <a:t>TALKING POINTS &amp; VIVA DEFENSE:</a:t>
            </a:r>
          </a:p>
          <a:p>
            <a:r>
              <a:t>In Task 10, we propose the Customer Intelligence Framework (CIF). Instead of relying on generic cashier prompts, the POS terminal runs our champion Decision Tree locally. In under 100 milliseconds, it renders a one-tap upsell button for the cashier. Furthermore, if afternoon pastry inventory exceeds our ARIMA forecast, the system automatically triggers localized combo deals, driving a 14.5% lift in average order value.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4 | TIME ALLOCATION: 13:30 - 14:15]</a:t>
            </a:r>
          </a:p>
          <a:p/>
          <a:p>
            <a:r>
              <a:t>TALKING POINTS &amp; VIVA DEFENSE:</a:t>
            </a:r>
          </a:p>
          <a:p>
            <a:r>
              <a:t>In Task 11, we validated our proposal with an industry veteran: the Head of Retail Analytics at a regional QSR chain. The expert scored our problem relevance at 9.5/10 and praised our Decision Tree selection. However, he warned that morning rush service times cannot exceed 45 seconds. We directly incorporated this feedback by introducing a morning 'Express Mode' and an edge-computing architecture to guarantee zero terminal latency.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4 | TIME ALLOCATION: 14:15 - 15:00]</a:t>
            </a:r>
          </a:p>
          <a:p/>
          <a:p>
            <a:r>
              <a:t>TALKING POINTS &amp; VIVA DEFENSE:</a:t>
            </a:r>
          </a:p>
          <a:p>
            <a:r>
              <a:t>To conclude in Task 12, we present four strategic pillars: pilot the edge CIF across the top 10 outlets, curate premium flights for tourists, automate procurement via Seasonal ARIMA, and enforce strict PDPA data ethics. With an estimated payback period of 4.5 months, this framework positions BladeGen Tech as a modern, data-driven market leader. Thank you, and we welcome your questions for the Viva examination.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24D"/>
        </a:solidFill>
        <a:effectLst/>
      </p:bgPr>
    </p:bg>
    <p:spTree>
      <p:nvGrpSpPr>
        <p:cNvPr id="1" name=""/>
        <p:cNvGrpSpPr/>
        <p:nvPr/>
      </p:nvGrpSpPr>
      <p:grpSpPr>
        <a:xfrm>
          <a:off x="0" y="0"/>
          <a:ext cx="0" cy="0"/>
          <a:chOff x="0" y="0"/>
          <a:chExt cx="0" cy="0"/>
        </a:xfrm>
      </p:grpSpPr>
      <p:sp>
        <p:nvSpPr>
          <p:cNvPr id="2" name="Shape 0"/>
          <p:cNvSpPr/>
          <p:nvPr/>
        </p:nvSpPr>
        <p:spPr>
          <a:xfrm>
            <a:off x="0" y="5321808"/>
            <a:ext cx="12191695" cy="1536192"/>
          </a:xfrm>
          <a:prstGeom prst="rect">
            <a:avLst/>
          </a:prstGeom>
          <a:solidFill>
            <a:srgbClr val="2A9D8F"/>
          </a:solidFill>
          <a:ln w="12700">
            <a:solidFill>
              <a:srgbClr val="333333">
                <a:alpha val="0"/>
              </a:srgbClr>
            </a:solidFill>
            <a:prstDash val="solid"/>
          </a:ln>
        </p:spPr>
        <p:txBody>
          <a:bodyPr/>
          <a:lstStyle/>
          <a:p>
            <a:endParaRPr lang="en-US"/>
          </a:p>
        </p:txBody>
      </p:sp>
      <p:sp>
        <p:nvSpPr>
          <p:cNvPr id="3" name="Shape 1"/>
          <p:cNvSpPr/>
          <p:nvPr/>
        </p:nvSpPr>
        <p:spPr>
          <a:xfrm>
            <a:off x="0" y="6080760"/>
            <a:ext cx="12191695" cy="777240"/>
          </a:xfrm>
          <a:prstGeom prst="rect">
            <a:avLst/>
          </a:prstGeom>
          <a:solidFill>
            <a:srgbClr val="F4A261"/>
          </a:solidFill>
          <a:ln w="12700">
            <a:solidFill>
              <a:srgbClr val="333333">
                <a:alpha val="0"/>
              </a:srgbClr>
            </a:solidFill>
            <a:prstDash val="solid"/>
          </a:ln>
        </p:spPr>
        <p:txBody>
          <a:bodyPr/>
          <a:lstStyle/>
          <a:p>
            <a:endParaRPr lang="en-US"/>
          </a:p>
        </p:txBody>
      </p:sp>
      <p:sp>
        <p:nvSpPr>
          <p:cNvPr id="4" name="Text 2"/>
          <p:cNvSpPr/>
          <p:nvPr/>
        </p:nvSpPr>
        <p:spPr>
          <a:xfrm>
            <a:off x="685800" y="749808"/>
            <a:ext cx="7680960" cy="310896"/>
          </a:xfrm>
          <a:prstGeom prst="rect">
            <a:avLst/>
          </a:prstGeom>
          <a:noFill/>
          <a:ln/>
        </p:spPr>
        <p:txBody>
          <a:bodyPr wrap="square" lIns="0" tIns="0" rIns="0" bIns="0" rtlCol="0" anchor="ctr"/>
          <a:lstStyle/>
          <a:p>
            <a:r>
              <a:t>IT3081 Statistical Modelling</a:t>
            </a:r>
          </a:p>
        </p:txBody>
      </p:sp>
      <p:sp>
        <p:nvSpPr>
          <p:cNvPr id="5" name="Text 3"/>
          <p:cNvSpPr/>
          <p:nvPr/>
        </p:nvSpPr>
        <p:spPr>
          <a:xfrm>
            <a:off x="658368" y="1325880"/>
            <a:ext cx="9509760" cy="685800"/>
          </a:xfrm>
          <a:prstGeom prst="rect">
            <a:avLst/>
          </a:prstGeom>
          <a:noFill/>
          <a:ln/>
        </p:spPr>
        <p:txBody>
          <a:bodyPr wrap="square" lIns="0" tIns="0" rIns="0" bIns="0" rtlCol="0" anchor="ctr">
            <a:normAutofit/>
          </a:bodyPr>
          <a:lstStyle/>
          <a:p>
            <a:r>
              <a:t>Executive Consultancy Presentation</a:t>
            </a:r>
          </a:p>
        </p:txBody>
      </p:sp>
      <p:sp>
        <p:nvSpPr>
          <p:cNvPr id="6" name="Text 4"/>
          <p:cNvSpPr/>
          <p:nvPr/>
        </p:nvSpPr>
        <p:spPr>
          <a:xfrm>
            <a:off x="713232" y="2304288"/>
            <a:ext cx="9509760" cy="411480"/>
          </a:xfrm>
          <a:prstGeom prst="rect">
            <a:avLst/>
          </a:prstGeom>
          <a:noFill/>
          <a:ln/>
        </p:spPr>
        <p:txBody>
          <a:bodyPr wrap="square" lIns="0" tIns="0" rIns="0" bIns="0" rtlCol="0" anchor="ctr">
            <a:normAutofit/>
          </a:bodyPr>
          <a:lstStyle/>
          <a:p>
            <a:r>
              <a:t>Product Purchase Prediction &amp; Demand Intelligence: From Data to Strategic Decisions</a:t>
            </a:r>
          </a:p>
        </p:txBody>
      </p:sp>
      <p:sp>
        <p:nvSpPr>
          <p:cNvPr id="7" name="Text 5"/>
          <p:cNvSpPr/>
          <p:nvPr/>
        </p:nvSpPr>
        <p:spPr>
          <a:xfrm>
            <a:off x="749808" y="6144768"/>
            <a:ext cx="8961120" cy="201168"/>
          </a:xfrm>
          <a:prstGeom prst="rect">
            <a:avLst/>
          </a:prstGeom>
          <a:noFill/>
          <a:ln/>
        </p:spPr>
        <p:txBody>
          <a:bodyPr wrap="square" lIns="0" tIns="0" rIns="0" bIns="0" rtlCol="0" anchor="ctr"/>
          <a:lstStyle/>
          <a:p>
            <a:r>
              <a:t>Client: BladeGen Tech Consultancy | Presented by: Consultancy Group 4 | Duration: 15 Mins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pPr marL="0" indent="0">
              <a:buNone/>
            </a:pPr>
            <a:r>
              <a:rPr lang="en-US" sz="850" b="1" dirty="0">
                <a:solidFill>
                  <a:srgbClr val="FFFFFF"/>
                </a:solidFill>
                <a:latin typeface="Aptos" pitchFamily="34" charset="0"/>
                <a:ea typeface="Aptos" pitchFamily="34" charset="-122"/>
                <a:cs typeface="Aptos" pitchFamily="34" charset="-120"/>
              </a:rPr>
              <a:t>Presentation Flow</a:t>
            </a:r>
            <a:endParaRPr lang="en-US" sz="850" dirty="0"/>
          </a:p>
        </p:txBody>
      </p:sp>
      <p:sp>
        <p:nvSpPr>
          <p:cNvPr id="4" name="Text 2"/>
          <p:cNvSpPr/>
          <p:nvPr/>
        </p:nvSpPr>
        <p:spPr>
          <a:xfrm>
            <a:off x="11292840" y="64008"/>
            <a:ext cx="411480" cy="164592"/>
          </a:xfrm>
          <a:prstGeom prst="rect">
            <a:avLst/>
          </a:prstGeom>
          <a:noFill/>
          <a:ln/>
        </p:spPr>
        <p:txBody>
          <a:bodyPr wrap="square" lIns="0" tIns="0" rIns="0" bIns="0" rtlCol="0" anchor="ctr"/>
          <a:lstStyle/>
          <a:p>
            <a:pPr marL="0" indent="0" algn="r">
              <a:buNone/>
            </a:pPr>
            <a:r>
              <a:rPr lang="en-US" sz="900" b="1" dirty="0">
                <a:solidFill>
                  <a:srgbClr val="FFFFFF"/>
                </a:solidFill>
                <a:latin typeface="Aptos" pitchFamily="34" charset="0"/>
                <a:ea typeface="Aptos" pitchFamily="34" charset="-122"/>
                <a:cs typeface="Aptos" pitchFamily="34" charset="-120"/>
              </a:rPr>
              <a:t>02</a:t>
            </a:r>
            <a:endParaRPr lang="en-US" sz="900" dirty="0"/>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pPr marL="0" indent="0">
              <a:buNone/>
            </a:pPr>
            <a:r>
              <a:rPr lang="en-US" sz="3000" b="1" dirty="0">
                <a:solidFill>
                  <a:srgbClr val="17324D"/>
                </a:solidFill>
                <a:latin typeface="Aptos Display" pitchFamily="34" charset="0"/>
                <a:ea typeface="Aptos Display" pitchFamily="34" charset="-122"/>
                <a:cs typeface="Aptos Display" pitchFamily="34" charset="-120"/>
              </a:rPr>
              <a:t>Presentation Roadmap</a:t>
            </a:r>
            <a:endParaRPr lang="en-US" sz="3000" dirty="0"/>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pPr marL="0" indent="0">
              <a:buNone/>
            </a:pPr>
            <a:r>
              <a:rPr lang="en-US" sz="1400" dirty="0">
                <a:solidFill>
                  <a:srgbClr val="4B5563"/>
                </a:solidFill>
                <a:latin typeface="Aptos" pitchFamily="34" charset="0"/>
                <a:ea typeface="Aptos" pitchFamily="34" charset="-122"/>
                <a:cs typeface="Aptos" pitchFamily="34" charset="-120"/>
              </a:rPr>
              <a:t>Use this slide to quickly tell the board what your team will cover.</a:t>
            </a:r>
            <a:endParaRPr lang="en-US" sz="1400" dirty="0"/>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Part 1: Context &amp; Literature</a:t>
            </a:r>
            <a:endParaRPr lang="en-US" sz="1650" dirty="0"/>
          </a:p>
          <a:p>
            <a:pPr>
              <a:spcAft>
                <a:spcPts val="200"/>
              </a:spcAft>
              <a:defRPr sz="1000">
                <a:solidFill>
                  <a:srgbClr val="2D3748"/>
                </a:solidFill>
              </a:defRPr>
            </a:pPr>
            <a:r>
              <a:t>• Task 1: F&amp;B Industry Problem Context</a:t>
            </a:r>
          </a:p>
          <a:p>
            <a:pPr>
              <a:spcAft>
                <a:spcPts val="200"/>
              </a:spcAft>
              <a:defRPr sz="1000">
                <a:solidFill>
                  <a:srgbClr val="2D3748"/>
                </a:solidFill>
              </a:defRPr>
            </a:pPr>
            <a:r>
              <a:t>• Task 2: Research Landscape (16 Papers)</a:t>
            </a:r>
          </a:p>
          <a:p>
            <a:pPr>
              <a:spcAft>
                <a:spcPts val="200"/>
              </a:spcAft>
              <a:defRPr sz="1000">
                <a:solidFill>
                  <a:srgbClr val="2D3748"/>
                </a:solidFill>
              </a:defRPr>
            </a:pPr>
            <a:r>
              <a:t>• Led by Presenter 1 (0:00 - 3:30)</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Part 2: Data &amp; Inference</a:t>
            </a:r>
            <a:endParaRPr lang="en-US" sz="1650" dirty="0"/>
          </a:p>
          <a:p>
            <a:pPr>
              <a:spcAft>
                <a:spcPts val="200"/>
              </a:spcAft>
              <a:defRPr sz="1000">
                <a:solidFill>
                  <a:srgbClr val="2D3748"/>
                </a:solidFill>
              </a:defRPr>
            </a:pPr>
            <a:r>
              <a:t>• Task 3: EDA &amp; Outlier Detection</a:t>
            </a:r>
          </a:p>
          <a:p>
            <a:pPr>
              <a:spcAft>
                <a:spcPts val="200"/>
              </a:spcAft>
              <a:defRPr sz="1000">
                <a:solidFill>
                  <a:srgbClr val="2D3748"/>
                </a:solidFill>
              </a:defRPr>
            </a:pPr>
            <a:r>
              <a:t>• Task 4: 6 Hypothesis Tests &amp; Evidence</a:t>
            </a:r>
          </a:p>
          <a:p>
            <a:pPr>
              <a:spcAft>
                <a:spcPts val="200"/>
              </a:spcAft>
              <a:defRPr sz="1000">
                <a:solidFill>
                  <a:srgbClr val="2D3748"/>
                </a:solidFill>
              </a:defRPr>
            </a:pPr>
            <a:r>
              <a:t>• Led by Presenter 2 (3:30 - 7:30)</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Part 3: Modelling &amp; Advanced Methods</a:t>
            </a:r>
            <a:endParaRPr lang="en-US" sz="1650" dirty="0"/>
          </a:p>
          <a:p>
            <a:pPr>
              <a:spcAft>
                <a:spcPts val="200"/>
              </a:spcAft>
              <a:defRPr sz="1000">
                <a:solidFill>
                  <a:srgbClr val="2D3748"/>
                </a:solidFill>
              </a:defRPr>
            </a:pPr>
            <a:r>
              <a:t>• Task 5: 4-Member ML Models (CART Champion)</a:t>
            </a:r>
          </a:p>
          <a:p>
            <a:pPr>
              <a:spcAft>
                <a:spcPts val="200"/>
              </a:spcAft>
              <a:defRPr sz="1000">
                <a:solidFill>
                  <a:srgbClr val="2D3748"/>
                </a:solidFill>
              </a:defRPr>
            </a:pPr>
            <a:r>
              <a:t>• Task 6: Experimental Design (RCBD)</a:t>
            </a:r>
          </a:p>
          <a:p>
            <a:pPr>
              <a:spcAft>
                <a:spcPts val="200"/>
              </a:spcAft>
              <a:defRPr sz="1000">
                <a:solidFill>
                  <a:srgbClr val="2D3748"/>
                </a:solidFill>
              </a:defRPr>
            </a:pPr>
            <a:r>
              <a:t>• Task 7: PCA Dimensionality Evaluation</a:t>
            </a:r>
          </a:p>
          <a:p>
            <a:pPr>
              <a:spcAft>
                <a:spcPts val="200"/>
              </a:spcAft>
              <a:defRPr sz="1000">
                <a:solidFill>
                  <a:srgbClr val="2D3748"/>
                </a:solidFill>
              </a:defRPr>
            </a:pPr>
            <a:r>
              <a:t>• Task 8: Bayesian Methods &amp; Loss Matrix</a:t>
            </a:r>
          </a:p>
          <a:p>
            <a:pPr>
              <a:spcAft>
                <a:spcPts val="200"/>
              </a:spcAft>
              <a:defRPr sz="1000">
                <a:solidFill>
                  <a:srgbClr val="2D3748"/>
                </a:solidFill>
              </a:defRPr>
            </a:pPr>
            <a:r>
              <a:t>• Led by Presenter 3 (7:30 - 11:30)</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Part 4: Forecasting &amp; Strategy</a:t>
            </a:r>
            <a:endParaRPr lang="en-US" sz="1650" dirty="0"/>
          </a:p>
          <a:p>
            <a:pPr>
              <a:spcAft>
                <a:spcPts val="200"/>
              </a:spcAft>
              <a:defRPr sz="1000">
                <a:solidFill>
                  <a:srgbClr val="2D3748"/>
                </a:solidFill>
              </a:defRPr>
            </a:pPr>
            <a:r>
              <a:t>• Task 9: Seasonal ARIMA 30-Day Forecast</a:t>
            </a:r>
          </a:p>
          <a:p>
            <a:pPr>
              <a:spcAft>
                <a:spcPts val="200"/>
              </a:spcAft>
              <a:defRPr sz="1000">
                <a:solidFill>
                  <a:srgbClr val="2D3748"/>
                </a:solidFill>
              </a:defRPr>
            </a:pPr>
            <a:r>
              <a:t>• Task 10: POS Customer Intelligence Framework</a:t>
            </a:r>
          </a:p>
          <a:p>
            <a:pPr>
              <a:spcAft>
                <a:spcPts val="200"/>
              </a:spcAft>
              <a:defRPr sz="1000">
                <a:solidFill>
                  <a:srgbClr val="2D3748"/>
                </a:solidFill>
              </a:defRPr>
            </a:pPr>
            <a:r>
              <a:t>• Task 11: Industry Expert Validation</a:t>
            </a:r>
          </a:p>
          <a:p>
            <a:pPr>
              <a:spcAft>
                <a:spcPts val="200"/>
              </a:spcAft>
              <a:defRPr sz="1000">
                <a:solidFill>
                  <a:srgbClr val="2D3748"/>
                </a:solidFill>
              </a:defRPr>
            </a:pPr>
            <a:r>
              <a:t>• Task 12: Final Board Recommendations</a:t>
            </a:r>
          </a:p>
          <a:p>
            <a:pPr>
              <a:spcAft>
                <a:spcPts val="200"/>
              </a:spcAft>
              <a:defRPr sz="1000">
                <a:solidFill>
                  <a:srgbClr val="2D3748"/>
                </a:solidFill>
              </a:defRPr>
            </a:pPr>
            <a:r>
              <a:t>• Led by Presenter 4 (11:30 - 15:00)</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15 min</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pPr marL="0" indent="0">
              <a:buNone/>
            </a:pPr>
            <a:r>
              <a:rPr lang="en-US" sz="850" b="1" dirty="0">
                <a:solidFill>
                  <a:srgbClr val="FFFFFF"/>
                </a:solidFill>
                <a:latin typeface="Aptos" pitchFamily="34" charset="0"/>
                <a:ea typeface="Aptos" pitchFamily="34" charset="-122"/>
                <a:cs typeface="Aptos" pitchFamily="34" charset="-120"/>
              </a:rPr>
              <a:t>Task 1</a:t>
            </a:r>
            <a:endParaRPr lang="en-US" sz="850" dirty="0"/>
          </a:p>
        </p:txBody>
      </p:sp>
      <p:sp>
        <p:nvSpPr>
          <p:cNvPr id="4" name="Text 2"/>
          <p:cNvSpPr/>
          <p:nvPr/>
        </p:nvSpPr>
        <p:spPr>
          <a:xfrm>
            <a:off x="11292840" y="64008"/>
            <a:ext cx="411480" cy="164592"/>
          </a:xfrm>
          <a:prstGeom prst="rect">
            <a:avLst/>
          </a:prstGeom>
          <a:noFill/>
          <a:ln/>
        </p:spPr>
        <p:txBody>
          <a:bodyPr wrap="square" lIns="0" tIns="0" rIns="0" bIns="0" rtlCol="0" anchor="ctr"/>
          <a:lstStyle/>
          <a:p>
            <a:pPr marL="0" indent="0" algn="r">
              <a:buNone/>
            </a:pPr>
            <a:r>
              <a:rPr lang="en-US" sz="900" b="1" dirty="0">
                <a:solidFill>
                  <a:srgbClr val="FFFFFF"/>
                </a:solidFill>
                <a:latin typeface="Aptos" pitchFamily="34" charset="0"/>
                <a:ea typeface="Aptos" pitchFamily="34" charset="-122"/>
                <a:cs typeface="Aptos" pitchFamily="34" charset="-120"/>
              </a:rPr>
              <a:t>03</a:t>
            </a:r>
            <a:endParaRPr lang="en-US" sz="900" dirty="0"/>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pPr marL="0" indent="0">
              <a:buNone/>
            </a:pPr>
            <a:r>
              <a:rPr lang="en-US" sz="3000" b="1" dirty="0">
                <a:solidFill>
                  <a:srgbClr val="17324D"/>
                </a:solidFill>
                <a:latin typeface="Aptos Display" pitchFamily="34" charset="0"/>
                <a:ea typeface="Aptos Display" pitchFamily="34" charset="-122"/>
                <a:cs typeface="Aptos Display" pitchFamily="34" charset="-120"/>
              </a:rPr>
              <a:t>Industry Problem &amp; Consultancy Objectives</a:t>
            </a:r>
            <a:endParaRPr lang="en-US" sz="3000" dirty="0"/>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pPr marL="0" indent="0">
              <a:buNone/>
            </a:pPr>
            <a:r>
              <a:rPr lang="en-US" sz="1400" dirty="0">
                <a:solidFill>
                  <a:srgbClr val="4B5563"/>
                </a:solidFill>
                <a:latin typeface="Aptos" pitchFamily="34" charset="0"/>
                <a:ea typeface="Aptos" pitchFamily="34" charset="-122"/>
                <a:cs typeface="Aptos" pitchFamily="34" charset="-120"/>
              </a:rPr>
              <a:t>Introduce the real-world problem and why it matters to the organization.</a:t>
            </a:r>
            <a:endParaRPr lang="en-US" sz="1400" dirty="0"/>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Industry &amp; Corporate Context</a:t>
            </a:r>
            <a:endParaRPr lang="en-US" sz="1650" dirty="0"/>
          </a:p>
          <a:p>
            <a:pPr>
              <a:spcAft>
                <a:spcPts val="200"/>
              </a:spcAft>
              <a:defRPr sz="1000">
                <a:solidFill>
                  <a:srgbClr val="2D3748"/>
                </a:solidFill>
              </a:defRPr>
            </a:pPr>
            <a:r>
              <a:t>• Multi-outlet coffee chain with 80+ branches</a:t>
            </a:r>
          </a:p>
          <a:p>
            <a:pPr>
              <a:spcAft>
                <a:spcPts val="200"/>
              </a:spcAft>
              <a:defRPr sz="1000">
                <a:solidFill>
                  <a:srgbClr val="2D3748"/>
                </a:solidFill>
              </a:defRPr>
            </a:pPr>
            <a:r>
              <a:t>• Serving ~20,000+ customer orders daily</a:t>
            </a:r>
          </a:p>
          <a:p>
            <a:pPr>
              <a:spcAft>
                <a:spcPts val="200"/>
              </a:spcAft>
              <a:defRPr sz="1000">
                <a:solidFill>
                  <a:srgbClr val="2D3748"/>
                </a:solidFill>
              </a:defRPr>
            </a:pPr>
            <a:r>
              <a:t>• Rapid post-pandemic expansion across mixed demographics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Core Business Challenge</a:t>
            </a:r>
            <a:endParaRPr lang="en-US" sz="1650" dirty="0"/>
          </a:p>
          <a:p>
            <a:pPr>
              <a:spcAft>
                <a:spcPts val="200"/>
              </a:spcAft>
              <a:defRPr sz="1000">
                <a:solidFill>
                  <a:srgbClr val="2D3748"/>
                </a:solidFill>
              </a:defRPr>
            </a:pPr>
            <a:r>
              <a:t>• Unpredictable demand across food vs. beverage mix</a:t>
            </a:r>
          </a:p>
          <a:p>
            <a:pPr>
              <a:spcAft>
                <a:spcPts val="200"/>
              </a:spcAft>
              <a:defRPr sz="1000">
                <a:solidFill>
                  <a:srgbClr val="2D3748"/>
                </a:solidFill>
              </a:defRPr>
            </a:pPr>
            <a:r>
              <a:t>• Generic cashier prompts resulting in &lt;5% upsell</a:t>
            </a:r>
          </a:p>
          <a:p>
            <a:pPr>
              <a:spcAft>
                <a:spcPts val="200"/>
              </a:spcAft>
              <a:defRPr sz="1000">
                <a:solidFill>
                  <a:srgbClr val="2D3748"/>
                </a:solidFill>
              </a:defRPr>
            </a:pPr>
            <a:r>
              <a:t>• High perishable food waste (~12% end-of-day pastry discard)</a:t>
            </a:r>
          </a:p>
          <a:p>
            <a:pPr>
              <a:spcAft>
                <a:spcPts val="200"/>
              </a:spcAft>
              <a:defRPr sz="1000">
                <a:solidFill>
                  <a:srgbClr val="2D3748"/>
                </a:solidFill>
              </a:defRPr>
            </a:pPr>
            <a:r>
              <a:t>• Sub-optimal promotional discounting without targeting</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Key Stakeholders Affected</a:t>
            </a:r>
            <a:endParaRPr lang="en-US" sz="1650" dirty="0"/>
          </a:p>
          <a:p>
            <a:pPr>
              <a:spcAft>
                <a:spcPts val="200"/>
              </a:spcAft>
              <a:defRPr sz="1000">
                <a:solidFill>
                  <a:srgbClr val="2D3748"/>
                </a:solidFill>
              </a:defRPr>
            </a:pPr>
            <a:r>
              <a:t>• Store Baristas &amp; Cashiers (POS line bottlenecks)</a:t>
            </a:r>
          </a:p>
          <a:p>
            <a:pPr>
              <a:spcAft>
                <a:spcPts val="200"/>
              </a:spcAft>
              <a:defRPr sz="1000">
                <a:solidFill>
                  <a:srgbClr val="2D3748"/>
                </a:solidFill>
              </a:defRPr>
            </a:pPr>
            <a:r>
              <a:t>• Supply Chain &amp; Procurement (Dairy/bakery spoilage)</a:t>
            </a:r>
          </a:p>
          <a:p>
            <a:pPr>
              <a:spcAft>
                <a:spcPts val="200"/>
              </a:spcAft>
              <a:defRPr sz="1000">
                <a:solidFill>
                  <a:srgbClr val="2D3748"/>
                </a:solidFill>
              </a:defRPr>
            </a:pPr>
            <a:r>
              <a:t>• Store Managers (Labour scheduling mismatches)</a:t>
            </a:r>
          </a:p>
          <a:p>
            <a:pPr>
              <a:spcAft>
                <a:spcPts val="200"/>
              </a:spcAft>
              <a:defRPr sz="1000">
                <a:solidFill>
                  <a:srgbClr val="2D3748"/>
                </a:solidFill>
              </a:defRPr>
            </a:pPr>
            <a:r>
              <a:t>• CFO &amp; Board (Erosion of gross margins)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Consultancy Mandate</a:t>
            </a:r>
            <a:endParaRPr lang="en-US" sz="1650" dirty="0"/>
          </a:p>
          <a:p>
            <a:pPr>
              <a:spcAft>
                <a:spcPts val="200"/>
              </a:spcAft>
              <a:defRPr sz="1000">
                <a:solidFill>
                  <a:srgbClr val="2D3748"/>
                </a:solidFill>
              </a:defRPr>
            </a:pPr>
            <a:r>
              <a:t>• Develop real-time product propensity models</a:t>
            </a:r>
          </a:p>
          <a:p>
            <a:pPr>
              <a:spcAft>
                <a:spcPts val="200"/>
              </a:spcAft>
              <a:defRPr sz="1000">
                <a:solidFill>
                  <a:srgbClr val="2D3748"/>
                </a:solidFill>
              </a:defRPr>
            </a:pPr>
            <a:r>
              <a:t>• Quantify tourist vs. local customer spend disparity</a:t>
            </a:r>
          </a:p>
          <a:p>
            <a:pPr>
              <a:spcAft>
                <a:spcPts val="200"/>
              </a:spcAft>
              <a:defRPr sz="1000">
                <a:solidFill>
                  <a:srgbClr val="2D3748"/>
                </a:solidFill>
              </a:defRPr>
            </a:pPr>
            <a:r>
              <a:t>• Forecast daily order volume for inventory sync</a:t>
            </a:r>
          </a:p>
          <a:p>
            <a:pPr>
              <a:spcAft>
                <a:spcPts val="200"/>
              </a:spcAft>
              <a:defRPr sz="1000">
                <a:solidFill>
                  <a:srgbClr val="2D3748"/>
                </a:solidFill>
              </a:defRPr>
            </a:pPr>
            <a:r>
              <a:t>• Deliver actionable, high-ROI executive strategy</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pPr marL="0" indent="0">
              <a:buNone/>
            </a:pPr>
            <a:r>
              <a:rPr lang="en-US" sz="850" b="1" dirty="0">
                <a:solidFill>
                  <a:srgbClr val="FFFFFF"/>
                </a:solidFill>
                <a:latin typeface="Aptos" pitchFamily="34" charset="0"/>
                <a:ea typeface="Aptos" pitchFamily="34" charset="-122"/>
                <a:cs typeface="Aptos" pitchFamily="34" charset="-120"/>
              </a:rPr>
              <a:t>Task 2</a:t>
            </a:r>
            <a:endParaRPr lang="en-US" sz="850" dirty="0"/>
          </a:p>
        </p:txBody>
      </p:sp>
      <p:sp>
        <p:nvSpPr>
          <p:cNvPr id="4" name="Text 2"/>
          <p:cNvSpPr/>
          <p:nvPr/>
        </p:nvSpPr>
        <p:spPr>
          <a:xfrm>
            <a:off x="11292840" y="64008"/>
            <a:ext cx="411480" cy="164592"/>
          </a:xfrm>
          <a:prstGeom prst="rect">
            <a:avLst/>
          </a:prstGeom>
          <a:noFill/>
          <a:ln/>
        </p:spPr>
        <p:txBody>
          <a:bodyPr wrap="square" lIns="0" tIns="0" rIns="0" bIns="0" rtlCol="0" anchor="ctr"/>
          <a:lstStyle/>
          <a:p>
            <a:pPr marL="0" indent="0" algn="r">
              <a:buNone/>
            </a:pPr>
            <a:r>
              <a:rPr lang="en-US" sz="900" b="1" dirty="0">
                <a:solidFill>
                  <a:srgbClr val="FFFFFF"/>
                </a:solidFill>
                <a:latin typeface="Aptos" pitchFamily="34" charset="0"/>
                <a:ea typeface="Aptos" pitchFamily="34" charset="-122"/>
                <a:cs typeface="Aptos" pitchFamily="34" charset="-120"/>
              </a:rPr>
              <a:t>04</a:t>
            </a:r>
            <a:endParaRPr lang="en-US" sz="900" dirty="0"/>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pPr marL="0" indent="0">
              <a:buNone/>
            </a:pPr>
            <a:r>
              <a:rPr lang="en-US" sz="3000" b="1" dirty="0">
                <a:solidFill>
                  <a:srgbClr val="17324D"/>
                </a:solidFill>
                <a:latin typeface="Aptos Display" pitchFamily="34" charset="0"/>
                <a:ea typeface="Aptos Display" pitchFamily="34" charset="-122"/>
                <a:cs typeface="Aptos Display" pitchFamily="34" charset="-120"/>
              </a:rPr>
              <a:t>Research Landscape &amp; Research Gap</a:t>
            </a:r>
            <a:endParaRPr lang="en-US" sz="3000" dirty="0"/>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pPr marL="0" indent="0">
              <a:buNone/>
            </a:pPr>
            <a:r>
              <a:rPr lang="en-US" sz="1400" dirty="0">
                <a:solidFill>
                  <a:srgbClr val="4B5563"/>
                </a:solidFill>
                <a:latin typeface="Aptos" pitchFamily="34" charset="0"/>
                <a:ea typeface="Aptos" pitchFamily="34" charset="-122"/>
                <a:cs typeface="Aptos" pitchFamily="34" charset="-120"/>
              </a:rPr>
              <a:t>Show that your approach is supported by literature and industry practice.</a:t>
            </a:r>
            <a:endParaRPr lang="en-US" sz="1400" dirty="0"/>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Academic Landscape (16 Papers)</a:t>
            </a:r>
            <a:endParaRPr lang="en-US" sz="1650" dirty="0"/>
          </a:p>
          <a:p>
            <a:pPr>
              <a:spcAft>
                <a:spcPts val="200"/>
              </a:spcAft>
              <a:defRPr sz="1000">
                <a:solidFill>
                  <a:srgbClr val="2D3748"/>
                </a:solidFill>
              </a:defRPr>
            </a:pPr>
            <a:r>
              <a:t>• Analyzed 16 peer-reviewed studies (10 journal, 6 conf)</a:t>
            </a:r>
          </a:p>
          <a:p>
            <a:pPr>
              <a:spcAft>
                <a:spcPts val="200"/>
              </a:spcAft>
              <a:defRPr sz="1000">
                <a:solidFill>
                  <a:srgbClr val="2D3748"/>
                </a:solidFill>
              </a:defRPr>
            </a:pPr>
            <a:r>
              <a:t>• Covering ML in F&amp;B, consumer choice, and retail ARIMA</a:t>
            </a:r>
          </a:p>
          <a:p>
            <a:pPr>
              <a:spcAft>
                <a:spcPts val="200"/>
              </a:spcAft>
              <a:defRPr sz="1000">
                <a:solidFill>
                  <a:srgbClr val="2D3748"/>
                </a:solidFill>
              </a:defRPr>
            </a:pPr>
            <a:r>
              <a:t>• Benchmark papers: CSITCP (2023), PLOS One (2024), MDPI (2023)</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Key Literature Discoveries</a:t>
            </a:r>
            <a:endParaRPr lang="en-US" sz="1650" dirty="0"/>
          </a:p>
          <a:p>
            <a:pPr>
              <a:spcAft>
                <a:spcPts val="200"/>
              </a:spcAft>
              <a:defRPr sz="1000">
                <a:solidFill>
                  <a:srgbClr val="2D3748"/>
                </a:solidFill>
              </a:defRPr>
            </a:pPr>
            <a:r>
              <a:t>• Tree algorithms consistently balance speed and accuracy in POS</a:t>
            </a:r>
          </a:p>
          <a:p>
            <a:pPr>
              <a:spcAft>
                <a:spcPts val="200"/>
              </a:spcAft>
              <a:defRPr sz="1000">
                <a:solidFill>
                  <a:srgbClr val="2D3748"/>
                </a:solidFill>
              </a:defRPr>
            </a:pPr>
            <a:r>
              <a:t>• Loyalty programs increase basket frequency by 22-30%</a:t>
            </a:r>
          </a:p>
          <a:p>
            <a:pPr>
              <a:spcAft>
                <a:spcPts val="200"/>
              </a:spcAft>
              <a:defRPr sz="1000">
                <a:solidFill>
                  <a:srgbClr val="2D3748"/>
                </a:solidFill>
              </a:defRPr>
            </a:pPr>
            <a:r>
              <a:t>• Day-of-week seasonality accounts for &gt;60% of F&amp;B variance</a:t>
            </a:r>
          </a:p>
          <a:p>
            <a:pPr>
              <a:spcAft>
                <a:spcPts val="200"/>
              </a:spcAft>
              <a:defRPr sz="1000">
                <a:solidFill>
                  <a:srgbClr val="2D3748"/>
                </a:solidFill>
              </a:defRPr>
            </a:pPr>
            <a:r>
              <a:t>• Asymmetric loss matrices outperform pure accuracy in food retail</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Methodological Gaps Identified</a:t>
            </a:r>
            <a:endParaRPr lang="en-US" sz="1650" dirty="0"/>
          </a:p>
          <a:p>
            <a:pPr>
              <a:spcAft>
                <a:spcPts val="200"/>
              </a:spcAft>
              <a:defRPr sz="1000">
                <a:solidFill>
                  <a:srgbClr val="2D3748"/>
                </a:solidFill>
              </a:defRPr>
            </a:pPr>
            <a:r>
              <a:t>• Most studies analyze online delivery or single-store cafes</a:t>
            </a:r>
          </a:p>
          <a:p>
            <a:pPr>
              <a:spcAft>
                <a:spcPts val="200"/>
              </a:spcAft>
              <a:defRPr sz="1000">
                <a:solidFill>
                  <a:srgbClr val="2D3748"/>
                </a:solidFill>
              </a:defRPr>
            </a:pPr>
            <a:r>
              <a:t>• Lack of multi-outlet cross-locational variation analysis</a:t>
            </a:r>
          </a:p>
          <a:p>
            <a:pPr>
              <a:spcAft>
                <a:spcPts val="200"/>
              </a:spcAft>
              <a:defRPr sz="1000">
                <a:solidFill>
                  <a:srgbClr val="2D3748"/>
                </a:solidFill>
              </a:defRPr>
            </a:pPr>
            <a:r>
              <a:t>• Few empirical evaluations of CART vs. Multinomial Logistic at POS</a:t>
            </a:r>
          </a:p>
          <a:p>
            <a:pPr>
              <a:spcAft>
                <a:spcPts val="200"/>
              </a:spcAft>
              <a:defRPr sz="1000">
                <a:solidFill>
                  <a:srgbClr val="2D3748"/>
                </a:solidFill>
              </a:defRPr>
            </a:pPr>
            <a:r>
              <a:t>• Failure to bridge ML propensity scoring with daily replenishment</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Consultancy Justification</a:t>
            </a:r>
            <a:endParaRPr lang="en-US" sz="1650" dirty="0"/>
          </a:p>
          <a:p>
            <a:pPr>
              <a:spcAft>
                <a:spcPts val="200"/>
              </a:spcAft>
              <a:defRPr sz="1000">
                <a:solidFill>
                  <a:srgbClr val="2D3748"/>
                </a:solidFill>
              </a:defRPr>
            </a:pPr>
            <a:r>
              <a:t>• Our approach bridges micro-level real-time item prediction (Task 5)</a:t>
            </a:r>
          </a:p>
          <a:p>
            <a:pPr>
              <a:spcAft>
                <a:spcPts val="200"/>
              </a:spcAft>
              <a:defRPr sz="1000">
                <a:solidFill>
                  <a:srgbClr val="2D3748"/>
                </a:solidFill>
              </a:defRPr>
            </a:pPr>
            <a:r>
              <a:t>• with macro-level aggregate time-series procurement (Task 9)</a:t>
            </a:r>
          </a:p>
          <a:p>
            <a:pPr>
              <a:spcAft>
                <a:spcPts val="200"/>
              </a:spcAft>
              <a:defRPr sz="1000">
                <a:solidFill>
                  <a:srgbClr val="2D3748"/>
                </a:solidFill>
              </a:defRPr>
            </a:pPr>
            <a:r>
              <a:t>• grounded in empirical hypothesis verification (Task 4)</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Literature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pPr marL="0" indent="0">
              <a:buNone/>
            </a:pPr>
            <a:r>
              <a:rPr lang="en-US" sz="850" b="1" dirty="0">
                <a:solidFill>
                  <a:srgbClr val="FFFFFF"/>
                </a:solidFill>
                <a:latin typeface="Aptos" pitchFamily="34" charset="0"/>
                <a:ea typeface="Aptos" pitchFamily="34" charset="-122"/>
                <a:cs typeface="Aptos" pitchFamily="34" charset="-120"/>
              </a:rPr>
              <a:t>Task 3</a:t>
            </a:r>
            <a:endParaRPr lang="en-US" sz="850" dirty="0"/>
          </a:p>
        </p:txBody>
      </p:sp>
      <p:sp>
        <p:nvSpPr>
          <p:cNvPr id="4" name="Text 2"/>
          <p:cNvSpPr/>
          <p:nvPr/>
        </p:nvSpPr>
        <p:spPr>
          <a:xfrm>
            <a:off x="11292840" y="64008"/>
            <a:ext cx="411480" cy="164592"/>
          </a:xfrm>
          <a:prstGeom prst="rect">
            <a:avLst/>
          </a:prstGeom>
          <a:noFill/>
          <a:ln/>
        </p:spPr>
        <p:txBody>
          <a:bodyPr wrap="square" lIns="0" tIns="0" rIns="0" bIns="0" rtlCol="0" anchor="ctr"/>
          <a:lstStyle/>
          <a:p>
            <a:pPr marL="0" indent="0" algn="r">
              <a:buNone/>
            </a:pPr>
            <a:r>
              <a:rPr lang="en-US" sz="900" b="1" dirty="0">
                <a:solidFill>
                  <a:srgbClr val="FFFFFF"/>
                </a:solidFill>
                <a:latin typeface="Aptos" pitchFamily="34" charset="0"/>
                <a:ea typeface="Aptos" pitchFamily="34" charset="-122"/>
                <a:cs typeface="Aptos" pitchFamily="34" charset="-120"/>
              </a:rPr>
              <a:t>05</a:t>
            </a:r>
            <a:endParaRPr lang="en-US" sz="900" dirty="0"/>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pPr marL="0" indent="0">
              <a:buNone/>
            </a:pPr>
            <a:r>
              <a:rPr lang="en-US" sz="3000" b="1" dirty="0">
                <a:solidFill>
                  <a:srgbClr val="17324D"/>
                </a:solidFill>
                <a:latin typeface="Aptos Display" pitchFamily="34" charset="0"/>
                <a:ea typeface="Aptos Display" pitchFamily="34" charset="-122"/>
                <a:cs typeface="Aptos Display" pitchFamily="34" charset="-120"/>
              </a:rPr>
              <a:t>Dataset Selection &amp; Understanding</a:t>
            </a:r>
            <a:endParaRPr lang="en-US" sz="3000" dirty="0"/>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pPr marL="0" indent="0">
              <a:buNone/>
            </a:pPr>
            <a:r>
              <a:rPr lang="en-US" sz="1400" dirty="0">
                <a:solidFill>
                  <a:srgbClr val="4B5563"/>
                </a:solidFill>
                <a:latin typeface="Aptos" pitchFamily="34" charset="0"/>
                <a:ea typeface="Aptos" pitchFamily="34" charset="-122"/>
                <a:cs typeface="Aptos" pitchFamily="34" charset="-120"/>
              </a:rPr>
              <a:t>Explain why the selected dataset is suitable for the consultancy problem.</a:t>
            </a:r>
            <a:endParaRPr lang="en-US" sz="1400" dirty="0"/>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Empirical Dataset Profile</a:t>
            </a:r>
            <a:endParaRPr lang="en-US" sz="1650" dirty="0"/>
          </a:p>
          <a:p>
            <a:pPr>
              <a:spcAft>
                <a:spcPts val="200"/>
              </a:spcAft>
              <a:defRPr sz="1000">
                <a:solidFill>
                  <a:srgbClr val="2D3748"/>
                </a:solidFill>
              </a:defRPr>
            </a:pPr>
            <a:r>
              <a:t>• Expanded to 90 continuous days (Jan 1 - Mar 31, 2026)</a:t>
            </a:r>
          </a:p>
          <a:p>
            <a:pPr>
              <a:spcAft>
                <a:spcPts val="200"/>
              </a:spcAft>
              <a:defRPr sz="1000">
                <a:solidFill>
                  <a:srgbClr val="2D3748"/>
                </a:solidFill>
              </a:defRPr>
            </a:pPr>
            <a:r>
              <a:t>• 29,465 line items across 20,476 distinct orders</a:t>
            </a:r>
          </a:p>
          <a:p>
            <a:pPr>
              <a:spcAft>
                <a:spcPts val="200"/>
              </a:spcAft>
              <a:defRPr sz="1000">
                <a:solidFill>
                  <a:srgbClr val="2D3748"/>
                </a:solidFill>
              </a:defRPr>
            </a:pPr>
            <a:r>
              <a:t>• 80 store locations, 15 core menu items across 4 categories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Target &amp; Feature Matrix</a:t>
            </a:r>
            <a:endParaRPr lang="en-US" sz="1650" dirty="0"/>
          </a:p>
          <a:p>
            <a:pPr>
              <a:spcAft>
                <a:spcPts val="200"/>
              </a:spcAft>
              <a:defRPr sz="1000">
                <a:solidFill>
                  <a:srgbClr val="2D3748"/>
                </a:solidFill>
              </a:defRPr>
            </a:pPr>
            <a:r>
              <a:t>• Target: MainCategory (Beverage, Food, Merchandizing, Deals)</a:t>
            </a:r>
          </a:p>
          <a:p>
            <a:pPr>
              <a:spcAft>
                <a:spcPts val="200"/>
              </a:spcAft>
              <a:defRPr sz="1000">
                <a:solidFill>
                  <a:srgbClr val="2D3748"/>
                </a:solidFill>
              </a:defRPr>
            </a:pPr>
            <a:r>
              <a:t>• Predictors: TimeOfTheDay, Day, CustomerType, OrderType,</a:t>
            </a:r>
          </a:p>
          <a:p>
            <a:pPr>
              <a:spcAft>
                <a:spcPts val="200"/>
              </a:spcAft>
              <a:defRPr sz="1000">
                <a:solidFill>
                  <a:srgbClr val="2D3748"/>
                </a:solidFill>
              </a:defRPr>
            </a:pPr>
            <a:r>
              <a:t>• PaymentMethod, IsLoyaltyMember, Qty1, AdjustedRate</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Data Hygiene &amp; Cleaning</a:t>
            </a:r>
            <a:endParaRPr lang="en-US" sz="1650" dirty="0"/>
          </a:p>
          <a:p>
            <a:pPr>
              <a:spcAft>
                <a:spcPts val="200"/>
              </a:spcAft>
              <a:defRPr sz="1000">
                <a:solidFill>
                  <a:srgbClr val="2D3748"/>
                </a:solidFill>
              </a:defRPr>
            </a:pPr>
            <a:r>
              <a:t>• Standardized NA strings and parsed ISO dates/times</a:t>
            </a:r>
          </a:p>
          <a:p>
            <a:pPr>
              <a:spcAft>
                <a:spcPts val="200"/>
              </a:spcAft>
              <a:defRPr sz="1000">
                <a:solidFill>
                  <a:srgbClr val="2D3748"/>
                </a:solidFill>
              </a:defRPr>
            </a:pPr>
            <a:r>
              <a:t>• OrderType standardized (Dine-In vs. Takeaway)</a:t>
            </a:r>
          </a:p>
          <a:p>
            <a:pPr>
              <a:spcAft>
                <a:spcPts val="200"/>
              </a:spcAft>
              <a:defRPr sz="1000">
                <a:solidFill>
                  <a:srgbClr val="2D3748"/>
                </a:solidFill>
              </a:defRPr>
            </a:pPr>
            <a:r>
              <a:t>• Revenue feature engineered: (AdjustedRate * Qty1) - Discount</a:t>
            </a:r>
          </a:p>
          <a:p>
            <a:pPr>
              <a:spcAft>
                <a:spcPts val="200"/>
              </a:spcAft>
              <a:defRPr sz="1000">
                <a:solidFill>
                  <a:srgbClr val="2D3748"/>
                </a:solidFill>
              </a:defRPr>
            </a:pPr>
            <a:r>
              <a:t>• Loyalty membership flag created from member ID presence</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Outlier Assessment</a:t>
            </a:r>
            <a:endParaRPr lang="en-US" sz="1650" dirty="0"/>
          </a:p>
          <a:p>
            <a:pPr>
              <a:spcAft>
                <a:spcPts val="200"/>
              </a:spcAft>
              <a:defRPr sz="1000">
                <a:solidFill>
                  <a:srgbClr val="2D3748"/>
                </a:solidFill>
              </a:defRPr>
            </a:pPr>
            <a:r>
              <a:t>• IQR Rule (1.5x) vs. Z-score (|z| &gt; 3) evaluated</a:t>
            </a:r>
          </a:p>
          <a:p>
            <a:pPr>
              <a:spcAft>
                <a:spcPts val="200"/>
              </a:spcAft>
              <a:defRPr sz="1000">
                <a:solidFill>
                  <a:srgbClr val="2D3748"/>
                </a:solidFill>
              </a:defRPr>
            </a:pPr>
            <a:r>
              <a:t>• Revenue Z-score outliers: 3.52% (bulk corporate catering orders)</a:t>
            </a:r>
          </a:p>
          <a:p>
            <a:pPr>
              <a:spcAft>
                <a:spcPts val="200"/>
              </a:spcAft>
              <a:defRPr sz="1000">
                <a:solidFill>
                  <a:srgbClr val="2D3748"/>
                </a:solidFill>
              </a:defRPr>
            </a:pPr>
            <a:r>
              <a:t>• AdjustedRate Z-score outliers: only 0.25% (pricing stability)</a:t>
            </a:r>
          </a:p>
          <a:p>
            <a:pPr>
              <a:spcAft>
                <a:spcPts val="200"/>
              </a:spcAft>
              <a:defRPr sz="1000">
                <a:solidFill>
                  <a:srgbClr val="2D3748"/>
                </a:solidFill>
              </a:defRPr>
            </a:pPr>
            <a:r>
              <a:t>• Valid domain data retained for genuine variance modeling</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Dataset</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pPr marL="0" indent="0">
              <a:buNone/>
            </a:pPr>
            <a:r>
              <a:rPr lang="en-US" sz="850" b="1" dirty="0">
                <a:solidFill>
                  <a:srgbClr val="FFFFFF"/>
                </a:solidFill>
                <a:latin typeface="Aptos" pitchFamily="34" charset="0"/>
                <a:ea typeface="Aptos" pitchFamily="34" charset="-122"/>
                <a:cs typeface="Aptos" pitchFamily="34" charset="-120"/>
              </a:rPr>
              <a:t>Task 3</a:t>
            </a:r>
            <a:endParaRPr lang="en-US" sz="850" dirty="0"/>
          </a:p>
        </p:txBody>
      </p:sp>
      <p:sp>
        <p:nvSpPr>
          <p:cNvPr id="4" name="Text 2"/>
          <p:cNvSpPr/>
          <p:nvPr/>
        </p:nvSpPr>
        <p:spPr>
          <a:xfrm>
            <a:off x="11292840" y="64008"/>
            <a:ext cx="411480" cy="164592"/>
          </a:xfrm>
          <a:prstGeom prst="rect">
            <a:avLst/>
          </a:prstGeom>
          <a:noFill/>
          <a:ln/>
        </p:spPr>
        <p:txBody>
          <a:bodyPr wrap="square" lIns="0" tIns="0" rIns="0" bIns="0" rtlCol="0" anchor="ctr"/>
          <a:lstStyle/>
          <a:p>
            <a:pPr marL="0" indent="0" algn="r">
              <a:buNone/>
            </a:pPr>
            <a:r>
              <a:rPr lang="en-US" sz="900" b="1" dirty="0">
                <a:solidFill>
                  <a:srgbClr val="FFFFFF"/>
                </a:solidFill>
                <a:latin typeface="Aptos" pitchFamily="34" charset="0"/>
                <a:ea typeface="Aptos" pitchFamily="34" charset="-122"/>
                <a:cs typeface="Aptos" pitchFamily="34" charset="-120"/>
              </a:rPr>
              <a:t>06</a:t>
            </a:r>
            <a:endParaRPr lang="en-US" sz="900" dirty="0"/>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pPr marL="0" indent="0">
              <a:buNone/>
            </a:pPr>
            <a:r>
              <a:rPr lang="en-US" sz="3000" b="1" dirty="0">
                <a:solidFill>
                  <a:srgbClr val="17324D"/>
                </a:solidFill>
                <a:latin typeface="Aptos Display" pitchFamily="34" charset="0"/>
                <a:ea typeface="Aptos Display" pitchFamily="34" charset="-122"/>
                <a:cs typeface="Aptos Display" pitchFamily="34" charset="-120"/>
              </a:rPr>
              <a:t>Descriptive Analysis &amp; Initial Insights</a:t>
            </a:r>
            <a:endParaRPr lang="en-US" sz="3000" dirty="0"/>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pPr marL="0" indent="0">
              <a:buNone/>
            </a:pPr>
            <a:r>
              <a:rPr lang="en-US" sz="1400" dirty="0">
                <a:solidFill>
                  <a:srgbClr val="4B5563"/>
                </a:solidFill>
                <a:latin typeface="Aptos" pitchFamily="34" charset="0"/>
                <a:ea typeface="Aptos" pitchFamily="34" charset="-122"/>
                <a:cs typeface="Aptos" pitchFamily="34" charset="-120"/>
              </a:rPr>
              <a:t>Present the most important patterns in the dataset using simple visuals.</a:t>
            </a:r>
            <a:endParaRPr lang="en-US" sz="1400" dirty="0"/>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Category Revenue Share</a:t>
            </a:r>
            <a:endParaRPr lang="en-US" sz="1650" dirty="0"/>
          </a:p>
          <a:p>
            <a:pPr>
              <a:spcAft>
                <a:spcPts val="200"/>
              </a:spcAft>
              <a:defRPr sz="1000">
                <a:solidFill>
                  <a:srgbClr val="2D3748"/>
                </a:solidFill>
              </a:defRPr>
            </a:pPr>
            <a:r>
              <a:t>• Beverage: 54.34% revenue share (LKR 16.3M across 15.8k items)</a:t>
            </a:r>
          </a:p>
          <a:p>
            <a:pPr>
              <a:spcAft>
                <a:spcPts val="200"/>
              </a:spcAft>
              <a:defRPr sz="1000">
                <a:solidFill>
                  <a:srgbClr val="2D3748"/>
                </a:solidFill>
              </a:defRPr>
            </a:pPr>
            <a:r>
              <a:t>• Food: 37.28% share (LKR 11.2M across 11.0k items)</a:t>
            </a:r>
          </a:p>
          <a:p>
            <a:pPr>
              <a:spcAft>
                <a:spcPts val="200"/>
              </a:spcAft>
              <a:defRPr sz="1000">
                <a:solidFill>
                  <a:srgbClr val="2D3748"/>
                </a:solidFill>
              </a:defRPr>
            </a:pPr>
            <a:r>
              <a:t>• Merchandizing: 4.27% share | Deals/Promotions: 4.11% share</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Hourly &amp; Weekly Dynamics</a:t>
            </a:r>
            <a:endParaRPr lang="en-US" sz="1650" dirty="0"/>
          </a:p>
          <a:p>
            <a:pPr>
              <a:spcAft>
                <a:spcPts val="200"/>
              </a:spcAft>
              <a:defRPr sz="1000">
                <a:solidFill>
                  <a:srgbClr val="2D3748"/>
                </a:solidFill>
              </a:defRPr>
            </a:pPr>
            <a:r>
              <a:t>• Pronounced morning breakfast peak (8:00 AM - 10:00 AM)</a:t>
            </a:r>
          </a:p>
          <a:p>
            <a:pPr>
              <a:spcAft>
                <a:spcPts val="200"/>
              </a:spcAft>
              <a:defRPr sz="1000">
                <a:solidFill>
                  <a:srgbClr val="2D3748"/>
                </a:solidFill>
              </a:defRPr>
            </a:pPr>
            <a:r>
              <a:t>• Secondary lunch and afternoon coffee surge (1:00 PM - 3:00 PM)</a:t>
            </a:r>
          </a:p>
          <a:p>
            <a:pPr>
              <a:spcAft>
                <a:spcPts val="200"/>
              </a:spcAft>
              <a:defRPr sz="1000">
                <a:solidFill>
                  <a:srgbClr val="2D3748"/>
                </a:solidFill>
              </a:defRPr>
            </a:pPr>
            <a:r>
              <a:t>• Fridays (+20%) and Weekends (+35%) generate highest daily volume</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Customer &amp; Payment Splits</a:t>
            </a:r>
            <a:endParaRPr lang="en-US" sz="1650" dirty="0"/>
          </a:p>
          <a:p>
            <a:pPr>
              <a:spcAft>
                <a:spcPts val="200"/>
              </a:spcAft>
              <a:defRPr sz="1000">
                <a:solidFill>
                  <a:srgbClr val="2D3748"/>
                </a:solidFill>
              </a:defRPr>
            </a:pPr>
            <a:r>
              <a:t>• Customer Type: 84.6% Local, 15.4% Foreign Tourists</a:t>
            </a:r>
          </a:p>
          <a:p>
            <a:pPr>
              <a:spcAft>
                <a:spcPts val="200"/>
              </a:spcAft>
              <a:defRPr sz="1000">
                <a:solidFill>
                  <a:srgbClr val="2D3748"/>
                </a:solidFill>
              </a:defRPr>
            </a:pPr>
            <a:r>
              <a:t>• Payment Methods: VISA (43.1%), CASH (23.2%), MASTER (15.2%),</a:t>
            </a:r>
          </a:p>
          <a:p>
            <a:pPr>
              <a:spcAft>
                <a:spcPts val="200"/>
              </a:spcAft>
              <a:defRPr sz="1000">
                <a:solidFill>
                  <a:srgbClr val="2D3748"/>
                </a:solidFill>
              </a:defRPr>
            </a:pPr>
            <a:r>
              <a:t>• UBER EATS (8.3%), AMEX (4.0%), PICK ME (3.6%)</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Core Strategic Takeaway</a:t>
            </a:r>
            <a:endParaRPr lang="en-US" sz="1650" dirty="0"/>
          </a:p>
          <a:p>
            <a:pPr>
              <a:spcAft>
                <a:spcPts val="200"/>
              </a:spcAft>
              <a:defRPr sz="1000">
                <a:solidFill>
                  <a:srgbClr val="2D3748"/>
                </a:solidFill>
              </a:defRPr>
            </a:pPr>
            <a:r>
              <a:t>• Beverages are the core traffic driver; Food represents the prime</a:t>
            </a:r>
          </a:p>
          <a:p>
            <a:pPr>
              <a:spcAft>
                <a:spcPts val="200"/>
              </a:spcAft>
              <a:defRPr sz="1000">
                <a:solidFill>
                  <a:srgbClr val="2D3748"/>
                </a:solidFill>
              </a:defRPr>
            </a:pPr>
            <a:r>
              <a:t>• incremental upsell opportunity. Friday/Saturday volume mandates</a:t>
            </a:r>
          </a:p>
          <a:p>
            <a:pPr>
              <a:spcAft>
                <a:spcPts val="200"/>
              </a:spcAft>
              <a:defRPr sz="1000">
                <a:solidFill>
                  <a:srgbClr val="2D3748"/>
                </a:solidFill>
              </a:defRPr>
            </a:pPr>
            <a:r>
              <a:t>• proactive pre-weekend kitchen prep.</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EDA</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pPr marL="0" indent="0">
              <a:buNone/>
            </a:pPr>
            <a:r>
              <a:rPr lang="en-US" sz="850" b="1" dirty="0">
                <a:solidFill>
                  <a:srgbClr val="FFFFFF"/>
                </a:solidFill>
                <a:latin typeface="Aptos" pitchFamily="34" charset="0"/>
                <a:ea typeface="Aptos" pitchFamily="34" charset="-122"/>
                <a:cs typeface="Aptos" pitchFamily="34" charset="-120"/>
              </a:rPr>
              <a:t>Task 4</a:t>
            </a:r>
            <a:endParaRPr lang="en-US" sz="850" dirty="0"/>
          </a:p>
        </p:txBody>
      </p:sp>
      <p:sp>
        <p:nvSpPr>
          <p:cNvPr id="4" name="Text 2"/>
          <p:cNvSpPr/>
          <p:nvPr/>
        </p:nvSpPr>
        <p:spPr>
          <a:xfrm>
            <a:off x="11292840" y="64008"/>
            <a:ext cx="411480" cy="164592"/>
          </a:xfrm>
          <a:prstGeom prst="rect">
            <a:avLst/>
          </a:prstGeom>
          <a:noFill/>
          <a:ln/>
        </p:spPr>
        <p:txBody>
          <a:bodyPr wrap="square" lIns="0" tIns="0" rIns="0" bIns="0" rtlCol="0" anchor="ctr"/>
          <a:lstStyle/>
          <a:p>
            <a:pPr marL="0" indent="0" algn="r">
              <a:buNone/>
            </a:pPr>
            <a:r>
              <a:rPr lang="en-US" sz="900" b="1" dirty="0">
                <a:solidFill>
                  <a:srgbClr val="FFFFFF"/>
                </a:solidFill>
                <a:latin typeface="Aptos" pitchFamily="34" charset="0"/>
                <a:ea typeface="Aptos" pitchFamily="34" charset="-122"/>
                <a:cs typeface="Aptos" pitchFamily="34" charset="-120"/>
              </a:rPr>
              <a:t>07</a:t>
            </a:r>
            <a:endParaRPr lang="en-US" sz="900" dirty="0"/>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pPr marL="0" indent="0">
              <a:buNone/>
            </a:pPr>
            <a:r>
              <a:rPr lang="en-US" sz="3000" b="1" dirty="0">
                <a:solidFill>
                  <a:srgbClr val="17324D"/>
                </a:solidFill>
                <a:latin typeface="Aptos Display" pitchFamily="34" charset="0"/>
                <a:ea typeface="Aptos Display" pitchFamily="34" charset="-122"/>
                <a:cs typeface="Aptos Display" pitchFamily="34" charset="-120"/>
              </a:rPr>
              <a:t>Statistical Inference Evidence</a:t>
            </a:r>
            <a:endParaRPr lang="en-US" sz="3000" dirty="0"/>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pPr marL="0" indent="0">
              <a:buNone/>
            </a:pPr>
            <a:r>
              <a:rPr lang="en-US" sz="1400" dirty="0">
                <a:solidFill>
                  <a:srgbClr val="4B5563"/>
                </a:solidFill>
                <a:latin typeface="Aptos" pitchFamily="34" charset="0"/>
                <a:ea typeface="Aptos" pitchFamily="34" charset="-122"/>
                <a:cs typeface="Aptos" pitchFamily="34" charset="-120"/>
              </a:rPr>
              <a:t>Use hypothesis testing to support business decisions with evidence.</a:t>
            </a:r>
            <a:endParaRPr lang="en-US" sz="1400" dirty="0"/>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T1: Welch's Two-Sample t-Test</a:t>
            </a:r>
            <a:endParaRPr lang="en-US" sz="1650" dirty="0"/>
          </a:p>
          <a:p>
            <a:pPr>
              <a:spcAft>
                <a:spcPts val="200"/>
              </a:spcAft>
              <a:defRPr sz="1000">
                <a:solidFill>
                  <a:srgbClr val="2D3748"/>
                </a:solidFill>
              </a:defRPr>
            </a:pPr>
            <a:r>
              <a:t>• H0: mu_Foreign == mu_Local spend per item</a:t>
            </a:r>
          </a:p>
          <a:p>
            <a:pPr>
              <a:spcAft>
                <a:spcPts val="200"/>
              </a:spcAft>
              <a:defRPr sz="1000">
                <a:solidFill>
                  <a:srgbClr val="2D3748"/>
                </a:solidFill>
              </a:defRPr>
            </a:pPr>
            <a:r>
              <a:t>• Result: t = 3.5810, df = 6140.4, p = 0.00034 &lt; 0.05</a:t>
            </a:r>
          </a:p>
          <a:p>
            <a:pPr>
              <a:spcAft>
                <a:spcPts val="200"/>
              </a:spcAft>
              <a:defRPr sz="1000">
                <a:solidFill>
                  <a:srgbClr val="2D3748"/>
                </a:solidFill>
              </a:defRPr>
            </a:pPr>
            <a:r>
              <a:t>• Decision: REJECT H0. Foreigners spend +LKR 25.32 more per item</a:t>
            </a:r>
          </a:p>
          <a:p>
            <a:pPr>
              <a:spcAft>
                <a:spcPts val="200"/>
              </a:spcAft>
              <a:defRPr sz="1000">
                <a:solidFill>
                  <a:srgbClr val="2D3748"/>
                </a:solidFill>
              </a:defRPr>
            </a:pPr>
            <a:r>
              <a:t>• Takeaway: Curate premium flights for tourist outlets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T2 &amp; T3: F-Test &amp; One-Way ANOVA</a:t>
            </a:r>
            <a:endParaRPr lang="en-US" sz="1650" dirty="0"/>
          </a:p>
          <a:p>
            <a:pPr>
              <a:spcAft>
                <a:spcPts val="200"/>
              </a:spcAft>
              <a:defRPr sz="1000">
                <a:solidFill>
                  <a:srgbClr val="2D3748"/>
                </a:solidFill>
              </a:defRPr>
            </a:pPr>
            <a:r>
              <a:t>• T2 (F-Test): Dine-In vs Takeaway Variance ratio = 0.9687 (p = 0.057)</a:t>
            </a:r>
          </a:p>
          <a:p>
            <a:pPr>
              <a:spcAft>
                <a:spcPts val="200"/>
              </a:spcAft>
              <a:defRPr sz="1000">
                <a:solidFill>
                  <a:srgbClr val="2D3748"/>
                </a:solidFill>
              </a:defRPr>
            </a:pPr>
            <a:r>
              <a:t>• Decision: Fail to Reject H0; basket volatility is consistent</a:t>
            </a:r>
          </a:p>
          <a:p>
            <a:pPr>
              <a:spcAft>
                <a:spcPts val="200"/>
              </a:spcAft>
              <a:defRPr sz="1000">
                <a:solidFill>
                  <a:srgbClr val="2D3748"/>
                </a:solidFill>
              </a:defRPr>
            </a:pPr>
            <a:r>
              <a:t>• T3 (ANOVA): Outlet Revenue F = 1.404, p = 0.1986</a:t>
            </a:r>
          </a:p>
          <a:p>
            <a:pPr>
              <a:spcAft>
                <a:spcPts val="200"/>
              </a:spcAft>
              <a:defRPr sz="1000">
                <a:solidFill>
                  <a:srgbClr val="2D3748"/>
                </a:solidFill>
              </a:defRPr>
            </a:pPr>
            <a:r>
              <a:t>• Takeaway: Base item pricing is standardized across chain branches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T4: Chi-Square Independence</a:t>
            </a:r>
            <a:endParaRPr lang="en-US" sz="1650" dirty="0"/>
          </a:p>
          <a:p>
            <a:pPr>
              <a:spcAft>
                <a:spcPts val="200"/>
              </a:spcAft>
              <a:defRPr sz="1000">
                <a:solidFill>
                  <a:srgbClr val="2D3748"/>
                </a:solidFill>
              </a:defRPr>
            </a:pPr>
            <a:r>
              <a:t>• H0: Payment Method is independent of Customer Type</a:t>
            </a:r>
          </a:p>
          <a:p>
            <a:pPr>
              <a:spcAft>
                <a:spcPts val="200"/>
              </a:spcAft>
              <a:defRPr sz="1000">
                <a:solidFill>
                  <a:srgbClr val="2D3748"/>
                </a:solidFill>
              </a:defRPr>
            </a:pPr>
            <a:r>
              <a:t>• Result: Chi-Sq = 4,270.2, df = 6, p &lt; 1e-4, Cramer's V = 0.381</a:t>
            </a:r>
          </a:p>
          <a:p>
            <a:pPr>
              <a:spcAft>
                <a:spcPts val="200"/>
              </a:spcAft>
              <a:defRPr sz="1000">
                <a:solidFill>
                  <a:srgbClr val="2D3748"/>
                </a:solidFill>
              </a:defRPr>
            </a:pPr>
            <a:r>
              <a:t>• Decision: REJECT H0. Highly significant association</a:t>
            </a:r>
          </a:p>
          <a:p>
            <a:pPr>
              <a:spcAft>
                <a:spcPts val="200"/>
              </a:spcAft>
              <a:defRPr sz="1000">
                <a:solidFill>
                  <a:srgbClr val="2D3748"/>
                </a:solidFill>
              </a:defRPr>
            </a:pPr>
            <a:r>
              <a:t>• Takeaway: Locals rely on delivery apps &amp; cash; Foreigners use cards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T5 &amp; T6: Kruskal-Wallis &amp; Correlation</a:t>
            </a:r>
            <a:endParaRPr lang="en-US" sz="1650" dirty="0"/>
          </a:p>
          <a:p>
            <a:pPr>
              <a:spcAft>
                <a:spcPts val="200"/>
              </a:spcAft>
              <a:defRPr sz="1000">
                <a:solidFill>
                  <a:srgbClr val="2D3748"/>
                </a:solidFill>
              </a:defRPr>
            </a:pPr>
            <a:r>
              <a:t>• T5: Median Qty across TOD: H = 0.778, p = 0.855 (Stable)</a:t>
            </a:r>
          </a:p>
          <a:p>
            <a:pPr>
              <a:spcAft>
                <a:spcPts val="200"/>
              </a:spcAft>
              <a:defRPr sz="1000">
                <a:solidFill>
                  <a:srgbClr val="2D3748"/>
                </a:solidFill>
              </a:defRPr>
            </a:pPr>
            <a:r>
              <a:t>• T6: Discount vs Revenue: r = +0.034, t = 5.762, p &lt; 1e-4</a:t>
            </a:r>
          </a:p>
          <a:p>
            <a:pPr>
              <a:spcAft>
                <a:spcPts val="200"/>
              </a:spcAft>
              <a:defRPr sz="1000">
                <a:solidFill>
                  <a:srgbClr val="2D3748"/>
                </a:solidFill>
              </a:defRPr>
            </a:pPr>
            <a:r>
              <a:t>• Takeaway: Promotional discounts stimulate volume without</a:t>
            </a:r>
          </a:p>
          <a:p>
            <a:pPr>
              <a:spcAft>
                <a:spcPts val="200"/>
              </a:spcAft>
              <a:defRPr sz="1000">
                <a:solidFill>
                  <a:srgbClr val="2D3748"/>
                </a:solidFill>
              </a:defRPr>
            </a:pPr>
            <a:r>
              <a:t>• cannibalizing overall item revenue</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Tests</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pPr marL="0" indent="0">
              <a:buNone/>
            </a:pPr>
            <a:r>
              <a:rPr lang="en-US" sz="850" b="1" dirty="0">
                <a:solidFill>
                  <a:srgbClr val="FFFFFF"/>
                </a:solidFill>
                <a:latin typeface="Aptos" pitchFamily="34" charset="0"/>
                <a:ea typeface="Aptos" pitchFamily="34" charset="-122"/>
                <a:cs typeface="Aptos" pitchFamily="34" charset="-120"/>
              </a:rPr>
              <a:t>Task 5</a:t>
            </a:r>
            <a:endParaRPr lang="en-US" sz="850" dirty="0"/>
          </a:p>
        </p:txBody>
      </p:sp>
      <p:sp>
        <p:nvSpPr>
          <p:cNvPr id="4" name="Text 2"/>
          <p:cNvSpPr/>
          <p:nvPr/>
        </p:nvSpPr>
        <p:spPr>
          <a:xfrm>
            <a:off x="11292840" y="64008"/>
            <a:ext cx="411480" cy="164592"/>
          </a:xfrm>
          <a:prstGeom prst="rect">
            <a:avLst/>
          </a:prstGeom>
          <a:noFill/>
          <a:ln/>
        </p:spPr>
        <p:txBody>
          <a:bodyPr wrap="square" lIns="0" tIns="0" rIns="0" bIns="0" rtlCol="0" anchor="ctr"/>
          <a:lstStyle/>
          <a:p>
            <a:pPr marL="0" indent="0" algn="r">
              <a:buNone/>
            </a:pPr>
            <a:r>
              <a:rPr lang="en-US" sz="900" b="1" dirty="0">
                <a:solidFill>
                  <a:srgbClr val="FFFFFF"/>
                </a:solidFill>
                <a:latin typeface="Aptos" pitchFamily="34" charset="0"/>
                <a:ea typeface="Aptos" pitchFamily="34" charset="-122"/>
                <a:cs typeface="Aptos" pitchFamily="34" charset="-120"/>
              </a:rPr>
              <a:t>08</a:t>
            </a:r>
            <a:endParaRPr lang="en-US" sz="900" dirty="0"/>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pPr marL="0" indent="0">
              <a:buNone/>
            </a:pPr>
            <a:r>
              <a:rPr lang="en-US" sz="3000" b="1" dirty="0">
                <a:solidFill>
                  <a:srgbClr val="17324D"/>
                </a:solidFill>
                <a:latin typeface="Aptos Display" pitchFamily="34" charset="0"/>
                <a:ea typeface="Aptos Display" pitchFamily="34" charset="-122"/>
                <a:cs typeface="Aptos Display" pitchFamily="34" charset="-120"/>
              </a:rPr>
              <a:t>Predictive Statistical Modelling</a:t>
            </a:r>
            <a:endParaRPr lang="en-US" sz="3000" dirty="0"/>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pPr marL="0" indent="0">
              <a:buNone/>
            </a:pPr>
            <a:r>
              <a:rPr lang="en-US" sz="1400" dirty="0">
                <a:solidFill>
                  <a:srgbClr val="4B5563"/>
                </a:solidFill>
                <a:latin typeface="Aptos" pitchFamily="34" charset="0"/>
                <a:ea typeface="Aptos" pitchFamily="34" charset="-122"/>
                <a:cs typeface="Aptos" pitchFamily="34" charset="-120"/>
              </a:rPr>
              <a:t>Explain the models used and why they are suitable for the problem.</a:t>
            </a:r>
            <a:endParaRPr lang="en-US" sz="1400" dirty="0"/>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4-Member Model Allocation</a:t>
            </a:r>
            <a:endParaRPr lang="en-US" sz="1650" dirty="0"/>
          </a:p>
          <a:p>
            <a:pPr>
              <a:spcAft>
                <a:spcPts val="200"/>
              </a:spcAft>
              <a:defRPr sz="1000">
                <a:solidFill>
                  <a:srgbClr val="2D3748"/>
                </a:solidFill>
              </a:defRPr>
            </a:pPr>
            <a:r>
              <a:t>• Member 1: Multinomial Logistic Regression (nnet)</a:t>
            </a:r>
          </a:p>
          <a:p>
            <a:pPr>
              <a:spcAft>
                <a:spcPts val="200"/>
              </a:spcAft>
              <a:defRPr sz="1000">
                <a:solidFill>
                  <a:srgbClr val="2D3748"/>
                </a:solidFill>
              </a:defRPr>
            </a:pPr>
            <a:r>
              <a:t>• Member 2: Decision Tree / CART (rpart)</a:t>
            </a:r>
          </a:p>
          <a:p>
            <a:pPr>
              <a:spcAft>
                <a:spcPts val="200"/>
              </a:spcAft>
              <a:defRPr sz="1000">
                <a:solidFill>
                  <a:srgbClr val="2D3748"/>
                </a:solidFill>
              </a:defRPr>
            </a:pPr>
            <a:r>
              <a:t>• Member 3: Random Forest (100 Trees)</a:t>
            </a:r>
          </a:p>
          <a:p>
            <a:pPr>
              <a:spcAft>
                <a:spcPts val="200"/>
              </a:spcAft>
              <a:defRPr sz="1000">
                <a:solidFill>
                  <a:srgbClr val="2D3748"/>
                </a:solidFill>
              </a:defRPr>
            </a:pPr>
            <a:r>
              <a:t>• Member 4: Naïve Bayes Classifier (e1071)</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Leaderboard Comparison (20% Test)</a:t>
            </a:r>
            <a:endParaRPr lang="en-US" sz="1650" dirty="0"/>
          </a:p>
          <a:p>
            <a:pPr>
              <a:spcAft>
                <a:spcPts val="200"/>
              </a:spcAft>
              <a:defRPr sz="1000">
                <a:solidFill>
                  <a:srgbClr val="2D3748"/>
                </a:solidFill>
              </a:defRPr>
            </a:pPr>
            <a:r>
              <a:t>• 1. Decision Tree (CART): 54.38% Acc | 52.86% F1 | 0.77s</a:t>
            </a:r>
          </a:p>
          <a:p>
            <a:pPr>
              <a:spcAft>
                <a:spcPts val="200"/>
              </a:spcAft>
              <a:defRPr sz="1000">
                <a:solidFill>
                  <a:srgbClr val="2D3748"/>
                </a:solidFill>
              </a:defRPr>
            </a:pPr>
            <a:r>
              <a:t>• 2. Multinomial Logistic: 54.18% Acc | 50.48% F1 | 2.81s</a:t>
            </a:r>
          </a:p>
          <a:p>
            <a:pPr>
              <a:spcAft>
                <a:spcPts val="200"/>
              </a:spcAft>
              <a:defRPr sz="1000">
                <a:solidFill>
                  <a:srgbClr val="2D3748"/>
                </a:solidFill>
              </a:defRPr>
            </a:pPr>
            <a:r>
              <a:t>• 3. Naïve Bayes: 53.72% Acc | 50.00% F1 | 1.23s</a:t>
            </a:r>
          </a:p>
          <a:p>
            <a:pPr>
              <a:spcAft>
                <a:spcPts val="200"/>
              </a:spcAft>
              <a:defRPr sz="1000">
                <a:solidFill>
                  <a:srgbClr val="2D3748"/>
                </a:solidFill>
              </a:defRPr>
            </a:pPr>
            <a:r>
              <a:t>• 4. Random Forest: 53.60% Acc | 50.33% F1 | 5.91s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Champion Selection Rationale</a:t>
            </a:r>
            <a:endParaRPr lang="en-US" sz="1650" dirty="0"/>
          </a:p>
          <a:p>
            <a:pPr>
              <a:spcAft>
                <a:spcPts val="200"/>
              </a:spcAft>
              <a:defRPr sz="1000">
                <a:solidFill>
                  <a:srgbClr val="2D3748"/>
                </a:solidFill>
              </a:defRPr>
            </a:pPr>
            <a:r>
              <a:t>• Decision Tree (CART - Member 2) selected as Champion:</a:t>
            </a:r>
          </a:p>
          <a:p>
            <a:pPr>
              <a:spcAft>
                <a:spcPts val="200"/>
              </a:spcAft>
              <a:defRPr sz="1000">
                <a:solidFill>
                  <a:srgbClr val="2D3748"/>
                </a:solidFill>
              </a:defRPr>
            </a:pPr>
            <a:r>
              <a:t>• • Highest overall classification accuracy (54.38%)</a:t>
            </a:r>
          </a:p>
          <a:p>
            <a:pPr>
              <a:spcAft>
                <a:spcPts val="200"/>
              </a:spcAft>
              <a:defRPr sz="1000">
                <a:solidFill>
                  <a:srgbClr val="2D3748"/>
                </a:solidFill>
              </a:defRPr>
            </a:pPr>
            <a:r>
              <a:t>• • Superior Macro-F1 across minority categories (Deals/Merch)</a:t>
            </a:r>
          </a:p>
          <a:p>
            <a:pPr>
              <a:spcAft>
                <a:spcPts val="200"/>
              </a:spcAft>
              <a:defRPr sz="1000">
                <a:solidFill>
                  <a:srgbClr val="2D3748"/>
                </a:solidFill>
              </a:defRPr>
            </a:pPr>
            <a:r>
              <a:t>• • Sub-second inference latency (0.77s) suited for POS hardware</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POS Operational Advantage</a:t>
            </a:r>
            <a:endParaRPr lang="en-US" sz="1650" dirty="0"/>
          </a:p>
          <a:p>
            <a:pPr>
              <a:spcAft>
                <a:spcPts val="200"/>
              </a:spcAft>
              <a:defRPr sz="1000">
                <a:solidFill>
                  <a:srgbClr val="2D3748"/>
                </a:solidFill>
              </a:defRPr>
            </a:pPr>
            <a:r>
              <a:t>• Unlike black-box ensembles, Decision Trees output transparent</a:t>
            </a:r>
          </a:p>
          <a:p>
            <a:pPr>
              <a:spcAft>
                <a:spcPts val="200"/>
              </a:spcAft>
              <a:defRPr sz="1000">
                <a:solidFill>
                  <a:srgbClr val="2D3748"/>
                </a:solidFill>
              </a:defRPr>
            </a:pPr>
            <a:r>
              <a:t>• if-then rules (e.g., If Morning + Regular -&gt; Beverage).</a:t>
            </a:r>
          </a:p>
          <a:p>
            <a:pPr>
              <a:spcAft>
                <a:spcPts val="200"/>
              </a:spcAft>
              <a:defRPr sz="1000">
                <a:solidFill>
                  <a:srgbClr val="2D3748"/>
                </a:solidFill>
              </a:defRPr>
            </a:pPr>
            <a:r>
              <a:t>• Enables simple staff training and instant POS rendering.</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Model</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pPr marL="0" indent="0">
              <a:buNone/>
            </a:pPr>
            <a:r>
              <a:rPr lang="en-US" sz="850" b="1" dirty="0">
                <a:solidFill>
                  <a:srgbClr val="FFFFFF"/>
                </a:solidFill>
                <a:latin typeface="Aptos" pitchFamily="34" charset="0"/>
                <a:ea typeface="Aptos" pitchFamily="34" charset="-122"/>
                <a:cs typeface="Aptos" pitchFamily="34" charset="-120"/>
              </a:rPr>
              <a:t>Task 6</a:t>
            </a:r>
            <a:endParaRPr lang="en-US" sz="850" dirty="0"/>
          </a:p>
        </p:txBody>
      </p:sp>
      <p:sp>
        <p:nvSpPr>
          <p:cNvPr id="4" name="Text 2"/>
          <p:cNvSpPr/>
          <p:nvPr/>
        </p:nvSpPr>
        <p:spPr>
          <a:xfrm>
            <a:off x="11292840" y="64008"/>
            <a:ext cx="411480" cy="164592"/>
          </a:xfrm>
          <a:prstGeom prst="rect">
            <a:avLst/>
          </a:prstGeom>
          <a:noFill/>
          <a:ln/>
        </p:spPr>
        <p:txBody>
          <a:bodyPr wrap="square" lIns="0" tIns="0" rIns="0" bIns="0" rtlCol="0" anchor="ctr"/>
          <a:lstStyle/>
          <a:p>
            <a:pPr marL="0" indent="0" algn="r">
              <a:buNone/>
            </a:pPr>
            <a:r>
              <a:rPr lang="en-US" sz="900" b="1" dirty="0">
                <a:solidFill>
                  <a:srgbClr val="FFFFFF"/>
                </a:solidFill>
                <a:latin typeface="Aptos" pitchFamily="34" charset="0"/>
                <a:ea typeface="Aptos" pitchFamily="34" charset="-122"/>
                <a:cs typeface="Aptos" pitchFamily="34" charset="-120"/>
              </a:rPr>
              <a:t>09</a:t>
            </a:r>
            <a:endParaRPr lang="en-US" sz="900" dirty="0"/>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pPr marL="0" indent="0">
              <a:buNone/>
            </a:pPr>
            <a:r>
              <a:rPr lang="en-US" sz="3000" b="1" dirty="0">
                <a:solidFill>
                  <a:srgbClr val="17324D"/>
                </a:solidFill>
                <a:latin typeface="Aptos Display" pitchFamily="34" charset="0"/>
                <a:ea typeface="Aptos Display" pitchFamily="34" charset="-122"/>
                <a:cs typeface="Aptos Display" pitchFamily="34" charset="-120"/>
              </a:rPr>
              <a:t>Experimental Design Evaluation</a:t>
            </a:r>
            <a:endParaRPr lang="en-US" sz="3000" dirty="0"/>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pPr marL="0" indent="0">
              <a:buNone/>
            </a:pPr>
            <a:r>
              <a:rPr lang="en-US" sz="1400" dirty="0">
                <a:solidFill>
                  <a:srgbClr val="4B5563"/>
                </a:solidFill>
                <a:latin typeface="Aptos" pitchFamily="34" charset="0"/>
                <a:ea typeface="Aptos" pitchFamily="34" charset="-122"/>
                <a:cs typeface="Aptos" pitchFamily="34" charset="-120"/>
              </a:rPr>
              <a:t>Discuss how future experiments could improve decision-making.</a:t>
            </a:r>
            <a:endParaRPr lang="en-US" sz="1400" dirty="0"/>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Completely Randomized Design (CRD)</a:t>
            </a:r>
            <a:endParaRPr lang="en-US" sz="1650" dirty="0"/>
          </a:p>
          <a:p>
            <a:pPr>
              <a:spcAft>
                <a:spcPts val="200"/>
              </a:spcAft>
              <a:defRPr sz="1000">
                <a:solidFill>
                  <a:srgbClr val="2D3748"/>
                </a:solidFill>
              </a:defRPr>
            </a:pPr>
            <a:r>
              <a:t>• Randomly assigning discount levels across orders/days</a:t>
            </a:r>
          </a:p>
          <a:p>
            <a:pPr>
              <a:spcAft>
                <a:spcPts val="200"/>
              </a:spcAft>
              <a:defRPr sz="1000">
                <a:solidFill>
                  <a:srgbClr val="2D3748"/>
                </a:solidFill>
              </a:defRPr>
            </a:pPr>
            <a:r>
              <a:t>• Advantage: Maximum degrees of freedom for error term</a:t>
            </a:r>
          </a:p>
          <a:p>
            <a:pPr>
              <a:spcAft>
                <a:spcPts val="200"/>
              </a:spcAft>
              <a:defRPr sz="1000">
                <a:solidFill>
                  <a:srgbClr val="2D3748"/>
                </a:solidFill>
              </a:defRPr>
            </a:pPr>
            <a:r>
              <a:t>• Fatal Flaw: High residual variance; store-level foot traffic</a:t>
            </a:r>
          </a:p>
          <a:p>
            <a:pPr>
              <a:spcAft>
                <a:spcPts val="200"/>
              </a:spcAft>
              <a:defRPr sz="1000">
                <a:solidFill>
                  <a:srgbClr val="2D3748"/>
                </a:solidFill>
              </a:defRPr>
            </a:pPr>
            <a:r>
              <a:t>• confounds treatment effect (e.g. flagship vs rural)</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Randomized Complete Block (RCBD)</a:t>
            </a:r>
            <a:endParaRPr lang="en-US" sz="1650" dirty="0"/>
          </a:p>
          <a:p>
            <a:pPr>
              <a:spcAft>
                <a:spcPts val="200"/>
              </a:spcAft>
              <a:defRPr sz="1000">
                <a:solidFill>
                  <a:srgbClr val="2D3748"/>
                </a:solidFill>
              </a:defRPr>
            </a:pPr>
            <a:r>
              <a:t>• Stratifies stores into homogeneous 'blocks' prior to testing</a:t>
            </a:r>
          </a:p>
          <a:p>
            <a:pPr>
              <a:spcAft>
                <a:spcPts val="200"/>
              </a:spcAft>
              <a:defRPr sz="1000">
                <a:solidFill>
                  <a:srgbClr val="2D3748"/>
                </a:solidFill>
              </a:defRPr>
            </a:pPr>
            <a:r>
              <a:t>• Each store outlet receives all discount treatments sequentially</a:t>
            </a:r>
          </a:p>
          <a:p>
            <a:pPr>
              <a:spcAft>
                <a:spcPts val="200"/>
              </a:spcAft>
              <a:defRPr sz="1000">
                <a:solidFill>
                  <a:srgbClr val="2D3748"/>
                </a:solidFill>
              </a:defRPr>
            </a:pPr>
            <a:r>
              <a:t>• Model: Y_ij = mu + tau_i (Discount) + beta_j (Store) + eps_ij</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Evaluation &amp; Advantages of RCBD</a:t>
            </a:r>
            <a:endParaRPr lang="en-US" sz="1650" dirty="0"/>
          </a:p>
          <a:p>
            <a:pPr>
              <a:spcAft>
                <a:spcPts val="200"/>
              </a:spcAft>
              <a:defRPr sz="1000">
                <a:solidFill>
                  <a:srgbClr val="2D3748"/>
                </a:solidFill>
              </a:defRPr>
            </a:pPr>
            <a:r>
              <a:t>• Removes between-outlet variance from experimental error</a:t>
            </a:r>
          </a:p>
          <a:p>
            <a:pPr>
              <a:spcAft>
                <a:spcPts val="200"/>
              </a:spcAft>
              <a:defRPr sz="1000">
                <a:solidFill>
                  <a:srgbClr val="2D3748"/>
                </a:solidFill>
              </a:defRPr>
            </a:pPr>
            <a:r>
              <a:t>• Increases statistical power by 30-40% compared to CRD</a:t>
            </a:r>
          </a:p>
          <a:p>
            <a:pPr>
              <a:spcAft>
                <a:spcPts val="200"/>
              </a:spcAft>
              <a:defRPr sz="1000">
                <a:solidFill>
                  <a:srgbClr val="2D3748"/>
                </a:solidFill>
              </a:defRPr>
            </a:pPr>
            <a:r>
              <a:t>• Controls for geographic foot-traffic and outlet size heterogeneity</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Implementation Feasibility</a:t>
            </a:r>
            <a:endParaRPr lang="en-US" sz="1650" dirty="0"/>
          </a:p>
          <a:p>
            <a:pPr>
              <a:spcAft>
                <a:spcPts val="200"/>
              </a:spcAft>
              <a:defRPr sz="1000">
                <a:solidFill>
                  <a:srgbClr val="2D3748"/>
                </a:solidFill>
              </a:defRPr>
            </a:pPr>
            <a:r>
              <a:t>• High feasibility via BladeGen Tech's centralized cloud POS</a:t>
            </a:r>
          </a:p>
          <a:p>
            <a:pPr>
              <a:spcAft>
                <a:spcPts val="200"/>
              </a:spcAft>
              <a:defRPr sz="1000">
                <a:solidFill>
                  <a:srgbClr val="2D3748"/>
                </a:solidFill>
              </a:defRPr>
            </a:pPr>
            <a:r>
              <a:t>• Recommended: Block by store tier (Commercial, Suburban, Tourist)</a:t>
            </a:r>
          </a:p>
          <a:p>
            <a:pPr>
              <a:spcAft>
                <a:spcPts val="200"/>
              </a:spcAft>
              <a:defRPr sz="1000">
                <a:solidFill>
                  <a:srgbClr val="2D3748"/>
                </a:solidFill>
              </a:defRPr>
            </a:pPr>
            <a:r>
              <a:t>• Mitigates spillover by testing promotions during midweek periods</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CRD / RCBD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pPr marL="0" indent="0">
              <a:buNone/>
            </a:pPr>
            <a:r>
              <a:rPr lang="en-US" sz="850" b="1" dirty="0">
                <a:solidFill>
                  <a:srgbClr val="FFFFFF"/>
                </a:solidFill>
                <a:latin typeface="Aptos" pitchFamily="34" charset="0"/>
                <a:ea typeface="Aptos" pitchFamily="34" charset="-122"/>
                <a:cs typeface="Aptos" pitchFamily="34" charset="-120"/>
              </a:rPr>
              <a:t>Task 7</a:t>
            </a:r>
            <a:endParaRPr lang="en-US" sz="850" dirty="0"/>
          </a:p>
        </p:txBody>
      </p:sp>
      <p:sp>
        <p:nvSpPr>
          <p:cNvPr id="4" name="Text 2"/>
          <p:cNvSpPr/>
          <p:nvPr/>
        </p:nvSpPr>
        <p:spPr>
          <a:xfrm>
            <a:off x="11292840" y="64008"/>
            <a:ext cx="411480" cy="164592"/>
          </a:xfrm>
          <a:prstGeom prst="rect">
            <a:avLst/>
          </a:prstGeom>
          <a:noFill/>
          <a:ln/>
        </p:spPr>
        <p:txBody>
          <a:bodyPr wrap="square" lIns="0" tIns="0" rIns="0" bIns="0" rtlCol="0" anchor="ctr"/>
          <a:lstStyle/>
          <a:p>
            <a:pPr marL="0" indent="0" algn="r">
              <a:buNone/>
            </a:pPr>
            <a:r>
              <a:rPr lang="en-US" sz="900" b="1" dirty="0">
                <a:solidFill>
                  <a:srgbClr val="FFFFFF"/>
                </a:solidFill>
                <a:latin typeface="Aptos" pitchFamily="34" charset="0"/>
                <a:ea typeface="Aptos" pitchFamily="34" charset="-122"/>
                <a:cs typeface="Aptos" pitchFamily="34" charset="-120"/>
              </a:rPr>
              <a:t>10</a:t>
            </a:r>
            <a:endParaRPr lang="en-US" sz="900" dirty="0"/>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pPr marL="0" indent="0">
              <a:buNone/>
            </a:pPr>
            <a:r>
              <a:rPr lang="en-US" sz="3000" b="1" dirty="0">
                <a:solidFill>
                  <a:srgbClr val="17324D"/>
                </a:solidFill>
                <a:latin typeface="Aptos Display" pitchFamily="34" charset="0"/>
                <a:ea typeface="Aptos Display" pitchFamily="34" charset="-122"/>
                <a:cs typeface="Aptos Display" pitchFamily="34" charset="-120"/>
              </a:rPr>
              <a:t>PCA Evaluation</a:t>
            </a:r>
            <a:endParaRPr lang="en-US" sz="3000" dirty="0"/>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pPr marL="0" indent="0">
              <a:buNone/>
            </a:pPr>
            <a:r>
              <a:rPr lang="en-US" sz="1400" dirty="0">
                <a:solidFill>
                  <a:srgbClr val="4B5563"/>
                </a:solidFill>
                <a:latin typeface="Aptos" pitchFamily="34" charset="0"/>
                <a:ea typeface="Aptos" pitchFamily="34" charset="-122"/>
                <a:cs typeface="Aptos" pitchFamily="34" charset="-120"/>
              </a:rPr>
              <a:t>Critically discuss whether PCA is useful for your dataset.</a:t>
            </a:r>
            <a:endParaRPr lang="en-US" sz="1400" dirty="0"/>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Dimensionality Assessment</a:t>
            </a:r>
            <a:endParaRPr lang="en-US" sz="1650" dirty="0"/>
          </a:p>
          <a:p>
            <a:pPr>
              <a:spcAft>
                <a:spcPts val="200"/>
              </a:spcAft>
              <a:defRPr sz="1000">
                <a:solidFill>
                  <a:srgbClr val="2D3748"/>
                </a:solidFill>
              </a:defRPr>
            </a:pPr>
            <a:r>
              <a:t>• Evaluated 5 numeric indicators (Qty, Rate, Disc, Svc, Rev)</a:t>
            </a:r>
          </a:p>
          <a:p>
            <a:pPr>
              <a:spcAft>
                <a:spcPts val="200"/>
              </a:spcAft>
              <a:defRPr sz="1000">
                <a:solidFill>
                  <a:srgbClr val="2D3748"/>
                </a:solidFill>
              </a:defRPr>
            </a:pPr>
            <a:r>
              <a:t>• Findings: Dimensionality reduction is NOT mathematically mandatory</a:t>
            </a:r>
          </a:p>
          <a:p>
            <a:pPr>
              <a:spcAft>
                <a:spcPts val="200"/>
              </a:spcAft>
              <a:defRPr sz="1000">
                <a:solidFill>
                  <a:srgbClr val="2D3748"/>
                </a:solidFill>
              </a:defRPr>
            </a:pPr>
            <a:r>
              <a:t>• because p (5) &lt;&lt; n (29,465), avoiding curse of dimensionality</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Variance Decomposition</a:t>
            </a:r>
            <a:endParaRPr lang="en-US" sz="1650" dirty="0"/>
          </a:p>
          <a:p>
            <a:pPr>
              <a:spcAft>
                <a:spcPts val="200"/>
              </a:spcAft>
              <a:defRPr sz="1000">
                <a:solidFill>
                  <a:srgbClr val="2D3748"/>
                </a:solidFill>
              </a:defRPr>
            </a:pPr>
            <a:r>
              <a:t>• PC1 explains 45.30% variance (Eigenvalue = 2.26)</a:t>
            </a:r>
          </a:p>
          <a:p>
            <a:pPr>
              <a:spcAft>
                <a:spcPts val="200"/>
              </a:spcAft>
              <a:defRPr sz="1000">
                <a:solidFill>
                  <a:srgbClr val="2D3748"/>
                </a:solidFill>
              </a:defRPr>
            </a:pPr>
            <a:r>
              <a:t>• PC2 explains 20.22% variance (Eigenvalue = 1.01)</a:t>
            </a:r>
          </a:p>
          <a:p>
            <a:pPr>
              <a:spcAft>
                <a:spcPts val="200"/>
              </a:spcAft>
              <a:defRPr sz="1000">
                <a:solidFill>
                  <a:srgbClr val="2D3748"/>
                </a:solidFill>
              </a:defRPr>
            </a:pPr>
            <a:r>
              <a:t>• Together, PC1 + PC2 capture 65.52% of total financial variance</a:t>
            </a:r>
          </a:p>
          <a:p>
            <a:pPr>
              <a:spcAft>
                <a:spcPts val="200"/>
              </a:spcAft>
              <a:defRPr sz="1000">
                <a:solidFill>
                  <a:srgbClr val="2D3748"/>
                </a:solidFill>
              </a:defRPr>
            </a:pPr>
            <a:r>
              <a:t>• Kaiser criterion (Eigenvalue &gt; 1) confirms 2 retained PCs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Loadings &amp; Biplot Interpretation</a:t>
            </a:r>
            <a:endParaRPr lang="en-US" sz="1650" dirty="0"/>
          </a:p>
          <a:p>
            <a:pPr>
              <a:spcAft>
                <a:spcPts val="200"/>
              </a:spcAft>
              <a:defRPr sz="1000">
                <a:solidFill>
                  <a:srgbClr val="2D3748"/>
                </a:solidFill>
              </a:defRPr>
            </a:pPr>
            <a:r>
              <a:t>• PC1: Heavily loaded on Revenue (+0.64), Qty (+0.64), Svc (+0.41)</a:t>
            </a:r>
          </a:p>
          <a:p>
            <a:pPr>
              <a:spcAft>
                <a:spcPts val="200"/>
              </a:spcAft>
              <a:defRPr sz="1000">
                <a:solidFill>
                  <a:srgbClr val="2D3748"/>
                </a:solidFill>
              </a:defRPr>
            </a:pPr>
            <a:r>
              <a:t>• -&gt; Interpreted as overall 'Basket Scale &amp; Monetary Magnitude'</a:t>
            </a:r>
          </a:p>
          <a:p>
            <a:pPr>
              <a:spcAft>
                <a:spcPts val="200"/>
              </a:spcAft>
              <a:defRPr sz="1000">
                <a:solidFill>
                  <a:srgbClr val="2D3748"/>
                </a:solidFill>
              </a:defRPr>
            </a:pPr>
            <a:r>
              <a:t>• PC2: Contrasts Discount (+0.76) against AdjustedRate (-0.62)</a:t>
            </a:r>
          </a:p>
          <a:p>
            <a:pPr>
              <a:spcAft>
                <a:spcPts val="200"/>
              </a:spcAft>
              <a:defRPr sz="1000">
                <a:solidFill>
                  <a:srgbClr val="2D3748"/>
                </a:solidFill>
              </a:defRPr>
            </a:pPr>
            <a:r>
              <a:t>• -&gt; Interpreted as 'Promotion Sensitivity vs. Base Price'</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Impact on Predictive Modelling</a:t>
            </a:r>
            <a:endParaRPr lang="en-US" sz="1650" dirty="0"/>
          </a:p>
          <a:p>
            <a:pPr>
              <a:spcAft>
                <a:spcPts val="200"/>
              </a:spcAft>
              <a:defRPr sz="1000">
                <a:solidFill>
                  <a:srgbClr val="2D3748"/>
                </a:solidFill>
              </a:defRPr>
            </a:pPr>
            <a:r>
              <a:t>• PCA eliminates multicollinearity for GLMs but degrades tree</a:t>
            </a:r>
          </a:p>
          <a:p>
            <a:pPr>
              <a:spcAft>
                <a:spcPts val="200"/>
              </a:spcAft>
              <a:defRPr sz="1000">
                <a:solidFill>
                  <a:srgbClr val="2D3748"/>
                </a:solidFill>
              </a:defRPr>
            </a:pPr>
            <a:r>
              <a:t>• interpretability. We recommend using PCs for macro customer</a:t>
            </a:r>
          </a:p>
          <a:p>
            <a:pPr>
              <a:spcAft>
                <a:spcPts val="200"/>
              </a:spcAft>
              <a:defRPr sz="1000">
                <a:solidFill>
                  <a:srgbClr val="2D3748"/>
                </a:solidFill>
              </a:defRPr>
            </a:pPr>
            <a:r>
              <a:t>• segmentation, while retaining raw features for POS decision rules.</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PCA</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pPr marL="0" indent="0">
              <a:buNone/>
            </a:pPr>
            <a:r>
              <a:rPr lang="en-US" sz="850" b="1" dirty="0">
                <a:solidFill>
                  <a:srgbClr val="FFFFFF"/>
                </a:solidFill>
                <a:latin typeface="Aptos" pitchFamily="34" charset="0"/>
                <a:ea typeface="Aptos" pitchFamily="34" charset="-122"/>
                <a:cs typeface="Aptos" pitchFamily="34" charset="-120"/>
              </a:rPr>
              <a:t>Task 8</a:t>
            </a:r>
            <a:endParaRPr lang="en-US" sz="850" dirty="0"/>
          </a:p>
        </p:txBody>
      </p:sp>
      <p:sp>
        <p:nvSpPr>
          <p:cNvPr id="4" name="Text 2"/>
          <p:cNvSpPr/>
          <p:nvPr/>
        </p:nvSpPr>
        <p:spPr>
          <a:xfrm>
            <a:off x="11292840" y="64008"/>
            <a:ext cx="411480" cy="164592"/>
          </a:xfrm>
          <a:prstGeom prst="rect">
            <a:avLst/>
          </a:prstGeom>
          <a:noFill/>
          <a:ln/>
        </p:spPr>
        <p:txBody>
          <a:bodyPr wrap="square" lIns="0" tIns="0" rIns="0" bIns="0" rtlCol="0" anchor="ctr"/>
          <a:lstStyle/>
          <a:p>
            <a:pPr marL="0" indent="0" algn="r">
              <a:buNone/>
            </a:pPr>
            <a:r>
              <a:rPr lang="en-US" sz="900" b="1" dirty="0">
                <a:solidFill>
                  <a:srgbClr val="FFFFFF"/>
                </a:solidFill>
                <a:latin typeface="Aptos" pitchFamily="34" charset="0"/>
                <a:ea typeface="Aptos" pitchFamily="34" charset="-122"/>
                <a:cs typeface="Aptos" pitchFamily="34" charset="-120"/>
              </a:rPr>
              <a:t>11</a:t>
            </a:r>
            <a:endParaRPr lang="en-US" sz="900" dirty="0"/>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pPr marL="0" indent="0">
              <a:buNone/>
            </a:pPr>
            <a:r>
              <a:rPr lang="en-US" sz="3000" b="1" dirty="0">
                <a:solidFill>
                  <a:srgbClr val="17324D"/>
                </a:solidFill>
                <a:latin typeface="Aptos Display" pitchFamily="34" charset="0"/>
                <a:ea typeface="Aptos Display" pitchFamily="34" charset="-122"/>
                <a:cs typeface="Aptos Display" pitchFamily="34" charset="-120"/>
              </a:rPr>
              <a:t>Bayesian Statistical Methods</a:t>
            </a:r>
            <a:endParaRPr lang="en-US" sz="3000" dirty="0"/>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pPr marL="0" indent="0">
              <a:buNone/>
            </a:pPr>
            <a:r>
              <a:rPr lang="en-US" sz="1400" dirty="0">
                <a:solidFill>
                  <a:srgbClr val="4B5563"/>
                </a:solidFill>
                <a:latin typeface="Aptos" pitchFamily="34" charset="0"/>
                <a:ea typeface="Aptos" pitchFamily="34" charset="-122"/>
                <a:cs typeface="Aptos" pitchFamily="34" charset="-120"/>
              </a:rPr>
              <a:t>Evaluate whether Bayesian approaches are useful for this case.</a:t>
            </a:r>
            <a:endParaRPr lang="en-US" sz="1400" dirty="0"/>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Empirical Prior Distributions</a:t>
            </a:r>
            <a:endParaRPr lang="en-US" sz="1650" dirty="0"/>
          </a:p>
          <a:p>
            <a:pPr>
              <a:spcAft>
                <a:spcPts val="200"/>
              </a:spcAft>
              <a:defRPr sz="1000">
                <a:solidFill>
                  <a:srgbClr val="2D3748"/>
                </a:solidFill>
              </a:defRPr>
            </a:pPr>
            <a:r>
              <a:t>• Empirical Class Priors: Beverage = 53.9%, Food = 37.3%,</a:t>
            </a:r>
          </a:p>
          <a:p>
            <a:pPr>
              <a:spcAft>
                <a:spcPts val="200"/>
              </a:spcAft>
              <a:defRPr sz="1000">
                <a:solidFill>
                  <a:srgbClr val="2D3748"/>
                </a:solidFill>
              </a:defRPr>
            </a:pPr>
            <a:r>
              <a:t>• Deals = 4.6%, Merchandizing = 4.2%</a:t>
            </a:r>
          </a:p>
          <a:p>
            <a:pPr>
              <a:spcAft>
                <a:spcPts val="200"/>
              </a:spcAft>
              <a:defRPr sz="1000">
                <a:solidFill>
                  <a:srgbClr val="2D3748"/>
                </a:solidFill>
              </a:defRPr>
            </a:pPr>
            <a:r>
              <a:t>• Priors reflect historical baseline purchasing habits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Naïve Bayes Architecture</a:t>
            </a:r>
            <a:endParaRPr lang="en-US" sz="1650" dirty="0"/>
          </a:p>
          <a:p>
            <a:pPr>
              <a:spcAft>
                <a:spcPts val="200"/>
              </a:spcAft>
              <a:defRPr sz="1000">
                <a:solidFill>
                  <a:srgbClr val="2D3748"/>
                </a:solidFill>
              </a:defRPr>
            </a:pPr>
            <a:r>
              <a:t>• Model 4 achieved 53.72% test accuracy (Member 4)</a:t>
            </a:r>
          </a:p>
          <a:p>
            <a:pPr>
              <a:spcAft>
                <a:spcPts val="200"/>
              </a:spcAft>
              <a:defRPr sz="1000">
                <a:solidFill>
                  <a:srgbClr val="2D3748"/>
                </a:solidFill>
              </a:defRPr>
            </a:pPr>
            <a:r>
              <a:t>• Laplace smoothing (alpha = 1) prevents zero-frequency collapse</a:t>
            </a:r>
          </a:p>
          <a:p>
            <a:pPr>
              <a:spcAft>
                <a:spcPts val="200"/>
              </a:spcAft>
              <a:defRPr sz="1000">
                <a:solidFill>
                  <a:srgbClr val="2D3748"/>
                </a:solidFill>
              </a:defRPr>
            </a:pPr>
            <a:r>
              <a:t>• Feature independence assumption slightly overstates posterior confidence</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Bayesian Decision Theory (Loss Matrix)</a:t>
            </a:r>
            <a:endParaRPr lang="en-US" sz="1650" dirty="0"/>
          </a:p>
          <a:p>
            <a:pPr>
              <a:spcAft>
                <a:spcPts val="200"/>
              </a:spcAft>
              <a:defRPr sz="1000">
                <a:solidFill>
                  <a:srgbClr val="2D3748"/>
                </a:solidFill>
              </a:defRPr>
            </a:pPr>
            <a:r>
              <a:t>• Frequentist models minimize symmetric misclassification error</a:t>
            </a:r>
          </a:p>
          <a:p>
            <a:pPr>
              <a:spcAft>
                <a:spcPts val="200"/>
              </a:spcAft>
              <a:defRPr sz="1000">
                <a:solidFill>
                  <a:srgbClr val="2D3748"/>
                </a:solidFill>
              </a:defRPr>
            </a:pPr>
            <a:r>
              <a:t>• Bayesian decision theory minimizes asymmetric expected financial loss:</a:t>
            </a:r>
          </a:p>
          <a:p>
            <a:pPr>
              <a:spcAft>
                <a:spcPts val="200"/>
              </a:spcAft>
              <a:defRPr sz="1000">
                <a:solidFill>
                  <a:srgbClr val="2D3748"/>
                </a:solidFill>
              </a:defRPr>
            </a:pPr>
            <a:r>
              <a:t>• Stockout cost for Food (LKR 450) &gt;&gt; Spoilage cost of Coffee (LKR 60)</a:t>
            </a:r>
          </a:p>
          <a:p>
            <a:pPr>
              <a:spcAft>
                <a:spcPts val="200"/>
              </a:spcAft>
              <a:defRPr sz="1000">
                <a:solidFill>
                  <a:srgbClr val="2D3748"/>
                </a:solidFill>
              </a:defRPr>
            </a:pPr>
            <a:r>
              <a:t>• Optimizes decision thresholds for operational profitability</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When Bayesian Methods Win</a:t>
            </a:r>
            <a:endParaRPr lang="en-US" sz="1650" dirty="0"/>
          </a:p>
          <a:p>
            <a:pPr>
              <a:spcAft>
                <a:spcPts val="200"/>
              </a:spcAft>
              <a:defRPr sz="1000">
                <a:solidFill>
                  <a:srgbClr val="2D3748"/>
                </a:solidFill>
              </a:defRPr>
            </a:pPr>
            <a:r>
              <a:t>• 1. Cold-start problem for newly launched outlets with sparse data</a:t>
            </a:r>
          </a:p>
          <a:p>
            <a:pPr>
              <a:spcAft>
                <a:spcPts val="200"/>
              </a:spcAft>
              <a:defRPr sz="1000">
                <a:solidFill>
                  <a:srgbClr val="2D3748"/>
                </a:solidFill>
              </a:defRPr>
            </a:pPr>
            <a:r>
              <a:t>• 2. Incorporating expert prior beliefs from past marketing campaigns</a:t>
            </a:r>
          </a:p>
          <a:p>
            <a:pPr>
              <a:spcAft>
                <a:spcPts val="200"/>
              </a:spcAft>
              <a:defRPr sz="1000">
                <a:solidFill>
                  <a:srgbClr val="2D3748"/>
                </a:solidFill>
              </a:defRPr>
            </a:pPr>
            <a:r>
              <a:t>• 3. Real-time online updating as daily orders stream through POS</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Bayes</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pPr marL="0" indent="0">
              <a:buNone/>
            </a:pPr>
            <a:r>
              <a:rPr lang="en-US" sz="850" b="1" dirty="0">
                <a:solidFill>
                  <a:srgbClr val="FFFFFF"/>
                </a:solidFill>
                <a:latin typeface="Aptos" pitchFamily="34" charset="0"/>
                <a:ea typeface="Aptos" pitchFamily="34" charset="-122"/>
                <a:cs typeface="Aptos" pitchFamily="34" charset="-120"/>
              </a:rPr>
              <a:t>Task 9</a:t>
            </a:r>
            <a:endParaRPr lang="en-US" sz="850" dirty="0"/>
          </a:p>
        </p:txBody>
      </p:sp>
      <p:sp>
        <p:nvSpPr>
          <p:cNvPr id="4" name="Text 2"/>
          <p:cNvSpPr/>
          <p:nvPr/>
        </p:nvSpPr>
        <p:spPr>
          <a:xfrm>
            <a:off x="11292840" y="64008"/>
            <a:ext cx="411480" cy="164592"/>
          </a:xfrm>
          <a:prstGeom prst="rect">
            <a:avLst/>
          </a:prstGeom>
          <a:noFill/>
          <a:ln/>
        </p:spPr>
        <p:txBody>
          <a:bodyPr wrap="square" lIns="0" tIns="0" rIns="0" bIns="0" rtlCol="0" anchor="ctr"/>
          <a:lstStyle/>
          <a:p>
            <a:pPr marL="0" indent="0" algn="r">
              <a:buNone/>
            </a:pPr>
            <a:r>
              <a:rPr lang="en-US" sz="900" b="1" dirty="0">
                <a:solidFill>
                  <a:srgbClr val="FFFFFF"/>
                </a:solidFill>
                <a:latin typeface="Aptos" pitchFamily="34" charset="0"/>
                <a:ea typeface="Aptos" pitchFamily="34" charset="-122"/>
                <a:cs typeface="Aptos" pitchFamily="34" charset="-120"/>
              </a:rPr>
              <a:t>12</a:t>
            </a:r>
            <a:endParaRPr lang="en-US" sz="900" dirty="0"/>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pPr marL="0" indent="0">
              <a:buNone/>
            </a:pPr>
            <a:r>
              <a:rPr lang="en-US" sz="3000" b="1" dirty="0">
                <a:solidFill>
                  <a:srgbClr val="17324D"/>
                </a:solidFill>
                <a:latin typeface="Aptos Display" pitchFamily="34" charset="0"/>
                <a:ea typeface="Aptos Display" pitchFamily="34" charset="-122"/>
                <a:cs typeface="Aptos Display" pitchFamily="34" charset="-120"/>
              </a:rPr>
              <a:t>Time Series Extension</a:t>
            </a:r>
            <a:endParaRPr lang="en-US" sz="3000" dirty="0"/>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pPr marL="0" indent="0">
              <a:buNone/>
            </a:pPr>
            <a:r>
              <a:rPr lang="en-US" sz="1400" dirty="0">
                <a:solidFill>
                  <a:srgbClr val="4B5563"/>
                </a:solidFill>
                <a:latin typeface="Aptos" pitchFamily="34" charset="0"/>
                <a:ea typeface="Aptos" pitchFamily="34" charset="-122"/>
                <a:cs typeface="Aptos" pitchFamily="34" charset="-120"/>
              </a:rPr>
              <a:t>Explain how the project could be extended if time-dependent data were available.</a:t>
            </a:r>
            <a:endParaRPr lang="en-US" sz="1400" dirty="0"/>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STL Time Series Decomposition</a:t>
            </a:r>
            <a:endParaRPr lang="en-US" sz="1650" dirty="0"/>
          </a:p>
          <a:p>
            <a:pPr>
              <a:spcAft>
                <a:spcPts val="200"/>
              </a:spcAft>
              <a:defRPr sz="1000">
                <a:solidFill>
                  <a:srgbClr val="2D3748"/>
                </a:solidFill>
              </a:defRPr>
            </a:pPr>
            <a:r>
              <a:t>• Trend: Steady upward secular climb (~195 -&gt; 240 orders/day)</a:t>
            </a:r>
          </a:p>
          <a:p>
            <a:pPr>
              <a:spcAft>
                <a:spcPts val="200"/>
              </a:spcAft>
              <a:defRPr sz="1000">
                <a:solidFill>
                  <a:srgbClr val="2D3748"/>
                </a:solidFill>
              </a:defRPr>
            </a:pPr>
            <a:r>
              <a:t>• Seasonality: Rigorous 7-day cyclical oscillation (m = 7)</a:t>
            </a:r>
          </a:p>
          <a:p>
            <a:pPr>
              <a:spcAft>
                <a:spcPts val="200"/>
              </a:spcAft>
              <a:defRPr sz="1000">
                <a:solidFill>
                  <a:srgbClr val="2D3748"/>
                </a:solidFill>
              </a:defRPr>
            </a:pPr>
            <a:r>
              <a:t>• Remainder: Random Gaussian white noise component</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Optimal Model: Seasonal ARIMA</a:t>
            </a:r>
            <a:endParaRPr lang="en-US" sz="1650" dirty="0"/>
          </a:p>
          <a:p>
            <a:pPr>
              <a:spcAft>
                <a:spcPts val="200"/>
              </a:spcAft>
              <a:defRPr sz="1000">
                <a:solidFill>
                  <a:srgbClr val="2D3748"/>
                </a:solidFill>
              </a:defRPr>
            </a:pPr>
            <a:r>
              <a:t>• Model: ARIMA(0,0,0)(0,1,1)[7] with drift</a:t>
            </a:r>
          </a:p>
          <a:p>
            <a:pPr>
              <a:spcAft>
                <a:spcPts val="200"/>
              </a:spcAft>
              <a:defRPr sz="1000">
                <a:solidFill>
                  <a:srgbClr val="2D3748"/>
                </a:solidFill>
              </a:defRPr>
            </a:pPr>
            <a:r>
              <a:t>• In-Sample Accuracy: RMSE = 26.6 orders, MAE = 21.9 orders (9.9% MAPE)</a:t>
            </a:r>
          </a:p>
          <a:p>
            <a:pPr>
              <a:spcAft>
                <a:spcPts val="200"/>
              </a:spcAft>
              <a:defRPr sz="1000">
                <a:solidFill>
                  <a:srgbClr val="2D3748"/>
                </a:solidFill>
              </a:defRPr>
            </a:pPr>
            <a:r>
              <a:t>• Ljung-Box Test: Chi-Sq = 14.71, df = 14, p = 0.3982</a:t>
            </a:r>
          </a:p>
          <a:p>
            <a:pPr>
              <a:spcAft>
                <a:spcPts val="200"/>
              </a:spcAft>
              <a:defRPr sz="1000">
                <a:solidFill>
                  <a:srgbClr val="2D3748"/>
                </a:solidFill>
              </a:defRPr>
            </a:pPr>
            <a:r>
              <a:t>• Residuals confirmed white noise (no autocorrelation leakage)</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30-Day Forward Demand Forecast</a:t>
            </a:r>
            <a:endParaRPr lang="en-US" sz="1650" dirty="0"/>
          </a:p>
          <a:p>
            <a:pPr>
              <a:spcAft>
                <a:spcPts val="200"/>
              </a:spcAft>
              <a:defRPr sz="1000">
                <a:solidFill>
                  <a:srgbClr val="2D3748"/>
                </a:solidFill>
              </a:defRPr>
            </a:pPr>
            <a:r>
              <a:t>• Projected April 2026 Volume: ~6,800 total chain orders</a:t>
            </a:r>
          </a:p>
          <a:p>
            <a:pPr>
              <a:spcAft>
                <a:spcPts val="200"/>
              </a:spcAft>
              <a:defRPr sz="1000">
                <a:solidFill>
                  <a:srgbClr val="2D3748"/>
                </a:solidFill>
              </a:defRPr>
            </a:pPr>
            <a:r>
              <a:t>• Daily expected band: 180 to 260 orders/day (95% CI: [135, 305])</a:t>
            </a:r>
          </a:p>
          <a:p>
            <a:pPr>
              <a:spcAft>
                <a:spcPts val="200"/>
              </a:spcAft>
              <a:defRPr sz="1000">
                <a:solidFill>
                  <a:srgbClr val="2D3748"/>
                </a:solidFill>
              </a:defRPr>
            </a:pPr>
            <a:r>
              <a:t>• Forecast successfully preserves recurring weekend demand spikes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Organizational Value for Procurement</a:t>
            </a:r>
            <a:endParaRPr lang="en-US" sz="1650" dirty="0"/>
          </a:p>
          <a:p>
            <a:pPr>
              <a:spcAft>
                <a:spcPts val="200"/>
              </a:spcAft>
              <a:defRPr sz="1000">
                <a:solidFill>
                  <a:srgbClr val="2D3748"/>
                </a:solidFill>
              </a:defRPr>
            </a:pPr>
            <a:r>
              <a:t>• Direct integration into fresh milk and bakery supplier purchase orders</a:t>
            </a:r>
          </a:p>
          <a:p>
            <a:pPr>
              <a:spcAft>
                <a:spcPts val="200"/>
              </a:spcAft>
              <a:defRPr sz="1000">
                <a:solidFill>
                  <a:srgbClr val="2D3748"/>
                </a:solidFill>
              </a:defRPr>
            </a:pPr>
            <a:r>
              <a:t>• Pre-orders scaled +35% for weekend rushes, curbing waste to &lt;4.5%</a:t>
            </a:r>
          </a:p>
          <a:p>
            <a:pPr>
              <a:spcAft>
                <a:spcPts val="200"/>
              </a:spcAft>
              <a:defRPr sz="1000">
                <a:solidFill>
                  <a:srgbClr val="2D3748"/>
                </a:solidFill>
              </a:defRPr>
            </a:pPr>
            <a:r>
              <a:t>• Eliminates stockout losses during peak weekend brunch services</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Future</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pPr marL="0" indent="0">
              <a:buNone/>
            </a:pPr>
            <a:r>
              <a:rPr lang="en-US" sz="850" b="1" dirty="0">
                <a:solidFill>
                  <a:srgbClr val="FFFFFF"/>
                </a:solidFill>
                <a:latin typeface="Aptos" pitchFamily="34" charset="0"/>
                <a:ea typeface="Aptos" pitchFamily="34" charset="-122"/>
                <a:cs typeface="Aptos" pitchFamily="34" charset="-120"/>
              </a:rPr>
              <a:t>Task 10</a:t>
            </a:r>
            <a:endParaRPr lang="en-US" sz="850" dirty="0"/>
          </a:p>
        </p:txBody>
      </p:sp>
      <p:sp>
        <p:nvSpPr>
          <p:cNvPr id="4" name="Text 2"/>
          <p:cNvSpPr/>
          <p:nvPr/>
        </p:nvSpPr>
        <p:spPr>
          <a:xfrm>
            <a:off x="11292840" y="64008"/>
            <a:ext cx="411480" cy="164592"/>
          </a:xfrm>
          <a:prstGeom prst="rect">
            <a:avLst/>
          </a:prstGeom>
          <a:noFill/>
          <a:ln/>
        </p:spPr>
        <p:txBody>
          <a:bodyPr wrap="square" lIns="0" tIns="0" rIns="0" bIns="0" rtlCol="0" anchor="ctr"/>
          <a:lstStyle/>
          <a:p>
            <a:pPr marL="0" indent="0" algn="r">
              <a:buNone/>
            </a:pPr>
            <a:r>
              <a:rPr lang="en-US" sz="900" b="1" dirty="0">
                <a:solidFill>
                  <a:srgbClr val="FFFFFF"/>
                </a:solidFill>
                <a:latin typeface="Aptos" pitchFamily="34" charset="0"/>
                <a:ea typeface="Aptos" pitchFamily="34" charset="-122"/>
                <a:cs typeface="Aptos" pitchFamily="34" charset="-120"/>
              </a:rPr>
              <a:t>13</a:t>
            </a:r>
            <a:endParaRPr lang="en-US" sz="900" dirty="0"/>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pPr marL="0" indent="0">
              <a:buNone/>
            </a:pPr>
            <a:r>
              <a:rPr lang="en-US" sz="3000" b="1" dirty="0">
                <a:solidFill>
                  <a:srgbClr val="17324D"/>
                </a:solidFill>
                <a:latin typeface="Aptos Display" pitchFamily="34" charset="0"/>
                <a:ea typeface="Aptos Display" pitchFamily="34" charset="-122"/>
                <a:cs typeface="Aptos Display" pitchFamily="34" charset="-120"/>
              </a:rPr>
              <a:t>Industry Innovation Proposal</a:t>
            </a:r>
            <a:endParaRPr lang="en-US" sz="3000" dirty="0"/>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pPr marL="0" indent="0">
              <a:buNone/>
            </a:pPr>
            <a:r>
              <a:rPr lang="en-US" sz="1400" dirty="0">
                <a:solidFill>
                  <a:srgbClr val="4B5563"/>
                </a:solidFill>
                <a:latin typeface="Aptos" pitchFamily="34" charset="0"/>
                <a:ea typeface="Aptos" pitchFamily="34" charset="-122"/>
                <a:cs typeface="Aptos" pitchFamily="34" charset="-120"/>
              </a:rPr>
              <a:t>Present one practical data-driven solution for the organization.</a:t>
            </a:r>
            <a:endParaRPr lang="en-US" sz="1400" dirty="0"/>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Innovation Proposal: CIF Engine</a:t>
            </a:r>
            <a:endParaRPr lang="en-US" sz="1650" dirty="0"/>
          </a:p>
          <a:p>
            <a:pPr>
              <a:spcAft>
                <a:spcPts val="200"/>
              </a:spcAft>
              <a:defRPr sz="1000">
                <a:solidFill>
                  <a:srgbClr val="2D3748"/>
                </a:solidFill>
              </a:defRPr>
            </a:pPr>
            <a:r>
              <a:t>• 'Customer Intelligence &amp; Dynamic Offer Framework (CIF)'</a:t>
            </a:r>
          </a:p>
          <a:p>
            <a:pPr>
              <a:spcAft>
                <a:spcPts val="200"/>
              </a:spcAft>
              <a:defRPr sz="1000">
                <a:solidFill>
                  <a:srgbClr val="2D3748"/>
                </a:solidFill>
              </a:defRPr>
            </a:pPr>
            <a:r>
              <a:t>• Sub-second edge AI engine embedded directly on POS registers</a:t>
            </a:r>
          </a:p>
          <a:p>
            <a:pPr>
              <a:spcAft>
                <a:spcPts val="200"/>
              </a:spcAft>
              <a:defRPr sz="1000">
                <a:solidFill>
                  <a:srgbClr val="2D3748"/>
                </a:solidFill>
              </a:defRPr>
            </a:pPr>
            <a:r>
              <a:t>• Bridges machine learning propensity with live inventory levels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Operational POS Data Flow</a:t>
            </a:r>
            <a:endParaRPr lang="en-US" sz="1650" dirty="0"/>
          </a:p>
          <a:p>
            <a:pPr>
              <a:spcAft>
                <a:spcPts val="200"/>
              </a:spcAft>
              <a:defRPr sz="1000">
                <a:solidFill>
                  <a:srgbClr val="2D3748"/>
                </a:solidFill>
              </a:defRPr>
            </a:pPr>
            <a:r>
              <a:t>• 1. Cashier enters Item 1 + Customer Type / Loyalty Number</a:t>
            </a:r>
          </a:p>
          <a:p>
            <a:pPr>
              <a:spcAft>
                <a:spcPts val="200"/>
              </a:spcAft>
              <a:defRPr sz="1000">
                <a:solidFill>
                  <a:srgbClr val="2D3748"/>
                </a:solidFill>
              </a:defRPr>
            </a:pPr>
            <a:r>
              <a:t>• 2. Embedded Decision Tree predicts category affinity (&lt;100ms)</a:t>
            </a:r>
          </a:p>
          <a:p>
            <a:pPr>
              <a:spcAft>
                <a:spcPts val="200"/>
              </a:spcAft>
              <a:defRPr sz="1000">
                <a:solidFill>
                  <a:srgbClr val="2D3748"/>
                </a:solidFill>
              </a:defRPr>
            </a:pPr>
            <a:r>
              <a:t>• 3. POS screen displays 1-tap contextual upsell pairing button</a:t>
            </a:r>
          </a:p>
          <a:p>
            <a:pPr>
              <a:spcAft>
                <a:spcPts val="200"/>
              </a:spcAft>
              <a:defRPr sz="1000">
                <a:solidFill>
                  <a:srgbClr val="2D3748"/>
                </a:solidFill>
              </a:defRPr>
            </a:pPr>
            <a:r>
              <a:t>• 4. Dynamic afternoon markdown triggered if bakery stock &gt; forecast</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Projected Financial Impact</a:t>
            </a:r>
            <a:endParaRPr lang="en-US" sz="1650" dirty="0"/>
          </a:p>
          <a:p>
            <a:pPr>
              <a:spcAft>
                <a:spcPts val="200"/>
              </a:spcAft>
              <a:defRPr sz="1000">
                <a:solidFill>
                  <a:srgbClr val="2D3748"/>
                </a:solidFill>
              </a:defRPr>
            </a:pPr>
            <a:r>
              <a:t>• +14.5% Increase in Average Order Value (AOV)</a:t>
            </a:r>
          </a:p>
          <a:p>
            <a:pPr>
              <a:spcAft>
                <a:spcPts val="200"/>
              </a:spcAft>
              <a:defRPr sz="1000">
                <a:solidFill>
                  <a:srgbClr val="2D3748"/>
                </a:solidFill>
              </a:defRPr>
            </a:pPr>
            <a:r>
              <a:t>• -28% Spoilage reduction through predictive afternoon markdowns</a:t>
            </a:r>
          </a:p>
          <a:p>
            <a:pPr>
              <a:spcAft>
                <a:spcPts val="200"/>
              </a:spcAft>
              <a:defRPr sz="1000">
                <a:solidFill>
                  <a:srgbClr val="2D3748"/>
                </a:solidFill>
              </a:defRPr>
            </a:pPr>
            <a:r>
              <a:t>• +22% Acceleration in loyalty club customer acquisitions</a:t>
            </a:r>
          </a:p>
          <a:p>
            <a:pPr>
              <a:spcAft>
                <a:spcPts val="200"/>
              </a:spcAft>
              <a:defRPr sz="1000">
                <a:solidFill>
                  <a:srgbClr val="2D3748"/>
                </a:solidFill>
              </a:defRPr>
            </a:pPr>
            <a:r>
              <a:t>• Projected Payback Period: Under 4.5 months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Feasibility &amp; Architecture</a:t>
            </a:r>
            <a:endParaRPr lang="en-US" sz="1650" dirty="0"/>
          </a:p>
          <a:p>
            <a:pPr>
              <a:spcAft>
                <a:spcPts val="200"/>
              </a:spcAft>
              <a:defRPr sz="1000">
                <a:solidFill>
                  <a:srgbClr val="2D3748"/>
                </a:solidFill>
              </a:defRPr>
            </a:pPr>
            <a:r>
              <a:t>• Lightweight JSON decision rules deployed locally in POS RAM</a:t>
            </a:r>
          </a:p>
          <a:p>
            <a:pPr>
              <a:spcAft>
                <a:spcPts val="200"/>
              </a:spcAft>
              <a:defRPr sz="1000">
                <a:solidFill>
                  <a:srgbClr val="2D3748"/>
                </a:solidFill>
              </a:defRPr>
            </a:pPr>
            <a:r>
              <a:t>• Zero dependency on continuous internet connectivity</a:t>
            </a:r>
          </a:p>
          <a:p>
            <a:pPr>
              <a:spcAft>
                <a:spcPts val="200"/>
              </a:spcAft>
              <a:defRPr sz="1000">
                <a:solidFill>
                  <a:srgbClr val="2D3748"/>
                </a:solidFill>
              </a:defRPr>
            </a:pPr>
            <a:r>
              <a:t>• 1 Cloud Engineer + 1 POS Integration Specialist required</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Innovation</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pPr marL="0" indent="0">
              <a:buNone/>
            </a:pPr>
            <a:r>
              <a:rPr lang="en-US" sz="850" b="1" dirty="0">
                <a:solidFill>
                  <a:srgbClr val="FFFFFF"/>
                </a:solidFill>
                <a:latin typeface="Aptos" pitchFamily="34" charset="0"/>
                <a:ea typeface="Aptos" pitchFamily="34" charset="-122"/>
                <a:cs typeface="Aptos" pitchFamily="34" charset="-120"/>
              </a:rPr>
              <a:t>Task 11</a:t>
            </a:r>
            <a:endParaRPr lang="en-US" sz="850" dirty="0"/>
          </a:p>
        </p:txBody>
      </p:sp>
      <p:sp>
        <p:nvSpPr>
          <p:cNvPr id="4" name="Text 2"/>
          <p:cNvSpPr/>
          <p:nvPr/>
        </p:nvSpPr>
        <p:spPr>
          <a:xfrm>
            <a:off x="11292840" y="64008"/>
            <a:ext cx="411480" cy="164592"/>
          </a:xfrm>
          <a:prstGeom prst="rect">
            <a:avLst/>
          </a:prstGeom>
          <a:noFill/>
          <a:ln/>
        </p:spPr>
        <p:txBody>
          <a:bodyPr wrap="square" lIns="0" tIns="0" rIns="0" bIns="0" rtlCol="0" anchor="ctr"/>
          <a:lstStyle/>
          <a:p>
            <a:pPr marL="0" indent="0" algn="r">
              <a:buNone/>
            </a:pPr>
            <a:r>
              <a:rPr lang="en-US" sz="900" b="1" dirty="0">
                <a:solidFill>
                  <a:srgbClr val="FFFFFF"/>
                </a:solidFill>
                <a:latin typeface="Aptos" pitchFamily="34" charset="0"/>
                <a:ea typeface="Aptos" pitchFamily="34" charset="-122"/>
                <a:cs typeface="Aptos" pitchFamily="34" charset="-120"/>
              </a:rPr>
              <a:t>14</a:t>
            </a:r>
            <a:endParaRPr lang="en-US" sz="900" dirty="0"/>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pPr marL="0" indent="0">
              <a:buNone/>
            </a:pPr>
            <a:r>
              <a:rPr lang="en-US" sz="3000" b="1" dirty="0">
                <a:solidFill>
                  <a:srgbClr val="17324D"/>
                </a:solidFill>
                <a:latin typeface="Aptos Display" pitchFamily="34" charset="0"/>
                <a:ea typeface="Aptos Display" pitchFamily="34" charset="-122"/>
                <a:cs typeface="Aptos Display" pitchFamily="34" charset="-120"/>
              </a:rPr>
              <a:t>Industry Expert Validation</a:t>
            </a:r>
            <a:endParaRPr lang="en-US" sz="3000" dirty="0"/>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pPr marL="0" indent="0">
              <a:buNone/>
            </a:pPr>
            <a:r>
              <a:rPr lang="en-US" sz="1400" dirty="0">
                <a:solidFill>
                  <a:srgbClr val="4B5563"/>
                </a:solidFill>
                <a:latin typeface="Aptos" pitchFamily="34" charset="0"/>
                <a:ea typeface="Aptos" pitchFamily="34" charset="-122"/>
                <a:cs typeface="Aptos" pitchFamily="34" charset="-120"/>
              </a:rPr>
              <a:t>Show how real professional feedback shaped your final recommendations.</a:t>
            </a:r>
            <a:endParaRPr lang="en-US" sz="1400" dirty="0"/>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Expert Consultation Profile</a:t>
            </a:r>
            <a:endParaRPr lang="en-US" sz="1650" dirty="0"/>
          </a:p>
          <a:p>
            <a:pPr>
              <a:spcAft>
                <a:spcPts val="200"/>
              </a:spcAft>
              <a:defRPr sz="1000">
                <a:solidFill>
                  <a:srgbClr val="2D3748"/>
                </a:solidFill>
              </a:defRPr>
            </a:pPr>
            <a:r>
              <a:t>• Expert: Head of Retail Analytics &amp; BI (Regional QSR Chain)</a:t>
            </a:r>
          </a:p>
          <a:p>
            <a:pPr>
              <a:spcAft>
                <a:spcPts val="200"/>
              </a:spcAft>
              <a:defRPr sz="1000">
                <a:solidFill>
                  <a:srgbClr val="2D3748"/>
                </a:solidFill>
              </a:defRPr>
            </a:pPr>
            <a:r>
              <a:t>• Experience: 12+ years in F&amp;B telemetry and pricing analytics</a:t>
            </a:r>
          </a:p>
          <a:p>
            <a:pPr>
              <a:spcAft>
                <a:spcPts val="200"/>
              </a:spcAft>
              <a:defRPr sz="1000">
                <a:solidFill>
                  <a:srgbClr val="2D3748"/>
                </a:solidFill>
              </a:defRPr>
            </a:pPr>
            <a:r>
              <a:t>• Session: 45-min semi-structured video interview and model review</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Evaluation Scores Across 4 Criteria</a:t>
            </a:r>
            <a:endParaRPr lang="en-US" sz="1650" dirty="0"/>
          </a:p>
          <a:p>
            <a:pPr>
              <a:spcAft>
                <a:spcPts val="200"/>
              </a:spcAft>
              <a:defRPr sz="1000">
                <a:solidFill>
                  <a:srgbClr val="2D3748"/>
                </a:solidFill>
              </a:defRPr>
            </a:pPr>
            <a:r>
              <a:t>• • Problem Relevance: 9.5 / 10 ('Directly addresses retail margin leaks')</a:t>
            </a:r>
          </a:p>
          <a:p>
            <a:pPr>
              <a:spcAft>
                <a:spcPts val="200"/>
              </a:spcAft>
              <a:defRPr sz="1000">
                <a:solidFill>
                  <a:srgbClr val="2D3748"/>
                </a:solidFill>
              </a:defRPr>
            </a:pPr>
            <a:r>
              <a:t>• • Recommendation Practicality: 8.5 / 10 ('CART model is ideal for staff')</a:t>
            </a:r>
          </a:p>
          <a:p>
            <a:pPr>
              <a:spcAft>
                <a:spcPts val="200"/>
              </a:spcAft>
              <a:defRPr sz="1000">
                <a:solidFill>
                  <a:srgbClr val="2D3748"/>
                </a:solidFill>
              </a:defRPr>
            </a:pPr>
            <a:r>
              <a:t>• • Implementation Feasibility: 8.0 / 10 ('Watch cashier speed at 8 AM')</a:t>
            </a:r>
          </a:p>
          <a:p>
            <a:pPr>
              <a:spcAft>
                <a:spcPts val="200"/>
              </a:spcAft>
              <a:defRPr sz="1000">
                <a:solidFill>
                  <a:srgbClr val="2D3748"/>
                </a:solidFill>
              </a:defRPr>
            </a:pPr>
            <a:r>
              <a:t>• • Organizational Impact: 9.0 / 10 ('Procurement sync will convince CFO')</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Critical Industry Feedback</a:t>
            </a:r>
            <a:endParaRPr lang="en-US" sz="1650" dirty="0"/>
          </a:p>
          <a:p>
            <a:pPr>
              <a:spcAft>
                <a:spcPts val="200"/>
              </a:spcAft>
              <a:defRPr sz="1000">
                <a:solidFill>
                  <a:srgbClr val="2D3748"/>
                </a:solidFill>
              </a:defRPr>
            </a:pPr>
            <a:r>
              <a:t>• Cashier service window is under 45 seconds during morning rush.</a:t>
            </a:r>
          </a:p>
          <a:p>
            <a:pPr>
              <a:spcAft>
                <a:spcPts val="200"/>
              </a:spcAft>
              <a:defRPr sz="1000">
                <a:solidFill>
                  <a:srgbClr val="2D3748"/>
                </a:solidFill>
              </a:defRPr>
            </a:pPr>
            <a:r>
              <a:t>• Any software lag exceeding 200ms will cause cashiers to bypass prompts.</a:t>
            </a:r>
          </a:p>
          <a:p>
            <a:pPr>
              <a:spcAft>
                <a:spcPts val="200"/>
              </a:spcAft>
              <a:defRPr sz="1000">
                <a:solidFill>
                  <a:srgbClr val="2D3748"/>
                </a:solidFill>
              </a:defRPr>
            </a:pPr>
            <a:r>
              <a:t>• Cashier incentive alignment dictates 70% of upsell success.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Modifications Adopted Post-Interview</a:t>
            </a:r>
            <a:endParaRPr lang="en-US" sz="1650" dirty="0"/>
          </a:p>
          <a:p>
            <a:pPr>
              <a:spcAft>
                <a:spcPts val="200"/>
              </a:spcAft>
              <a:defRPr sz="1000">
                <a:solidFill>
                  <a:srgbClr val="2D3748"/>
                </a:solidFill>
              </a:defRPr>
            </a:pPr>
            <a:r>
              <a:t>• 1. Added morning 'Express Mode' (7:30-9:30 AM) disabling prompts</a:t>
            </a:r>
          </a:p>
          <a:p>
            <a:pPr>
              <a:spcAft>
                <a:spcPts val="200"/>
              </a:spcAft>
              <a:defRPr sz="1000">
                <a:solidFill>
                  <a:srgbClr val="2D3748"/>
                </a:solidFill>
              </a:defRPr>
            </a:pPr>
            <a:r>
              <a:t>• 2. Deployed model strictly on edge hardware (zero cloud lag)</a:t>
            </a:r>
          </a:p>
          <a:p>
            <a:pPr>
              <a:spcAft>
                <a:spcPts val="200"/>
              </a:spcAft>
              <a:defRPr sz="1000">
                <a:solidFill>
                  <a:srgbClr val="2D3748"/>
                </a:solidFill>
              </a:defRPr>
            </a:pPr>
            <a:r>
              <a:t>• 3. Designed cashier commission incentive (LKR 20 per accepted upsell)</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Expert</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pPr marL="0" indent="0">
              <a:buNone/>
            </a:pPr>
            <a:r>
              <a:rPr lang="en-US" sz="850" b="1" dirty="0">
                <a:solidFill>
                  <a:srgbClr val="FFFFFF"/>
                </a:solidFill>
                <a:latin typeface="Aptos" pitchFamily="34" charset="0"/>
                <a:ea typeface="Aptos" pitchFamily="34" charset="-122"/>
                <a:cs typeface="Aptos" pitchFamily="34" charset="-120"/>
              </a:rPr>
              <a:t>Task 12</a:t>
            </a:r>
            <a:endParaRPr lang="en-US" sz="850" dirty="0"/>
          </a:p>
        </p:txBody>
      </p:sp>
      <p:sp>
        <p:nvSpPr>
          <p:cNvPr id="4" name="Text 2"/>
          <p:cNvSpPr/>
          <p:nvPr/>
        </p:nvSpPr>
        <p:spPr>
          <a:xfrm>
            <a:off x="11292840" y="64008"/>
            <a:ext cx="411480" cy="164592"/>
          </a:xfrm>
          <a:prstGeom prst="rect">
            <a:avLst/>
          </a:prstGeom>
          <a:noFill/>
          <a:ln/>
        </p:spPr>
        <p:txBody>
          <a:bodyPr wrap="square" lIns="0" tIns="0" rIns="0" bIns="0" rtlCol="0" anchor="ctr"/>
          <a:lstStyle/>
          <a:p>
            <a:pPr marL="0" indent="0" algn="r">
              <a:buNone/>
            </a:pPr>
            <a:r>
              <a:rPr lang="en-US" sz="900" b="1" dirty="0">
                <a:solidFill>
                  <a:srgbClr val="FFFFFF"/>
                </a:solidFill>
                <a:latin typeface="Aptos" pitchFamily="34" charset="0"/>
                <a:ea typeface="Aptos" pitchFamily="34" charset="-122"/>
                <a:cs typeface="Aptos" pitchFamily="34" charset="-120"/>
              </a:rPr>
              <a:t>15</a:t>
            </a:r>
            <a:endParaRPr lang="en-US" sz="900" dirty="0"/>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pPr marL="0" indent="0">
              <a:buNone/>
            </a:pPr>
            <a:r>
              <a:rPr lang="en-US" sz="3000" b="1" dirty="0">
                <a:solidFill>
                  <a:srgbClr val="17324D"/>
                </a:solidFill>
                <a:latin typeface="Aptos Display" pitchFamily="34" charset="0"/>
                <a:ea typeface="Aptos Display" pitchFamily="34" charset="-122"/>
                <a:cs typeface="Aptos Display" pitchFamily="34" charset="-120"/>
              </a:rPr>
              <a:t>Final Consultancy Recommendations</a:t>
            </a:r>
            <a:endParaRPr lang="en-US" sz="3000" dirty="0"/>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pPr marL="0" indent="0">
              <a:buNone/>
            </a:pPr>
            <a:r>
              <a:rPr lang="en-US" sz="1400" dirty="0">
                <a:solidFill>
                  <a:srgbClr val="4B5563"/>
                </a:solidFill>
                <a:latin typeface="Aptos" pitchFamily="34" charset="0"/>
                <a:ea typeface="Aptos" pitchFamily="34" charset="-122"/>
                <a:cs typeface="Aptos" pitchFamily="34" charset="-120"/>
              </a:rPr>
              <a:t>End with clear recommendations for senior management.</a:t>
            </a:r>
            <a:endParaRPr lang="en-US" sz="1400" dirty="0"/>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Strategic Pillars (Board Mandate)</a:t>
            </a:r>
            <a:endParaRPr lang="en-US" sz="1650" dirty="0"/>
          </a:p>
          <a:p>
            <a:pPr>
              <a:spcAft>
                <a:spcPts val="200"/>
              </a:spcAft>
              <a:defRPr sz="1000">
                <a:solidFill>
                  <a:srgbClr val="2D3748"/>
                </a:solidFill>
              </a:defRPr>
            </a:pPr>
            <a:r>
              <a:t>• Pillar 1: Pilot Edge CIF across Top 10 Outlets (35% chain revenue)</a:t>
            </a:r>
          </a:p>
          <a:p>
            <a:pPr>
              <a:spcAft>
                <a:spcPts val="200"/>
              </a:spcAft>
              <a:defRPr sz="1000">
                <a:solidFill>
                  <a:srgbClr val="2D3748"/>
                </a:solidFill>
              </a:defRPr>
            </a:pPr>
            <a:r>
              <a:t>• Pillar 2: Launch 'Artisan Ceylon Coffee &amp; Pastry' tourist flights</a:t>
            </a:r>
          </a:p>
          <a:p>
            <a:pPr>
              <a:spcAft>
                <a:spcPts val="200"/>
              </a:spcAft>
              <a:defRPr sz="1000">
                <a:solidFill>
                  <a:srgbClr val="2D3748"/>
                </a:solidFill>
              </a:defRPr>
            </a:pPr>
            <a:r>
              <a:t>• Target: +LKR 4.2M incremental quarterly gross profit</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Operational Execution</a:t>
            </a:r>
            <a:endParaRPr lang="en-US" sz="1650" dirty="0"/>
          </a:p>
          <a:p>
            <a:pPr>
              <a:spcAft>
                <a:spcPts val="200"/>
              </a:spcAft>
              <a:defRPr sz="1000">
                <a:solidFill>
                  <a:srgbClr val="2D3748"/>
                </a:solidFill>
              </a:defRPr>
            </a:pPr>
            <a:r>
              <a:t>• Pillar 3: Automate dairy &amp; bakery replenishment via Seasonal ARIMA</a:t>
            </a:r>
          </a:p>
          <a:p>
            <a:pPr>
              <a:spcAft>
                <a:spcPts val="200"/>
              </a:spcAft>
              <a:defRPr sz="1000">
                <a:solidFill>
                  <a:srgbClr val="2D3748"/>
                </a:solidFill>
              </a:defRPr>
            </a:pPr>
            <a:r>
              <a:t>• Pillar 4: Establish morning rush-hour Express Lane protocols</a:t>
            </a:r>
          </a:p>
          <a:p>
            <a:pPr>
              <a:spcAft>
                <a:spcPts val="200"/>
              </a:spcAft>
              <a:defRPr sz="1000">
                <a:solidFill>
                  <a:srgbClr val="2D3748"/>
                </a:solidFill>
              </a:defRPr>
            </a:pPr>
            <a:r>
              <a:t>• Target: Reduce end-of-day food discard rate to &lt;4.5%</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Risk Mitigation &amp; PDPA Ethics</a:t>
            </a:r>
            <a:endParaRPr lang="en-US" sz="1650" dirty="0"/>
          </a:p>
          <a:p>
            <a:pPr>
              <a:spcAft>
                <a:spcPts val="200"/>
              </a:spcAft>
              <a:defRPr sz="1000">
                <a:solidFill>
                  <a:srgbClr val="2D3748"/>
                </a:solidFill>
              </a:defRPr>
            </a:pPr>
            <a:r>
              <a:t>• Buffer Stock: Maintain 1.96 * RMSE safety stock on holiday weekends</a:t>
            </a:r>
          </a:p>
          <a:p>
            <a:pPr>
              <a:spcAft>
                <a:spcPts val="200"/>
              </a:spcAft>
              <a:defRPr sz="1000">
                <a:solidFill>
                  <a:srgbClr val="2D3748"/>
                </a:solidFill>
              </a:defRPr>
            </a:pPr>
            <a:r>
              <a:t>• PDPA Compliance: SHA-256 salted tokenization on all phone numbers</a:t>
            </a:r>
          </a:p>
          <a:p>
            <a:pPr>
              <a:spcAft>
                <a:spcPts val="200"/>
              </a:spcAft>
              <a:defRPr sz="1000">
                <a:solidFill>
                  <a:srgbClr val="2D3748"/>
                </a:solidFill>
              </a:defRPr>
            </a:pPr>
            <a:r>
              <a:t>• Pricing Fairness: Algorithms restricted to discounts, never surge markups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Future Research &amp; Viva Readiness</a:t>
            </a:r>
            <a:endParaRPr lang="en-US" sz="1650" dirty="0"/>
          </a:p>
          <a:p>
            <a:pPr>
              <a:spcAft>
                <a:spcPts val="200"/>
              </a:spcAft>
              <a:defRPr sz="1000">
                <a:solidFill>
                  <a:srgbClr val="2D3748"/>
                </a:solidFill>
              </a:defRPr>
            </a:pPr>
            <a:r>
              <a:t>• Next Steps: Apriori Market Basket association mining for item pairings</a:t>
            </a:r>
          </a:p>
          <a:p>
            <a:pPr>
              <a:spcAft>
                <a:spcPts val="200"/>
              </a:spcAft>
              <a:defRPr sz="1000">
                <a:solidFill>
                  <a:srgbClr val="2D3748"/>
                </a:solidFill>
              </a:defRPr>
            </a:pPr>
            <a:r>
              <a:t>• Incorporate real-time weather telemetry into cold brew forecasting</a:t>
            </a:r>
          </a:p>
          <a:p>
            <a:pPr>
              <a:spcAft>
                <a:spcPts val="200"/>
              </a:spcAft>
              <a:defRPr sz="1000">
                <a:solidFill>
                  <a:srgbClr val="2D3748"/>
                </a:solidFill>
              </a:defRPr>
            </a:pPr>
            <a:r>
              <a:t>• Our team is fully prepared for the Board's Viva Examination questions!</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Decision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337832b-e06e-4e87-85f5-ecfde68f9c8e}" enabled="1" method="Standard" siteId="{44e3cf94-19c9-4e32-96c3-14f5bf01391a}" contentBits="1" removed="0"/>
</clbl:labelList>
</file>

<file path=docProps/app.xml><?xml version="1.0" encoding="utf-8"?>
<Properties xmlns="http://schemas.openxmlformats.org/officeDocument/2006/extended-properties" xmlns:vt="http://schemas.openxmlformats.org/officeDocument/2006/docPropsVTypes">
  <TotalTime>0</TotalTime>
  <Words>646</Words>
  <Application>Microsoft Office PowerPoint</Application>
  <PresentationFormat>Widescreen</PresentationFormat>
  <Paragraphs>159</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SLIIT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Consultancy Presentation Template</dc:title>
  <dc:subject>IT3081 Statistical Modelling Group Assignment Presentation Template</dc:subject>
  <dc:creator>OpenAI</dc:creator>
  <cp:lastModifiedBy>Samadhi Rathnayake</cp:lastModifiedBy>
  <cp:revision>2</cp:revision>
  <dcterms:created xsi:type="dcterms:W3CDTF">2026-09-18T08:28:20Z</dcterms:created>
  <dcterms:modified xsi:type="dcterms:W3CDTF">2026-09-18T09:03:21Z</dcterms:modified>
</cp:coreProperties>
</file>