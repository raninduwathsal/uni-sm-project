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fonts/font.dat" ContentType="application/x-fontdata"/>
  <Override PartName="/ppt/fonts/font2.dat" ContentType="application/x-fontdata"/>
  <Override PartName="/ppt/fonts/font3.dat" ContentType="application/x-fontdata"/>
  <Override PartName="/ppt/media/image.svg" ContentType="image/svg+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960070ac8ff4466" Type="http://schemas.openxmlformats.org/officeDocument/2006/relationships/officeDocument" Target="ppt/presentation.xml"/><Relationship Id="Rc7fa4305e7cb4976" Type="http://schemas.openxmlformats.org/officeDocument/2006/relationships/extended-properties" Target="docProps/app.xml"/><Relationship Id="Rfe94e2e86e244e77" Type="http://schemas.openxmlformats.org/package/2006/relationships/metadata/core-properties" Target="docProps/core.xml"/></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6834d5b99e94afe"/>
  </p:sldMasterIdLst>
  <p:notesMasterIdLst>
    <p:notesMasterId xmlns:r="http://schemas.openxmlformats.org/officeDocument/2006/relationships" r:id="Rf12cfff9cedd4c54"/>
  </p:notesMasterIdLst>
  <p:sldIdLst>
    <p:sldId xmlns:r="http://schemas.openxmlformats.org/officeDocument/2006/relationships" id="256" r:id="R590c75ed395d4a27"/>
    <p:sldId xmlns:r="http://schemas.openxmlformats.org/officeDocument/2006/relationships" id="257" r:id="R52cbfac4159349bc"/>
    <p:sldId xmlns:r="http://schemas.openxmlformats.org/officeDocument/2006/relationships" id="258" r:id="R1a0984cfe13847fa"/>
    <p:sldId xmlns:r="http://schemas.openxmlformats.org/officeDocument/2006/relationships" id="259" r:id="Rcf132dc16f8a44d1"/>
    <p:sldId xmlns:r="http://schemas.openxmlformats.org/officeDocument/2006/relationships" id="260" r:id="R5d277ed5e2f44ac6"/>
    <p:sldId xmlns:r="http://schemas.openxmlformats.org/officeDocument/2006/relationships" id="261" r:id="R65d42d16e297413a"/>
    <p:sldId xmlns:r="http://schemas.openxmlformats.org/officeDocument/2006/relationships" id="262" r:id="R3d5e325f42b248d3"/>
    <p:sldId xmlns:r="http://schemas.openxmlformats.org/officeDocument/2006/relationships" id="263" r:id="R36e8d94175d0499b"/>
    <p:sldId xmlns:r="http://schemas.openxmlformats.org/officeDocument/2006/relationships" id="264" r:id="R1417834a1b6a405b"/>
    <p:sldId xmlns:r="http://schemas.openxmlformats.org/officeDocument/2006/relationships" id="265" r:id="R74b2156ad1d14f30"/>
    <p:sldId xmlns:r="http://schemas.openxmlformats.org/officeDocument/2006/relationships" id="266" r:id="R36cafaa5baac4e60"/>
    <p:sldId xmlns:r="http://schemas.openxmlformats.org/officeDocument/2006/relationships" id="267" r:id="Ra4a4629779564986"/>
    <p:sldId xmlns:r="http://schemas.openxmlformats.org/officeDocument/2006/relationships" id="268" r:id="R6a55e00355c24de2"/>
    <p:sldId xmlns:r="http://schemas.openxmlformats.org/officeDocument/2006/relationships" id="269" r:id="Rc7c3758d98384973"/>
    <p:sldId xmlns:r="http://schemas.openxmlformats.org/officeDocument/2006/relationships" id="270" r:id="R6b522400eb9a4a20"/>
    <p:sldId xmlns:r="http://schemas.openxmlformats.org/officeDocument/2006/relationships" id="271" r:id="R4e2e4a1947174e55"/>
    <p:sldId xmlns:r="http://schemas.openxmlformats.org/officeDocument/2006/relationships" id="272" r:id="Rd623c97a846e43cd"/>
    <p:sldId xmlns:r="http://schemas.openxmlformats.org/officeDocument/2006/relationships" id="273" r:id="Rd703fda163c0458a"/>
    <p:sldId xmlns:r="http://schemas.openxmlformats.org/officeDocument/2006/relationships" id="274" r:id="Rf0ce0c8c93424f8a"/>
    <p:sldId xmlns:r="http://schemas.openxmlformats.org/officeDocument/2006/relationships" id="275" r:id="Reff1d53fbc27475a"/>
    <p:sldId xmlns:r="http://schemas.openxmlformats.org/officeDocument/2006/relationships" id="276" r:id="Ra27a2f8bb21d4e62"/>
    <p:sldId xmlns:r="http://schemas.openxmlformats.org/officeDocument/2006/relationships" id="277" r:id="R5cb4b65f3a4340a6"/>
    <p:sldId xmlns:r="http://schemas.openxmlformats.org/officeDocument/2006/relationships" id="278" r:id="R130e4e8fce7c4c04"/>
    <p:sldId xmlns:r="http://schemas.openxmlformats.org/officeDocument/2006/relationships" id="279" r:id="R3d90d2bddb6c4fac"/>
    <p:sldId xmlns:r="http://schemas.openxmlformats.org/officeDocument/2006/relationships" id="280" r:id="R20fb21ae9e43489c"/>
    <p:sldId xmlns:r="http://schemas.openxmlformats.org/officeDocument/2006/relationships" id="281" r:id="R7173e2b5d16b448b"/>
    <p:sldId xmlns:r="http://schemas.openxmlformats.org/officeDocument/2006/relationships" id="282" r:id="R670f1d06a4bf46a2"/>
    <p:sldId xmlns:r="http://schemas.openxmlformats.org/officeDocument/2006/relationships" id="283" r:id="Rdf2d0e6ec46440aa"/>
    <p:sldId xmlns:r="http://schemas.openxmlformats.org/officeDocument/2006/relationships" id="284" r:id="R45751c74e98745e0"/>
    <p:sldId xmlns:r="http://schemas.openxmlformats.org/officeDocument/2006/relationships" id="285" r:id="R515cae28fc6f40ec"/>
    <p:sldId xmlns:r="http://schemas.openxmlformats.org/officeDocument/2006/relationships" id="286" r:id="R150f82ad72fa4486"/>
    <p:sldId xmlns:r="http://schemas.openxmlformats.org/officeDocument/2006/relationships" id="287" r:id="R101a76b5572e4468"/>
    <p:sldId xmlns:r="http://schemas.openxmlformats.org/officeDocument/2006/relationships" id="288" r:id="R5b59e2ad3fc74a68"/>
    <p:sldId xmlns:r="http://schemas.openxmlformats.org/officeDocument/2006/relationships" id="289" r:id="Rb948200bf1e24149"/>
  </p:sldIdLst>
  <p:sldSz cx="18288000" cy="10287000"/>
  <p:notesSz cx="6858000" cy="9144000"/>
  <p:embeddedFontLst>
    <p:embeddedFont>
      <p:font typeface="Lucidity Condensed"/>
      <p:regular xmlns:r="http://schemas.openxmlformats.org/officeDocument/2006/relationships" r:id="Raf7044ed802f4ddd"/>
    </p:embeddedFont>
    <p:embeddedFont>
      <p:font typeface="TT Fors Bold"/>
      <p:regular xmlns:r="http://schemas.openxmlformats.org/officeDocument/2006/relationships" r:id="Rf8588995f14d4a65"/>
    </p:embeddedFont>
    <p:embeddedFont>
      <p:font typeface="TT Fors"/>
      <p:regular xmlns:r="http://schemas.openxmlformats.org/officeDocument/2006/relationships" r:id="R80bf6f1f372943ac"/>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xml version='1.0' encoding='UTF-8' standalone='yes'?>
<Relationships xmlns="http://schemas.openxmlformats.org/package/2006/relationships"><Relationship Id="R101a76b5572e4468" Type="http://schemas.openxmlformats.org/officeDocument/2006/relationships/slide" Target="slides/slide32.xml"/><Relationship Id="R130e4e8fce7c4c04" Type="http://schemas.openxmlformats.org/officeDocument/2006/relationships/slide" Target="slides/slide23.xml"/><Relationship Id="R1417834a1b6a405b" Type="http://schemas.openxmlformats.org/officeDocument/2006/relationships/slide" Target="slides/slide9.xml"/><Relationship Id="R150f82ad72fa4486" Type="http://schemas.openxmlformats.org/officeDocument/2006/relationships/slide" Target="slides/slide31.xml"/><Relationship Id="R1a0984cfe13847fa" Type="http://schemas.openxmlformats.org/officeDocument/2006/relationships/slide" Target="slides/slide3.xml"/><Relationship Id="R20fb21ae9e43489c" Type="http://schemas.openxmlformats.org/officeDocument/2006/relationships/slide" Target="slides/slide25.xml"/><Relationship Id="R36cafaa5baac4e60" Type="http://schemas.openxmlformats.org/officeDocument/2006/relationships/slide" Target="slides/slide11.xml"/><Relationship Id="R36e8d94175d0499b" Type="http://schemas.openxmlformats.org/officeDocument/2006/relationships/slide" Target="slides/slide8.xml"/><Relationship Id="R3d5e325f42b248d3" Type="http://schemas.openxmlformats.org/officeDocument/2006/relationships/slide" Target="slides/slide7.xml"/><Relationship Id="R3d90d2bddb6c4fac" Type="http://schemas.openxmlformats.org/officeDocument/2006/relationships/slide" Target="slides/slide24.xml"/><Relationship Id="R45751c74e98745e0" Type="http://schemas.openxmlformats.org/officeDocument/2006/relationships/slide" Target="slides/slide29.xml"/><Relationship Id="R4e2e4a1947174e55" Type="http://schemas.openxmlformats.org/officeDocument/2006/relationships/slide" Target="slides/slide16.xml"/><Relationship Id="R515cae28fc6f40ec" Type="http://schemas.openxmlformats.org/officeDocument/2006/relationships/slide" Target="slides/slide30.xml"/><Relationship Id="R52cbfac4159349bc" Type="http://schemas.openxmlformats.org/officeDocument/2006/relationships/slide" Target="slides/slide2.xml"/><Relationship Id="R590c75ed395d4a27" Type="http://schemas.openxmlformats.org/officeDocument/2006/relationships/slide" Target="slides/slide1.xml"/><Relationship Id="R5b59e2ad3fc74a68" Type="http://schemas.openxmlformats.org/officeDocument/2006/relationships/slide" Target="slides/slide33.xml"/><Relationship Id="R5cb4b65f3a4340a6" Type="http://schemas.openxmlformats.org/officeDocument/2006/relationships/slide" Target="slides/slide22.xml"/><Relationship Id="R5d277ed5e2f44ac6" Type="http://schemas.openxmlformats.org/officeDocument/2006/relationships/slide" Target="slides/slide5.xml"/><Relationship Id="R65d42d16e297413a" Type="http://schemas.openxmlformats.org/officeDocument/2006/relationships/slide" Target="slides/slide6.xml"/><Relationship Id="R66834d5b99e94afe" Type="http://schemas.openxmlformats.org/officeDocument/2006/relationships/slideMaster" Target="slideMasters/slideMaster1.xml"/><Relationship Id="R670f1d06a4bf46a2" Type="http://schemas.openxmlformats.org/officeDocument/2006/relationships/slide" Target="slides/slide27.xml"/><Relationship Id="R6a55e00355c24de2" Type="http://schemas.openxmlformats.org/officeDocument/2006/relationships/slide" Target="slides/slide13.xml"/><Relationship Id="R6b522400eb9a4a20" Type="http://schemas.openxmlformats.org/officeDocument/2006/relationships/slide" Target="slides/slide15.xml"/><Relationship Id="R7173e2b5d16b448b" Type="http://schemas.openxmlformats.org/officeDocument/2006/relationships/slide" Target="slides/slide26.xml"/><Relationship Id="R74b2156ad1d14f30" Type="http://schemas.openxmlformats.org/officeDocument/2006/relationships/slide" Target="slides/slide10.xml"/><Relationship Id="R793758572c124186" Type="http://schemas.openxmlformats.org/officeDocument/2006/relationships/presProps" Target="presProps.xml"/><Relationship Id="R80bf6f1f372943ac" Type="http://schemas.openxmlformats.org/officeDocument/2006/relationships/font" Target="fonts/font3.dat"/><Relationship Id="R88b519f4ec844b45" Type="http://schemas.openxmlformats.org/officeDocument/2006/relationships/tableStyles" Target="tableStyles.xml"/><Relationship Id="Ra27a2f8bb21d4e62" Type="http://schemas.openxmlformats.org/officeDocument/2006/relationships/slide" Target="slides/slide21.xml"/><Relationship Id="Ra4a4629779564986" Type="http://schemas.openxmlformats.org/officeDocument/2006/relationships/slide" Target="slides/slide12.xml"/><Relationship Id="Raf7044ed802f4ddd" Type="http://schemas.openxmlformats.org/officeDocument/2006/relationships/font" Target="fonts/font.dat"/><Relationship Id="Rb948200bf1e24149" Type="http://schemas.openxmlformats.org/officeDocument/2006/relationships/slide" Target="slides/slide34.xml"/><Relationship Id="Rc7c3758d98384973" Type="http://schemas.openxmlformats.org/officeDocument/2006/relationships/slide" Target="slides/slide14.xml"/><Relationship Id="Rcf132dc16f8a44d1" Type="http://schemas.openxmlformats.org/officeDocument/2006/relationships/slide" Target="slides/slide4.xml"/><Relationship Id="Rd623c97a846e43cd" Type="http://schemas.openxmlformats.org/officeDocument/2006/relationships/slide" Target="slides/slide17.xml"/><Relationship Id="Rd703fda163c0458a" Type="http://schemas.openxmlformats.org/officeDocument/2006/relationships/slide" Target="slides/slide18.xml"/><Relationship Id="Rdf2d0e6ec46440aa" Type="http://schemas.openxmlformats.org/officeDocument/2006/relationships/slide" Target="slides/slide28.xml"/><Relationship Id="Re0f29f431f0b4522" Type="http://schemas.openxmlformats.org/officeDocument/2006/relationships/theme" Target="theme/theme1.xml"/><Relationship Id="Re6eea973370b47d8" Type="http://schemas.openxmlformats.org/officeDocument/2006/relationships/viewProps" Target="viewProps.xml"/><Relationship Id="Reff1d53fbc27475a" Type="http://schemas.openxmlformats.org/officeDocument/2006/relationships/slide" Target="slides/slide20.xml"/><Relationship Id="Rf0ce0c8c93424f8a" Type="http://schemas.openxmlformats.org/officeDocument/2006/relationships/slide" Target="slides/slide19.xml"/><Relationship Id="Rf12cfff9cedd4c54" Type="http://schemas.openxmlformats.org/officeDocument/2006/relationships/notesMaster" Target="notesMasters/notesMaster1.xml"/><Relationship Id="Rf8588995f14d4a65" Type="http://schemas.openxmlformats.org/officeDocument/2006/relationships/font" Target="fonts/font2.dat"/></Relationships>
</file>

<file path=ppt/notesMasters/_rels/notesMaster1.xml.rels><?xml version='1.0' encoding='UTF-8' standalone='yes'?>
<Relationships xmlns="http://schemas.openxmlformats.org/package/2006/relationships"><Relationship Id="R2db1d54b452a4122"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3dec898232b14532" Type="http://schemas.openxmlformats.org/officeDocument/2006/relationships/notesMaster" Target="../notesMasters/notesMaster1.xml"/><Relationship Id="R6460196822dc40e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84a8ddb6ebcc43a0" Type="http://schemas.openxmlformats.org/officeDocument/2006/relationships/notesMaster" Target="../notesMasters/notesMaster1.xml"/><Relationship Id="Rc25bdb6404c84db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1607e7a7a92b49a1" Type="http://schemas.openxmlformats.org/officeDocument/2006/relationships/notesMaster" Target="../notesMasters/notesMaster1.xml"/><Relationship Id="R9795aac8e8b34bc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52a2d92332f54d4d" Type="http://schemas.openxmlformats.org/officeDocument/2006/relationships/slide" Target="../slides/slide4.xml"/><Relationship Id="R9ab78be07d70476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158f65a445ef4c74" Type="http://schemas.openxmlformats.org/officeDocument/2006/relationships/notesMaster" Target="../notesMasters/notesMaster1.xml"/><Relationship Id="Rdb3b6bef42f34f47"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b9a99a1d2dd44fb7" Type="http://schemas.openxmlformats.org/officeDocument/2006/relationships/notesMaster" Target="../notesMasters/notesMaster1.xml"/><Relationship Id="Rc8743b0aa7224f10"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1f80d92f6c034a48" Type="http://schemas.openxmlformats.org/officeDocument/2006/relationships/slide" Target="../slides/slide7.xml"/><Relationship Id="R6c0697c453b84ee3"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c91b6520055e4867" Type="http://schemas.openxmlformats.org/officeDocument/2006/relationships/slide" Target="../slides/slide8.xml"/><Relationship Id="Recf1ecfcd15a4d3d"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2e641ee40ade426b" Type="http://schemas.openxmlformats.org/officeDocument/2006/relationships/slide" Target="../slides/slide9.xml"/><Relationship Id="R9b8ae3efdf02471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a39970b3c8564973" Type="http://schemas.openxmlformats.org/officeDocument/2006/relationships/notesMaster" Target="../notesMasters/notesMaster1.xml"/><Relationship Id="Rba07159246be429e"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2f2941e3b5144e95" Type="http://schemas.openxmlformats.org/officeDocument/2006/relationships/slide" Target="../slides/slide11.xml"/><Relationship Id="R5e42e956ec8c41a9"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8f920355e1de4b85" Type="http://schemas.openxmlformats.org/officeDocument/2006/relationships/notesMaster" Target="../notesMasters/notesMaster1.xml"/><Relationship Id="Rb0d60294b8994875"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971f148624774e99" Type="http://schemas.openxmlformats.org/officeDocument/2006/relationships/notesMaster" Target="../notesMasters/notesMaster1.xml"/><Relationship Id="Rb004fda255f9481c"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10e4de573f4948fd" Type="http://schemas.openxmlformats.org/officeDocument/2006/relationships/notesMaster" Target="../notesMasters/notesMaster1.xml"/><Relationship Id="R7cdd27d12db24374"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7fabb6c3cea74fb0" Type="http://schemas.openxmlformats.org/officeDocument/2006/relationships/slide" Target="../slides/slide15.xml"/><Relationship Id="Rabea131e98064b8b"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9d1246c073d4faa" Type="http://schemas.openxmlformats.org/officeDocument/2006/relationships/slide" Target="../slides/slide16.xml"/><Relationship Id="R7d214c45257649a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7afb9e5d849476e" Type="http://schemas.openxmlformats.org/officeDocument/2006/relationships/notesMaster" Target="../notesMasters/notesMaster1.xml"/><Relationship Id="Rfc379ed791ae43a5"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6cc2deceda0d4284" Type="http://schemas.openxmlformats.org/officeDocument/2006/relationships/slide" Target="../slides/slide18.xml"/><Relationship Id="R86d9be26f2fd40d8"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2b4cf4be6bb94077" Type="http://schemas.openxmlformats.org/officeDocument/2006/relationships/notesMaster" Target="../notesMasters/notesMaster1.xml"/><Relationship Id="R96f3ed87c219491f"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2e7ac5a183dc4a7b" Type="http://schemas.openxmlformats.org/officeDocument/2006/relationships/notesMaster" Target="../notesMasters/notesMaster1.xml"/><Relationship Id="Rcd4d46cb663649d0"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0dd8f64e2ee64466" Type="http://schemas.openxmlformats.org/officeDocument/2006/relationships/slide" Target="../slides/slide21.xml"/><Relationship Id="Rb28ee9ef753549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86725e18b47d41c9" Type="http://schemas.openxmlformats.org/officeDocument/2006/relationships/slide" Target="../slides/slide22.xml"/><Relationship Id="R95b78f027b3d421c"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419058bead944978" Type="http://schemas.openxmlformats.org/officeDocument/2006/relationships/slide" Target="../slides/slide23.xml"/><Relationship Id="R896f3cc36e79415e"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3d42291c992d4f2f" Type="http://schemas.openxmlformats.org/officeDocument/2006/relationships/slide" Target="../slides/slide24.xml"/><Relationship Id="R54ba9bf67342464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3916334334b8454d" Type="http://schemas.openxmlformats.org/officeDocument/2006/relationships/notesMaster" Target="../notesMasters/notesMaster1.xml"/><Relationship Id="R6f05926363ab4927"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dd92a0902d734c67" Type="http://schemas.openxmlformats.org/officeDocument/2006/relationships/slide" Target="../slides/slide26.xml"/><Relationship Id="Re62f7d7d42504b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0a8f21ac630f4e64" Type="http://schemas.openxmlformats.org/officeDocument/2006/relationships/slide" Target="../slides/slide27.xml"/><Relationship Id="R75cc69e4cc45413c"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e1c53e954e60430a" Type="http://schemas.openxmlformats.org/officeDocument/2006/relationships/notesMaster" Target="../notesMasters/notesMaster1.xml"/><Relationship Id="Rf5654def22e947b8"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466522e967084c23" Type="http://schemas.openxmlformats.org/officeDocument/2006/relationships/notesMaster" Target="../notesMasters/notesMaster1.xml"/><Relationship Id="Rbb525fe9df734244"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97a8ca2ea2fa4ed5" Type="http://schemas.openxmlformats.org/officeDocument/2006/relationships/slide" Target="../slides/slide30.xml"/><Relationship Id="Ree4baca5eb964af5"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78028c2b871f4764" Type="http://schemas.openxmlformats.org/officeDocument/2006/relationships/slide" Target="../slides/slide31.xml"/><Relationship Id="R8948b01ff95241c6"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203b0ec3d54f4931" Type="http://schemas.openxmlformats.org/officeDocument/2006/relationships/slide" Target="../slides/slide32.xml"/><Relationship Id="Rb1111e02b94b45ce"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32db446baa54442d" Type="http://schemas.openxmlformats.org/officeDocument/2006/relationships/slide" Target="../slides/slide33.xml"/><Relationship Id="R62df23e98cc94e94"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5ce26a4ecfb64f37" Type="http://schemas.openxmlformats.org/officeDocument/2006/relationships/notesMaster" Target="../notesMasters/notesMaster1.xml"/><Relationship Id="R838e906250a349a3" Type="http://schemas.openxmlformats.org/officeDocument/2006/relationships/slide" Target="../slides/slide34.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a:t>
            </a:r>
          </a:p>
          <a:p xmlns:a="http://schemas.openxmlformats.org/drawingml/2006/main">
            <a:r>
              <a:t>TIME: 0:00–0:30</a:t>
            </a:r>
          </a:p>
          <a:p xmlns:a="http://schemas.openxmlformats.org/drawingml/2006/main">
            <a:r>
              <a:t/>
            </a:r>
          </a:p>
          <a:p xmlns:a="http://schemas.openxmlformats.org/drawingml/2006/main">
            <a:r>
              <a:t>READ-ALOUD SCRIPT</a:t>
            </a:r>
          </a:p>
          <a:p xmlns:a="http://schemas.openxmlformats.org/drawingml/2006/main">
            <a:r>
              <a:t>Good morning. We are Group 4, presenting a statistical consultancy project for a food and beverage client through BladeGen Tech. Our focus is customer purchasing patterns and daily demand planning. We will explain the data, the evidence, the modelling choices and a practical pilot proposal. Our recommendation is to validate the analytics and test business benefits before scaling the solution.</a:t>
            </a:r>
          </a:p>
          <a:p xmlns:a="http://schemas.openxmlformats.org/drawingml/2006/main">
            <a:r>
              <a:t/>
            </a:r>
          </a:p>
          <a:p xmlns:a="http://schemas.openxmlformats.org/drawingml/2006/main">
            <a:r>
              <a:t>VIVA DETAIL</a:t>
            </a:r>
          </a:p>
          <a:p xmlns:a="http://schemas.openxmlformats.org/drawingml/2006/main">
            <a:r>
              <a:t/>
            </a:r>
          </a:p>
          <a:p xmlns:a="http://schemas.openxmlformats.org/drawingml/2006/main">
            <a:r>
              <a:t/>
            </a:r>
          </a:p>
          <a:p xmlns:a="http://schemas.openxmlformats.org/drawingml/2006/main">
            <a:r>
              <a:t>SOURCES</a:t>
            </a:r>
          </a:p>
          <a:p xmlns:a="http://schemas.openxmlformats.org/drawingml/2006/main">
            <a:r>
              <a:t>01_Reports_and_Documentation/Group Assignment brief.pdf; 01_Reports_and_Documentation/Ranindu_Project Approval_20.09.2026.docx.pdf</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 | TIME: 0:30–1:20</a:t>
            </a:r>
          </a:p>
          <a:p xmlns:a="http://schemas.openxmlformats.org/drawingml/2006/main"/>
          <a:p xmlns:a="http://schemas.openxmlformats.org/drawingml/2006/main">
            <a:r>
              <a:t>READ-ALOUD SCRIPT:</a:t>
            </a:r>
          </a:p>
          <a:p xmlns:a="http://schemas.openxmlformats.org/drawingml/2006/main">
            <a:r>
              <a:t>Our consultancy addresses two core business questions for BladeGen Tech's F&amp;B chain:</a:t>
            </a:r>
          </a:p>
          <a:p xmlns:a="http://schemas.openxmlformats.org/drawingml/2006/main">
            <a:r>
              <a:t>First, at the checkout register: Which product category will a customer order given their contextual visit attributes? Automating this replaces cashier guesswork and targets raising upsell conversion from 4.8% to 14.5%.</a:t>
            </a:r>
          </a:p>
          <a:p xmlns:a="http://schemas.openxmlformats.org/drawingml/2006/main">
            <a:r>
              <a:t>Second, in the supply chain: How many daily orders will occur over the next 30 days? Forecasting this using Seasonal ARIMA allows bakery kitchens to dynamically adjust production, curbing the 12% pastry discard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 | TIME: 1:20–2:15</a:t>
            </a:r>
          </a:p>
          <a:p xmlns:a="http://schemas.openxmlformats.org/drawingml/2006/main"/>
          <a:p xmlns:a="http://schemas.openxmlformats.org/drawingml/2006/main">
            <a:r>
              <a:t>READ-ALOUD SCRIPT:</a:t>
            </a:r>
          </a:p>
          <a:p xmlns:a="http://schemas.openxmlformats.org/drawingml/2006/main">
            <a:r>
              <a:t>In Task 2, we grounded every analytical decision in 16 peer-reviewed studies. Crucially, Tan &amp; Lim (2023, page 112) proved that 70% to 80% Top-1 accuracy is the natural empirical ceiling in 4-class retail consumer choice due to unobserved behavioral entropy. Furthermore, Mishra et al. (2022, page 78) established that LDA matches complex ensembles on transaction features while guaranteeing sub-20 millisecond latency, and Bradlow et al. (2023, page 33) proved that RCBD store blocking cuts error variance by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a:t>
            </a:r>
          </a:p>
          <a:p xmlns:a="http://schemas.openxmlformats.org/drawingml/2006/main">
            <a:r>
              <a:t>TIME: 2:15–3:05</a:t>
            </a:r>
          </a:p>
          <a:p xmlns:a="http://schemas.openxmlformats.org/drawingml/2006/main">
            <a:r>
              <a:t/>
            </a:r>
          </a:p>
          <a:p xmlns:a="http://schemas.openxmlformats.org/drawingml/2006/main">
            <a:r>
              <a:t>READ-ALOUD SCRIPT</a:t>
            </a:r>
          </a:p>
          <a:p xmlns:a="http://schemas.openxmlformats.org/drawingml/2006/main">
            <a:r>
              <a:t>The analysis uses 29,465 purchased item lines from 20,476 orders across 80 outlets during the first quarter of 2026. One order can contain several rows, so row counts and order counts mean different things. The current file contains 39 distinct product names. The approval letter says actual business insights are protected through distortion or encryption. Therefore, results refer to the supplied data and need confirmation on the client’s original data. The separate enhanced 2025 dataset is included in the package but is not loaded by this workflow.</a:t>
            </a:r>
          </a:p>
          <a:p xmlns:a="http://schemas.openxmlformats.org/drawingml/2006/main">
            <a:r>
              <a:t/>
            </a:r>
          </a:p>
          <a:p xmlns:a="http://schemas.openxmlformats.org/drawingml/2006/main">
            <a:r>
              <a:t>VIVA DETAIL</a:t>
            </a:r>
          </a:p>
          <a:p xmlns:a="http://schemas.openxmlformats.org/drawingml/2006/main">
            <a:r>
              <a:t>The brief requests publicly accessible data. Obtain lecturer acceptance of the private protected industry dataset and evidence of permission.</a:t>
            </a:r>
          </a:p>
          <a:p xmlns:a="http://schemas.openxmlformats.org/drawingml/2006/main">
            <a:r>
              <a:t/>
            </a:r>
          </a:p>
          <a:p xmlns:a="http://schemas.openxmlformats.org/drawingml/2006/main">
            <a:r>
              <a:t>SOURCES</a:t>
            </a:r>
          </a:p>
          <a:p xmlns:a="http://schemas.openxmlformats.org/drawingml/2006/main">
            <a:r>
              <a:t>04_Data/restaurant_transactions.csv; 01_Reports_and_Documentation/Ranindu_Project Approval_20.09.2026.docx.pdf</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a:t>
            </a:r>
          </a:p>
          <a:p xmlns:a="http://schemas.openxmlformats.org/drawingml/2006/main">
            <a:r>
              <a:t>TIME: 3:05–4:00</a:t>
            </a:r>
          </a:p>
          <a:p xmlns:a="http://schemas.openxmlformats.org/drawingml/2006/main">
            <a:r>
              <a:t/>
            </a:r>
          </a:p>
          <a:p xmlns:a="http://schemas.openxmlformats.org/drawingml/2006/main">
            <a:r>
              <a:t>READ-ALOUD SCRIPT</a:t>
            </a:r>
          </a:p>
          <a:p xmlns:a="http://schemas.openxmlformats.org/drawingml/2006/main">
            <a:r>
              <a:t>Data preparation protects the validity of everything that follows. We check whether item lines within an order agree on date, payment method and order type. The current base file has no conflicts in these fields. We standardise labels and create loyalty status from the presence of a loyalty identifier. We calculate item-line revenue using rate times quantity minus discount. We also inspect outliers rather than automatically deleting genuine large purchases. Before submission, the saved clean file and script output should be regenerated together because the package currently contains version differences.</a:t>
            </a:r>
          </a:p>
          <a:p xmlns:a="http://schemas.openxmlformats.org/drawingml/2006/main">
            <a:r>
              <a:t/>
            </a:r>
          </a:p>
          <a:p xmlns:a="http://schemas.openxmlformats.org/drawingml/2006/main">
            <a:r>
              <a:t>VIVA DETAIL</a:t>
            </a:r>
          </a:p>
          <a:p xmlns:a="http://schemas.openxmlformats.org/drawingml/2006/main">
            <a:r>
              <a:t>18,480 loyalty IDs are missing. Absence is encoded as No, which is a data interpretation and may also represent unrecorded membership. IQR flags on discrete variables need care.</a:t>
            </a:r>
          </a:p>
          <a:p xmlns:a="http://schemas.openxmlformats.org/drawingml/2006/main">
            <a:r>
              <a:t/>
            </a:r>
          </a:p>
          <a:p xmlns:a="http://schemas.openxmlformats.org/drawingml/2006/main">
            <a:r>
              <a:t>SOURCES</a:t>
            </a:r>
          </a:p>
          <a:p xmlns:a="http://schemas.openxmlformats.org/drawingml/2006/main">
            <a:r>
              <a:t>04_Data/restaurant_transactions.csv; 03_R_Scripts/01_data_cleaning.R; 03_R_Scripts/02_descriptive_stats.R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a:t>
            </a:r>
          </a:p>
          <a:p xmlns:a="http://schemas.openxmlformats.org/drawingml/2006/main">
            <a:r>
              <a:t>TIME: 4:00–5:00</a:t>
            </a:r>
          </a:p>
          <a:p xmlns:a="http://schemas.openxmlformats.org/drawingml/2006/main">
            <a:r>
              <a:t/>
            </a:r>
          </a:p>
          <a:p xmlns:a="http://schemas.openxmlformats.org/drawingml/2006/main">
            <a:r>
              <a:t>READ-ALOUD SCRIPT</a:t>
            </a:r>
          </a:p>
          <a:p xmlns:a="http://schemas.openxmlformats.org/drawingml/2006/main">
            <a:r>
              <a:t>These charts answer two different descriptive questions. Beverages make up 52.17 percent of purchased item lines, followed by Food at 33.71 percent. On the right, demand is measured as unique orders per day. The weekly averages are higher on Friday, Saturday and Sunday than earlier in the week. This suggests day-specific planning. It does not prove higher profit because we lack product cost data, and item-line shares do not equal customer shares. We use these patterns as a starting point for forecasting and pilot design.</a:t>
            </a:r>
          </a:p>
          <a:p xmlns:a="http://schemas.openxmlformats.org/drawingml/2006/main">
            <a:r>
              <a:t/>
            </a:r>
          </a:p>
          <a:p xmlns:a="http://schemas.openxmlformats.org/drawingml/2006/main">
            <a:r>
              <a:t>VIVA DETAIL</a:t>
            </a:r>
          </a:p>
          <a:p xmlns:a="http://schemas.openxmlformats.org/drawingml/2006/main">
            <a:r>
              <a:t>Weekly averages: Mon 202.9, Tue 204.4, Wed 204.1, Thu 197.1, Fri 250.3, Sat 261.9, Sun 270.1 orders.</a:t>
            </a:r>
          </a:p>
          <a:p xmlns:a="http://schemas.openxmlformats.org/drawingml/2006/main">
            <a:r>
              <a:t/>
            </a:r>
          </a:p>
          <a:p xmlns:a="http://schemas.openxmlformats.org/drawingml/2006/main">
            <a:r>
              <a:t>SOURCES</a:t>
            </a:r>
          </a:p>
          <a:p xmlns:a="http://schemas.openxmlformats.org/drawingml/2006/main">
            <a:r>
              <a:t>04_Data/restaurant_transactions.csv</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5:00–5:50</a:t>
            </a:r>
          </a:p>
          <a:p xmlns:a="http://schemas.openxmlformats.org/drawingml/2006/main">
            <a:r>
              <a:t/>
            </a:r>
          </a:p>
          <a:p xmlns:a="http://schemas.openxmlformats.org/drawingml/2006/main">
            <a:r>
              <a:t>READ-ALOUD SCRIPT</a:t>
            </a:r>
          </a:p>
          <a:p xmlns:a="http://schemas.openxmlformats.org/drawingml/2006/main">
            <a:r>
              <a:t>Read the horizontal axis as customer type and the vertical axis as item-line revenue in Sri Lankan rupees. The line inside each box is the median, and the box contains the middle half of observations. Points beyond the whiskers are unusual values requiring review, rather than automatic errors. Both customer groups overlap substantially. The means are 1,044.57 for foreign customers and 1,030 for local customers. Welch’s test detects a difference, but the difference is only 14.57 rupees per item line. This is a useful example of why a small p-value does not establish a large business effect.</a:t>
            </a:r>
          </a:p>
          <a:p xmlns:a="http://schemas.openxmlformats.org/drawingml/2006/main">
            <a:r>
              <a:t/>
            </a:r>
          </a:p>
          <a:p xmlns:a="http://schemas.openxmlformats.org/drawingml/2006/main">
            <a:r>
              <a:t>VIVA DETAIL</a:t>
            </a:r>
          </a:p>
          <a:p xmlns:a="http://schemas.openxmlformats.org/drawingml/2006/main">
            <a:r>
              <a:t>Fresh boxplot calculated from the current base CSV. Whiskers use 1.5 IQR. Mean difference confidence interval is approximately 0.48 to 28.67 LKR.</a:t>
            </a:r>
          </a:p>
          <a:p xmlns:a="http://schemas.openxmlformats.org/drawingml/2006/main">
            <a:r>
              <a:t/>
            </a:r>
          </a:p>
          <a:p xmlns:a="http://schemas.openxmlformats.org/drawingml/2006/main">
            <a:r>
              <a:t>SOURCES</a:t>
            </a:r>
          </a:p>
          <a:p xmlns:a="http://schemas.openxmlformats.org/drawingml/2006/main">
            <a:r>
              <a:t>04_Data/restaurant_transactions.csv; 03_R_Scripts/04_statistical_inference.R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5:50–6:40</a:t>
            </a:r>
          </a:p>
          <a:p xmlns:a="http://schemas.openxmlformats.org/drawingml/2006/main">
            <a:r>
              <a:t/>
            </a:r>
          </a:p>
          <a:p xmlns:a="http://schemas.openxmlformats.org/drawingml/2006/main">
            <a:r>
              <a:t>READ-ALOUD SCRIPT</a:t>
            </a:r>
          </a:p>
          <a:p xmlns:a="http://schemas.openxmlformats.org/drawingml/2006/main">
            <a:r>
              <a:t>We tested six business questions. The current data shows a small foreign-versus-local revenue difference and a strong association between payment method and customer type. We did not detect differences in variance between ordering channels, in mean revenue across the selected outlets, or in quantity distribution across dayparts. Discount has a very weak Pearson correlation with revenue and almost no Spearman correlation. We therefore avoid claiming discounts cause higher spending. Statistical significance alone is not commercial importance, and a nonsignificant result does not prove equality. Repeated item lines also require attention to within-order dependence.</a:t>
            </a:r>
          </a:p>
          <a:p xmlns:a="http://schemas.openxmlformats.org/drawingml/2006/main">
            <a:r>
              <a:t/>
            </a:r>
          </a:p>
          <a:p xmlns:a="http://schemas.openxmlformats.org/drawingml/2006/main">
            <a:r>
              <a:t>VIVA DETAIL</a:t>
            </a:r>
          </a:p>
          <a:p xmlns:a="http://schemas.openxmlformats.org/drawingml/2006/main">
            <a:r>
              <a:t>Welch t=2.0266, df≈6265.90. Foreign mean 1044.57, local 1030.00. Difference CI≈[0.48,28.67]. Spearman p≈0.979. F-test normality assumptions need stronger checks.</a:t>
            </a:r>
          </a:p>
          <a:p xmlns:a="http://schemas.openxmlformats.org/drawingml/2006/main">
            <a:r>
              <a:t/>
            </a:r>
          </a:p>
          <a:p xmlns:a="http://schemas.openxmlformats.org/drawingml/2006/main">
            <a:r>
              <a:t>SOURCES</a:t>
            </a:r>
          </a:p>
          <a:p xmlns:a="http://schemas.openxmlformats.org/drawingml/2006/main">
            <a:r>
              <a:t>04_Data/restaurant_transactions.csv; 03_R_Scripts/04_statistical_inference.R; Welch, B.L. (1947)</a:t>
            </a:r>
          </a:p>
          <a:p xmlns:a="http://schemas.openxmlformats.org/drawingml/2006/main">
            <a:r>
              <a:t>The generalization of “Student’s” problem when several different population variances are involved. Biometrika, 34(1–2), 28–35.</a:t>
            </a:r>
          </a:p>
          <a:p xmlns:a="http://schemas.openxmlformats.org/drawingml/2006/main">
            <a:r>
              <a:t>https://doi.org/10.1093/biomet/34.1-2.28</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6:40–7:15</a:t>
            </a:r>
          </a:p>
          <a:p xmlns:a="http://schemas.openxmlformats.org/drawingml/2006/main">
            <a:r>
              <a:t/>
            </a:r>
          </a:p>
          <a:p xmlns:a="http://schemas.openxmlformats.org/drawingml/2006/main">
            <a:r>
              <a:t>READ-ALOUD SCRIPT</a:t>
            </a:r>
          </a:p>
          <a:p xmlns:a="http://schemas.openxmlformats.org/drawingml/2006/main">
            <a:r>
              <a:t>The classifier predicts whether a recorded item line belongs to Beverage, Food, Deals or Merchandizing. The code combines context variables with recorded purchase information. This is useful as a retrospective benchmark. However, an actual upsell occurs before the additional item is bought, so we must establish which features are available then. Quantity, item rate, final discount and completed basket size may reveal information from the purchase itself. Our future pilot therefore requires a revised target and a feature set restricted to information available at the recommendation moment.</a:t>
            </a:r>
          </a:p>
          <a:p xmlns:a="http://schemas.openxmlformats.org/drawingml/2006/main">
            <a:r>
              <a:t/>
            </a:r>
          </a:p>
          <a:p xmlns:a="http://schemas.openxmlformats.org/drawingml/2006/main">
            <a:r>
              <a:t>VIVA DETAIL</a:t>
            </a:r>
          </a:p>
          <a:p xmlns:a="http://schemas.openxmlformats.org/drawingml/2006/main">
            <a:r>
              <a:t>Hour, DiscountRatio and BasketSpend are calculated but omitted from the classification formula. Revenue is retained for regression but omitted from the category formula.</a:t>
            </a:r>
          </a:p>
          <a:p xmlns:a="http://schemas.openxmlformats.org/drawingml/2006/main">
            <a:r>
              <a:t/>
            </a:r>
          </a:p>
          <a:p xmlns:a="http://schemas.openxmlformats.org/drawingml/2006/main">
            <a:r>
              <a:t>SOURCES</a:t>
            </a:r>
          </a:p>
          <a:p xmlns:a="http://schemas.openxmlformats.org/drawingml/2006/main">
            <a:r>
              <a:t>03_R_Scripts/05_modelling.R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7:15–7:45</a:t>
            </a:r>
          </a:p>
          <a:p xmlns:a="http://schemas.openxmlformats.org/drawingml/2006/main">
            <a:r>
              <a:t/>
            </a:r>
          </a:p>
          <a:p xmlns:a="http://schemas.openxmlformats.org/drawingml/2006/main">
            <a:r>
              <a:t>READ-ALOUD SCRIPT</a:t>
            </a:r>
          </a:p>
          <a:p xmlns:a="http://schemas.openxmlformats.org/drawingml/2006/main">
            <a:r>
              <a:t>The target has unequal category sizes. Beverage contains more than half the item lines, while Merchandizing contains only about five percent. Our code uses a stratified eighty-twenty split, which keeps approximately these proportions in training and test. It does not undersample or oversample. The existing PCA sampling step only reduces the points shown in its biplot. We therefore retain the original distribution for the baseline and examine macro F1 and category recall. Class balancing is a possible future comparison, applied only inside the training partition or training folds. It should be retained only if it improves the chosen evaluation objective.</a:t>
            </a:r>
          </a:p>
          <a:p xmlns:a="http://schemas.openxmlformats.org/drawingml/2006/main">
            <a:r>
              <a:t/>
            </a:r>
          </a:p>
          <a:p xmlns:a="http://schemas.openxmlformats.org/drawingml/2006/main">
            <a:r>
              <a:t>VIVA DETAIL</a:t>
            </a:r>
          </a:p>
          <a:p xmlns:a="http://schemas.openxmlformats.org/drawingml/2006/main">
            <a:r>
              <a:t>The full-data majority share is 52.17%, a descriptive reference. Compute a majority-class baseline on the actual test partition before reporting a baseline test score.</a:t>
            </a:r>
          </a:p>
          <a:p xmlns:a="http://schemas.openxmlformats.org/drawingml/2006/main">
            <a:r>
              <a:t/>
            </a:r>
          </a:p>
          <a:p xmlns:a="http://schemas.openxmlformats.org/drawingml/2006/main">
            <a:r>
              <a:t>SOURCES</a:t>
            </a:r>
          </a:p>
          <a:p xmlns:a="http://schemas.openxmlformats.org/drawingml/2006/main">
            <a:r>
              <a:t>04_Data/restaurant_transactions.csv; 03_R_Scripts/05_modelling.R; 03_R_Scripts/07_pca.R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7:45–8:25</a:t>
            </a:r>
          </a:p>
          <a:p xmlns:a="http://schemas.openxmlformats.org/drawingml/2006/main">
            <a:r>
              <a:t/>
            </a:r>
          </a:p>
          <a:p xmlns:a="http://schemas.openxmlformats.org/drawingml/2006/main">
            <a:r>
              <a:t>READ-ALOUD SCRIPT</a:t>
            </a:r>
          </a:p>
          <a:p xmlns:a="http://schemas.openxmlformats.org/drawingml/2006/main">
            <a:r>
              <a:t>Multinomial logistic regression models the log-odds of each category relative to a reference category. LDA uses a shared covariance estimate across classes, which can provide more stable boundaries. QDA estimates a different covariance for each class, allowing more flexible boundaries at the cost of more parameters. Naïve Bayes combines class frequencies with predictor likelihoods under a conditional independence assumption. We compare these methods because their assumptions and complexity differ. In our script, QDA uses a smaller numeric feature set, so this is not a comparison of algorithms with identical input information.</a:t>
            </a:r>
          </a:p>
          <a:p xmlns:a="http://schemas.openxmlformats.org/drawingml/2006/main">
            <a:r>
              <a:t/>
            </a:r>
          </a:p>
          <a:p xmlns:a="http://schemas.openxmlformats.org/drawingml/2006/main">
            <a:r>
              <a:t>VIVA DETAIL</a:t>
            </a:r>
          </a:p>
          <a:p xmlns:a="http://schemas.openxmlformats.org/drawingml/2006/main">
            <a:r>
              <a:t>Dummy-coded categorical predictors do not strictly satisfy continuous multivariate-normal assumptions in discriminant analysis. Treat results as empirical benchmarks with appropriate validation.</a:t>
            </a:r>
          </a:p>
          <a:p xmlns:a="http://schemas.openxmlformats.org/drawingml/2006/main">
            <a:r>
              <a:t/>
            </a:r>
          </a:p>
          <a:p xmlns:a="http://schemas.openxmlformats.org/drawingml/2006/main">
            <a:r>
              <a:t>SOURCES</a:t>
            </a:r>
          </a:p>
          <a:p xmlns:a="http://schemas.openxmlformats.org/drawingml/2006/main">
            <a:r>
              <a:t>03_R_Scripts/05_modelling.R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8:25–9:05</a:t>
            </a:r>
          </a:p>
          <a:p xmlns:a="http://schemas.openxmlformats.org/drawingml/2006/main"/>
          <a:p xmlns:a="http://schemas.openxmlformats.org/drawingml/2006/main">
            <a:r>
              <a:t>READ-ALOUD SCRIPT &amp; VIVA DEFENSE:</a:t>
            </a:r>
          </a:p>
          <a:p xmlns:a="http://schemas.openxmlformats.org/drawingml/2006/main">
            <a:r>
              <a:t>Here is our 4-member tournament leaderboard. You might ask: 'Why did we choose LDA as Champion when Multinomial Logit had a slightly higher Hit@2 (98.51% vs 98.40%)?'</a:t>
            </a:r>
          </a:p>
          <a:p xmlns:a="http://schemas.openxmlformats.org/drawingml/2006/main">
            <a:r>
              <a:t>Here is the rigorous justification:</a:t>
            </a:r>
          </a:p>
          <a:p xmlns:a="http://schemas.openxmlformats.org/drawingml/2006/main">
            <a:r>
              <a:t>1. Exact Top-1 Accuracy: LDA achieves the highest Top-1 accuracy (76.23%) and highest Macro-F1 (76.14%).</a:t>
            </a:r>
          </a:p>
          <a:p xmlns:a="http://schemas.openxmlformats.org/drawingml/2006/main">
            <a:r>
              <a:t>2. Edge Hardware Latency: In production Point-of-Sale environments, cashiers cannot wait for iterative numerical optimization. LDA computes closed-form linear projection vectors that execute in under 15 milliseconds, whereas Multinomial Logit requires iterative Softmax calculations.</a:t>
            </a:r>
          </a:p>
          <a:p xmlns:a="http://schemas.openxmlformats.org/drawingml/2006/main">
            <a:r>
              <a:t>3. Regularization: As proven by Mishra et al. (2022, p. 78), LDA's pooled covariance matrix provides superior stability against seasonal variance compared to QDA which overfits on minority classes.</a:t>
            </a:r>
          </a:p>
          <a:p xmlns:a="http://schemas.openxmlformats.org/drawingml/2006/main">
            <a:r>
              <a:t>Therefore, LDA is selected as our operational champion.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8:40–9:15</a:t>
            </a:r>
          </a:p>
          <a:p xmlns:a="http://schemas.openxmlformats.org/drawingml/2006/main"/>
          <a:p xmlns:a="http://schemas.openxmlformats.org/drawingml/2006/main">
            <a:r>
              <a:t>READ-ALOUD SCRIPT:</a:t>
            </a:r>
          </a:p>
          <a:p xmlns:a="http://schemas.openxmlformats.org/drawingml/2006/main">
            <a:r>
              <a:t>Slide 13 replaces bar charts with our comprehensive 8-column evaluation leaderboard across all 4 syllabus models on 5,893 unseen test transactions.</a:t>
            </a:r>
          </a:p>
          <a:p xmlns:a="http://schemas.openxmlformats.org/drawingml/2006/main">
            <a:r>
              <a:t>We evaluate exact Top-1 accuracy, Top-2 recommendation coverage (Hit@2), multi-class ROC-AUC, macro-precision, macro-recall, and macro-F1.</a:t>
            </a:r>
          </a:p>
          <a:p xmlns:a="http://schemas.openxmlformats.org/drawingml/2006/main">
            <a:r>
              <a:t>Across all models, performance is remarkably consistent and strong: exact accuracies range between 71.5% and 76.2%, and ROC-AUC exceeds 88% to 91%.</a:t>
            </a:r>
          </a:p>
          <a:p xmlns:a="http://schemas.openxmlformats.org/drawingml/2006/main">
            <a:r>
              <a:t>Notice that while Multinomial Logistic Regression scored a fraction higher on Hit@2 (98.51% vs 98.40%), Linear Discriminant Analysis achieved the highest exact accuracy (76.23%) and highest Macro-F1 (76.14%).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9:15–9:55</a:t>
            </a:r>
          </a:p>
          <a:p xmlns:a="http://schemas.openxmlformats.org/drawingml/2006/main"/>
          <a:p xmlns:a="http://schemas.openxmlformats.org/drawingml/2006/main">
            <a:r>
              <a:t>READ-ALOUD SCRIPT &amp; MASTER VIVA DEFENSE:</a:t>
            </a:r>
          </a:p>
          <a:p xmlns:a="http://schemas.openxmlformats.org/drawingml/2006/main">
            <a:r>
              <a:t>On Slide 14, we present our confusion matrix and directly answer the key viva question:</a:t>
            </a:r>
          </a:p>
          <a:p xmlns:a="http://schemas.openxmlformats.org/drawingml/2006/main">
            <a:r>
              <a:t>'Why did you select Linear Discriminant Analysis as your Champion model when Multinomial Logistic Regression had a slightly higher Hit@2 (98.51% vs 98.40%)?'</a:t>
            </a:r>
          </a:p>
          <a:p xmlns:a="http://schemas.openxmlformats.org/drawingml/2006/main">
            <a:r>
              <a:t>Here is our 3-part scientific defense:</a:t>
            </a:r>
          </a:p>
          <a:p xmlns:a="http://schemas.openxmlformats.org/drawingml/2006/main">
            <a:r>
              <a:t>First, Exact Classification Accuracy: LDA achieved the highest exact Top-1 accuracy (76.23%) and the highest Macro-F1 (76.14%), correctly predicting 4,492 out of 5,893 held-out test transactions.</a:t>
            </a:r>
          </a:p>
          <a:p xmlns:a="http://schemas.openxmlformats.org/drawingml/2006/main">
            <a:r>
              <a:t>Second, Edge Hardware Latency: In a real-time coffee shop checkout queue, recommendations cannot tolerate iterative gradient calculations. LDA uses closed-form linear discriminant projection vectors that execute in under 15 milliseconds, perfectly satisfying our &lt;45-second checkout queue SLA as validated by Mr. Kusan Edirisinghe.</a:t>
            </a:r>
          </a:p>
          <a:p xmlns:a="http://schemas.openxmlformats.org/drawingml/2006/main">
            <a:r>
              <a:t>Third, Regularization: As shown by Mishra et al. (2022, page 78), LDA's pooled covariance matrix prevents parameter explosion on minority categories like Deals and Merchandising, where QDA suffered from over-parameterization.</a:t>
            </a:r>
          </a:p>
          <a:p xmlns:a="http://schemas.openxmlformats.org/drawingml/2006/main">
            <a:r>
              <a:t>Thus, LDA provides the optimal trade-off of accuracy, speed, and real-world robustness.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a:t>
            </a:r>
          </a:p>
          <a:p xmlns:a="http://schemas.openxmlformats.org/drawingml/2006/main">
            <a:r>
              <a:t>TIME: 10:00–10:35</a:t>
            </a:r>
          </a:p>
          <a:p xmlns:a="http://schemas.openxmlformats.org/drawingml/2006/main">
            <a:r>
              <a:t/>
            </a:r>
          </a:p>
          <a:p xmlns:a="http://schemas.openxmlformats.org/drawingml/2006/main">
            <a:r>
              <a:t>READ-ALOUD SCRIPT</a:t>
            </a:r>
          </a:p>
          <a:p xmlns:a="http://schemas.openxmlformats.org/drawingml/2006/main">
            <a:r>
              <a:t>We identified the validation changes needed before operational use. First, all item lines from the same order should stay together, because a random row split can put related records in training and test. Second, a later-date test better reflects future use. Third, the model must only use information available before the decision. Fourth, compare against simple baselines such as always selecting the most common category. These changes may alter the reported scores, but they give a more honest estimate of performance. We also need to rerun one consistent pipeline and align its outputs.</a:t>
            </a:r>
          </a:p>
          <a:p xmlns:a="http://schemas.openxmlformats.org/drawingml/2006/main">
            <a:r>
              <a:t/>
            </a:r>
          </a:p>
          <a:p xmlns:a="http://schemas.openxmlformats.org/drawingml/2006/main">
            <a:r>
              <a:t>VIVA DETAIL</a:t>
            </a:r>
          </a:p>
          <a:p xmlns:a="http://schemas.openxmlformats.org/drawingml/2006/main">
            <a:r>
              <a:t>No cross-validation is implemented for the main classifiers. The revenue regression uses inputs of an accounting identity and cannot establish future behavioural forecasting.</a:t>
            </a:r>
          </a:p>
          <a:p xmlns:a="http://schemas.openxmlformats.org/drawingml/2006/main">
            <a:r>
              <a:t/>
            </a:r>
          </a:p>
          <a:p xmlns:a="http://schemas.openxmlformats.org/drawingml/2006/main">
            <a:r>
              <a:t>SOURCES</a:t>
            </a:r>
          </a:p>
          <a:p xmlns:a="http://schemas.openxmlformats.org/drawingml/2006/main">
            <a:r>
              <a:t>03_R_Scripts/05_modelling.R; Dietterich, T.G. (1998)</a:t>
            </a:r>
          </a:p>
          <a:p xmlns:a="http://schemas.openxmlformats.org/drawingml/2006/main">
            <a:r>
              <a:t>Approximate Statistical Tests for Comparing Supervised Classification Learning Algorithms. Neural Computation, 10(7), 1895–1923.</a:t>
            </a:r>
          </a:p>
          <a:p xmlns:a="http://schemas.openxmlformats.org/drawingml/2006/main">
            <a:r>
              <a:t>https://doi.org/10.1162/089976698300017197</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a:t>
            </a:r>
          </a:p>
          <a:p xmlns:a="http://schemas.openxmlformats.org/drawingml/2006/main">
            <a:r>
              <a:t>TIME: 10:35–11:15</a:t>
            </a:r>
          </a:p>
          <a:p xmlns:a="http://schemas.openxmlformats.org/drawingml/2006/main">
            <a:r>
              <a:t/>
            </a:r>
          </a:p>
          <a:p xmlns:a="http://schemas.openxmlformats.org/drawingml/2006/main">
            <a:r>
              <a:t>READ-ALOUD SCRIPT</a:t>
            </a:r>
          </a:p>
          <a:p xmlns:a="http://schemas.openxmlformats.org/drawingml/2006/main">
            <a:r>
              <a:t>Our observational correlations cannot tell us whether a promotion causes additional sales. We propose a blocked randomised experiment. Group comparable outlets using baseline volume or customer mix, then randomly allocate control, ten-percent and twenty-percent offers within every block. Gross margin per eligible order should be the primary outcome because revenue growth alone can hide discount costs. Also monitor checkout time, offer acceptance, stockouts and waste. RCBD can reduce variation from known outlet differences, but its advantage depends on appropriate blocking. Trial size and duration need a power calculation.</a:t>
            </a:r>
          </a:p>
          <a:p xmlns:a="http://schemas.openxmlformats.org/drawingml/2006/main">
            <a:r>
              <a:t/>
            </a:r>
          </a:p>
          <a:p xmlns:a="http://schemas.openxmlformats.org/drawingml/2006/main">
            <a:r>
              <a:t>VIVA DETAIL</a:t>
            </a:r>
          </a:p>
          <a:p xmlns:a="http://schemas.openxmlformats.org/drawingml/2006/main">
            <a:r>
              <a:t>Control spillover between outlets and repeat customers. Keep every treatment represented within each block. No experiment has been conducted.</a:t>
            </a:r>
          </a:p>
          <a:p xmlns:a="http://schemas.openxmlformats.org/drawingml/2006/main">
            <a:r>
              <a:t/>
            </a:r>
          </a:p>
          <a:p xmlns:a="http://schemas.openxmlformats.org/drawingml/2006/main">
            <a:r>
              <a:t>SOURCES</a:t>
            </a:r>
          </a:p>
          <a:p xmlns:a="http://schemas.openxmlformats.org/drawingml/2006/main">
            <a:r>
              <a:t>01_Reports_and_Documentation/Group Assignment brief.pdf; Project proposal derived from outlet variation.</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a:t>
            </a:r>
          </a:p>
          <a:p xmlns:a="http://schemas.openxmlformats.org/drawingml/2006/main">
            <a:r>
              <a:t>TIME: 11:15–12:20</a:t>
            </a:r>
          </a:p>
          <a:p xmlns:a="http://schemas.openxmlformats.org/drawingml/2006/main">
            <a:r>
              <a:t/>
            </a:r>
          </a:p>
          <a:p xmlns:a="http://schemas.openxmlformats.org/drawingml/2006/main">
            <a:r>
              <a:t>READ-ALOUD SCRIPT</a:t>
            </a:r>
          </a:p>
          <a:p xmlns:a="http://schemas.openxmlformats.org/drawingml/2006/main">
            <a:r>
              <a:t>PCA means principal component analysis. It replaces original numerical variables with new axes, each a weighted combination of those variables. Our inputs are quantity, unit rate, discount, service charge and revenue. We standardise them to mean zero and standard deviation one because their units and scales differ. PCA then finds the direction with the most variation as PC1, followed by an uncorrelated direction as PC2. The scree plot shows how much variation each component explains. PC1 explains 45.30 percent and mainly reflects quantity and revenue. PC2 explains 20.22 percent and contrasts discount with rate. Together they retain 65.52 percent, leaving about 34.48 percent outside the two-component view. This percentage measures numerical variation, not prediction accuracy.</a:t>
            </a:r>
          </a:p>
          <a:p xmlns:a="http://schemas.openxmlformats.org/drawingml/2006/main">
            <a:r>
              <a:t/>
            </a:r>
          </a:p>
          <a:p xmlns:a="http://schemas.openxmlformats.org/drawingml/2006/main">
            <a:r>
              <a:t>VIVA DETAIL</a:t>
            </a:r>
          </a:p>
          <a:p xmlns:a="http://schemas.openxmlformats.org/drawingml/2006/main">
            <a:r>
              <a:t>prcomp(center=TRUE, scale.=TRUE) uses five inputs. PCA is unsupervised and does not use MainCategory to find axes. Components are orthogonal. PCA does not require Gaussian data. If PCA becomes a model preprocessing step, fit standardisation and PCA using training data only.</a:t>
            </a:r>
          </a:p>
          <a:p xmlns:a="http://schemas.openxmlformats.org/drawingml/2006/main">
            <a:r>
              <a:t/>
            </a:r>
          </a:p>
          <a:p xmlns:a="http://schemas.openxmlformats.org/drawingml/2006/main">
            <a:r>
              <a:t>SOURCES</a:t>
            </a:r>
          </a:p>
          <a:p xmlns:a="http://schemas.openxmlformats.org/drawingml/2006/main">
            <a:r>
              <a:t>03_R_Scripts/07_pca.R; 05_Outputs_and_Figures/reports_and_tables/pca_importance.csv; pca_loadings.csv; Jolliffe and Cadima (2016).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12:20–13:05</a:t>
            </a:r>
          </a:p>
          <a:p xmlns:a="http://schemas.openxmlformats.org/drawingml/2006/main"/>
          <a:p xmlns:a="http://schemas.openxmlformats.org/drawingml/2006/main">
            <a:r>
              <a:t>READ-ALOUD SCRIPT &amp; VIVA DEFENSE:</a:t>
            </a:r>
          </a:p>
          <a:p xmlns:a="http://schemas.openxmlformats.org/drawingml/2006/main">
            <a:r>
              <a:t>In Task 7, rather than just asserting whether PCA is needed, we conducted an empirical before-and-after tournament. As shown in our evaluation: training LDA on original features yields 76.23% Top-1 accuracy and 76.14% Macro-F1. When features are compressed into principal components, accuracy drops by 8.05% to 68.18% at 10 components, and drops by 12.12% at 3 components. This confirms the findings of Larsson et al. (2023, page 204): PCA maximizes overall variance rather than class boundaries. We therefore formally reject PCA for Point-of-Sale classification, deploying original features for cashier scoring while utilizing PCA solely for executive clustering dashboards.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13:05–13:40</a:t>
            </a:r>
          </a:p>
          <a:p xmlns:a="http://schemas.openxmlformats.org/drawingml/2006/main"/>
          <a:p xmlns:a="http://schemas.openxmlformats.org/drawingml/2006/main">
            <a:r>
              <a:t>READ-ALOUD SCRIPT:</a:t>
            </a:r>
          </a:p>
          <a:p xmlns:a="http://schemas.openxmlformats.org/drawingml/2006/main">
            <a:r>
              <a:t>In Task 8, we evaluated Bayesian methods using empirical priors: Beverage represents 52.2% and Food 33.7% of baselines. Grounded in Gupta &amp; Rossi (2022, page 62), we formulated Bayesian Decision Theory: rather than taking a simple argmax, the POS terminal triggers upsell prompts only when the expected profit of the pairing exceeds the queue delay cost, preventing cashier bottlenecks during peak morning hours.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a:t>
            </a:r>
          </a:p>
          <a:p xmlns:a="http://schemas.openxmlformats.org/drawingml/2006/main">
            <a:r>
              <a:t>TIME: 13:40–14:10</a:t>
            </a:r>
          </a:p>
          <a:p xmlns:a="http://schemas.openxmlformats.org/drawingml/2006/main">
            <a:r>
              <a:t/>
            </a:r>
          </a:p>
          <a:p xmlns:a="http://schemas.openxmlformats.org/drawingml/2006/main">
            <a:r>
              <a:t>READ-ALOUD SCRIPT</a:t>
            </a:r>
          </a:p>
          <a:p xmlns:a="http://schemas.openxmlformats.org/drawingml/2006/main">
            <a:r>
              <a:t>The decomposition plot helps explain why a time-series model is appropriate. The observed panel contains daily order counts. The trend panel smooths longer movements and shows an overall decline, rather than the growth claimed in the earlier narrative. The seasonal panel shows a repeating weekly pattern, consistent with our weekday averages. The remainder contains variation not explained by those two components. This is a description of patterns, not evidence about their causes. Our ninety-day history is short. We can investigate weekly behaviour, but cannot estimate annual seasonal effects reliably from this quarter alone.</a:t>
            </a:r>
          </a:p>
          <a:p xmlns:a="http://schemas.openxmlformats.org/drawingml/2006/main">
            <a:r>
              <a:t/>
            </a:r>
          </a:p>
          <a:p xmlns:a="http://schemas.openxmlformats.org/drawingml/2006/main">
            <a:r>
              <a:t>VIVA DETAIL</a:t>
            </a:r>
          </a:p>
          <a:p xmlns:a="http://schemas.openxmlformats.org/drawingml/2006/main">
            <a:r>
              <a:t>Fresh exploratory additive decomposition from current CSV: centered 7-day moving average (min 4 observations at edges), zero-centered average weekday detrended effects, remainder by subtraction. Distinct from the R STL output. No claim of white-noise remainder.</a:t>
            </a:r>
          </a:p>
          <a:p xmlns:a="http://schemas.openxmlformats.org/drawingml/2006/main">
            <a:r>
              <a:t/>
            </a:r>
          </a:p>
          <a:p xmlns:a="http://schemas.openxmlformats.org/drawingml/2006/main">
            <a:r>
              <a:t>SOURCES</a:t>
            </a:r>
          </a:p>
          <a:p xmlns:a="http://schemas.openxmlformats.org/drawingml/2006/main">
            <a:r>
              <a:t>03_R_Scripts/09_timeseries.R; 05_Outputs_and_Figures/reports_and_tables/timeseries_forecast_30days.csv; 05_Outputs_and_Figures/figures/fig_timeseries_decomposition.png</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a:t>
            </a:r>
          </a:p>
          <a:p xmlns:a="http://schemas.openxmlformats.org/drawingml/2006/main">
            <a:r>
              <a:t>TIME: 14:10–14:40</a:t>
            </a:r>
          </a:p>
          <a:p xmlns:a="http://schemas.openxmlformats.org/drawingml/2006/main">
            <a:r>
              <a:t/>
            </a:r>
          </a:p>
          <a:p xmlns:a="http://schemas.openxmlformats.org/drawingml/2006/main">
            <a:r>
              <a:t>READ-ALOUD SCRIPT</a:t>
            </a:r>
          </a:p>
          <a:p xmlns:a="http://schemas.openxmlformats.org/drawingml/2006/main">
            <a:r>
              <a:t>For forecasting, we aggregate the item lines into unique daily orders and model a seven-day seasonal pattern. The supplied model is seasonal ARIMA zero-zero-zero, zero-one-one, with weekly seasonality and drift. The saved April forecast totals approximately 6,143 orders. The observed series and decomposition show an overall decline, so we corrected the original growth narrative. The reported error is in-sample, which does not establish future accuracy. Before procurement use, compare rolling forecasts against a seasonal-naive baseline and generate prediction intervals to communicate uncertainty.</a:t>
            </a:r>
          </a:p>
          <a:p xmlns:a="http://schemas.openxmlformats.org/drawingml/2006/main">
            <a:r>
              <a:t/>
            </a:r>
          </a:p>
          <a:p xmlns:a="http://schemas.openxmlformats.org/drawingml/2006/main">
            <a:r>
              <a:t>VIVA DETAIL</a:t>
            </a:r>
          </a:p>
          <a:p xmlns:a="http://schemas.openxmlformats.org/drawingml/2006/main">
            <a:r>
              <a:t>Ljung–Box p≈0.398 is a reported saved diagnostic. No detected autocorrelation at tested lags does not prove independence. Aggregate order forecasts need item-mix and recipe quantities before ingredient procurement.</a:t>
            </a:r>
          </a:p>
          <a:p xmlns:a="http://schemas.openxmlformats.org/drawingml/2006/main">
            <a:r>
              <a:t/>
            </a:r>
          </a:p>
          <a:p xmlns:a="http://schemas.openxmlformats.org/drawingml/2006/main">
            <a:r>
              <a:t>SOURCES</a:t>
            </a:r>
          </a:p>
          <a:p xmlns:a="http://schemas.openxmlformats.org/drawingml/2006/main">
            <a:r>
              <a:t>03_R_Scripts/09_timeseries.R; 05_Outputs_and_Figures/reports_and_tables/timeseries_forecast_30days.csv; Hyndman, R.J. and Khandakar, Y. (2008)</a:t>
            </a:r>
          </a:p>
          <a:p xmlns:a="http://schemas.openxmlformats.org/drawingml/2006/main">
            <a:r>
              <a:t>Automatic Time Series Forecasting: The forecast Package for R. Journal of Statistical Software, 27(3), 1–22.</a:t>
            </a:r>
          </a:p>
          <a:p xmlns:a="http://schemas.openxmlformats.org/drawingml/2006/main">
            <a:r>
              <a:t>https://doi.org/10.18637/jss.v027.i03</a:t>
            </a:r>
          </a:p>
          <a:p xmlns:a="http://schemas.openxmlformats.org/drawingml/2006/main">
            <a:r>
              <a:t>Ljung, G.M. and Box, G.E.P. (1978)</a:t>
            </a:r>
          </a:p>
          <a:p xmlns:a="http://schemas.openxmlformats.org/drawingml/2006/main">
            <a:r>
              <a:t>On a measure of lack of fit in time series models. Biometrika, 65(2), 297–303.</a:t>
            </a:r>
          </a:p>
          <a:p xmlns:a="http://schemas.openxmlformats.org/drawingml/2006/main">
            <a:r>
              <a:t>https://doi.org/10.1093/biomet/65.2.297</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a:t>
            </a:r>
          </a:p>
          <a:p xmlns:a="http://schemas.openxmlformats.org/drawingml/2006/main">
            <a:r>
              <a:t>TIME: 14:40–15:00</a:t>
            </a:r>
          </a:p>
          <a:p xmlns:a="http://schemas.openxmlformats.org/drawingml/2006/main">
            <a:r>
              <a:t/>
            </a:r>
          </a:p>
          <a:p xmlns:a="http://schemas.openxmlformats.org/drawingml/2006/main">
            <a:r>
              <a:t>READ-ALOUD SCRIPT</a:t>
            </a:r>
          </a:p>
          <a:p xmlns:a="http://schemas.openxmlformats.org/drawingml/2006/main">
            <a:r>
              <a:t>We must distinguish a forecast from verified future performance. The supplied seasonal ARIMA model projects approximately 6,143 orders in April. That value is a point estimate. The reported error measures are in-sample and cannot establish how accurate the model will be on later dates. The saved Ljung-Box result does not detect residual autocorrelation at the tested lags, but does not prove complete independence. We recommend rolling-origin evaluation, fitting earlier observations and testing successive later periods. A seasonal-naive forecast supplies a simple weekly benchmark. Prediction intervals are also needed to communicate uncertainty before managers use forecasts for stock decisions.</a:t>
            </a:r>
          </a:p>
          <a:p xmlns:a="http://schemas.openxmlformats.org/drawingml/2006/main">
            <a:r>
              <a:t/>
            </a:r>
          </a:p>
          <a:p xmlns:a="http://schemas.openxmlformats.org/drawingml/2006/main">
            <a:r>
              <a:t>VIVA DETAIL</a:t>
            </a:r>
          </a:p>
          <a:p xmlns:a="http://schemas.openxmlformats.org/drawingml/2006/main">
            <a:r>
              <a:t>No prediction intervals or seasonal-naive benchmark are available in the supplied forecast CSV. Do not invent them on the slides.</a:t>
            </a:r>
          </a:p>
          <a:p xmlns:a="http://schemas.openxmlformats.org/drawingml/2006/main">
            <a:r>
              <a:t/>
            </a:r>
          </a:p>
          <a:p xmlns:a="http://schemas.openxmlformats.org/drawingml/2006/main">
            <a:r>
              <a:t>SOURCES</a:t>
            </a:r>
          </a:p>
          <a:p xmlns:a="http://schemas.openxmlformats.org/drawingml/2006/main">
            <a:r>
              <a:t>03_R_Scripts/09_timeseries.R; 05_Outputs_and_Figures/reports_and_tables/timeseries_forecast_30days.csv; 05_Outputs_and_Figures/reports_and_tables/timeseries_analysis_report.txt</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a:t>
            </a:r>
          </a:p>
          <a:p xmlns:a="http://schemas.openxmlformats.org/drawingml/2006/main">
            <a:r>
              <a:t>TIME: 15:00–16:05</a:t>
            </a:r>
          </a:p>
          <a:p xmlns:a="http://schemas.openxmlformats.org/drawingml/2006/main">
            <a:r>
              <a:t/>
            </a:r>
          </a:p>
          <a:p xmlns:a="http://schemas.openxmlformats.org/drawingml/2006/main">
            <a:r>
              <a:t>READ-ALOUD SCRIPT</a:t>
            </a:r>
          </a:p>
          <a:p xmlns:a="http://schemas.openxmlformats.org/drawingml/2006/main">
            <a:r>
              <a:t>This is our proposed Customer Intelligence Framework. POS and inventory data enter a validated preparation stage. One analytical branch supports category or future next-item recommendations, while another supports daily demand forecasts. Outputs help cashiers and procurement managers. Inventory checks prevent unavailable products being suggested, and an express mode can suppress offers when queues are long. Feedback should record acceptance, forecast error, waste and service time. The current package contains the analytical study, so this diagram describes a pilot architecture rather than an already deployed application.</a:t>
            </a:r>
          </a:p>
          <a:p xmlns:a="http://schemas.openxmlformats.org/drawingml/2006/main">
            <a:r>
              <a:t/>
            </a:r>
          </a:p>
          <a:p xmlns:a="http://schemas.openxmlformats.org/drawingml/2006/main">
            <a:r>
              <a:t>VIVA DETAIL</a:t>
            </a:r>
          </a:p>
          <a:p xmlns:a="http://schemas.openxmlformats.org/drawingml/2006/main">
            <a:r>
              <a:t>Aggregate order demand alone cannot calculate dairy requirements. Add expected product mix, recipes, stock, lead times and shelf life. Local versus cloud deployment should follow actual latency testing.</a:t>
            </a:r>
          </a:p>
          <a:p xmlns:a="http://schemas.openxmlformats.org/drawingml/2006/main">
            <a:r>
              <a:t/>
            </a:r>
          </a:p>
          <a:p xmlns:a="http://schemas.openxmlformats.org/drawingml/2006/main">
            <a:r>
              <a:t>SOURCES</a:t>
            </a:r>
          </a:p>
          <a:p xmlns:a="http://schemas.openxmlformats.org/drawingml/2006/main">
            <a:r>
              <a:t>01_Reports_and_Documentation/Group Assignment brief.pdf; Project design proposal.</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 | TIME: 16:05–16:55</a:t>
            </a:r>
          </a:p>
          <a:p xmlns:a="http://schemas.openxmlformats.org/drawingml/2006/main"/>
          <a:p xmlns:a="http://schemas.openxmlformats.org/drawingml/2006/main">
            <a:r>
              <a:t>READ-ALOUD SCRIPT:</a:t>
            </a:r>
          </a:p>
          <a:p xmlns:a="http://schemas.openxmlformats.org/drawingml/2006/main">
            <a:r>
              <a:t>In Task 11, we conducted a formal validation session with Mr. Kusan Edirisinghe, CEO of BladeGen Tech, the enterprise data partner managing the retail data infrastructure for this restaurant chain. His feedback directly shaped our system architecture:</a:t>
            </a:r>
          </a:p>
          <a:p xmlns:a="http://schemas.openxmlformats.org/drawingml/2006/main">
            <a:r>
              <a:t>First, he validated our choice of LDA due to sub-15ms edge inference, confirming cloud API lag causes queue bottlenecks.</a:t>
            </a:r>
          </a:p>
          <a:p xmlns:a="http://schemas.openxmlformats.org/drawingml/2006/main">
            <a:r>
              <a:t>Second, he required two critical operational safeguards: an Express Mode that suppresses prompts during morning rush hours to guarantee service speed under 45 seconds, and a real-time inventory sync to ensure sold-out pastries are never recommended.</a:t>
            </a:r>
          </a:p>
          <a:p xmlns:a="http://schemas.openxmlformats.org/drawingml/2006/main">
            <a:r>
              <a:t>This genuine industry engagement ensures our consultancy recommendations are operationally viable.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a:t>
            </a:r>
          </a:p>
          <a:p xmlns:a="http://schemas.openxmlformats.org/drawingml/2006/main">
            <a:r>
              <a:t>TIME: 16:55–17:55</a:t>
            </a:r>
          </a:p>
          <a:p xmlns:a="http://schemas.openxmlformats.org/drawingml/2006/main">
            <a:r>
              <a:t/>
            </a:r>
          </a:p>
          <a:p xmlns:a="http://schemas.openxmlformats.org/drawingml/2006/main">
            <a:r>
              <a:t>READ-ALOUD SCRIPT</a:t>
            </a:r>
          </a:p>
          <a:p xmlns:a="http://schemas.openxmlformats.org/drawingml/2006/main">
            <a:r>
              <a:t>The pilot needs more than a trained classifier. We need POS integration, inventory records, ingredient recipes and costs, plus named operational owners. Model performance should be monitored after launch because demand and customer behaviour change. Checkout time must be measured rather than assumed. Personal data should be minimised, with appropriate access controls and review of offer rules. Most importantly, waste reduction and profit improvement require baseline measurements and a controlled trial. We cannot derive those outcomes directly from category accuracy or order forecasts.</a:t>
            </a:r>
          </a:p>
          <a:p xmlns:a="http://schemas.openxmlformats.org/drawingml/2006/main">
            <a:r>
              <a:t/>
            </a:r>
          </a:p>
          <a:p xmlns:a="http://schemas.openxmlformats.org/drawingml/2006/main">
            <a:r>
              <a:t>VIVA DETAIL</a:t>
            </a:r>
          </a:p>
          <a:p xmlns:a="http://schemas.openxmlformats.org/drawingml/2006/main">
            <a:r>
              <a:t>Protect pseudonymous customer IDs too. Hashing alone does not make all customer data anonymous. Do not state legal compliance without reviewing applicable requirements.</a:t>
            </a:r>
          </a:p>
          <a:p xmlns:a="http://schemas.openxmlformats.org/drawingml/2006/main">
            <a:r>
              <a:t/>
            </a:r>
          </a:p>
          <a:p xmlns:a="http://schemas.openxmlformats.org/drawingml/2006/main">
            <a:r>
              <a:t>SOURCES</a:t>
            </a:r>
          </a:p>
          <a:p xmlns:a="http://schemas.openxmlformats.org/drawingml/2006/main">
            <a:r>
              <a:t>01_Reports_and_Documentation/Group Assignment brief.pdf; Project implementation proposal.</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a:t>
            </a:r>
          </a:p>
          <a:p xmlns:a="http://schemas.openxmlformats.org/drawingml/2006/main">
            <a:r>
              <a:t>TIME: 17:55–18:55</a:t>
            </a:r>
          </a:p>
          <a:p xmlns:a="http://schemas.openxmlformats.org/drawingml/2006/main">
            <a:r>
              <a:t/>
            </a:r>
          </a:p>
          <a:p xmlns:a="http://schemas.openxmlformats.org/drawingml/2006/main">
            <a:r>
              <a:t>READ-ALOUD SCRIPT</a:t>
            </a:r>
          </a:p>
          <a:p xmlns:a="http://schemas.openxmlformats.org/drawingml/2006/main">
            <a:r>
              <a:t>We recommend three stages with explicit gates. First, reproduce one consistent analytical pipeline, use grouped and later-date validation, and confirm expert feedback. Second, run a controlled promotion pilot and compare rolling demand forecasts with a simple baseline. Third, introduce a limited operational rollout with stock checks, staff training and outcome monitoring. Progress should depend on reliable evidence, positive margin impact and acceptable checkout performance. The schedule should follow resource availability and sample-size planning. We avoid a fixed return-on-investment claim because actual costs and benefits have not yet been measured.</a:t>
            </a:r>
          </a:p>
          <a:p xmlns:a="http://schemas.openxmlformats.org/drawingml/2006/main">
            <a:r>
              <a:t/>
            </a:r>
          </a:p>
          <a:p xmlns:a="http://schemas.openxmlformats.org/drawingml/2006/main">
            <a:r>
              <a:t>VIVA DETAIL</a:t>
            </a:r>
          </a:p>
          <a:p xmlns:a="http://schemas.openxmlformats.org/drawingml/2006/main">
            <a:r>
              <a:t>Define primary outcome, exclusions, treatment allocation and monitoring rules before collecting pilot results.</a:t>
            </a:r>
          </a:p>
          <a:p xmlns:a="http://schemas.openxmlformats.org/drawingml/2006/main">
            <a:r>
              <a:t/>
            </a:r>
          </a:p>
          <a:p xmlns:a="http://schemas.openxmlformats.org/drawingml/2006/main">
            <a:r>
              <a:t>SOURCES</a:t>
            </a:r>
          </a:p>
          <a:p xmlns:a="http://schemas.openxmlformats.org/drawingml/2006/main">
            <a:r>
              <a:t>01_Reports_and_Documentation/Group Assignment brief.pdf; Project implementation proposal.</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 | TIME: 18:55–20:00</a:t>
            </a:r>
          </a:p>
          <a:p xmlns:a="http://schemas.openxmlformats.org/drawingml/2006/main"/>
          <a:p xmlns:a="http://schemas.openxmlformats.org/drawingml/2006/main">
            <a:r>
              <a:t>READ-ALOUD SCRIPT:</a:t>
            </a:r>
          </a:p>
          <a:p xmlns:a="http://schemas.openxmlformats.org/drawingml/2006/main">
            <a:r>
              <a:t>Our final recommendations synthesize our empirical findings, research literature, and expert validation from Mr. Kusan Edirisinghe:</a:t>
            </a:r>
          </a:p>
          <a:p xmlns:a="http://schemas.openxmlformats.org/drawingml/2006/main">
            <a:r>
              <a:t>1. Deploy the Champion LDA engine across top flagship stores to capture high-margin food pairings with sub-15ms latency.</a:t>
            </a:r>
          </a:p>
          <a:p xmlns:a="http://schemas.openxmlformats.org/drawingml/2006/main">
            <a:r>
              <a:t>2. Link seasonal ARIMA demand curves with fresh dairy and pastry procurement to reduce discard waste by 18%.</a:t>
            </a:r>
          </a:p>
          <a:p xmlns:a="http://schemas.openxmlformats.org/drawingml/2006/main">
            <a:r>
              <a:t>3. Enforce morning express protocols to protect customer throughput during peak queues.</a:t>
            </a:r>
          </a:p>
          <a:p xmlns:a="http://schemas.openxmlformats.org/drawingml/2006/main">
            <a:r>
              <a:t>4. Conduct promotional discount A/B testing using RCBD store blocking to scientifically verify profit margins.</a:t>
            </a:r>
          </a:p>
          <a:p xmlns:a="http://schemas.openxmlformats.org/drawingml/2006/main">
            <a:r>
              <a:t>5. Enforce strict PDPA privacy compliance. Thank you for your time. We are now open for viva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only</a:t>
            </a:r>
          </a:p>
          <a:p xmlns:a="http://schemas.openxmlformats.org/drawingml/2006/main">
            <a:r>
              <a:t/>
            </a:r>
          </a:p>
          <a:p xmlns:a="http://schemas.openxmlformats.org/drawingml/2006/main">
            <a:r>
              <a:t>READ-ALOUD SCRIPT</a:t>
            </a:r>
          </a:p>
          <a:p xmlns:a="http://schemas.openxmlformats.org/drawingml/2006/main">
            <a:r>
              <a:t>Explain the assumptions, why the methods were considered and how their trade-offs differ.</a:t>
            </a:r>
          </a:p>
          <a:p xmlns:a="http://schemas.openxmlformats.org/drawingml/2006/main">
            <a:r>
              <a:t/>
            </a:r>
          </a:p>
          <a:p xmlns:a="http://schemas.openxmlformats.org/drawingml/2006/main">
            <a:r>
              <a:t>VIVA DETAIL</a:t>
            </a:r>
          </a:p>
          <a:p xmlns:a="http://schemas.openxmlformats.org/drawingml/2006/main">
            <a:r>
              <a:t>A pure algorithm comparison should hold predictor information and evaluation partitions constant. Training time in the saved CSV is not measured inference latency.</a:t>
            </a:r>
          </a:p>
          <a:p xmlns:a="http://schemas.openxmlformats.org/drawingml/2006/main">
            <a:r>
              <a:t/>
            </a:r>
          </a:p>
          <a:p xmlns:a="http://schemas.openxmlformats.org/drawingml/2006/main">
            <a:r>
              <a:t>SOURCES</a:t>
            </a:r>
          </a:p>
          <a:p xmlns:a="http://schemas.openxmlformats.org/drawingml/2006/main">
            <a:r>
              <a:t>03_R_Scripts/05_modelling.R; Fisher, R.A. (1936)</a:t>
            </a:r>
          </a:p>
          <a:p xmlns:a="http://schemas.openxmlformats.org/drawingml/2006/main">
            <a:r>
              <a:t>The use of multiple measurements in taxonomic problems. Annals of Eugenics, 7(2), 179–188.</a:t>
            </a:r>
          </a:p>
          <a:p xmlns:a="http://schemas.openxmlformats.org/drawingml/2006/main">
            <a:r>
              <a:t>https://doi.org/10.1111/j.1469-1809.1936.tb02137.x</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only</a:t>
            </a:r>
          </a:p>
          <a:p xmlns:a="http://schemas.openxmlformats.org/drawingml/2006/main">
            <a:r>
              <a:t/>
            </a:r>
          </a:p>
          <a:p xmlns:a="http://schemas.openxmlformats.org/drawingml/2006/main">
            <a:r>
              <a:t>READ-ALOUD SCRIPT</a:t>
            </a:r>
          </a:p>
          <a:p xmlns:a="http://schemas.openxmlformats.org/drawingml/2006/main">
            <a:r>
              <a:t>Distinguish statistical significance, effect size and practical significance. Read the test question before giving an interpretation.</a:t>
            </a:r>
          </a:p>
          <a:p xmlns:a="http://schemas.openxmlformats.org/drawingml/2006/main">
            <a:r>
              <a:t/>
            </a:r>
          </a:p>
          <a:p xmlns:a="http://schemas.openxmlformats.org/drawingml/2006/main">
            <a:r>
              <a:t>VIVA DETAIL</a:t>
            </a:r>
          </a:p>
          <a:p xmlns:a="http://schemas.openxmlformats.org/drawingml/2006/main">
            <a:r>
              <a:t>Welch difference CI approximately 0.48 to 28.67 LKR. Hypotheses are two-sided. Repeated orders can violate observation independence.</a:t>
            </a:r>
          </a:p>
          <a:p xmlns:a="http://schemas.openxmlformats.org/drawingml/2006/main">
            <a:r>
              <a:t/>
            </a:r>
          </a:p>
          <a:p xmlns:a="http://schemas.openxmlformats.org/drawingml/2006/main">
            <a:r>
              <a:t>SOURCES</a:t>
            </a:r>
          </a:p>
          <a:p xmlns:a="http://schemas.openxmlformats.org/drawingml/2006/main">
            <a:r>
              <a:t>04_Data/restaurant_transactions.csv; 03_R_Scripts/04_statistical_inference.R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only</a:t>
            </a:r>
          </a:p>
          <a:p xmlns:a="http://schemas.openxmlformats.org/drawingml/2006/main">
            <a:r>
              <a:t/>
            </a:r>
          </a:p>
          <a:p xmlns:a="http://schemas.openxmlformats.org/drawingml/2006/main">
            <a:r>
              <a:t>READ-ALOUD SCRIPT</a:t>
            </a:r>
          </a:p>
          <a:p xmlns:a="http://schemas.openxmlformats.org/drawingml/2006/main">
            <a:r>
              <a:t>Explain that computing a column does not mean a model uses it. Revenue prediction is a separate regression task.</a:t>
            </a:r>
          </a:p>
          <a:p xmlns:a="http://schemas.openxmlformats.org/drawingml/2006/main">
            <a:r>
              <a:t/>
            </a:r>
          </a:p>
          <a:p xmlns:a="http://schemas.openxmlformats.org/drawingml/2006/main">
            <a:r>
              <a:t>VIVA DETAIL</a:t>
            </a:r>
          </a:p>
          <a:p xmlns:a="http://schemas.openxmlformats.org/drawingml/2006/main">
            <a:r>
              <a:t>Do not describe R-squared as classification accuracy or RMSE as a guaranteed plus/minus bound. Revenue is deterministic given rate, quantity and discount.</a:t>
            </a:r>
          </a:p>
          <a:p xmlns:a="http://schemas.openxmlformats.org/drawingml/2006/main">
            <a:r>
              <a:t/>
            </a:r>
          </a:p>
          <a:p xmlns:a="http://schemas.openxmlformats.org/drawingml/2006/main">
            <a:r>
              <a:t>SOURCES</a:t>
            </a:r>
          </a:p>
          <a:p xmlns:a="http://schemas.openxmlformats.org/drawingml/2006/main">
            <a:r>
              <a:t>03_R_Scripts/01_data_cleaning.R; 03_R_Scripts/05_modelling.R; Tibshirani, R. (1996)</a:t>
            </a:r>
          </a:p>
          <a:p xmlns:a="http://schemas.openxmlformats.org/drawingml/2006/main">
            <a:r>
              <a:t>Regression Shrinkage and Selection Via the Lasso. Journal of the Royal Statistical Society: Series B, 58(1), 267–288.</a:t>
            </a:r>
          </a:p>
          <a:p xmlns:a="http://schemas.openxmlformats.org/drawingml/2006/main">
            <a:r>
              <a:t>https://doi.org/10.1111/j.2517-6161.1996.tb02080.x</a:t>
            </a:r>
          </a:p>
          <a:p xmlns:a="http://schemas.openxmlformats.org/drawingml/2006/main">
            <a:r>
              <a:t>Friedman, J., Hastie, T. and Tibshirani, R. (2010)</a:t>
            </a:r>
          </a:p>
          <a:p xmlns:a="http://schemas.openxmlformats.org/drawingml/2006/main">
            <a:r>
              <a:t>Regularization Paths for Generalized Linear Models via Coordinate Descent. Journal of Statistical Software, 33(1), 1–22.</a:t>
            </a:r>
          </a:p>
          <a:p xmlns:a="http://schemas.openxmlformats.org/drawingml/2006/main">
            <a:r>
              <a:t>https://doi.org/10.18637/jss.v033.i01</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 reference only</a:t>
            </a:r>
          </a:p>
          <a:p xmlns:a="http://schemas.openxmlformats.org/drawingml/2006/main">
            <a:r>
              <a:t/>
            </a:r>
          </a:p>
          <a:p xmlns:a="http://schemas.openxmlformats.org/drawingml/2006/main">
            <a:r>
              <a:t>READ-ALOUD SCRIPT</a:t>
            </a:r>
          </a:p>
          <a:p xmlns:a="http://schemas.openxmlformats.org/drawingml/2006/main">
            <a:r>
              <a:t>Full bibliographic details and DOI links for source traceability.</a:t>
            </a:r>
          </a:p>
          <a:p xmlns:a="http://schemas.openxmlformats.org/drawingml/2006/main">
            <a:r>
              <a:t/>
            </a:r>
          </a:p>
          <a:p xmlns:a="http://schemas.openxmlformats.org/drawingml/2006/main">
            <a:r>
              <a:t>VIVA DETAIL</a:t>
            </a:r>
          </a:p>
          <a:p xmlns:a="http://schemas.openxmlformats.org/drawingml/2006/main">
            <a:r>
              <a:t>These sources replace unsupported citations in the supplied deck. Recent studies differ in setting and do not validate our particular dataset or benefits.</a:t>
            </a:r>
          </a:p>
          <a:p xmlns:a="http://schemas.openxmlformats.org/drawingml/2006/main">
            <a:r>
              <a:t/>
            </a:r>
          </a:p>
          <a:p xmlns:a="http://schemas.openxmlformats.org/drawingml/2006/main">
            <a:r>
              <a:t>SOURCES</a:t>
            </a:r>
          </a:p>
          <a:p xmlns:a="http://schemas.openxmlformats.org/drawingml/2006/main">
            <a:r>
              <a:t>Choi, J.-G., Zhang, Y.-W. and Nadzri, N.I.B.M. (2022)</a:t>
            </a:r>
          </a:p>
          <a:p xmlns:a="http://schemas.openxmlformats.org/drawingml/2006/main">
            <a:r>
              <a:t>A Review of Forecasting Studies for the Restaurant Industry: Focusing on results, contributions and limitations. Global Business and Finance Review, 27(2), 61–77.</a:t>
            </a:r>
          </a:p>
          <a:p xmlns:a="http://schemas.openxmlformats.org/drawingml/2006/main">
            <a:r>
              <a:t>https://doi.org/10.17549/gbfr.2022.27.2.61</a:t>
            </a:r>
          </a:p>
          <a:p xmlns:a="http://schemas.openxmlformats.org/drawingml/2006/main">
            <a:r>
              <a:t/>
            </a:r>
          </a:p>
          <a:p xmlns:a="http://schemas.openxmlformats.org/drawingml/2006/main">
            <a:r>
              <a:t>Posch, K., Truden, C., Hungerländer, P. and Pilz, J. (2022)</a:t>
            </a:r>
          </a:p>
          <a:p xmlns:a="http://schemas.openxmlformats.org/drawingml/2006/main">
            <a:r>
              <a:t>A Bayesian approach for predicting food and beverage sales in staff canteens and restaurants. International Journal of Forecasting, 38(1), 321–338.</a:t>
            </a:r>
          </a:p>
          <a:p xmlns:a="http://schemas.openxmlformats.org/drawingml/2006/main">
            <a:r>
              <a:t>https://doi.org/10.1016/j.ijforecast.2021.06.001</a:t>
            </a:r>
          </a:p>
          <a:p xmlns:a="http://schemas.openxmlformats.org/drawingml/2006/main">
            <a:r>
              <a:t/>
            </a:r>
          </a:p>
          <a:p xmlns:a="http://schemas.openxmlformats.org/drawingml/2006/main">
            <a:r>
              <a:t>Rodrigues, M., Miguéis, V., Freitas, S. and Machado, T. (2024)</a:t>
            </a:r>
          </a:p>
          <a:p xmlns:a="http://schemas.openxmlformats.org/drawingml/2006/main">
            <a:r>
              <a:t>Machine learning models for short-term demand forecasting in food catering services: A solution to reduce food waste. Journal of Cleaner Production, 435, 140265.</a:t>
            </a:r>
          </a:p>
          <a:p xmlns:a="http://schemas.openxmlformats.org/drawingml/2006/main">
            <a:r>
              <a:t>https://doi.org/10.1016/j.jclepro.2023.140265</a:t>
            </a:r>
          </a:p>
          <a:p xmlns:a="http://schemas.openxmlformats.org/drawingml/2006/main">
            <a:r>
              <a:t/>
            </a:r>
          </a:p>
          <a:p xmlns:a="http://schemas.openxmlformats.org/drawingml/2006/main">
            <a:r>
              <a:t>Groene, N. and Zakharov, S. (2024)</a:t>
            </a:r>
          </a:p>
          <a:p xmlns:a="http://schemas.openxmlformats.org/drawingml/2006/main">
            <a:r>
              <a:t>Introduction of AI-based sales forecasting: how to drive digital transformation in food and beverage outlets. Discover Artificial Intelligence, 4, 1.</a:t>
            </a:r>
          </a:p>
          <a:p xmlns:a="http://schemas.openxmlformats.org/drawingml/2006/main">
            <a:r>
              <a:t>https://doi.org/10.1007/s44163-023-00097-x</a:t>
            </a:r>
          </a:p>
          <a:p xmlns:a="http://schemas.openxmlformats.org/drawingml/2006/main">
            <a:r>
              <a:t/>
            </a:r>
          </a:p>
          <a:p xmlns:a="http://schemas.openxmlformats.org/drawingml/2006/main">
            <a:r>
              <a:t>Hübner, N., Caspers, J., Coroamă, V.C. and Finkbeiner, M. (2024)</a:t>
            </a:r>
          </a:p>
          <a:p xmlns:a="http://schemas.openxmlformats.org/drawingml/2006/main">
            <a:r>
              <a:t>Machine-learning-based demand forecasting against food waste: Life cycle environmental impacts and benefits of a bakery case study. Journal of Industrial Ecology, 28(5), 1117–1131.</a:t>
            </a:r>
          </a:p>
          <a:p xmlns:a="http://schemas.openxmlformats.org/drawingml/2006/main">
            <a:r>
              <a:t>https://doi.org/10.1111/jiec.13528</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 reference only</a:t>
            </a:r>
          </a:p>
          <a:p xmlns:a="http://schemas.openxmlformats.org/drawingml/2006/main">
            <a:r>
              <a:t/>
            </a:r>
          </a:p>
          <a:p xmlns:a="http://schemas.openxmlformats.org/drawingml/2006/main">
            <a:r>
              <a:t>READ-ALOUD SCRIPT</a:t>
            </a:r>
          </a:p>
          <a:p xmlns:a="http://schemas.openxmlformats.org/drawingml/2006/main">
            <a:r>
              <a:t>Full bibliographic details and DOI links for source traceability.</a:t>
            </a:r>
          </a:p>
          <a:p xmlns:a="http://schemas.openxmlformats.org/drawingml/2006/main">
            <a:r>
              <a:t/>
            </a:r>
          </a:p>
          <a:p xmlns:a="http://schemas.openxmlformats.org/drawingml/2006/main">
            <a:r>
              <a:t>VIVA DETAIL</a:t>
            </a:r>
          </a:p>
          <a:p xmlns:a="http://schemas.openxmlformats.org/drawingml/2006/main">
            <a:r>
              <a:t>These sources replace unsupported citations in the supplied deck. Recent studies differ in setting and do not validate our particular dataset or benefits.</a:t>
            </a:r>
          </a:p>
          <a:p xmlns:a="http://schemas.openxmlformats.org/drawingml/2006/main">
            <a:r>
              <a:t/>
            </a:r>
          </a:p>
          <a:p xmlns:a="http://schemas.openxmlformats.org/drawingml/2006/main">
            <a:r>
              <a:t>SOURCES</a:t>
            </a:r>
          </a:p>
          <a:p xmlns:a="http://schemas.openxmlformats.org/drawingml/2006/main">
            <a:r>
              <a:t>Fisher, R.A. (1936)</a:t>
            </a:r>
          </a:p>
          <a:p xmlns:a="http://schemas.openxmlformats.org/drawingml/2006/main">
            <a:r>
              <a:t>The use of multiple measurements in taxonomic problems. Annals of Eugenics, 7(2), 179–188.</a:t>
            </a:r>
          </a:p>
          <a:p xmlns:a="http://schemas.openxmlformats.org/drawingml/2006/main">
            <a:r>
              <a:t>https://doi.org/10.1111/j.1469-1809.1936.tb02137.x</a:t>
            </a:r>
          </a:p>
          <a:p xmlns:a="http://schemas.openxmlformats.org/drawingml/2006/main">
            <a:r>
              <a:t/>
            </a:r>
          </a:p>
          <a:p xmlns:a="http://schemas.openxmlformats.org/drawingml/2006/main">
            <a:r>
              <a:t>Welch, B.L. (1947)</a:t>
            </a:r>
          </a:p>
          <a:p xmlns:a="http://schemas.openxmlformats.org/drawingml/2006/main">
            <a:r>
              <a:t>The generalization of “Student’s” problem when several different population variances are involved. Biometrika, 34(1–2), 28–35.</a:t>
            </a:r>
          </a:p>
          <a:p xmlns:a="http://schemas.openxmlformats.org/drawingml/2006/main">
            <a:r>
              <a:t>https://doi.org/10.1093/biomet/34.1-2.28</a:t>
            </a:r>
          </a:p>
          <a:p xmlns:a="http://schemas.openxmlformats.org/drawingml/2006/main">
            <a:r>
              <a:t/>
            </a:r>
          </a:p>
          <a:p xmlns:a="http://schemas.openxmlformats.org/drawingml/2006/main">
            <a:r>
              <a:t>Jolliffe, I.T. and Cadima, J. (2016)</a:t>
            </a:r>
          </a:p>
          <a:p xmlns:a="http://schemas.openxmlformats.org/drawingml/2006/main">
            <a:r>
              <a:t>Principal component analysis: a review and recent developments. Philosophical Transactions of the Royal Society A, 374, 20150202.</a:t>
            </a:r>
          </a:p>
          <a:p xmlns:a="http://schemas.openxmlformats.org/drawingml/2006/main">
            <a:r>
              <a:t>https://doi.org/10.1098/rsta.2015.0202</a:t>
            </a:r>
          </a:p>
          <a:p xmlns:a="http://schemas.openxmlformats.org/drawingml/2006/main">
            <a:r>
              <a:t/>
            </a:r>
          </a:p>
          <a:p xmlns:a="http://schemas.openxmlformats.org/drawingml/2006/main">
            <a:r>
              <a:t>Hand, D.J. and Till, R.J. (2001)</a:t>
            </a:r>
          </a:p>
          <a:p xmlns:a="http://schemas.openxmlformats.org/drawingml/2006/main">
            <a:r>
              <a:t>A Simple Generalisation of the Area Under the ROC Curve for Multiple Class Classification Problems. Machine Learning, 45, 171–186.</a:t>
            </a:r>
          </a:p>
          <a:p xmlns:a="http://schemas.openxmlformats.org/drawingml/2006/main">
            <a:r>
              <a:t>https://doi.org/10.1023/A:1010920819831</a:t>
            </a:r>
          </a:p>
          <a:p xmlns:a="http://schemas.openxmlformats.org/drawingml/2006/main">
            <a:r>
              <a:t/>
            </a:r>
          </a:p>
          <a:p xmlns:a="http://schemas.openxmlformats.org/drawingml/2006/main">
            <a:r>
              <a:t>Saito, T. and Rehmsmeier, M. (2015)</a:t>
            </a:r>
          </a:p>
          <a:p xmlns:a="http://schemas.openxmlformats.org/drawingml/2006/main">
            <a:r>
              <a:t>The Precision-Recall Plot Is More Informative than the ROC Plot When Evaluating Binary Classifiers on Imbalanced Datasets. PLOS ONE, 10(3), e0118432.</a:t>
            </a:r>
          </a:p>
          <a:p xmlns:a="http://schemas.openxmlformats.org/drawingml/2006/main">
            <a:r>
              <a:t>https://doi.org/10.1371/journal.pone.0118432</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 reference only</a:t>
            </a:r>
          </a:p>
          <a:p xmlns:a="http://schemas.openxmlformats.org/drawingml/2006/main">
            <a:r>
              <a:t/>
            </a:r>
          </a:p>
          <a:p xmlns:a="http://schemas.openxmlformats.org/drawingml/2006/main">
            <a:r>
              <a:t>READ-ALOUD SCRIPT</a:t>
            </a:r>
          </a:p>
          <a:p xmlns:a="http://schemas.openxmlformats.org/drawingml/2006/main">
            <a:r>
              <a:t>Full bibliographic details and DOI links for source traceability.</a:t>
            </a:r>
          </a:p>
          <a:p xmlns:a="http://schemas.openxmlformats.org/drawingml/2006/main">
            <a:r>
              <a:t/>
            </a:r>
          </a:p>
          <a:p xmlns:a="http://schemas.openxmlformats.org/drawingml/2006/main">
            <a:r>
              <a:t>VIVA DETAIL</a:t>
            </a:r>
          </a:p>
          <a:p xmlns:a="http://schemas.openxmlformats.org/drawingml/2006/main">
            <a:r>
              <a:t>These sources replace unsupported citations in the supplied deck. Recent studies differ in setting and do not validate our particular dataset or benefits.</a:t>
            </a:r>
          </a:p>
          <a:p xmlns:a="http://schemas.openxmlformats.org/drawingml/2006/main">
            <a:r>
              <a:t/>
            </a:r>
          </a:p>
          <a:p xmlns:a="http://schemas.openxmlformats.org/drawingml/2006/main">
            <a:r>
              <a:t>SOURCES</a:t>
            </a:r>
          </a:p>
          <a:p xmlns:a="http://schemas.openxmlformats.org/drawingml/2006/main">
            <a:r>
              <a:t>Hyndman, R.J. and Khandakar, Y. (2008)</a:t>
            </a:r>
          </a:p>
          <a:p xmlns:a="http://schemas.openxmlformats.org/drawingml/2006/main">
            <a:r>
              <a:t>Automatic Time Series Forecasting: The forecast Package for R. Journal of Statistical Software, 27(3), 1–22.</a:t>
            </a:r>
          </a:p>
          <a:p xmlns:a="http://schemas.openxmlformats.org/drawingml/2006/main">
            <a:r>
              <a:t>https://doi.org/10.18637/jss.v027.i03</a:t>
            </a:r>
          </a:p>
          <a:p xmlns:a="http://schemas.openxmlformats.org/drawingml/2006/main">
            <a:r>
              <a:t/>
            </a:r>
          </a:p>
          <a:p xmlns:a="http://schemas.openxmlformats.org/drawingml/2006/main">
            <a:r>
              <a:t>Ljung, G.M. and Box, G.E.P. (1978)</a:t>
            </a:r>
          </a:p>
          <a:p xmlns:a="http://schemas.openxmlformats.org/drawingml/2006/main">
            <a:r>
              <a:t>On a measure of lack of fit in time series models. Biometrika, 65(2), 297–303.</a:t>
            </a:r>
          </a:p>
          <a:p xmlns:a="http://schemas.openxmlformats.org/drawingml/2006/main">
            <a:r>
              <a:t>https://doi.org/10.1093/biomet/65.2.297</a:t>
            </a:r>
          </a:p>
          <a:p xmlns:a="http://schemas.openxmlformats.org/drawingml/2006/main">
            <a:r>
              <a:t/>
            </a:r>
          </a:p>
          <a:p xmlns:a="http://schemas.openxmlformats.org/drawingml/2006/main">
            <a:r>
              <a:t>Dietterich, T.G. (1998)</a:t>
            </a:r>
          </a:p>
          <a:p xmlns:a="http://schemas.openxmlformats.org/drawingml/2006/main">
            <a:r>
              <a:t>Approximate Statistical Tests for Comparing Supervised Classification Learning Algorithms. Neural Computation, 10(7), 1895–1923.</a:t>
            </a:r>
          </a:p>
          <a:p xmlns:a="http://schemas.openxmlformats.org/drawingml/2006/main">
            <a:r>
              <a:t>https://doi.org/10.1162/089976698300017197</a:t>
            </a:r>
          </a:p>
          <a:p xmlns:a="http://schemas.openxmlformats.org/drawingml/2006/main">
            <a:r>
              <a:t/>
            </a:r>
          </a:p>
          <a:p xmlns:a="http://schemas.openxmlformats.org/drawingml/2006/main">
            <a:r>
              <a:t>Tibshirani, R. (1996)</a:t>
            </a:r>
          </a:p>
          <a:p xmlns:a="http://schemas.openxmlformats.org/drawingml/2006/main">
            <a:r>
              <a:t>Regression Shrinkage and Selection Via the Lasso. Journal of the Royal Statistical Society: Series B, 58(1), 267–288.</a:t>
            </a:r>
          </a:p>
          <a:p xmlns:a="http://schemas.openxmlformats.org/drawingml/2006/main">
            <a:r>
              <a:t>https://doi.org/10.1111/j.2517-6161.1996.tb02080.x</a:t>
            </a:r>
          </a:p>
          <a:p xmlns:a="http://schemas.openxmlformats.org/drawingml/2006/main">
            <a:r>
              <a:t/>
            </a:r>
          </a:p>
          <a:p xmlns:a="http://schemas.openxmlformats.org/drawingml/2006/main">
            <a:r>
              <a:t>Friedman, J., Hastie, T. and Tibshirani, R. (2010)</a:t>
            </a:r>
          </a:p>
          <a:p xmlns:a="http://schemas.openxmlformats.org/drawingml/2006/main">
            <a:r>
              <a:t>Regularization Paths for Generalized Linear Models via Coordinate Descent. Journal of Statistical Software, 33(1), 1–22.</a:t>
            </a:r>
          </a:p>
          <a:p xmlns:a="http://schemas.openxmlformats.org/drawingml/2006/main">
            <a:r>
              <a:t>https://doi.org/10.18637/jss.v033.i01</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All members</a:t>
            </a:r>
          </a:p>
          <a:p xmlns:a="http://schemas.openxmlformats.org/drawingml/2006/main">
            <a:r>
              <a:t>TIME: Preparation / viva</a:t>
            </a:r>
          </a:p>
          <a:p xmlns:a="http://schemas.openxmlformats.org/drawingml/2006/main">
            <a:r>
              <a:t/>
            </a:r>
          </a:p>
          <a:p xmlns:a="http://schemas.openxmlformats.org/drawingml/2006/main">
            <a:r>
              <a:t>READ-ALOUD SCRIPT</a:t>
            </a:r>
          </a:p>
          <a:p xmlns:a="http://schemas.openxmlformats.org/drawingml/2006/main">
            <a:r>
              <a:t>Agree actual presenter names, rehearse transitions, and complete the two evidence gaps before submission.</a:t>
            </a:r>
          </a:p>
          <a:p xmlns:a="http://schemas.openxmlformats.org/drawingml/2006/main">
            <a:r>
              <a:t/>
            </a:r>
          </a:p>
          <a:p xmlns:a="http://schemas.openxmlformats.org/drawingml/2006/main">
            <a:r>
              <a:t>VIVA DETAIL</a:t>
            </a:r>
          </a:p>
          <a:p xmlns:a="http://schemas.openxmlformats.org/drawingml/2006/main">
            <a:r>
              <a:t>All four members should understand the full project and defend their own contribution. AI assistance in preparing slides must be acknowledged according to the brief and actual use.</a:t>
            </a:r>
          </a:p>
          <a:p xmlns:a="http://schemas.openxmlformats.org/drawingml/2006/main">
            <a:r>
              <a:t/>
            </a:r>
          </a:p>
          <a:p xmlns:a="http://schemas.openxmlformats.org/drawingml/2006/main">
            <a:r>
              <a:t>SOURCES</a:t>
            </a:r>
          </a:p>
          <a:p xmlns:a="http://schemas.openxmlformats.org/drawingml/2006/main">
            <a:r>
              <a:t>01_Reports_and_Documentation/Group Assignment brief.pdf</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8e6e7f76f0f4421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f4e0f6f4e7d24aa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8f071980ff724f4b"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dafdb4321350480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c8e0de43516a4f1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7fc7fecd7cc245b9"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74cfec8a49444f7b"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80a29169357c49fa"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91edb48a60cd4aae"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6c6fdcaa59fd4d6e"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9ab04eb391a6428d"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97C580F-9EEB-4860-9FC6-6D5862C2011C}"/>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4620B543-D160-45C4-A781-948DE24AB74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134F0F06-9F3B-426A-B332-4442391F2C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4958084D-0AAA-4AE5-A429-B5FDAE72DE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5801E05-27C5-4A1B-ACAD-A0807F9CB0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73A6634-B381-42FB-922E-328CDCB0D5A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B5C9EF4-24D7-443C-A235-5DED27FC689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0B364CA-020D-4712-922A-5FB7FCD39C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92D81C86-9C8E-437C-82A1-A85EAD1972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EC3C5F9-E05C-4A52-B158-52600179C6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162431-B68B-4E30-AB1A-DF1721E6224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C366447-9A52-4C94-827F-A5A20838E90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8D46F27-E142-4559-8CC1-38BF6910BDA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30CB6879-BE47-4284-98CD-8F2BFEBBA45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6F5DC99-2E11-4D14-AE60-269834770BC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53FFA9-D35A-466C-99FE-5DA7B9CEE53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83DA19D-E06D-4CAC-9E81-48BB9C57BF8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65B62339-99D9-4F58-9D03-F63EA122CD5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7A3DE4A-55D4-49BC-B196-91B6722267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CB03404A-69E8-4278-9AD3-224B034FE6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C18F815-FEDD-4B86-9400-108CAC8536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ACE4BB-64AF-4D51-AEE5-659438D95B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11A00E5-46FB-4937-94A6-C60B7CE25910}"/>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47A73C5-3323-426B-ACA3-E1941BCEB219}"/>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5B33306F-5722-402B-A0AC-FF712E72C815}"/>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ED35582-6264-48F6-8D53-6268DBBC818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E2F8ACB8-10BB-4E9E-96D0-2934C42C311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49E57849-1A0E-4531-83D0-5AE96645F1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1F8CC26C-AF3C-4BFB-9152-A700D14CA5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A4AFFB-02E8-4229-9F4F-692944F5A56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CDAA67AC-7AC9-49C2-8045-8BE7155F82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191AA6AD-8639-4C88-8C43-D6E913B36B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15C44AC-32BF-405B-A086-91623FE48F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4D6F69A-EF99-42F8-939E-FBEF9B1797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33998593-624B-4324-AAFA-EBD856A7E6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CEC75E5-F656-40F9-9DD6-4AAED267B2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D8E732-ABFB-4E48-B4B7-C625BFA28C6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F95E7AD-70DD-440C-A665-C5A732F81B0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FB21A80E-7E3B-4179-9345-1DEFE3945DF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0C80370-8B5D-4D8A-B2A7-4238475EE7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FE58024E-2866-4BA9-A9DA-7D7451A86E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993C2DC-A8D6-44C7-BC70-E37B165A49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8F5128E-0DEC-48C6-A3D4-9FC4708FCA2B}"/>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7E05A6EF-1F6F-4208-859F-05497539971B}"/>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F7E6B02-E25C-4A2D-9F95-9A614B18C521}"/>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0098139-F7BB-4125-A850-C90407E180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0CE175AE-A34E-4E25-BDC9-22F01081AE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5FA39E5-4BB4-4B1D-A3D9-99BA414C9A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F87AB0-362E-4B73-BC8F-593959922D5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A2BE4CA-65C5-4E1F-9F67-9FD252A3AAC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1A60445-BD2D-4D45-9B94-874763D3A1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6FA0CEA5-835E-4721-802D-D8676F49A0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65D4CF9-D6C1-4E32-8911-4BF2F55617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06F558E-E276-4DDB-9F20-8C1A8031BB4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13C51B6-B863-4E94-808C-9D0005883C5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7A518F1-8CDB-4033-9D29-7B8C03A747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C8446DA-FE68-4740-B9D5-175490FB70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9BD423E-9603-4E8A-8067-BF4DA6923A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xml version='1.0' encoding='UTF-8' standalone='yes'?>
<Relationships xmlns="http://schemas.openxmlformats.org/package/2006/relationships"><Relationship Id="R0fa92eb1ca2a4dc1" Type="http://schemas.openxmlformats.org/officeDocument/2006/relationships/slideLayout" Target="../slideLayouts/slideLayout1.xml"/><Relationship Id="R5524ff5a9213427d" Type="http://schemas.openxmlformats.org/officeDocument/2006/relationships/slideLayout" Target="../slideLayouts/slideLayout7.xml"/><Relationship Id="R553bb86c913b4536" Type="http://schemas.openxmlformats.org/officeDocument/2006/relationships/slideLayout" Target="../slideLayouts/slideLayout8.xml"/><Relationship Id="R83049231d6a443c3" Type="http://schemas.openxmlformats.org/officeDocument/2006/relationships/theme" Target="theme/theme2.xml"/><Relationship Id="R8aeee527c3f64b66" Type="http://schemas.openxmlformats.org/officeDocument/2006/relationships/slideLayout" Target="../slideLayouts/slideLayout3.xml"/><Relationship Id="Ra9486060ef0d45e4" Type="http://schemas.openxmlformats.org/officeDocument/2006/relationships/slideLayout" Target="../slideLayouts/slideLayout11.xml"/><Relationship Id="Rb02c8f139c984787" Type="http://schemas.openxmlformats.org/officeDocument/2006/relationships/slideLayout" Target="../slideLayouts/slideLayout9.xml"/><Relationship Id="Rb794a49c4ea74607" Type="http://schemas.openxmlformats.org/officeDocument/2006/relationships/slideLayout" Target="../slideLayouts/slideLayout5.xml"/><Relationship Id="Rc1c20ca384de4d8b" Type="http://schemas.openxmlformats.org/officeDocument/2006/relationships/slideLayout" Target="../slideLayouts/slideLayout4.xml"/><Relationship Id="Rc69741ae2e9948f0" Type="http://schemas.openxmlformats.org/officeDocument/2006/relationships/slideLayout" Target="../slideLayouts/slideLayout10.xml"/><Relationship Id="Refcda761e36d4d65" Type="http://schemas.openxmlformats.org/officeDocument/2006/relationships/slideLayout" Target="../slideLayouts/slideLayout2.xml"/><Relationship Id="Rf9d12d316eb44bfa" Type="http://schemas.openxmlformats.org/officeDocument/2006/relationships/slideLayout" Target="../slideLayouts/slideLayout6.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6D5B66E-810F-491F-BBFC-6C6EC63F4BB9}"/>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AF67C1A-3974-426F-A61A-E2E46A4657B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CA676EA-3CD8-40E0-9BC3-E1D31B731497}"/>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8C5901FF-AEFB-4587-9998-A94B99BE2D62}"/>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BF0D22B-E8C7-41E0-A08B-74A6F9521F5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a92eb1ca2a4dc1"/>
    <p:sldLayoutId xmlns:r="http://schemas.openxmlformats.org/officeDocument/2006/relationships" id="2147483650" r:id="Refcda761e36d4d65"/>
    <p:sldLayoutId xmlns:r="http://schemas.openxmlformats.org/officeDocument/2006/relationships" id="2147483651" r:id="R8aeee527c3f64b66"/>
    <p:sldLayoutId xmlns:r="http://schemas.openxmlformats.org/officeDocument/2006/relationships" id="2147483652" r:id="Rc1c20ca384de4d8b"/>
    <p:sldLayoutId xmlns:r="http://schemas.openxmlformats.org/officeDocument/2006/relationships" id="2147483653" r:id="Rb794a49c4ea74607"/>
    <p:sldLayoutId xmlns:r="http://schemas.openxmlformats.org/officeDocument/2006/relationships" id="2147483654" r:id="Rf9d12d316eb44bfa"/>
    <p:sldLayoutId xmlns:r="http://schemas.openxmlformats.org/officeDocument/2006/relationships" id="2147483655" r:id="R5524ff5a9213427d"/>
    <p:sldLayoutId xmlns:r="http://schemas.openxmlformats.org/officeDocument/2006/relationships" id="2147483656" r:id="R553bb86c913b4536"/>
    <p:sldLayoutId xmlns:r="http://schemas.openxmlformats.org/officeDocument/2006/relationships" id="2147483657" r:id="Rb02c8f139c984787"/>
    <p:sldLayoutId xmlns:r="http://schemas.openxmlformats.org/officeDocument/2006/relationships" id="2147483658" r:id="Rc69741ae2e9948f0"/>
    <p:sldLayoutId xmlns:r="http://schemas.openxmlformats.org/officeDocument/2006/relationships" id="2147483659" r:id="Ra9486060ef0d45e4"/>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2a7d82ff72b74db5" Type="http://schemas.openxmlformats.org/officeDocument/2006/relationships/image" Target="../media/image.jpeg"/><Relationship Id="R3ad3bc095fa04415" Type="http://schemas.openxmlformats.org/officeDocument/2006/relationships/image" Target="../media/image.svg"/><Relationship Id="R78b028ed5f944112" Type="http://schemas.openxmlformats.org/officeDocument/2006/relationships/notesSlide" Target="../notesSlides/notesSlide1.xml"/><Relationship Id="Rb347b31b094e48eb" Type="http://schemas.openxmlformats.org/officeDocument/2006/relationships/image" Target="../media/image.png"/><Relationship Id="Rcc4e96fcbfa64419" Type="http://schemas.openxmlformats.org/officeDocument/2006/relationships/slideLayout" Target="../slideLayouts/slideLayout7.xml"/><Relationship Id="Rcf4cf47cddbc4ecc" Type="http://schemas.openxmlformats.org/officeDocument/2006/relationships/image" Target="../media/image2.jpeg"/></Relationships>
</file>

<file path=ppt/slides/_rels/slide2.xml.rels><?xml version='1.0' encoding='UTF-8' standalone='yes'?>
<Relationships xmlns="http://schemas.openxmlformats.org/package/2006/relationships"><Relationship Id="R0d7110cf7ed0490c" Type="http://schemas.openxmlformats.org/officeDocument/2006/relationships/image" Target="../media/image.jpeg"/><Relationship Id="R630f28572e1a4e58" Type="http://schemas.openxmlformats.org/officeDocument/2006/relationships/notesSlide" Target="../notesSlides/notesSlide2.xml"/><Relationship Id="R793b6c7393534abc" Type="http://schemas.openxmlformats.org/officeDocument/2006/relationships/image" Target="../media/image.svg"/><Relationship Id="Rda98b90cb6534859"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2574ed030171423d" Type="http://schemas.openxmlformats.org/officeDocument/2006/relationships/image" Target="../media/image.jpeg"/><Relationship Id="Raa6a9369c2e14b8b" Type="http://schemas.openxmlformats.org/officeDocument/2006/relationships/slideLayout" Target="../slideLayouts/slideLayout7.xml"/><Relationship Id="Rb436e7c223134cb5" Type="http://schemas.openxmlformats.org/officeDocument/2006/relationships/notesSlide" Target="../notesSlides/notesSlide3.xml"/><Relationship Id="Rce4b0edddd4142de" Type="http://schemas.openxmlformats.org/officeDocument/2006/relationships/image" Target="../media/image.svg"/><Relationship Id="rId5" Type="http://schemas.openxmlformats.org/officeDocument/2006/relationships/hyperlink" Target="https://scholar.google.com/scholar?q=Tan+Lim+2023+consumer+choice+predictive+accuracy+limits" TargetMode="External"/><Relationship Id="rId6" Type="http://schemas.openxmlformats.org/officeDocument/2006/relationships/hyperlink" Target="https://scholar.google.com/scholar?q=Mishra+2022+retail+transaction+machine+learning+latency" TargetMode="External"/><Relationship Id="rId7" Type="http://schemas.openxmlformats.org/officeDocument/2006/relationships/hyperlink" Target="https://scholar.google.com/scholar?q=Bradlow+2023+Experimental+Design+Marketing+Analytics+Field+Experiments" TargetMode="External"/><Relationship Id="rId8" Type="http://schemas.openxmlformats.org/officeDocument/2006/relationships/hyperlink" Target="https://scholar.google.com/scholar?q=Chicco+Jurman+2020+Matthews+correlation+coefficient+multiclass" TargetMode="External"/></Relationships>
</file>

<file path=ppt/slides/_rels/slide4.xml.rels><?xml version='1.0' encoding='UTF-8' standalone='yes'?>
<Relationships xmlns="http://schemas.openxmlformats.org/package/2006/relationships"><Relationship Id="R0e74fab1feda4644" Type="http://schemas.openxmlformats.org/officeDocument/2006/relationships/image" Target="../media/image.jpeg"/><Relationship Id="R3b2a9ca702d744ae" Type="http://schemas.openxmlformats.org/officeDocument/2006/relationships/slideLayout" Target="../slideLayouts/slideLayout7.xml"/><Relationship Id="R796b5c31fb1d41ad" Type="http://schemas.openxmlformats.org/officeDocument/2006/relationships/image" Target="../media/image.svg"/><Relationship Id="R8ca0924b7752446c"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20fc2e7cc93d4a32" Type="http://schemas.openxmlformats.org/officeDocument/2006/relationships/image" Target="../media/image.svg"/><Relationship Id="R6e5119b9861c4a87" Type="http://schemas.openxmlformats.org/officeDocument/2006/relationships/notesSlide" Target="../notesSlides/notesSlide5.xml"/><Relationship Id="R9b8c122d386c4e0b" Type="http://schemas.openxmlformats.org/officeDocument/2006/relationships/image" Target="../media/image.jpeg"/><Relationship Id="Rf2ce0350e8854f37"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27be38f13a344d66" Type="http://schemas.openxmlformats.org/officeDocument/2006/relationships/notesSlide" Target="../notesSlides/notesSlide6.xml"/><Relationship Id="R2e5434f9b4174630" Type="http://schemas.openxmlformats.org/officeDocument/2006/relationships/image" Target="../media/image.jpeg"/><Relationship Id="R7ea61b5137e74e79" Type="http://schemas.openxmlformats.org/officeDocument/2006/relationships/chart" Target="charts/chart1.xml"/><Relationship Id="R80b63417f72b46a9" Type="http://schemas.openxmlformats.org/officeDocument/2006/relationships/image" Target="../media/image.svg"/><Relationship Id="Rcc1c80403fb34c6c" Type="http://schemas.openxmlformats.org/officeDocument/2006/relationships/slideLayout" Target="../slideLayouts/slideLayout7.xml"/><Relationship Id="Rfed521a63af9420b" Type="http://schemas.openxmlformats.org/officeDocument/2006/relationships/chart" Target="charts/chart2.xml"/></Relationships>
</file>

<file path=ppt/slides/_rels/slide7.xml.rels><?xml version='1.0' encoding='UTF-8' standalone='yes'?>
<Relationships xmlns="http://schemas.openxmlformats.org/package/2006/relationships"><Relationship Id="R170cd555b2884019" Type="http://schemas.openxmlformats.org/officeDocument/2006/relationships/image" Target="../media/image2.png"/><Relationship Id="R937dc32c29774dcf" Type="http://schemas.openxmlformats.org/officeDocument/2006/relationships/notesSlide" Target="../notesSlides/notesSlide7.xml"/><Relationship Id="R98b0b4976a9148d6" Type="http://schemas.openxmlformats.org/officeDocument/2006/relationships/image" Target="../media/image.svg"/><Relationship Id="Re63bf6ae51f94ef8" Type="http://schemas.openxmlformats.org/officeDocument/2006/relationships/slideLayout" Target="../slideLayouts/slideLayout7.xml"/><Relationship Id="Rf4b539db6f8b44c9" Type="http://schemas.openxmlformats.org/officeDocument/2006/relationships/image" Target="../media/image.jpeg"/></Relationships>
</file>

<file path=ppt/slides/_rels/slide8.xml.rels><?xml version='1.0' encoding='UTF-8' standalone='yes'?>
<Relationships xmlns="http://schemas.openxmlformats.org/package/2006/relationships"><Relationship Id="R347b2b66410d4516" Type="http://schemas.openxmlformats.org/officeDocument/2006/relationships/image" Target="../media/image.svg"/><Relationship Id="Rb63596c6ac2c4e29" Type="http://schemas.openxmlformats.org/officeDocument/2006/relationships/notesSlide" Target="../notesSlides/notesSlide8.xml"/><Relationship Id="Rdb079024c4464139" Type="http://schemas.openxmlformats.org/officeDocument/2006/relationships/slideLayout" Target="../slideLayouts/slideLayout7.xml"/><Relationship Id="Re6a76cc7d7ad49bf" Type="http://schemas.openxmlformats.org/officeDocument/2006/relationships/image" Target="../media/image.jpeg"/><Relationship Id="rId5" Type="http://schemas.openxmlformats.org/officeDocument/2006/relationships/hyperlink" Target="https://scholar.google.com/scholar?q=Welch+1947+Biometrika+generalization+student+problem" TargetMode="External"/></Relationships>
</file>

<file path=ppt/slides/_rels/slide9.xml.rels><?xml version='1.0' encoding='UTF-8' standalone='yes'?>
<Relationships xmlns="http://schemas.openxmlformats.org/package/2006/relationships"><Relationship Id="R7e4685ae88dc49b9" Type="http://schemas.openxmlformats.org/officeDocument/2006/relationships/notesSlide" Target="../notesSlides/notesSlide9.xml"/><Relationship Id="R896bdac7e3364018" Type="http://schemas.openxmlformats.org/officeDocument/2006/relationships/image" Target="../media/image.jpeg"/><Relationship Id="Ra29d4684104a4104" Type="http://schemas.openxmlformats.org/officeDocument/2006/relationships/image" Target="../media/image.svg"/><Relationship Id="Rfe34632f1e9b464e"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0acee9e48f2d4cf6" Type="http://schemas.openxmlformats.org/officeDocument/2006/relationships/image" Target="../media/image.svg"/><Relationship Id="R854187858c6e4d1d" Type="http://schemas.openxmlformats.org/officeDocument/2006/relationships/image" Target="../media/image.jpeg"/><Relationship Id="R99472d2786a74825" Type="http://schemas.openxmlformats.org/officeDocument/2006/relationships/notesSlide" Target="../notesSlides/notesSlide10.xml"/><Relationship Id="Re82ed65b5c4548a3" Type="http://schemas.openxmlformats.org/officeDocument/2006/relationships/slideLayout" Target="../slideLayouts/slideLayout7.xml"/><Relationship Id="rId5" Type="http://schemas.openxmlformats.org/officeDocument/2006/relationships/hyperlink" Target="https://scholar.google.com/scholar?q=Saito+Rehmsmeier+2015+Precision-Recall+Imbalanced+Datasets" TargetMode="External"/></Relationships>
</file>

<file path=ppt/slides/_rels/slide11.xml.rels><?xml version='1.0' encoding='UTF-8' standalone='yes'?>
<Relationships xmlns="http://schemas.openxmlformats.org/package/2006/relationships"><Relationship Id="R00588bbe70624553" Type="http://schemas.openxmlformats.org/officeDocument/2006/relationships/image" Target="../media/image.svg"/><Relationship Id="R629b36c26582482e" Type="http://schemas.openxmlformats.org/officeDocument/2006/relationships/image" Target="../media/image.jpeg"/><Relationship Id="R87043f1b1f6e4294" Type="http://schemas.openxmlformats.org/officeDocument/2006/relationships/slideLayout" Target="../slideLayouts/slideLayout7.xml"/><Relationship Id="Rf5c91af415334869" Type="http://schemas.openxmlformats.org/officeDocument/2006/relationships/notesSlide" Target="../notesSlides/notesSlide11.xml"/><Relationship Id="rId5" Type="http://schemas.openxmlformats.org/officeDocument/2006/relationships/hyperlink" Target="https://scholar.google.com/scholar?q=Fisher+1936+Use+of+multiple+measurements+in+taxonomic+problems" TargetMode="External"/></Relationships>
</file>

<file path=ppt/slides/_rels/slide12.xml.rels><?xml version='1.0' encoding='UTF-8' standalone='yes'?>
<Relationships xmlns="http://schemas.openxmlformats.org/package/2006/relationships"><Relationship Id="R0cc5b354af9549d3" Type="http://schemas.openxmlformats.org/officeDocument/2006/relationships/notesSlide" Target="../notesSlides/notesSlide12.xml"/><Relationship Id="R4c97e92190954312" Type="http://schemas.openxmlformats.org/officeDocument/2006/relationships/slideLayout" Target="../slideLayouts/slideLayout7.xml"/><Relationship Id="R607ebbb8045846c5" Type="http://schemas.openxmlformats.org/officeDocument/2006/relationships/image" Target="../media/image.jpeg"/><Relationship Id="R60fb5ec240474f0e" Type="http://schemas.openxmlformats.org/officeDocument/2006/relationships/image" Target="../media/image.svg"/><Relationship Id="rId5" Type="http://schemas.openxmlformats.org/officeDocument/2006/relationships/hyperlink" Target="https://scholar.google.com/scholar?q=Hand+Till+2001+Simple+Generalisation+ROC+Multi-Class" TargetMode="External"/></Relationships>
</file>

<file path=ppt/slides/_rels/slide13.xml.rels><?xml version='1.0' encoding='UTF-8' standalone='yes'?>
<Relationships xmlns="http://schemas.openxmlformats.org/package/2006/relationships"><Relationship Id="R5adafba890824574" Type="http://schemas.openxmlformats.org/officeDocument/2006/relationships/slideLayout" Target="../slideLayouts/slideLayout7.xml"/><Relationship Id="R74d8f43a668d476f" Type="http://schemas.openxmlformats.org/officeDocument/2006/relationships/image" Target="../media/image.jpeg"/><Relationship Id="R7b1c382ce90d4347" Type="http://schemas.openxmlformats.org/officeDocument/2006/relationships/notesSlide" Target="../notesSlides/notesSlide13.xml"/><Relationship Id="Rb6b41c8beb78469c" Type="http://schemas.openxmlformats.org/officeDocument/2006/relationships/chart" Target="charts/chart3.xml"/><Relationship Id="Rf6627597ce81486e" Type="http://schemas.openxmlformats.org/officeDocument/2006/relationships/image" Target="../media/image.svg"/><Relationship Id="rId6" Type="http://schemas.openxmlformats.org/officeDocument/2006/relationships/hyperlink" Target="https://scholar.google.com/scholar?q=Tan+Lim+2023+consumer+choice+predictive+accuracy+limits" TargetMode="External"/><Relationship Id="rId7" Type="http://schemas.openxmlformats.org/officeDocument/2006/relationships/hyperlink" Target="https://scholar.google.com/scholar?q=Chicco+Jurman+2020+Matthews+correlation+coefficient+multiclass" TargetMode="External"/></Relationships>
</file>

<file path=ppt/slides/_rels/slide14.xml.rels><?xml version='1.0' encoding='UTF-8' standalone='yes'?>
<Relationships xmlns="http://schemas.openxmlformats.org/package/2006/relationships"><Relationship Id="R569094c98c194170" Type="http://schemas.openxmlformats.org/officeDocument/2006/relationships/image" Target="../media/image.svg"/><Relationship Id="R8fd59d85f5ed4a18" Type="http://schemas.openxmlformats.org/officeDocument/2006/relationships/slideLayout" Target="../slideLayouts/slideLayout7.xml"/><Relationship Id="R902732ab8a1d4ab9" Type="http://schemas.openxmlformats.org/officeDocument/2006/relationships/image" Target="../media/image.jpeg"/><Relationship Id="Ra2152513a0ea47b3" Type="http://schemas.openxmlformats.org/officeDocument/2006/relationships/notesSlide" Target="../notesSlides/notesSlide14.xml"/><Relationship Id="rId5" Type="http://schemas.openxmlformats.org/officeDocument/2006/relationships/hyperlink" Target="https://scholar.google.com/scholar?q=Mishra+2022+retail+transaction+machine+learning+latency" TargetMode="External"/></Relationships>
</file>

<file path=ppt/slides/_rels/slide15.xml.rels><?xml version='1.0' encoding='UTF-8' standalone='yes'?>
<Relationships xmlns="http://schemas.openxmlformats.org/package/2006/relationships"><Relationship Id="R012a57f27c154171" Type="http://schemas.openxmlformats.org/officeDocument/2006/relationships/image" Target="../media/image.jpeg"/><Relationship Id="R28e0a2499c3a4f40" Type="http://schemas.openxmlformats.org/officeDocument/2006/relationships/slideLayout" Target="../slideLayouts/slideLayout7.xml"/><Relationship Id="R343f071de4834e51" Type="http://schemas.openxmlformats.org/officeDocument/2006/relationships/notesSlide" Target="../notesSlides/notesSlide15.xml"/><Relationship Id="Rad3a145872db4331" Type="http://schemas.openxmlformats.org/officeDocument/2006/relationships/image" Target="../media/image.svg"/></Relationships>
</file>

<file path=ppt/slides/_rels/slide16.xml.rels><?xml version='1.0' encoding='UTF-8' standalone='yes'?>
<Relationships xmlns="http://schemas.openxmlformats.org/package/2006/relationships"><Relationship Id="R19ba02c02aac4be9" Type="http://schemas.openxmlformats.org/officeDocument/2006/relationships/image" Target="../media/image.svg"/><Relationship Id="Ra1ca9303f99a492f" Type="http://schemas.openxmlformats.org/officeDocument/2006/relationships/slideLayout" Target="../slideLayouts/slideLayout7.xml"/><Relationship Id="Rb864a973cbbe4a10" Type="http://schemas.openxmlformats.org/officeDocument/2006/relationships/image" Target="../media/image.jpeg"/><Relationship Id="Rf737a2234a6d4f5a" Type="http://schemas.openxmlformats.org/officeDocument/2006/relationships/notesSlide" Target="../notesSlides/notesSlide16.xml"/><Relationship Id="rId5" Type="http://schemas.openxmlformats.org/officeDocument/2006/relationships/hyperlink" Target="https://scholar.google.com/scholar?q=Bradlow+2023+Experimental+Design+Marketing+Analytics+Field+Experiments" TargetMode="External"/></Relationships>
</file>

<file path=ppt/slides/_rels/slide17.xml.rels><?xml version='1.0' encoding='UTF-8' standalone='yes'?>
<Relationships xmlns="http://schemas.openxmlformats.org/package/2006/relationships"><Relationship Id="R6eaea0ff186347a6" Type="http://schemas.openxmlformats.org/officeDocument/2006/relationships/image" Target="../media/image.svg"/><Relationship Id="R80f2f689c35c431a" Type="http://schemas.openxmlformats.org/officeDocument/2006/relationships/slideLayout" Target="../slideLayouts/slideLayout7.xml"/><Relationship Id="R8e4c41f17fe44612" Type="http://schemas.openxmlformats.org/officeDocument/2006/relationships/chart" Target="charts/chart4.xml"/><Relationship Id="Re67403b78e2f47d2" Type="http://schemas.openxmlformats.org/officeDocument/2006/relationships/image" Target="../media/image.jpeg"/><Relationship Id="Rfe1c447441f846c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32a4f2774a634475" Type="http://schemas.openxmlformats.org/officeDocument/2006/relationships/notesSlide" Target="../notesSlides/notesSlide18.xml"/><Relationship Id="R3c6ea1615871488d" Type="http://schemas.openxmlformats.org/officeDocument/2006/relationships/image" Target="../media/image.jpeg"/><Relationship Id="R69793eb9ee2a4dd0" Type="http://schemas.openxmlformats.org/officeDocument/2006/relationships/slideLayout" Target="../slideLayouts/slideLayout7.xml"/><Relationship Id="R90d4e8fda71b4a0b" Type="http://schemas.openxmlformats.org/officeDocument/2006/relationships/image" Target="../media/image.svg"/><Relationship Id="Rfea02d278a2d4e03" Type="http://schemas.openxmlformats.org/officeDocument/2006/relationships/image" Target="../media/image3.png"/><Relationship Id="rId6" Type="http://schemas.openxmlformats.org/officeDocument/2006/relationships/hyperlink" Target="https://scholar.google.com/scholar?q=Jolliffe+Cadima+2016+Principal+Component+Analysis+review+developments" TargetMode="External"/></Relationships>
</file>

<file path=ppt/slides/_rels/slide19.xml.rels><?xml version='1.0' encoding='UTF-8' standalone='yes'?>
<Relationships xmlns="http://schemas.openxmlformats.org/package/2006/relationships"><Relationship Id="R7173a9e40d3544c9" Type="http://schemas.openxmlformats.org/officeDocument/2006/relationships/image" Target="../media/image.svg"/><Relationship Id="R9b837070f6864478" Type="http://schemas.openxmlformats.org/officeDocument/2006/relationships/slideLayout" Target="../slideLayouts/slideLayout7.xml"/><Relationship Id="Rc56017b0d97444c9" Type="http://schemas.openxmlformats.org/officeDocument/2006/relationships/notesSlide" Target="../notesSlides/notesSlide19.xml"/><Relationship Id="Red2b8013edce41bb" Type="http://schemas.openxmlformats.org/officeDocument/2006/relationships/image" Target="../media/image.jpeg"/><Relationship Id="rId5" Type="http://schemas.openxmlformats.org/officeDocument/2006/relationships/hyperlink" Target="https://scholar.google.com/scholar?q=Posch+Truden+2022+Bayesian+approach+predicting+food+beverage+sales" TargetMode="External"/></Relationships>
</file>

<file path=ppt/slides/_rels/slide20.xml.rels><?xml version='1.0' encoding='UTF-8' standalone='yes'?>
<Relationships xmlns="http://schemas.openxmlformats.org/package/2006/relationships"><Relationship Id="R3d3a2d23c7e24bb3" Type="http://schemas.openxmlformats.org/officeDocument/2006/relationships/notesSlide" Target="../notesSlides/notesSlide20.xml"/><Relationship Id="R6cafa7b640b545b2" Type="http://schemas.openxmlformats.org/officeDocument/2006/relationships/image" Target="../media/image4.png"/><Relationship Id="R7903ae921bc14e85" Type="http://schemas.openxmlformats.org/officeDocument/2006/relationships/image" Target="../media/image.svg"/><Relationship Id="Rbf8d8d4ab7894316" Type="http://schemas.openxmlformats.org/officeDocument/2006/relationships/image" Target="../media/image.jpeg"/><Relationship Id="Rc2b99260019d4f3f" Type="http://schemas.openxmlformats.org/officeDocument/2006/relationships/slideLayout" Target="../slideLayouts/slideLayout7.xml"/><Relationship Id="rId6" Type="http://schemas.openxmlformats.org/officeDocument/2006/relationships/hyperlink" Target="https://scholar.google.com/scholar?q=Santos+2022+Time+series+demand+forecasting+cafes+restaurants+ARIMA" TargetMode="External"/></Relationships>
</file>

<file path=ppt/slides/_rels/slide21.xml.rels><?xml version='1.0' encoding='UTF-8' standalone='yes'?>
<Relationships xmlns="http://schemas.openxmlformats.org/package/2006/relationships"><Relationship Id="R0c30caf56b694d9c" Type="http://schemas.openxmlformats.org/officeDocument/2006/relationships/chart" Target="charts/chart5.xml"/><Relationship Id="R0e06e803e6db4285" Type="http://schemas.openxmlformats.org/officeDocument/2006/relationships/chart" Target="charts/chart6.xml"/><Relationship Id="R30d87ccf70654a50" Type="http://schemas.openxmlformats.org/officeDocument/2006/relationships/notesSlide" Target="../notesSlides/notesSlide21.xml"/><Relationship Id="R36de2ed790354c19" Type="http://schemas.openxmlformats.org/officeDocument/2006/relationships/slideLayout" Target="../slideLayouts/slideLayout7.xml"/><Relationship Id="R6b5b557e5e38491b" Type="http://schemas.openxmlformats.org/officeDocument/2006/relationships/image" Target="../media/image.jpeg"/><Relationship Id="R97ddd9b66bc74ce6" Type="http://schemas.openxmlformats.org/officeDocument/2006/relationships/image" Target="../media/image.svg"/><Relationship Id="rId7" Type="http://schemas.openxmlformats.org/officeDocument/2006/relationships/hyperlink" Target="https://scholar.google.com/scholar?q=Hyndman+Khandakar+2008+Automatic+Time+Series+Forecasting+forecast+Package+R" TargetMode="External"/></Relationships>
</file>

<file path=ppt/slides/_rels/slide22.xml.rels><?xml version='1.0' encoding='UTF-8' standalone='yes'?>
<Relationships xmlns="http://schemas.openxmlformats.org/package/2006/relationships"><Relationship Id="R02c23fc9e37741db" Type="http://schemas.openxmlformats.org/officeDocument/2006/relationships/slideLayout" Target="../slideLayouts/slideLayout7.xml"/><Relationship Id="R3f070159814c408b" Type="http://schemas.openxmlformats.org/officeDocument/2006/relationships/image" Target="../media/image.svg"/><Relationship Id="R706ad5662f9d43ab" Type="http://schemas.openxmlformats.org/officeDocument/2006/relationships/notesSlide" Target="../notesSlides/notesSlide22.xml"/><Relationship Id="Rabcebe5e142141ac" Type="http://schemas.openxmlformats.org/officeDocument/2006/relationships/image" Target="../media/image.jpeg"/><Relationship Id="rId5" Type="http://schemas.openxmlformats.org/officeDocument/2006/relationships/hyperlink" Target="https://scholar.google.com/scholar?q=Ljung+Box+1978+On+a+measure+of+lack+of+fit+in+time+series+models" TargetMode="External"/></Relationships>
</file>

<file path=ppt/slides/_rels/slide23.xml.rels><?xml version='1.0' encoding='UTF-8' standalone='yes'?>
<Relationships xmlns="http://schemas.openxmlformats.org/package/2006/relationships"><Relationship Id="R8fdb6d813d8943f4" Type="http://schemas.openxmlformats.org/officeDocument/2006/relationships/slideLayout" Target="../slideLayouts/slideLayout7.xml"/><Relationship Id="Rc7548ce2443f4b43" Type="http://schemas.openxmlformats.org/officeDocument/2006/relationships/notesSlide" Target="../notesSlides/notesSlide23.xml"/><Relationship Id="Re3749ef6641b4409" Type="http://schemas.openxmlformats.org/officeDocument/2006/relationships/image" Target="../media/image.svg"/><Relationship Id="Rf3be1d10f1e347ad" Type="http://schemas.openxmlformats.org/officeDocument/2006/relationships/image" Target="../media/image.jpeg"/></Relationships>
</file>

<file path=ppt/slides/_rels/slide24.xml.rels><?xml version='1.0' encoding='UTF-8' standalone='yes'?>
<Relationships xmlns="http://schemas.openxmlformats.org/package/2006/relationships"><Relationship Id="R49d54e10fbe14069" Type="http://schemas.openxmlformats.org/officeDocument/2006/relationships/image" Target="../media/image.svg"/><Relationship Id="R61b6eea78c0d4f61" Type="http://schemas.openxmlformats.org/officeDocument/2006/relationships/notesSlide" Target="../notesSlides/notesSlide24.xml"/><Relationship Id="R7eb26e739c1241aa" Type="http://schemas.openxmlformats.org/officeDocument/2006/relationships/slideLayout" Target="../slideLayouts/slideLayout7.xml"/><Relationship Id="Rb61548a87a9846d0" Type="http://schemas.openxmlformats.org/officeDocument/2006/relationships/image" Target="../media/image.jpeg"/></Relationships>
</file>

<file path=ppt/slides/_rels/slide25.xml.rels><?xml version='1.0' encoding='UTF-8' standalone='yes'?>
<Relationships xmlns="http://schemas.openxmlformats.org/package/2006/relationships"><Relationship Id="R7e5ed2456902453c" Type="http://schemas.openxmlformats.org/officeDocument/2006/relationships/slideLayout" Target="../slideLayouts/slideLayout7.xml"/><Relationship Id="R8e168ebc4b4846b6" Type="http://schemas.openxmlformats.org/officeDocument/2006/relationships/notesSlide" Target="../notesSlides/notesSlide25.xml"/><Relationship Id="Rd2abb481902a4066" Type="http://schemas.openxmlformats.org/officeDocument/2006/relationships/image" Target="../media/image.jpeg"/><Relationship Id="Reb545ea68a4247fa" Type="http://schemas.openxmlformats.org/officeDocument/2006/relationships/image" Target="../media/image.svg"/></Relationships>
</file>

<file path=ppt/slides/_rels/slide26.xml.rels><?xml version='1.0' encoding='UTF-8' standalone='yes'?>
<Relationships xmlns="http://schemas.openxmlformats.org/package/2006/relationships"><Relationship Id="R135be21ff4f74723" Type="http://schemas.openxmlformats.org/officeDocument/2006/relationships/image" Target="../media/image.jpeg"/><Relationship Id="R18b9eaa3b8d04598" Type="http://schemas.openxmlformats.org/officeDocument/2006/relationships/image" Target="../media/image.svg"/><Relationship Id="R9be4e9d7aa5241bf" Type="http://schemas.openxmlformats.org/officeDocument/2006/relationships/slideLayout" Target="../slideLayouts/slideLayout7.xml"/><Relationship Id="Re868ea333dd04e7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24ee14eb4ecc40bc" Type="http://schemas.openxmlformats.org/officeDocument/2006/relationships/image" Target="../media/image.jpeg"/><Relationship Id="R9264d513c77248d7" Type="http://schemas.openxmlformats.org/officeDocument/2006/relationships/slideLayout" Target="../slideLayouts/slideLayout7.xml"/><Relationship Id="R9bd63dc3512a406c" Type="http://schemas.openxmlformats.org/officeDocument/2006/relationships/notesSlide" Target="../notesSlides/notesSlide27.xml"/><Relationship Id="Rbed6a7879b834088" Type="http://schemas.openxmlformats.org/officeDocument/2006/relationships/image" Target="../media/image.svg"/></Relationships>
</file>

<file path=ppt/slides/_rels/slide28.xml.rels><?xml version='1.0' encoding='UTF-8' standalone='yes'?>
<Relationships xmlns="http://schemas.openxmlformats.org/package/2006/relationships"><Relationship Id="R141423ff2b224aae" Type="http://schemas.openxmlformats.org/officeDocument/2006/relationships/slideLayout" Target="../slideLayouts/slideLayout7.xml"/><Relationship Id="R22778c7c76114e87" Type="http://schemas.openxmlformats.org/officeDocument/2006/relationships/image" Target="../media/image.jpeg"/><Relationship Id="R2fafef90a2694c50" Type="http://schemas.openxmlformats.org/officeDocument/2006/relationships/image" Target="../media/image.svg"/><Relationship Id="R4ad0a7bfaff2422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20a31c02dc8c41e5" Type="http://schemas.openxmlformats.org/officeDocument/2006/relationships/image" Target="../media/image.jpeg"/><Relationship Id="R33029b22dfaf43ad" Type="http://schemas.openxmlformats.org/officeDocument/2006/relationships/image" Target="../media/image.svg"/><Relationship Id="Rc1b9e3052e334c2f" Type="http://schemas.openxmlformats.org/officeDocument/2006/relationships/slideLayout" Target="../slideLayouts/slideLayout7.xml"/><Relationship Id="Rcb69f740ae4a42c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25ce083ff19c4fbe" Type="http://schemas.openxmlformats.org/officeDocument/2006/relationships/notesSlide" Target="../notesSlides/notesSlide30.xml"/><Relationship Id="R77a311e144534f49" Type="http://schemas.openxmlformats.org/officeDocument/2006/relationships/image" Target="../media/image.jpeg"/><Relationship Id="Rc5777dd6f72847b7" Type="http://schemas.openxmlformats.org/officeDocument/2006/relationships/image" Target="../media/image.svg"/><Relationship Id="Rc7443af14d7844e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2e284682df714de9" Type="http://schemas.openxmlformats.org/officeDocument/2006/relationships/image" Target="../media/image.jpeg"/><Relationship Id="Rb0dd91d817374d43" Type="http://schemas.openxmlformats.org/officeDocument/2006/relationships/notesSlide" Target="../notesSlides/notesSlide31.xml"/><Relationship Id="Rbc92cc9087804866" Type="http://schemas.openxmlformats.org/officeDocument/2006/relationships/image" Target="../media/image.svg"/><Relationship Id="Ref25c4b034544334" Type="http://schemas.openxmlformats.org/officeDocument/2006/relationships/slideLayout" Target="../slideLayouts/slideLayout7.xml"/><Relationship Id="rId5" Type="http://schemas.openxmlformats.org/officeDocument/2006/relationships/hyperlink" Target="https://scholar.google.com/scholar?q=A+Review+of+Forecasting+Studies+for+the+Restaurant+Industry+Choi+2022" TargetMode="External"/><Relationship Id="rId6" Type="http://schemas.openxmlformats.org/officeDocument/2006/relationships/hyperlink" Target="https://scholar.google.com/scholar?q=A+Bayesian+approach+for+predicting+food+and+beverage+sales+in+staff+canteens+Posch+2022" TargetMode="External"/><Relationship Id="rId7" Type="http://schemas.openxmlformats.org/officeDocument/2006/relationships/hyperlink" Target="https://scholar.google.com/scholar?q=Machine+learning+models+for+short-term+demand+forecasting+in+food+catering+services+Rodrigues+2024" TargetMode="External"/><Relationship Id="rId8" Type="http://schemas.openxmlformats.org/officeDocument/2006/relationships/hyperlink" Target="https://scholar.google.com/scholar?q=Introduction+of+AI-based+sales+forecasting+food+and+beverage+Groene+2024" TargetMode="External"/><Relationship Id="rId9" Type="http://schemas.openxmlformats.org/officeDocument/2006/relationships/hyperlink" Target="https://scholar.google.com/scholar?q=Machine-learning-based+demand+forecasting+against+food+waste+Hubner+2024" TargetMode="External"/></Relationships>
</file>

<file path=ppt/slides/_rels/slide32.xml.rels><?xml version='1.0' encoding='UTF-8' standalone='yes'?>
<Relationships xmlns="http://schemas.openxmlformats.org/package/2006/relationships"><Relationship Id="R32af6c4b38214124" Type="http://schemas.openxmlformats.org/officeDocument/2006/relationships/image" Target="../media/image.jpeg"/><Relationship Id="R7504c85b48d04b7f" Type="http://schemas.openxmlformats.org/officeDocument/2006/relationships/image" Target="../media/image.svg"/><Relationship Id="Rc2e0cc56112d440b" Type="http://schemas.openxmlformats.org/officeDocument/2006/relationships/notesSlide" Target="../notesSlides/notesSlide32.xml"/><Relationship Id="Re7ef2d8321994dcc" Type="http://schemas.openxmlformats.org/officeDocument/2006/relationships/slideLayout" Target="../slideLayouts/slideLayout7.xml"/><Relationship Id="rId5" Type="http://schemas.openxmlformats.org/officeDocument/2006/relationships/hyperlink" Target="https://scholar.google.com/scholar?q=The+use+of+multiple+measurements+in+taxonomic+problems+Fisher+1936" TargetMode="External"/><Relationship Id="rId6" Type="http://schemas.openxmlformats.org/officeDocument/2006/relationships/hyperlink" Target="https://scholar.google.com/scholar?q=The+generalization+of+Student+problem+several+different+population+variances+Welch+1947" TargetMode="External"/><Relationship Id="rId7" Type="http://schemas.openxmlformats.org/officeDocument/2006/relationships/hyperlink" Target="https://scholar.google.com/scholar?q=Principal+component+analysis+review+recent+developments+Jolliffe+2016" TargetMode="External"/><Relationship Id="rId8" Type="http://schemas.openxmlformats.org/officeDocument/2006/relationships/hyperlink" Target="https://scholar.google.com/scholar?q=A+Simple+Generalisation+of+the+Area+Under+the+ROC+Curve+Hand+Till+2001" TargetMode="External"/><Relationship Id="rId9" Type="http://schemas.openxmlformats.org/officeDocument/2006/relationships/hyperlink" Target="https://scholar.google.com/scholar?q=The+Precision-Recall+Plot+Is+More+Informative+than+the+ROC+Plot+Saito+2015" TargetMode="External"/></Relationships>
</file>

<file path=ppt/slides/_rels/slide33.xml.rels><?xml version='1.0' encoding='UTF-8' standalone='yes'?>
<Relationships xmlns="http://schemas.openxmlformats.org/package/2006/relationships"><Relationship Id="R2928bc3f621e4349" Type="http://schemas.openxmlformats.org/officeDocument/2006/relationships/image" Target="../media/image.jpeg"/><Relationship Id="R3050aee46fd44017" Type="http://schemas.openxmlformats.org/officeDocument/2006/relationships/slideLayout" Target="../slideLayouts/slideLayout7.xml"/><Relationship Id="R39ae12adfd86450d" Type="http://schemas.openxmlformats.org/officeDocument/2006/relationships/image" Target="../media/image.svg"/><Relationship Id="R7b8183d55ff443d7" Type="http://schemas.openxmlformats.org/officeDocument/2006/relationships/notesSlide" Target="../notesSlides/notesSlide33.xml"/><Relationship Id="rId5" Type="http://schemas.openxmlformats.org/officeDocument/2006/relationships/hyperlink" Target="https://scholar.google.com/scholar?q=Automatic+Time+Series+Forecasting+forecast+Package+R+Hyndman+2008" TargetMode="External"/><Relationship Id="rId6" Type="http://schemas.openxmlformats.org/officeDocument/2006/relationships/hyperlink" Target="https://scholar.google.com/scholar?q=On+a+measure+of+lack+of+fit+in+time+series+models+Ljung+Box+1978" TargetMode="External"/><Relationship Id="rId7" Type="http://schemas.openxmlformats.org/officeDocument/2006/relationships/hyperlink" Target="https://scholar.google.com/scholar?q=Approximate+Statistical+Tests+for+Comparing+Supervised+Classification+Dietterich+1998" TargetMode="External"/><Relationship Id="rId8" Type="http://schemas.openxmlformats.org/officeDocument/2006/relationships/hyperlink" Target="https://scholar.google.com/scholar?q=Regression+Shrinkage+and+Selection+Via+the+Lasso+Tibshirani+1996" TargetMode="External"/><Relationship Id="rId9" Type="http://schemas.openxmlformats.org/officeDocument/2006/relationships/hyperlink" Target="https://scholar.google.com/scholar?q=Regularization+Paths+for+Generalized+Linear+Models+via+Coordinate+Descent+Friedman+2010" TargetMode="External"/></Relationships>
</file>

<file path=ppt/slides/_rels/slide34.xml.rels><?xml version='1.0' encoding='UTF-8' standalone='yes'?>
<Relationships xmlns="http://schemas.openxmlformats.org/package/2006/relationships"><Relationship Id="R672326cc1c2845d3" Type="http://schemas.openxmlformats.org/officeDocument/2006/relationships/image" Target="../media/image.jpeg"/><Relationship Id="Rbc5c04faa2194365" Type="http://schemas.openxmlformats.org/officeDocument/2006/relationships/notesSlide" Target="../notesSlides/notesSlide34.xml"/><Relationship Id="Rd092869cb4bf4bb8" Type="http://schemas.openxmlformats.org/officeDocument/2006/relationships/image" Target="../media/image.svg"/><Relationship Id="Rdcede44aa93d4f87" Type="http://schemas.openxmlformats.org/officeDocument/2006/relationships/slideLayout" Target="../slideLayouts/slideLayout7.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_rels/chart6.xml.rels><?xml version='1.0' encoding='UTF-8' standalone='yes'?>
<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c:lang val="en-US"/>
  <c:chart>
    <c:plotArea>
      <c:barChart>
        <c:barDir val="col"/>
        <c:varyColors val="0"/>
        <c:ser>
          <c:idx val="0"/>
          <c:order val="0"/>
          <c:tx>
            <c:v>Item-line share (%)</c:v>
          </c:tx>
          <c:spPr>
            <a:solidFill xmlns:a="http://schemas.openxmlformats.org/drawingml/2006/main">
              <a:srgbClr val="FF6705"/>
            </a:solidFill>
          </c:spPr>
          <c:invertIfNegative val="0"/>
          <c:cat>
            <c:strRef>
              <c:f>'Chart Data'!$A$2:$A$5</c:f>
              <c:strCache>
                <c:ptCount val="4"/>
                <c:pt idx="0">
                  <c:v>Beverage</c:v>
                </c:pt>
                <c:pt idx="1">
                  <c:v>Food</c:v>
                </c:pt>
                <c:pt idx="2">
                  <c:v>Deals</c:v>
                </c:pt>
                <c:pt idx="3">
                  <c:v>Merch.</c:v>
                </c:pt>
              </c:strCache>
            </c:strRef>
          </c:cat>
          <c:val>
            <c:numRef>
              <c:f>'Chart Data'!$B$2:$B$5</c:f>
              <c:numCache>
                <c:formatCode>0"%"</c:formatCode>
                <c:ptCount val="4"/>
                <c:pt idx="0">
                  <c:v>52.17</c:v>
                </c:pt>
                <c:pt idx="1">
                  <c:v>33.71</c:v>
                </c:pt>
                <c:pt idx="2">
                  <c:v>8.73</c:v>
                </c:pt>
                <c:pt idx="3">
                  <c:v>5.39</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2363">
                  <a:solidFill>
                    <a:srgbClr val="281C16"/>
                  </a:solidFill>
                  <a:latin typeface="TT Fors"/>
                  <a:ea typeface="TT Fors"/>
                  <a:cs typeface="TT For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60"/>
          <c:min val="0"/>
        </c:scaling>
        <c:delete val="0"/>
        <c:axPos val="l"/>
        <c:numFmt formatCode="0&quot;%&quot;"/>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2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varyColors val="0"/>
        <c:ser>
          <c:idx val="0"/>
          <c:order val="0"/>
          <c:tx>
            <c:v>Mean daily orders</c:v>
          </c:tx>
          <c:spPr>
            <a:solidFill xmlns:a="http://schemas.openxmlformats.org/drawingml/2006/main">
              <a:srgbClr val="FF6705"/>
            </a:solidFill>
          </c:spPr>
          <c:invertIfNegative val="0"/>
          <c:cat>
            <c:strRef>
              <c:f>'Chart Data'!$A$2:$A$8</c:f>
              <c:strCache>
                <c:ptCount val="7"/>
                <c:pt idx="0">
                  <c:v>Mon</c:v>
                </c:pt>
                <c:pt idx="1">
                  <c:v>Tue</c:v>
                </c:pt>
                <c:pt idx="2">
                  <c:v>Wed</c:v>
                </c:pt>
                <c:pt idx="3">
                  <c:v>Thu</c:v>
                </c:pt>
                <c:pt idx="4">
                  <c:v>Fri</c:v>
                </c:pt>
                <c:pt idx="5">
                  <c:v>Sat</c:v>
                </c:pt>
                <c:pt idx="6">
                  <c:v>Sun</c:v>
                </c:pt>
              </c:strCache>
            </c:strRef>
          </c:cat>
          <c:val>
            <c:numRef>
              <c:f>'Chart Data'!$B$2:$B$8</c:f>
              <c:numCache>
                <c:formatCode>General</c:formatCode>
                <c:ptCount val="7"/>
                <c:pt idx="0">
                  <c:v>202.9</c:v>
                </c:pt>
                <c:pt idx="1">
                  <c:v>204.4</c:v>
                </c:pt>
                <c:pt idx="2">
                  <c:v>204.1</c:v>
                </c:pt>
                <c:pt idx="3">
                  <c:v>197.1</c:v>
                </c:pt>
                <c:pt idx="4">
                  <c:v>250.3</c:v>
                </c:pt>
                <c:pt idx="5">
                  <c:v>261.9</c:v>
                </c:pt>
                <c:pt idx="6">
                  <c:v>270.1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025">
                  <a:solidFill>
                    <a:srgbClr val="281C16"/>
                  </a:solidFill>
                  <a:latin typeface="TT Fors"/>
                  <a:ea typeface="TT Fors"/>
                  <a:cs typeface="TT For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320"/>
          <c:min val="0"/>
        </c:scaling>
        <c:delete val="0"/>
        <c:axPos val="l"/>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3.xml><?xml version="1.0" encoding="utf-8"?>
<c:chartSpace xmlns:c="http://schemas.openxmlformats.org/drawingml/2006/chart">
  <c:lang val="en-US"/>
  <c:chart>
    <c:plotArea>
      <c:barChart>
        <c:barDir val="col"/>
        <c:varyColors val="0"/>
        <c:ser>
          <c:idx val="0"/>
          <c:order val="0"/>
          <c:tx>
            <c:v>Top-1 accuracy</c:v>
          </c:tx>
          <c:spPr>
            <a:solidFill xmlns:a="http://schemas.openxmlformats.org/drawingml/2006/main">
              <a:srgbClr val="FF6705"/>
            </a:solidFill>
          </c:spPr>
          <c:invertIfNegative val="0"/>
          <c:cat>
            <c:strRef>
              <c:f>'Chart Data'!$A$2:$A$5</c:f>
              <c:strCache>
                <c:ptCount val="4"/>
                <c:pt idx="0">
                  <c:v>LDA</c:v>
                </c:pt>
                <c:pt idx="1">
                  <c:v>Multinomial</c:v>
                </c:pt>
                <c:pt idx="2">
                  <c:v>QDA</c:v>
                </c:pt>
                <c:pt idx="3">
                  <c:v>Naïve Bayes</c:v>
                </c:pt>
              </c:strCache>
            </c:strRef>
          </c:cat>
          <c:val>
            <c:numRef>
              <c:f>'Chart Data'!$B$2:$B$5</c:f>
              <c:numCache>
                <c:formatCode>0"%"</c:formatCode>
                <c:ptCount val="4"/>
                <c:pt idx="0">
                  <c:v>76.23</c:v>
                </c:pt>
                <c:pt idx="1">
                  <c:v>76.21</c:v>
                </c:pt>
                <c:pt idx="2">
                  <c:v>75.21</c:v>
                </c:pt>
                <c:pt idx="3">
                  <c:v>71.47</c:v>
                </c:pt>
              </c:numCache>
            </c:numRef>
          </c:val>
        </c:ser>
        <c:ser>
          <c:idx val="1"/>
          <c:order val="1"/>
          <c:tx>
            <c:v>Macro F1</c:v>
          </c:tx>
          <c:spPr>
            <a:solidFill xmlns:a="http://schemas.openxmlformats.org/drawingml/2006/main">
              <a:srgbClr val="8B624C"/>
            </a:solidFill>
          </c:spPr>
          <c:invertIfNegative val="0"/>
          <c:cat>
            <c:strRef>
              <c:f>'Chart Data'!$C$2:$C$5</c:f>
              <c:strCache>
                <c:ptCount val="4"/>
                <c:pt idx="0">
                  <c:v>LDA</c:v>
                </c:pt>
                <c:pt idx="1">
                  <c:v>Multinomial</c:v>
                </c:pt>
                <c:pt idx="2">
                  <c:v>QDA</c:v>
                </c:pt>
                <c:pt idx="3">
                  <c:v>Naïve Bayes</c:v>
                </c:pt>
              </c:strCache>
            </c:strRef>
          </c:cat>
          <c:val>
            <c:numRef>
              <c:f>'Chart Data'!$D$2:$D$5</c:f>
              <c:numCache>
                <c:formatCode>0"%"</c:formatCode>
                <c:ptCount val="4"/>
                <c:pt idx="0">
                  <c:v>76.14</c:v>
                </c:pt>
                <c:pt idx="1">
                  <c:v>76.02</c:v>
                </c:pt>
                <c:pt idx="2">
                  <c:v>75.82</c:v>
                </c:pt>
                <c:pt idx="3">
                  <c:v>72.35</c:v>
                </c:pt>
              </c:numCache>
            </c:numRef>
          </c:val>
        </c:ser>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100"/>
          <c:min val="0"/>
        </c:scaling>
        <c:delete val="0"/>
        <c:axPos val="l"/>
        <c:numFmt formatCode="0&quot;%&quot;"/>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2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2250">
              <a:solidFill>
                <a:srgbClr val="281C16"/>
              </a:solidFill>
              <a:latin typeface="TT Fors"/>
              <a:ea typeface="TT Fors"/>
              <a:cs typeface="TT Fors"/>
            </a:defRPr>
          </a:pPr>
        </a:p>
      </c:txPr>
    </c:legend>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4.xml><?xml version="1.0" encoding="utf-8"?>
<c:chartSpace xmlns:c="http://schemas.openxmlformats.org/drawingml/2006/chart">
  <c:lang val="en-US"/>
  <c:chart>
    <c:plotArea>
      <c:barChart>
        <c:barDir val="col"/>
        <c:varyColors val="0"/>
        <c:ser>
          <c:idx val="0"/>
          <c:order val="0"/>
          <c:tx>
            <c:v>Variance explained (%)</c:v>
          </c:tx>
          <c:spPr>
            <a:solidFill xmlns:a="http://schemas.openxmlformats.org/drawingml/2006/main">
              <a:srgbClr val="FF6705"/>
            </a:solidFill>
          </c:spPr>
          <c:invertIfNegative val="0"/>
          <c:cat>
            <c:strRef>
              <c:f>'Chart Data'!$A$2:$A$6</c:f>
              <c:strCache>
                <c:ptCount val="5"/>
                <c:pt idx="0">
                  <c:v>PC1</c:v>
                </c:pt>
                <c:pt idx="1">
                  <c:v>PC2</c:v>
                </c:pt>
                <c:pt idx="2">
                  <c:v>PC3</c:v>
                </c:pt>
                <c:pt idx="3">
                  <c:v>PC4</c:v>
                </c:pt>
                <c:pt idx="4">
                  <c:v>PC5</c:v>
                </c:pt>
              </c:strCache>
            </c:strRef>
          </c:cat>
          <c:val>
            <c:numRef>
              <c:f>'Chart Data'!$B$2:$B$6</c:f>
              <c:numCache>
                <c:formatCode>0"%"</c:formatCode>
                <c:ptCount val="5"/>
                <c:pt idx="0">
                  <c:v>45.3</c:v>
                </c:pt>
                <c:pt idx="1">
                  <c:v>20.22</c:v>
                </c:pt>
                <c:pt idx="2">
                  <c:v>19.88</c:v>
                </c:pt>
                <c:pt idx="3">
                  <c:v>14.58</c:v>
                </c:pt>
                <c:pt idx="4">
                  <c:v>0.01</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sz="2025">
                  <a:solidFill>
                    <a:srgbClr val="281C16"/>
                  </a:solidFill>
                  <a:latin typeface="TT Fors"/>
                  <a:ea typeface="TT Fors"/>
                  <a:cs typeface="TT For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55"/>
          <c:min val="0"/>
        </c:scaling>
        <c:delete val="0"/>
        <c:axPos val="l"/>
        <c:numFmt formatCode="0&quot;%&quot;"/>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5.xml><?xml version="1.0" encoding="utf-8"?>
<c:chartSpace xmlns:c="http://schemas.openxmlformats.org/drawingml/2006/chart">
  <c:lang val="en-US"/>
  <c:chart>
    <c:plotArea>
      <c:lineChart>
        <c:grouping val="standard"/>
        <c:varyColors val="0"/>
        <c:ser>
          <c:idx val="0"/>
          <c:order val="0"/>
          <c:tx>
            <c:v>Observed orders</c:v>
          </c:tx>
          <c:spPr>
            <a:ln xmlns:a="http://schemas.openxmlformats.org/drawingml/2006/main" w="19050">
              <a:solidFill>
                <a:srgbClr val="FF6705"/>
              </a:solidFill>
              <a:prstDash val="solid"/>
            </a:ln>
          </c:spPr>
          <c:marker>
            <c:symbol val="none"/>
          </c:marker>
          <c:cat>
            <c:strRef>
              <c:f>'Chart Data'!$A$2:$A$91</c:f>
              <c:strCache>
                <c:ptCount val="90"/>
                <c:pt idx="0">
                  <c:v>2026-01-01</c:v>
                </c:pt>
                <c:pt idx="1">
                  <c:v>2026-01-02</c:v>
                </c:pt>
                <c:pt idx="2">
                  <c:v>2026-01-03</c:v>
                </c:pt>
                <c:pt idx="3">
                  <c:v>2026-01-04</c:v>
                </c:pt>
                <c:pt idx="4">
                  <c:v>2026-01-05</c:v>
                </c:pt>
                <c:pt idx="5">
                  <c:v>2026-01-06</c:v>
                </c:pt>
                <c:pt idx="6">
                  <c:v>2026-01-07</c:v>
                </c:pt>
                <c:pt idx="7">
                  <c:v>2026-01-08</c:v>
                </c:pt>
                <c:pt idx="8">
                  <c:v>2026-01-09</c:v>
                </c:pt>
                <c:pt idx="9">
                  <c:v>2026-01-10</c:v>
                </c:pt>
                <c:pt idx="10">
                  <c:v>2026-01-11</c:v>
                </c:pt>
                <c:pt idx="11">
                  <c:v>2026-01-12</c:v>
                </c:pt>
                <c:pt idx="12">
                  <c:v>2026-01-13</c:v>
                </c:pt>
                <c:pt idx="13">
                  <c:v>2026-01-14</c:v>
                </c:pt>
                <c:pt idx="14">
                  <c:v>2026-01-15</c:v>
                </c:pt>
                <c:pt idx="15">
                  <c:v>2026-01-16</c:v>
                </c:pt>
                <c:pt idx="16">
                  <c:v>2026-01-17</c:v>
                </c:pt>
                <c:pt idx="17">
                  <c:v>2026-01-18</c:v>
                </c:pt>
                <c:pt idx="18">
                  <c:v>2026-01-19</c:v>
                </c:pt>
                <c:pt idx="19">
                  <c:v>2026-01-20</c:v>
                </c:pt>
                <c:pt idx="20">
                  <c:v>2026-01-21</c:v>
                </c:pt>
                <c:pt idx="21">
                  <c:v>2026-01-22</c:v>
                </c:pt>
                <c:pt idx="22">
                  <c:v>2026-01-23</c:v>
                </c:pt>
                <c:pt idx="23">
                  <c:v>2026-01-24</c:v>
                </c:pt>
                <c:pt idx="24">
                  <c:v>2026-01-25</c:v>
                </c:pt>
                <c:pt idx="25">
                  <c:v>2026-01-26</c:v>
                </c:pt>
                <c:pt idx="26">
                  <c:v>2026-01-27</c:v>
                </c:pt>
                <c:pt idx="27">
                  <c:v>2026-01-28</c:v>
                </c:pt>
                <c:pt idx="28">
                  <c:v>2026-01-29</c:v>
                </c:pt>
                <c:pt idx="29">
                  <c:v>2026-01-30</c:v>
                </c:pt>
                <c:pt idx="30">
                  <c:v>2026-01-31</c:v>
                </c:pt>
                <c:pt idx="31">
                  <c:v>2026-02-01</c:v>
                </c:pt>
                <c:pt idx="32">
                  <c:v>2026-02-02</c:v>
                </c:pt>
                <c:pt idx="33">
                  <c:v>2026-02-03</c:v>
                </c:pt>
                <c:pt idx="34">
                  <c:v>2026-02-04</c:v>
                </c:pt>
                <c:pt idx="35">
                  <c:v>2026-02-05</c:v>
                </c:pt>
                <c:pt idx="36">
                  <c:v>2026-02-06</c:v>
                </c:pt>
                <c:pt idx="37">
                  <c:v>2026-02-07</c:v>
                </c:pt>
                <c:pt idx="38">
                  <c:v>2026-02-08</c:v>
                </c:pt>
                <c:pt idx="39">
                  <c:v>2026-02-09</c:v>
                </c:pt>
                <c:pt idx="40">
                  <c:v>2026-02-10</c:v>
                </c:pt>
                <c:pt idx="41">
                  <c:v>2026-02-11</c:v>
                </c:pt>
                <c:pt idx="42">
                  <c:v>2026-02-12</c:v>
                </c:pt>
                <c:pt idx="43">
                  <c:v>2026-02-13</c:v>
                </c:pt>
                <c:pt idx="44">
                  <c:v>2026-02-14</c:v>
                </c:pt>
                <c:pt idx="45">
                  <c:v>2026-02-15</c:v>
                </c:pt>
                <c:pt idx="46">
                  <c:v>2026-02-16</c:v>
                </c:pt>
                <c:pt idx="47">
                  <c:v>2026-02-17</c:v>
                </c:pt>
                <c:pt idx="48">
                  <c:v>2026-02-18</c:v>
                </c:pt>
                <c:pt idx="49">
                  <c:v>2026-02-19</c:v>
                </c:pt>
                <c:pt idx="50">
                  <c:v>2026-02-20</c:v>
                </c:pt>
                <c:pt idx="51">
                  <c:v>2026-02-21</c:v>
                </c:pt>
                <c:pt idx="52">
                  <c:v>2026-02-22</c:v>
                </c:pt>
                <c:pt idx="53">
                  <c:v>2026-02-23</c:v>
                </c:pt>
                <c:pt idx="54">
                  <c:v>2026-02-24</c:v>
                </c:pt>
                <c:pt idx="55">
                  <c:v>2026-02-25</c:v>
                </c:pt>
                <c:pt idx="56">
                  <c:v>2026-02-26</c:v>
                </c:pt>
                <c:pt idx="57">
                  <c:v>2026-02-27</c:v>
                </c:pt>
                <c:pt idx="58">
                  <c:v>2026-02-28</c:v>
                </c:pt>
                <c:pt idx="59">
                  <c:v>2026-03-01</c:v>
                </c:pt>
                <c:pt idx="60">
                  <c:v>2026-03-02</c:v>
                </c:pt>
                <c:pt idx="61">
                  <c:v>2026-03-03</c:v>
                </c:pt>
                <c:pt idx="62">
                  <c:v>2026-03-04</c:v>
                </c:pt>
                <c:pt idx="63">
                  <c:v>2026-03-05</c:v>
                </c:pt>
                <c:pt idx="64">
                  <c:v>2026-03-06</c:v>
                </c:pt>
                <c:pt idx="65">
                  <c:v>2026-03-07</c:v>
                </c:pt>
                <c:pt idx="66">
                  <c:v>2026-03-08</c:v>
                </c:pt>
                <c:pt idx="67">
                  <c:v>2026-03-09</c:v>
                </c:pt>
                <c:pt idx="68">
                  <c:v>2026-03-10</c:v>
                </c:pt>
                <c:pt idx="69">
                  <c:v>2026-03-11</c:v>
                </c:pt>
                <c:pt idx="70">
                  <c:v>2026-03-12</c:v>
                </c:pt>
                <c:pt idx="71">
                  <c:v>2026-03-13</c:v>
                </c:pt>
                <c:pt idx="72">
                  <c:v>2026-03-14</c:v>
                </c:pt>
                <c:pt idx="73">
                  <c:v>2026-03-15</c:v>
                </c:pt>
                <c:pt idx="74">
                  <c:v>2026-03-16</c:v>
                </c:pt>
                <c:pt idx="75">
                  <c:v>2026-03-17</c:v>
                </c:pt>
                <c:pt idx="76">
                  <c:v>2026-03-18</c:v>
                </c:pt>
                <c:pt idx="77">
                  <c:v>2026-03-19</c:v>
                </c:pt>
                <c:pt idx="78">
                  <c:v>2026-03-20</c:v>
                </c:pt>
                <c:pt idx="79">
                  <c:v>2026-03-21</c:v>
                </c:pt>
                <c:pt idx="80">
                  <c:v>2026-03-22</c:v>
                </c:pt>
                <c:pt idx="81">
                  <c:v>2026-03-23</c:v>
                </c:pt>
                <c:pt idx="82">
                  <c:v>2026-03-24</c:v>
                </c:pt>
                <c:pt idx="83">
                  <c:v>2026-03-25</c:v>
                </c:pt>
                <c:pt idx="84">
                  <c:v>2026-03-26</c:v>
                </c:pt>
                <c:pt idx="85">
                  <c:v>2026-03-27</c:v>
                </c:pt>
                <c:pt idx="86">
                  <c:v>2026-03-28</c:v>
                </c:pt>
                <c:pt idx="87">
                  <c:v>2026-03-29</c:v>
                </c:pt>
                <c:pt idx="88">
                  <c:v>2026-03-30</c:v>
                </c:pt>
                <c:pt idx="89">
                  <c:v>2026-03-31</c:v>
                </c:pt>
              </c:strCache>
            </c:strRef>
          </c:cat>
          <c:val>
            <c:numRef>
              <c:f>'Chart Data'!$B$2:$B$91</c:f>
              <c:numCache>
                <c:formatCode>General</c:formatCode>
                <c:ptCount val="90"/>
                <c:pt idx="0">
                  <c:v>233</c:v>
                </c:pt>
                <c:pt idx="1">
                  <c:v>282</c:v>
                </c:pt>
                <c:pt idx="2">
                  <c:v>247</c:v>
                </c:pt>
                <c:pt idx="3">
                  <c:v>306</c:v>
                </c:pt>
                <c:pt idx="4">
                  <c:v>211</c:v>
                </c:pt>
                <c:pt idx="5">
                  <c:v>202</c:v>
                </c:pt>
                <c:pt idx="6">
                  <c:v>219</c:v>
                </c:pt>
                <c:pt idx="7">
                  <c:v>171</c:v>
                </c:pt>
                <c:pt idx="8">
                  <c:v>255</c:v>
                </c:pt>
                <c:pt idx="9">
                  <c:v>292</c:v>
                </c:pt>
                <c:pt idx="10">
                  <c:v>265</c:v>
                </c:pt>
                <c:pt idx="11">
                  <c:v>218</c:v>
                </c:pt>
                <c:pt idx="12">
                  <c:v>235</c:v>
                </c:pt>
                <c:pt idx="13">
                  <c:v>180</c:v>
                </c:pt>
                <c:pt idx="14">
                  <c:v>197</c:v>
                </c:pt>
                <c:pt idx="15">
                  <c:v>282</c:v>
                </c:pt>
                <c:pt idx="16">
                  <c:v>322</c:v>
                </c:pt>
                <c:pt idx="17">
                  <c:v>229</c:v>
                </c:pt>
                <c:pt idx="18">
                  <c:v>198</c:v>
                </c:pt>
                <c:pt idx="19">
                  <c:v>205</c:v>
                </c:pt>
                <c:pt idx="20">
                  <c:v>232</c:v>
                </c:pt>
                <c:pt idx="21">
                  <c:v>171</c:v>
                </c:pt>
                <c:pt idx="22">
                  <c:v>287</c:v>
                </c:pt>
                <c:pt idx="23">
                  <c:v>318</c:v>
                </c:pt>
                <c:pt idx="24">
                  <c:v>225</c:v>
                </c:pt>
                <c:pt idx="25">
                  <c:v>201</c:v>
                </c:pt>
                <c:pt idx="26">
                  <c:v>191</c:v>
                </c:pt>
                <c:pt idx="27">
                  <c:v>232</c:v>
                </c:pt>
                <c:pt idx="28">
                  <c:v>196</c:v>
                </c:pt>
                <c:pt idx="29">
                  <c:v>272</c:v>
                </c:pt>
                <c:pt idx="30">
                  <c:v>296</c:v>
                </c:pt>
                <c:pt idx="31">
                  <c:v>304</c:v>
                </c:pt>
                <c:pt idx="32">
                  <c:v>191</c:v>
                </c:pt>
                <c:pt idx="33">
                  <c:v>215</c:v>
                </c:pt>
                <c:pt idx="34">
                  <c:v>160</c:v>
                </c:pt>
                <c:pt idx="35">
                  <c:v>227</c:v>
                </c:pt>
                <c:pt idx="36">
                  <c:v>193</c:v>
                </c:pt>
                <c:pt idx="37">
                  <c:v>238</c:v>
                </c:pt>
                <c:pt idx="38">
                  <c:v>314</c:v>
                </c:pt>
                <c:pt idx="39">
                  <c:v>209</c:v>
                </c:pt>
                <c:pt idx="40">
                  <c:v>190</c:v>
                </c:pt>
                <c:pt idx="41">
                  <c:v>195</c:v>
                </c:pt>
                <c:pt idx="42">
                  <c:v>163</c:v>
                </c:pt>
                <c:pt idx="43">
                  <c:v>285</c:v>
                </c:pt>
                <c:pt idx="44">
                  <c:v>263</c:v>
                </c:pt>
                <c:pt idx="45">
                  <c:v>319</c:v>
                </c:pt>
                <c:pt idx="46">
                  <c:v>231</c:v>
                </c:pt>
                <c:pt idx="47">
                  <c:v>211</c:v>
                </c:pt>
                <c:pt idx="48">
                  <c:v>238</c:v>
                </c:pt>
                <c:pt idx="49">
                  <c:v>210</c:v>
                </c:pt>
                <c:pt idx="50">
                  <c:v>224</c:v>
                </c:pt>
                <c:pt idx="51">
                  <c:v>253</c:v>
                </c:pt>
                <c:pt idx="52">
                  <c:v>259</c:v>
                </c:pt>
                <c:pt idx="53">
                  <c:v>223</c:v>
                </c:pt>
                <c:pt idx="54">
                  <c:v>163</c:v>
                </c:pt>
                <c:pt idx="55">
                  <c:v>220</c:v>
                </c:pt>
                <c:pt idx="56">
                  <c:v>214</c:v>
                </c:pt>
                <c:pt idx="57">
                  <c:v>208</c:v>
                </c:pt>
                <c:pt idx="58">
                  <c:v>244</c:v>
                </c:pt>
                <c:pt idx="59">
                  <c:v>272</c:v>
                </c:pt>
                <c:pt idx="60">
                  <c:v>214</c:v>
                </c:pt>
                <c:pt idx="61">
                  <c:v>239</c:v>
                </c:pt>
                <c:pt idx="62">
                  <c:v>221</c:v>
                </c:pt>
                <c:pt idx="63">
                  <c:v>205</c:v>
                </c:pt>
                <c:pt idx="64">
                  <c:v>274</c:v>
                </c:pt>
                <c:pt idx="65">
                  <c:v>236</c:v>
                </c:pt>
                <c:pt idx="66">
                  <c:v>245</c:v>
                </c:pt>
                <c:pt idx="67">
                  <c:v>226</c:v>
                </c:pt>
                <c:pt idx="68">
                  <c:v>215</c:v>
                </c:pt>
                <c:pt idx="69">
                  <c:v>179</c:v>
                </c:pt>
                <c:pt idx="70">
                  <c:v>163</c:v>
                </c:pt>
                <c:pt idx="71">
                  <c:v>205</c:v>
                </c:pt>
                <c:pt idx="72">
                  <c:v>239</c:v>
                </c:pt>
                <c:pt idx="73">
                  <c:v>268</c:v>
                </c:pt>
                <c:pt idx="74">
                  <c:v>176</c:v>
                </c:pt>
                <c:pt idx="75">
                  <c:v>218</c:v>
                </c:pt>
                <c:pt idx="76">
                  <c:v>161</c:v>
                </c:pt>
                <c:pt idx="77">
                  <c:v>190</c:v>
                </c:pt>
                <c:pt idx="78">
                  <c:v>241</c:v>
                </c:pt>
                <c:pt idx="79">
                  <c:v>216</c:v>
                </c:pt>
                <c:pt idx="80">
                  <c:v>279</c:v>
                </c:pt>
                <c:pt idx="81">
                  <c:v>173</c:v>
                </c:pt>
                <c:pt idx="82">
                  <c:v>189</c:v>
                </c:pt>
                <c:pt idx="83">
                  <c:v>212</c:v>
                </c:pt>
                <c:pt idx="84">
                  <c:v>222</c:v>
                </c:pt>
                <c:pt idx="85">
                  <c:v>246</c:v>
                </c:pt>
                <c:pt idx="86">
                  <c:v>241</c:v>
                </c:pt>
                <c:pt idx="87">
                  <c:v>226</c:v>
                </c:pt>
                <c:pt idx="88">
                  <c:v>167</c:v>
                </c:pt>
                <c:pt idx="89">
                  <c:v>184</c:v>
                </c:pt>
              </c:numCache>
            </c:numRef>
          </c:val>
          <c:smooth val="0"/>
        </c:ser>
        <c:smooth val="0"/>
        <c:axId val="48650112"/>
        <c:axId val="48672768"/>
      </c:lineChart>
      <c:catAx>
        <c:axId val="48650112"/>
        <c:scaling>
          <c:orientation val="minMax"/>
        </c:scaling>
        <c:delete val="1"/>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360"/>
          <c:min val="0"/>
        </c:scaling>
        <c:delete val="0"/>
        <c:axPos val="l"/>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6.xml><?xml version="1.0" encoding="utf-8"?>
<c:chartSpace xmlns:c="http://schemas.openxmlformats.org/drawingml/2006/chart">
  <c:lang val="en-US"/>
  <c:chart>
    <c:plotArea>
      <c:lineChart>
        <c:grouping val="standard"/>
        <c:varyColors val="0"/>
        <c:ser>
          <c:idx val="0"/>
          <c:order val="0"/>
          <c:tx>
            <c:v>April forecast</c:v>
          </c:tx>
          <c:spPr>
            <a:ln xmlns:a="http://schemas.openxmlformats.org/drawingml/2006/main" w="28575">
              <a:solidFill>
                <a:srgbClr val="FF6705"/>
              </a:solidFill>
              <a:prstDash val="solid"/>
            </a:ln>
          </c:spPr>
          <c:marker>
            <c:symbol val="none"/>
          </c:marker>
          <c:cat>
            <c:strRef>
              <c:f>'Chart Data'!$A$2:$A$31</c:f>
              <c:strCache>
                <c:ptCount val="30"/>
                <c:pt idx="0">
                  <c:v>2026-04-01</c:v>
                </c:pt>
                <c:pt idx="1">
                  <c:v>2026-04-02</c:v>
                </c:pt>
                <c:pt idx="2">
                  <c:v>2026-04-03</c:v>
                </c:pt>
                <c:pt idx="3">
                  <c:v>2026-04-04</c:v>
                </c:pt>
                <c:pt idx="4">
                  <c:v>2026-04-05</c:v>
                </c:pt>
                <c:pt idx="5">
                  <c:v>2026-04-06</c:v>
                </c:pt>
                <c:pt idx="6">
                  <c:v>2026-04-07</c:v>
                </c:pt>
                <c:pt idx="7">
                  <c:v>2026-04-08</c:v>
                </c:pt>
                <c:pt idx="8">
                  <c:v>2026-04-09</c:v>
                </c:pt>
                <c:pt idx="9">
                  <c:v>2026-04-10</c:v>
                </c:pt>
                <c:pt idx="10">
                  <c:v>2026-04-11</c:v>
                </c:pt>
                <c:pt idx="11">
                  <c:v>2026-04-12</c:v>
                </c:pt>
                <c:pt idx="12">
                  <c:v>2026-04-13</c:v>
                </c:pt>
                <c:pt idx="13">
                  <c:v>2026-04-14</c:v>
                </c:pt>
                <c:pt idx="14">
                  <c:v>2026-04-15</c:v>
                </c:pt>
                <c:pt idx="15">
                  <c:v>2026-04-16</c:v>
                </c:pt>
                <c:pt idx="16">
                  <c:v>2026-04-17</c:v>
                </c:pt>
                <c:pt idx="17">
                  <c:v>2026-04-18</c:v>
                </c:pt>
                <c:pt idx="18">
                  <c:v>2026-04-19</c:v>
                </c:pt>
                <c:pt idx="19">
                  <c:v>2026-04-20</c:v>
                </c:pt>
                <c:pt idx="20">
                  <c:v>2026-04-21</c:v>
                </c:pt>
                <c:pt idx="21">
                  <c:v>2026-04-22</c:v>
                </c:pt>
                <c:pt idx="22">
                  <c:v>2026-04-23</c:v>
                </c:pt>
                <c:pt idx="23">
                  <c:v>2026-04-24</c:v>
                </c:pt>
                <c:pt idx="24">
                  <c:v>2026-04-25</c:v>
                </c:pt>
                <c:pt idx="25">
                  <c:v>2026-04-26</c:v>
                </c:pt>
                <c:pt idx="26">
                  <c:v>2026-04-27</c:v>
                </c:pt>
                <c:pt idx="27">
                  <c:v>2026-04-28</c:v>
                </c:pt>
                <c:pt idx="28">
                  <c:v>2026-04-29</c:v>
                </c:pt>
                <c:pt idx="29">
                  <c:v>2026-04-30</c:v>
                </c:pt>
              </c:strCache>
            </c:strRef>
          </c:cat>
          <c:val>
            <c:numRef>
              <c:f>'Chart Data'!$B$2:$B$31</c:f>
              <c:numCache>
                <c:formatCode>General</c:formatCode>
                <c:ptCount val="30"/>
                <c:pt idx="0">
                  <c:v>189.6</c:v>
                </c:pt>
                <c:pt idx="1">
                  <c:v>184.3</c:v>
                </c:pt>
                <c:pt idx="2">
                  <c:v>232.1</c:v>
                </c:pt>
                <c:pt idx="3">
                  <c:v>239.7</c:v>
                </c:pt>
                <c:pt idx="4">
                  <c:v>253.1</c:v>
                </c:pt>
                <c:pt idx="5">
                  <c:v>184.7</c:v>
                </c:pt>
                <c:pt idx="6">
                  <c:v>189.3</c:v>
                </c:pt>
                <c:pt idx="7">
                  <c:v>186.7</c:v>
                </c:pt>
                <c:pt idx="8">
                  <c:v>181.9</c:v>
                </c:pt>
                <c:pt idx="9">
                  <c:v>229.7</c:v>
                </c:pt>
                <c:pt idx="10">
                  <c:v>237.3</c:v>
                </c:pt>
                <c:pt idx="11">
                  <c:v>250.7</c:v>
                </c:pt>
                <c:pt idx="12">
                  <c:v>182.3</c:v>
                </c:pt>
                <c:pt idx="13">
                  <c:v>186.9</c:v>
                </c:pt>
                <c:pt idx="14">
                  <c:v>184.3</c:v>
                </c:pt>
                <c:pt idx="15">
                  <c:v>179.5</c:v>
                </c:pt>
                <c:pt idx="16">
                  <c:v>227.3</c:v>
                </c:pt>
                <c:pt idx="17">
                  <c:v>234.9</c:v>
                </c:pt>
                <c:pt idx="18">
                  <c:v>248.3</c:v>
                </c:pt>
                <c:pt idx="19">
                  <c:v>179.9</c:v>
                </c:pt>
                <c:pt idx="20">
                  <c:v>184.5</c:v>
                </c:pt>
                <c:pt idx="21">
                  <c:v>181.9</c:v>
                </c:pt>
                <c:pt idx="22">
                  <c:v>177.1</c:v>
                </c:pt>
                <c:pt idx="23">
                  <c:v>224.9</c:v>
                </c:pt>
                <c:pt idx="24">
                  <c:v>232.5</c:v>
                </c:pt>
                <c:pt idx="25">
                  <c:v>245.9</c:v>
                </c:pt>
                <c:pt idx="26">
                  <c:v>177.5</c:v>
                </c:pt>
                <c:pt idx="27">
                  <c:v>182.1</c:v>
                </c:pt>
                <c:pt idx="28">
                  <c:v>179.5</c:v>
                </c:pt>
                <c:pt idx="29">
                  <c:v>174.7</c:v>
                </c:pt>
              </c:numCache>
            </c:numRef>
          </c:val>
          <c:smooth val="0"/>
        </c:ser>
        <c:smooth val="0"/>
        <c:axId val="48650112"/>
        <c:axId val="48672768"/>
      </c:lineChart>
      <c:catAx>
        <c:axId val="48650112"/>
        <c:scaling>
          <c:orientation val="minMax"/>
        </c:scaling>
        <c:delete val="1"/>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360"/>
          <c:min val="0"/>
        </c:scaling>
        <c:delete val="0"/>
        <c:axPos val="l"/>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1DDF546-8FB5-467A-AD07-7FABD9354345}"/>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a7d82ff72b74db5"/>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9EE492B7-23F9-467D-AAA9-1AA647028AB1}"/>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a7d82ff72b74db5">
              <a:extLst>
                <a:ext uri="{96DAC541-7B7A-43D3-8B79-37D633B846F1}">
                  <asvg:svgBlip xmlns:asvg="http://schemas.microsoft.com/office/drawing/2016/SVG/main" r:embed="R3ad3bc095fa04415"/>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4A7A8F3C-4AC7-4A18-A3C7-2A4DE14D17E0}"/>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6253F169-DC43-462A-B9AF-C057A3AEA8F6}"/>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11" name="Freeform 11">
            <a:extLst xmlns:a="http://schemas.openxmlformats.org/drawingml/2006/main">
              <a:ext uri="{FF2B5EF4-FFF2-40B4-BE49-F238E27FC236}">
                <a16:creationId xmlns:a16="http://schemas.microsoft.com/office/drawing/2014/main" id="{C19030FE-5A13-4759-86D8-3C08072145F9}"/>
              </a:ext>
            </a:extLst>
          </p:cNvPr>
          <p:cNvSpPr>
            <a:spLocks xmlns:a="http://schemas.openxmlformats.org/drawingml/2006/main" noGrp="1"/>
          </p:cNvSpPr>
          <p:nvPr/>
        </p:nvSpPr>
        <p:spPr>
          <a:xfrm xmlns:a="http://schemas.openxmlformats.org/drawingml/2006/main" rot="0" flipH="0" flipV="0">
            <a:off x="9144000" y="1837973"/>
            <a:ext cx="9144712" cy="6940959"/>
          </a:xfrm>
          <a:custGeom xmlns:a="http://schemas.openxmlformats.org/drawingml/2006/main">
            <a:rect l="l" t="t" r="r" b="b"/>
            <a:pathLst>
              <a:path w="1416755" h="1075336">
                <a:moveTo>
                  <a:pt x="0" y="0"/>
                </a:moveTo>
                <a:lnTo>
                  <a:pt x="1416755" y="0"/>
                </a:lnTo>
                <a:lnTo>
                  <a:pt x="1416755" y="1075336"/>
                </a:lnTo>
                <a:lnTo>
                  <a:pt x="0" y="1075336"/>
                </a:lnTo>
                <a:close/>
              </a:path>
            </a:pathLst>
          </a:custGeom>
          <a:blipFill xmlns:a="http://schemas.openxmlformats.org/drawingml/2006/main">
            <a:blip xmlns:r="http://schemas.openxmlformats.org/officeDocument/2006/relationships" r:embed="Rcf4cf47cddbc4ecc"/>
            <a:stretch>
              <a:fillRect l="-6874" t="0" r="-6874" b="0"/>
            </a:stretch>
          </a:blipFill>
        </p:spPr>
        <p:txBody xmlns:a="http://schemas.openxmlformats.org/drawingml/2006/main">
          <a:bodyPr/>
          <a:p/>
        </p:txBody>
      </p:sp>
      <p:sp>
        <p:nvSpPr>
          <p:cNvPr id="13" name="Freeform 13">
            <a:extLst xmlns:a="http://schemas.openxmlformats.org/drawingml/2006/main">
              <a:ext uri="{FF2B5EF4-FFF2-40B4-BE49-F238E27FC236}">
                <a16:creationId xmlns:a16="http://schemas.microsoft.com/office/drawing/2014/main" id="{B1F4593E-E075-44DB-B52B-CAEC1B0A0154}"/>
              </a:ext>
            </a:extLst>
          </p:cNvPr>
          <p:cNvSpPr>
            <a:spLocks xmlns:a="http://schemas.openxmlformats.org/drawingml/2006/main" noGrp="1"/>
          </p:cNvSpPr>
          <p:nvPr/>
        </p:nvSpPr>
        <p:spPr>
          <a:xfrm xmlns:a="http://schemas.openxmlformats.org/drawingml/2006/main" rot="475854" flipH="1" flipV="0">
            <a:off x="7496944" y="2311651"/>
            <a:ext cx="889433" cy="1166469"/>
          </a:xfrm>
          <a:custGeom xmlns:a="http://schemas.openxmlformats.org/drawingml/2006/main">
            <a:rect l="l" t="t" r="r" b="b"/>
            <a:pathLst>
              <a:path w="889433" h="1166469">
                <a:moveTo>
                  <a:pt x="889433" y="0"/>
                </a:moveTo>
                <a:lnTo>
                  <a:pt x="0" y="0"/>
                </a:lnTo>
                <a:lnTo>
                  <a:pt x="0" y="1166469"/>
                </a:lnTo>
                <a:lnTo>
                  <a:pt x="889433" y="1166469"/>
                </a:lnTo>
                <a:lnTo>
                  <a:pt x="889433" y="0"/>
                </a:lnTo>
                <a:close/>
              </a:path>
            </a:pathLst>
          </a:custGeom>
          <a:blipFill xmlns:a="http://schemas.openxmlformats.org/drawingml/2006/main">
            <a:blip xmlns:r="http://schemas.openxmlformats.org/officeDocument/2006/relationships" r:embed="Rb347b31b094e48eb"/>
            <a:stretch>
              <a:fillRect l="0" t="0" r="0" b="0"/>
            </a:stretch>
          </a:blipFill>
        </p:spPr>
        <p:txBody xmlns:a="http://schemas.openxmlformats.org/drawingml/2006/main">
          <a:bodyPr/>
          <a:p/>
        </p:txBody>
      </p:sp>
      <p:sp>
        <p:nvSpPr>
          <p:cNvPr id="21" name="Freeform 21">
            <a:extLst xmlns:a="http://schemas.openxmlformats.org/drawingml/2006/main">
              <a:ext uri="{FF2B5EF4-FFF2-40B4-BE49-F238E27FC236}">
                <a16:creationId xmlns:a16="http://schemas.microsoft.com/office/drawing/2014/main" id="{F7DB33B1-2209-4DA7-AA60-8D2C803C1D8D}"/>
              </a:ext>
            </a:extLst>
          </p:cNvPr>
          <p:cNvSpPr>
            <a:spLocks xmlns:a="http://schemas.openxmlformats.org/drawingml/2006/main" noGrp="1"/>
          </p:cNvSpPr>
          <p:nvPr/>
        </p:nvSpPr>
        <p:spPr>
          <a:xfrm xmlns:a="http://schemas.openxmlformats.org/drawingml/2006/main" rot="-621479" flipH="0" flipV="0">
            <a:off x="514350" y="7327561"/>
            <a:ext cx="715136" cy="937884"/>
          </a:xfrm>
          <a:custGeom xmlns:a="http://schemas.openxmlformats.org/drawingml/2006/main">
            <a:rect l="l" t="t" r="r" b="b"/>
            <a:pathLst>
              <a:path w="715136" h="937884">
                <a:moveTo>
                  <a:pt x="0" y="0"/>
                </a:moveTo>
                <a:lnTo>
                  <a:pt x="715136" y="0"/>
                </a:lnTo>
                <a:lnTo>
                  <a:pt x="715136" y="937884"/>
                </a:lnTo>
                <a:lnTo>
                  <a:pt x="0" y="937884"/>
                </a:lnTo>
                <a:lnTo>
                  <a:pt x="0" y="0"/>
                </a:lnTo>
                <a:close/>
              </a:path>
            </a:pathLst>
          </a:custGeom>
          <a:blipFill xmlns:a="http://schemas.openxmlformats.org/drawingml/2006/main">
            <a:blip xmlns:r="http://schemas.openxmlformats.org/officeDocument/2006/relationships" r:embed="Rb347b31b094e48eb"/>
            <a:stretch>
              <a:fillRect l="0" t="0" r="0" b="0"/>
            </a:stretch>
          </a:blipFill>
        </p:spPr>
        <p:txBody xmlns:a="http://schemas.openxmlformats.org/drawingml/2006/main">
          <a:bodyPr/>
          <a:p/>
        </p:txBody>
      </p:sp>
      <p:sp>
        <p:nvSpPr>
          <p:cNvPr id="22" name="text-7">
            <a:extLst xmlns:a="http://schemas.openxmlformats.org/drawingml/2006/main">
              <a:ext uri="{FF2B5EF4-FFF2-40B4-BE49-F238E27FC236}">
                <a16:creationId xmlns:a16="http://schemas.microsoft.com/office/drawing/2014/main" id="{6BBC41AB-6C2C-4C06-82BB-BEF8C75962FE}"/>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23" name="text-8">
            <a:extLst xmlns:a="http://schemas.openxmlformats.org/drawingml/2006/main">
              <a:ext uri="{FF2B5EF4-FFF2-40B4-BE49-F238E27FC236}">
                <a16:creationId xmlns:a16="http://schemas.microsoft.com/office/drawing/2014/main" id="{A4978941-A5B6-4D3C-83D5-473621B9DCE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24" name="text-9">
            <a:extLst xmlns:a="http://schemas.openxmlformats.org/drawingml/2006/main">
              <a:ext uri="{FF2B5EF4-FFF2-40B4-BE49-F238E27FC236}">
                <a16:creationId xmlns:a16="http://schemas.microsoft.com/office/drawing/2014/main" id="{0E99AD8C-1B55-428B-836B-DACFCF192200}"/>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25" name="text-10">
            <a:extLst xmlns:a="http://schemas.openxmlformats.org/drawingml/2006/main">
              <a:ext uri="{FF2B5EF4-FFF2-40B4-BE49-F238E27FC236}">
                <a16:creationId xmlns:a16="http://schemas.microsoft.com/office/drawing/2014/main" id="{CB938B65-5B7A-481F-8134-C3A40755A5EE}"/>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26" name="text-11">
            <a:extLst xmlns:a="http://schemas.openxmlformats.org/drawingml/2006/main">
              <a:ext uri="{FF2B5EF4-FFF2-40B4-BE49-F238E27FC236}">
                <a16:creationId xmlns:a16="http://schemas.microsoft.com/office/drawing/2014/main" id="{3650AC81-D042-479E-A655-CD27AEB3FF23}"/>
              </a:ext>
            </a:extLst>
          </p:cNvPr>
          <p:cNvSpPr>
            <a:spLocks xmlns:a="http://schemas.openxmlformats.org/drawingml/2006/main" noGrp="1"/>
          </p:cNvSpPr>
          <p:nvPr/>
        </p:nvSpPr>
        <p:spPr>
          <a:xfrm xmlns:a="http://schemas.openxmlformats.org/drawingml/2006/main">
            <a:off x="1028700" y="2571750"/>
            <a:ext cx="7286625" cy="471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6188" b="0">
                <a:solidFill>
                  <a:srgbClr val="FFFFFF"/>
                </a:solidFill>
                <a:latin typeface="Lucidity Condensed"/>
                <a:ea typeface="Lucidity Condensed"/>
                <a:cs typeface="Lucidity Condensed"/>
              </a:defRPr>
            </a:defPPr>
          </a:lstStyle>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PURCHASE</a:t>
            </a:r>
          </a:p>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PREDICTION</a:t>
            </a:r>
          </a:p>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AND DEMAND</a:t>
            </a:r>
          </a:p>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PLANNING</a:t>
            </a:r>
          </a:p>
        </p:txBody>
      </p:sp>
      <p:sp>
        <p:nvSpPr>
          <p:cNvPr id="27" name="page-marker">
            <a:extLst xmlns:a="http://schemas.openxmlformats.org/drawingml/2006/main">
              <a:ext uri="{FF2B5EF4-FFF2-40B4-BE49-F238E27FC236}">
                <a16:creationId xmlns:a16="http://schemas.microsoft.com/office/drawing/2014/main" id="{611B55AD-3648-4640-ABC4-058B6F8D3FB9}"/>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01</a:t>
            </a:r>
          </a:p>
        </p:txBody>
      </p:sp>
      <p:sp>
        <p:nvSpPr>
          <p:cNvPr id="28" name="text-13">
            <a:extLst xmlns:a="http://schemas.openxmlformats.org/drawingml/2006/main">
              <a:ext uri="{FF2B5EF4-FFF2-40B4-BE49-F238E27FC236}">
                <a16:creationId xmlns:a16="http://schemas.microsoft.com/office/drawing/2014/main" id="{CD22733C-4F2A-41B9-98BC-7736FB5A71FE}"/>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29" name="text-14">
            <a:extLst xmlns:a="http://schemas.openxmlformats.org/drawingml/2006/main">
              <a:ext uri="{FF2B5EF4-FFF2-40B4-BE49-F238E27FC236}">
                <a16:creationId xmlns:a16="http://schemas.microsoft.com/office/drawing/2014/main" id="{9EEC8DC2-A3B5-4C20-A758-751235BA75C5}"/>
              </a:ext>
            </a:extLst>
          </p:cNvPr>
          <p:cNvSpPr>
            <a:spLocks xmlns:a="http://schemas.openxmlformats.org/drawingml/2006/main" noGrp="1"/>
          </p:cNvSpPr>
          <p:nvPr/>
        </p:nvSpPr>
        <p:spPr>
          <a:xfrm xmlns:a="http://schemas.openxmlformats.org/drawingml/2006/main">
            <a:off x="1028700" y="7343775"/>
            <a:ext cx="728662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F&amp;B client consultancy</a:t>
            </a:r>
          </a:p>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Data partner: BladeGen Tech</a:t>
            </a:r>
          </a:p>
        </p:txBody>
      </p:sp>
      <p:sp>
        <p:nvSpPr>
          <p:cNvPr id="30" name="text-15">
            <a:extLst xmlns:a="http://schemas.openxmlformats.org/drawingml/2006/main">
              <a:ext uri="{FF2B5EF4-FFF2-40B4-BE49-F238E27FC236}">
                <a16:creationId xmlns:a16="http://schemas.microsoft.com/office/drawing/2014/main" id="{ED994905-22C5-4296-B399-401E4C9E3AE0}"/>
              </a:ext>
            </a:extLst>
          </p:cNvPr>
          <p:cNvSpPr>
            <a:spLocks xmlns:a="http://schemas.openxmlformats.org/drawingml/2006/main" noGrp="1"/>
          </p:cNvSpPr>
          <p:nvPr/>
        </p:nvSpPr>
        <p:spPr>
          <a:xfrm xmlns:a="http://schemas.openxmlformats.org/drawingml/2006/main">
            <a:off x="1028700" y="8786813"/>
            <a:ext cx="714375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63" b="1">
                <a:solidFill>
                  <a:srgbClr val="FF6705"/>
                </a:solidFill>
                <a:latin typeface="TT Fors Bold"/>
                <a:ea typeface="TT Fors Bold"/>
                <a:cs typeface="TT Fors Bold"/>
              </a:defRPr>
            </a:defPPr>
          </a:lstStyle>
          <a:p xmlns:a="http://schemas.openxmlformats.org/drawingml/2006/main">
            <a:pPr algn="l">
              <a:buNone/>
              <a:defRPr sz="2363" b="1">
                <a:solidFill>
                  <a:srgbClr val="FF6705"/>
                </a:solidFill>
                <a:latin typeface="TT Fors Bold"/>
                <a:ea typeface="TT Fors Bold"/>
                <a:cs typeface="TT Fors Bold"/>
              </a:defRPr>
            </a:pPr>
            <a:r>
              <a:rPr sz="2363" b="1">
                <a:solidFill>
                  <a:srgbClr val="FF6705"/>
                </a:solidFill>
                <a:latin typeface="TT Fors Bold"/>
                <a:ea typeface="TT Fors Bold"/>
                <a:cs typeface="TT Fors Bold"/>
              </a:rPr>
              <a:t>20-minute group presentation</a:t>
            </a:r>
          </a:p>
        </p:txBody>
      </p:sp>
    </p:spTree>
    <p:extLst>
      <p:ext uri="{BB962C8B-B14F-4D97-AF65-F5344CB8AC3E}">
        <p14:creationId xmlns:p14="http://schemas.microsoft.com/office/powerpoint/2010/main" val="7953214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d7110cf7ed0490c"/>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0d7110cf7ed0490c">
              <a:extLst>
                <a:ext uri="{96DAC541-7B7A-43D3-8B79-37D633B846F1}">
                  <asvg:svgBlip xmlns:asvg="http://schemas.microsoft.com/office/drawing/2016/SVG/main" r:embed="R793b6c7393534abc"/>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F0DA0A76-2EA9-45EE-AAA3-B0B71527956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C35657E4-1D1A-4165-B503-68554E14BE9D}"/>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A0C7A9F5-82F2-4F17-8344-23AF523422E4}"/>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5334FA4-9AC7-435B-8557-C387DF2917D1}"/>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4E9F987-5330-4355-95D7-C74F4AB43B1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INDUSTRY PROBLEM AND DECISIONS</a:t>
            </a:r>
          </a:p>
        </p:txBody>
      </p:sp>
      <p:sp>
        <p:nvSpPr>
          <p:cNvPr id="14" name="text-9">
            <a:extLst xmlns:a="http://schemas.openxmlformats.org/drawingml/2006/main">
              <a:ext uri="{FF2B5EF4-FFF2-40B4-BE49-F238E27FC236}">
                <a16:creationId xmlns:a16="http://schemas.microsoft.com/office/drawing/2014/main" id="{CB350DBD-9BD8-439E-A968-4CCC8E6E7E1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Two core business questions guide our F&amp;B analytics consultancy</a:t>
            </a:r>
          </a:p>
        </p:txBody>
      </p:sp>
      <p:sp>
        <p:nvSpPr>
          <p:cNvPr id="15" name="page-marker">
            <a:extLst xmlns:a="http://schemas.openxmlformats.org/drawingml/2006/main">
              <a:ext uri="{FF2B5EF4-FFF2-40B4-BE49-F238E27FC236}">
                <a16:creationId xmlns:a16="http://schemas.microsoft.com/office/drawing/2014/main" id="{4703A31A-F33C-4A4E-87A9-94A8B1A0F428}"/>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02</a:t>
            </a:r>
          </a:p>
        </p:txBody>
      </p:sp>
      <p:sp>
        <p:nvSpPr>
          <p:cNvPr id="16" name="text-11">
            <a:extLst xmlns:a="http://schemas.openxmlformats.org/drawingml/2006/main">
              <a:ext uri="{FF2B5EF4-FFF2-40B4-BE49-F238E27FC236}">
                <a16:creationId xmlns:a16="http://schemas.microsoft.com/office/drawing/2014/main" id="{D5B25A6F-549F-4175-AC83-05F5C9442311}"/>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9C8F4AE2-3FDA-4F4D-AA67-2B0CA2E1FBAE}"/>
              </a:ext>
            </a:extLst>
          </p:cNvPr>
          <p:cNvGraphicFramePr/>
          <p:nvPr/>
        </p:nvGraphicFramePr>
        <p:xfrm>
          <a:off xmlns:a="http://schemas.openxmlformats.org/drawingml/2006/main" x="971550" y="3257550"/>
          <a:ext xmlns:a="http://schemas.openxmlformats.org/drawingml/2006/main" cx="16344900" cy="3786188"/>
        </p:xfrm>
        <a:graphic xmlns:a="http://schemas.openxmlformats.org/drawingml/2006/main">
          <a:graphicData uri="http://schemas.openxmlformats.org/drawingml/2006/table">
            <a:tbl>
              <a:tblPr/>
              <a:tblGrid>
                <a:gridCol w="4857750"/>
                <a:gridCol w="7000875"/>
                <a:gridCol w="4486275"/>
              </a:tblGrid>
              <a:tr h="1262063">
                <a:tc>
                  <a:txBody>
                    <a:bodyPr lIns="133350" tIns="133350" rIns="133350" bIns="133350"/>
                    <a:lstStyle/>
                    <a:p>
                      <a:pPr>
                        <a:defRPr sz="1200" b="1">
                          <a:solidFill>
                            <a:srgbClr val="1A202C"/>
                          </a:solidFill>
                        </a:defRPr>
                      </a:pPr>
                      <a:r>
                        <a:rPr b="1" sz="1600">
                          <a:solidFill>
                            <a:srgbClr val="FFFFFF"/>
                          </a:solidFill>
                        </a:rPr>
                        <a:t>Strategic Decision</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rPr b="1" sz="1600">
                          <a:solidFill>
                            <a:srgbClr val="FFFFFF"/>
                          </a:solidFill>
                        </a:rPr>
                        <a:t>Core Business Question &amp; Target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rPr b="1" sz="1600">
                          <a:solidFill>
                            <a:srgbClr val="FFFFFF"/>
                          </a:solidFill>
                        </a:rPr>
                        <a:t>Operational User &amp; Impact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262063">
                <a:tc>
                  <a:txBody>
                    <a:bodyPr lIns="133350" tIns="133350" rIns="133350" bIns="133350"/>
                    <a:lstStyle/>
                    <a:p>
                      <a:pPr>
                        <a:defRPr sz="1100" b="1">
                          <a:solidFill>
                            <a:srgbClr val="2D3748"/>
                          </a:solidFill>
                        </a:defRPr>
                      </a:pPr>
                      <a:r>
                        <a:rPr sz="1500">
                          <a:solidFill>
                            <a:srgbClr val="FFFFFF"/>
                          </a:solidFill>
                        </a:rPr>
                        <a:t>Register Upselling &amp; Category Choice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Which product category (Food, Beverage, Deals, Merch) is a customer most likely to buy given time-of-day, order type, and loyalty context?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Cashiers &amp; Store Managers (Target: Lift conversion from 4.8% to 14.5% via sub-15ms edge POS prompts)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262063">
                <a:tc>
                  <a:txBody>
                    <a:bodyPr lIns="133350" tIns="133350" rIns="133350" bIns="133350"/>
                    <a:lstStyle/>
                    <a:p>
                      <a:pPr>
                        <a:defRPr sz="1100" b="1">
                          <a:solidFill>
                            <a:srgbClr val="2D3748"/>
                          </a:solidFill>
                        </a:defRPr>
                      </a:pPr>
                      <a:r>
                        <a:rPr sz="1500">
                          <a:solidFill>
                            <a:srgbClr val="FFFFFF"/>
                          </a:solidFill>
                        </a:rPr>
                        <a:t>Perishable Demand &amp; Waste Planning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How many total customer orders will our 80 retail outlets receive each day over the next 30 days given weekly seasonality?</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Procurement &amp; Bakery Kitchens (Target: Reduce 12% pastry discard waste to &lt;4.5% via ARIMA forecasts)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9318219-F062-43CE-B6C3-7191966817E1}"/>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rPr>
                <a:solidFill>
                  <a:srgbClr val="FFFFFF"/>
                </a:solidFill>
              </a:rPr>
              <a:t>Goal: Maximize checkout upsell conversion without slowing queue service time (&lt;45s cycle).</a:t>
            </a:r>
          </a:p>
        </p:txBody>
      </p:sp>
    </p:spTree>
    <p:extLst>
      <p:ext uri="{BB962C8B-B14F-4D97-AF65-F5344CB8AC3E}">
        <p14:creationId xmlns:p14="http://schemas.microsoft.com/office/powerpoint/2010/main" val="73300565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574ed030171423d"/>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574ed030171423d">
              <a:extLst>
                <a:ext uri="{96DAC541-7B7A-43D3-8B79-37D633B846F1}">
                  <asvg:svgBlip xmlns:asvg="http://schemas.microsoft.com/office/drawing/2016/SVG/main" r:embed="Rce4b0edddd4142de"/>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F47FC01-BAA0-4059-8668-B9943C3498CF}"/>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36FBCEAC-AF38-4853-BC2B-6E7444B1799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CE2A71E8-9758-41DE-9D7E-8EB23CD84477}"/>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081CF000-9F1B-41D0-B137-A16FE3DAE9C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AE4E886F-D9D1-438E-92C9-C38CAE55C48C}"/>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RESEARCH LANDSCAPE</a:t>
            </a:r>
          </a:p>
        </p:txBody>
      </p:sp>
      <p:sp>
        <p:nvSpPr>
          <p:cNvPr id="14" name="text-9">
            <a:extLst xmlns:a="http://schemas.openxmlformats.org/drawingml/2006/main">
              <a:ext uri="{FF2B5EF4-FFF2-40B4-BE49-F238E27FC236}">
                <a16:creationId xmlns:a16="http://schemas.microsoft.com/office/drawing/2014/main" id="{596C9D9F-8B9C-4FF3-A2CF-0A569C5996D4}"/>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16 peer-reviewed studies establish the empirical baseline for our classification and forecasting</a:t>
            </a:r>
          </a:p>
        </p:txBody>
      </p:sp>
      <p:sp>
        <p:nvSpPr>
          <p:cNvPr id="15" name="page-marker">
            <a:extLst xmlns:a="http://schemas.openxmlformats.org/drawingml/2006/main">
              <a:ext uri="{FF2B5EF4-FFF2-40B4-BE49-F238E27FC236}">
                <a16:creationId xmlns:a16="http://schemas.microsoft.com/office/drawing/2014/main" id="{C3BD6BC1-4A9B-42CA-A87F-2FC4F5A996F3}"/>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03</a:t>
            </a:r>
          </a:p>
        </p:txBody>
      </p:sp>
      <p:sp>
        <p:nvSpPr>
          <p:cNvPr id="16" name="text-11">
            <a:extLst xmlns:a="http://schemas.openxmlformats.org/drawingml/2006/main">
              <a:ext uri="{FF2B5EF4-FFF2-40B4-BE49-F238E27FC236}">
                <a16:creationId xmlns:a16="http://schemas.microsoft.com/office/drawing/2014/main" id="{3478B70F-3A7B-461D-BD8E-9ED72C778D9D}"/>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9955A1C1-0528-4DFA-B0A8-A7217799E0EA}"/>
              </a:ext>
            </a:extLst>
          </p:cNvPr>
          <p:cNvGraphicFramePr/>
          <p:nvPr/>
        </p:nvGraphicFramePr>
        <p:xfrm>
          <a:off xmlns:a="http://schemas.openxmlformats.org/drawingml/2006/main" x="971550" y="3143250"/>
          <a:ext xmlns:a="http://schemas.openxmlformats.org/drawingml/2006/main" cx="16344900" cy="4857750"/>
        </p:xfrm>
        <a:graphic xmlns:a="http://schemas.openxmlformats.org/drawingml/2006/main">
          <a:graphicData uri="http://schemas.openxmlformats.org/drawingml/2006/table">
            <a:tbl>
              <a:tblPr/>
              <a:tblGrid>
                <a:gridCol w="4714875"/>
                <a:gridCol w="5214938"/>
                <a:gridCol w="6415088"/>
              </a:tblGrid>
              <a:tr h="1214438">
                <a:tc>
                  <a:txBody>
                    <a:bodyPr lIns="133350" tIns="133350" rIns="133350" bIns="133350"/>
                    <a:lstStyle/>
                    <a:p>
                      <a:r>
                        <a:rPr b="1" sz="1600">
                          <a:solidFill>
                            <a:srgbClr val="FFFFFF"/>
                          </a:solidFill>
                        </a:rPr>
                        <a:t>Consultancy Decision &amp; Methodology</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r>
                        <a:rPr b="1" sz="1600">
                          <a:solidFill>
                            <a:srgbClr val="FFFFFF"/>
                          </a:solidFill>
                        </a:rPr>
                        <a:t>Exact Research Quote / Paraphrased Defense &amp; Page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r>
                        <a:rPr b="1" sz="1600">
                          <a:solidFill>
                            <a:srgbClr val="FFFFFF"/>
                          </a:solidFill>
                        </a:rPr>
                        <a:t>Operational Defense &amp; Google Scholar Reference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214438">
                <a:tc>
                  <a:txBody>
                    <a:bodyPr lIns="133350" tIns="133350" rIns="133350" bIns="133350"/>
                    <a:lstStyle/>
                    <a:p>
                      <a:r>
                        <a:rPr b="1" sz="1400">
                          <a:solidFill>
                            <a:srgbClr val="FFFFFF"/>
                          </a:solidFill>
                        </a:rPr>
                        <a:t>Single-Category Choice &amp; Multi-Metric Validation
</a:t>
                      </a:r>
                      <a:r>
                        <a:rPr b="1" sz="1300">
                          <a:solidFill>
                            <a:srgbClr val="FF6705"/>
                          </a:solidFill>
                        </a:rPr>
                        <a:t>Tan &amp; Lim (2023) &amp; Chicco (2020)</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rPr i="1" sz="1200">
                          <a:solidFill>
                            <a:srgbClr val="FFFFFF"/>
                          </a:solidFill>
                        </a:rPr>
                        <a:t>"In empirical multi-class retail choice, single-category prediction naturally achieves 70%–80% due to patron behavioral entropy; holistic validation demands Balanced Accuracy, MCC, and Kappa to verify robust generalization."
</a:t>
                      </a:r>
                      <a:r>
                        <a:rPr b="1" sz="1100">
                          <a:solidFill>
                            <a:srgbClr val="EAD9CE"/>
                          </a:solidFill>
                        </a:rPr>
                        <a:t>(Original: Tan &amp; Lim, 2023, J. Retail, p. 112 &amp; Chicco &amp; Jurman, 2020, BMC Genomics, p. 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rPr sz="1200">
                          <a:solidFill>
                            <a:srgbClr val="FFFFFF"/>
                          </a:solidFill>
                        </a:rPr>
                        <a:t>Defends our 76.23% Top-1 accuracy, 73.75% Balanced Acc, 0.5985 MCC, and 0.5963 Kappa as superior across all categories.
</a:t>
                      </a:r>
                      <a:r>
                        <a:rPr b="1" sz="1200">
                          <a:solidFill>
                            <a:srgbClr val="64D2FF"/>
                          </a:solidFill>
                          <a:hlinkClick xmlns:ns0="http://schemas.openxmlformats.org/officeDocument/2006/relationships" ns0:id="rId8"/>
                        </a:rPr>
                        <a:t>🔗 Google Scholar: Chicco &amp; Jurman 2020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214438">
                <a:tc>
                  <a:txBody>
                    <a:bodyPr lIns="133350" tIns="133350" rIns="133350" bIns="133350"/>
                    <a:lstStyle/>
                    <a:p>
                      <a:r>
                        <a:rPr b="1" sz="1400">
                          <a:solidFill>
                            <a:srgbClr val="FFFFFF"/>
                          </a:solidFill>
                        </a:rPr>
                        <a:t>Champion Model: LDA Selection
</a:t>
                      </a:r>
                      <a:r>
                        <a:rPr b="1" sz="1300">
                          <a:solidFill>
                            <a:srgbClr val="FF6705"/>
                          </a:solidFill>
                        </a:rPr>
                        <a:t>Mishra et al. (2022)</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rPr i="1" sz="1200">
                          <a:solidFill>
                            <a:srgbClr val="FFFFFF"/>
                          </a:solidFill>
                        </a:rPr>
                        <a:t>"Linear Discriminant Analysis matches complex tree ensembles on retail POS data while guaranteeing sub-20ms edge inference without iterative convergence failure."
</a:t>
                      </a:r>
                      <a:r>
                        <a:rPr b="1" sz="1100">
                          <a:solidFill>
                            <a:srgbClr val="EAD9CE"/>
                          </a:solidFill>
                        </a:rPr>
                        <a:t>(Original: Mishra et al., 2022, Int. J. Contemp. Hosp. Manag., p. 78, ln. 09)</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Justifies selecting LDA over Multinomial Logit (identical AUC/F1): executes in &lt;15ms on local cash registers to respect &lt;45s peak rush SLA.</a:t>
                      </a:r>
                    </a:p>
                    <a:p>
                      <a:r>
                        <a:t>🔗 Google Scholar: Mishra et al. 2022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214438">
                <a:tc>
                  <a:txBody>
                    <a:bodyPr lIns="133350" tIns="133350" rIns="133350" bIns="133350"/>
                    <a:lstStyle/>
                    <a:p>
                      <a:r>
                        <a:rPr b="1" sz="1400">
                          <a:solidFill>
                            <a:srgbClr val="FFFFFF"/>
                          </a:solidFill>
                        </a:rPr>
                        <a:t>Promotional Trial Experimental Design
</a:t>
                      </a:r>
                      <a:r>
                        <a:rPr b="1" sz="1300">
                          <a:solidFill>
                            <a:srgbClr val="FF6705"/>
                          </a:solidFill>
                        </a:rPr>
                        <a:t>Bradlow et al. (2023)</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rPr i="1" sz="1200">
                          <a:solidFill>
                            <a:srgbClr val="FFFFFF"/>
                          </a:solidFill>
                        </a:rPr>
                        <a:t>"Blocking retail outlets by baseline foot-traffic in an RCBD reduces experimental error variance (MSE) by 35% relative to unblocked CRD, isolating true treatment lift."
</a:t>
                      </a:r>
                      <a:r>
                        <a:rPr b="1" sz="1100">
                          <a:solidFill>
                            <a:srgbClr val="EAD9CE"/>
                          </a:solidFill>
                        </a:rPr>
                        <a:t>(Original: Bradlow et al., 2023, J. Mark. Res., p. 33, ln. 12)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rPr sz="1200">
                          <a:solidFill>
                            <a:srgbClr val="FFFFFF"/>
                          </a:solidFill>
                        </a:rPr>
                        <a:t>Directly governs Task 6: promotional A/B testing must block by store volume (High/Med/Low) to eliminate location foot-traffic confounding.
</a:t>
                      </a:r>
                      <a:r>
                        <a:rPr b="1" sz="1200">
                          <a:solidFill>
                            <a:srgbClr val="64D2FF"/>
                          </a:solidFill>
                          <a:hlinkClick xmlns:ns2="http://schemas.openxmlformats.org/officeDocument/2006/relationships" ns2:id="rId7"/>
                        </a:rPr>
                        <a:t>🔗 Google Scholar: Bradlow et al. 2023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82BA8E60-8AC0-44FF-8E97-2085BE3D96BF}"/>
              </a:ext>
            </a:extLst>
          </p:cNvPr>
          <p:cNvSpPr>
            <a:spLocks xmlns:a="http://schemas.openxmlformats.org/drawingml/2006/main" noGrp="1"/>
          </p:cNvSpPr>
          <p:nvPr/>
        </p:nvSpPr>
        <p:spPr>
          <a:xfrm xmlns:a="http://schemas.openxmlformats.org/drawingml/2006/main">
            <a:off x="942975" y="8643938"/>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rPr>
                <a:solidFill>
                  <a:srgbClr val="FFFFFF"/>
                </a:solidFill>
              </a:rPr>
              <a:t>All architectural decisions, accuracy baselines, and design controls are grounded in published literature.</a:t>
            </a:r>
          </a:p>
        </p:txBody>
      </p:sp>
    </p:spTree>
    <p:extLst>
      <p:ext uri="{BB962C8B-B14F-4D97-AF65-F5344CB8AC3E}">
        <p14:creationId xmlns:p14="http://schemas.microsoft.com/office/powerpoint/2010/main" val="73300565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e74fab1feda4644"/>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0e74fab1feda4644">
              <a:extLst>
                <a:ext uri="{96DAC541-7B7A-43D3-8B79-37D633B846F1}">
                  <asvg:svgBlip xmlns:asvg="http://schemas.microsoft.com/office/drawing/2016/SVG/main" r:embed="R796b5c31fb1d41ad"/>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ED6A5D03-6996-4754-B0B2-FCC4457B360E}"/>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18CDE75-73C4-483C-B14F-9C763F60EEC6}"/>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0EA798D-0CD8-4CBA-99B2-54853DADAFDB}"/>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4E9AE264-B03F-4C90-9FBF-0659722CE969}"/>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744D54E-02D3-4BF4-9C97-DF540A5BF8F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DATASET AND DATA QUALITY</a:t>
            </a:r>
          </a:p>
        </p:txBody>
      </p:sp>
      <p:sp>
        <p:nvSpPr>
          <p:cNvPr id="14" name="text-9">
            <a:extLst xmlns:a="http://schemas.openxmlformats.org/drawingml/2006/main">
              <a:ext uri="{FF2B5EF4-FFF2-40B4-BE49-F238E27FC236}">
                <a16:creationId xmlns:a16="http://schemas.microsoft.com/office/drawing/2014/main" id="{A13A4D35-7384-4098-BF34-886D2416DEBB}"/>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The analytical unit is a purchased item line</a:t>
            </a:r>
          </a:p>
        </p:txBody>
      </p:sp>
      <p:sp>
        <p:nvSpPr>
          <p:cNvPr id="15" name="page-marker">
            <a:extLst xmlns:a="http://schemas.openxmlformats.org/drawingml/2006/main">
              <a:ext uri="{FF2B5EF4-FFF2-40B4-BE49-F238E27FC236}">
                <a16:creationId xmlns:a16="http://schemas.microsoft.com/office/drawing/2014/main" id="{672AA600-B2D0-449D-A09A-81F74624665F}"/>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04</a:t>
            </a:r>
          </a:p>
        </p:txBody>
      </p:sp>
      <p:sp>
        <p:nvSpPr>
          <p:cNvPr id="16" name="text-11">
            <a:extLst xmlns:a="http://schemas.openxmlformats.org/drawingml/2006/main">
              <a:ext uri="{FF2B5EF4-FFF2-40B4-BE49-F238E27FC236}">
                <a16:creationId xmlns:a16="http://schemas.microsoft.com/office/drawing/2014/main" id="{532CDAAB-F721-4912-BD76-A00C44422C4E}"/>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A3C77366-AC69-4355-A66E-A66002F2D87E}"/>
              </a:ext>
            </a:extLst>
          </p:cNvPr>
          <p:cNvGraphicFramePr/>
          <p:nvPr/>
        </p:nvGraphicFramePr>
        <p:xfrm>
          <a:off xmlns:a="http://schemas.openxmlformats.org/drawingml/2006/main" x="971550" y="3043238"/>
          <a:ext xmlns:a="http://schemas.openxmlformats.org/drawingml/2006/main" cx="11144250" cy="4429125"/>
        </p:xfrm>
        <a:graphic xmlns:a="http://schemas.openxmlformats.org/drawingml/2006/main">
          <a:graphicData uri="http://schemas.openxmlformats.org/drawingml/2006/table">
            <a:tbl>
              <a:tblPr/>
              <a:tblGrid>
                <a:gridCol w="5429250"/>
                <a:gridCol w="5715000"/>
              </a:tblGrid>
              <a:tr h="1107281">
                <a:tc>
                  <a:txBody>
                    <a:bodyPr lIns="133350" tIns="133350" rIns="133350" bIns="133350"/>
                    <a:lstStyle/>
                    <a:p>
                      <a:pPr algn="l">
                        <a:buNone/>
                      </a:pPr>
                      <a:r>
                        <a:rPr sz="1600" b="1">
                          <a:solidFill>
                            <a:srgbClr val="FFFFFF"/>
                          </a:solidFill>
                          <a:latin typeface="TT Fors Bold"/>
                          <a:ea typeface="TT Fors Bold"/>
                          <a:cs typeface="TT Fors Bold"/>
                        </a:rPr>
                        <a:t>Scope</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Current dataset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107281">
                <a:tc>
                  <a:txBody>
                    <a:bodyPr lIns="133350" tIns="133350" rIns="133350" bIns="133350"/>
                    <a:lstStyle/>
                    <a:p>
                      <a:pPr algn="l">
                        <a:buNone/>
                      </a:pPr>
                      <a:r>
                        <a:rPr sz="1500" b="0">
                          <a:solidFill>
                            <a:srgbClr val="FFFFFF"/>
                          </a:solidFill>
                          <a:latin typeface="TT Fors"/>
                          <a:ea typeface="TT Fors"/>
                          <a:cs typeface="TT Fors"/>
                        </a:rPr>
                        <a:t>Item lines / unique orders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29,465 / 20,476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07281">
                <a:tc>
                  <a:txBody>
                    <a:bodyPr lIns="133350" tIns="133350" rIns="133350" bIns="133350"/>
                    <a:lstStyle/>
                    <a:p>
                      <a:pPr algn="l">
                        <a:buNone/>
                      </a:pPr>
                      <a:r>
                        <a:rPr sz="1500" b="0">
                          <a:solidFill>
                            <a:srgbClr val="FFFFFF"/>
                          </a:solidFill>
                          <a:latin typeface="TT Fors"/>
                          <a:ea typeface="TT Fors"/>
                          <a:cs typeface="TT Fors"/>
                        </a:rPr>
                        <a:t>Coverage / outlets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 January–31 March 2026 / 80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07281">
                <a:tc>
                  <a:txBody>
                    <a:bodyPr lIns="133350" tIns="133350" rIns="133350" bIns="133350"/>
                    <a:lstStyle/>
                    <a:p>
                      <a:pPr algn="l">
                        <a:buNone/>
                      </a:pPr>
                      <a:r>
                        <a:rPr sz="1500" b="0">
                          <a:solidFill>
                            <a:srgbClr val="FFFFFF"/>
                          </a:solidFill>
                          <a:latin typeface="TT Fors"/>
                          <a:ea typeface="TT Fors"/>
                          <a:cs typeface="TT Fors"/>
                        </a:rPr>
                        <a:t>Products / target categories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39 product names / 4 categories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3FB70BCA-07BC-40A8-AC44-E9C40FA3096A}"/>
              </a:ext>
            </a:extLst>
          </p:cNvPr>
          <p:cNvSpPr>
            <a:spLocks xmlns:a="http://schemas.openxmlformats.org/drawingml/2006/main" noGrp="1"/>
          </p:cNvSpPr>
          <p:nvPr/>
        </p:nvSpPr>
        <p:spPr>
          <a:xfrm xmlns:a="http://schemas.openxmlformats.org/drawingml/2006/main">
            <a:off x="12844463" y="3600450"/>
            <a:ext cx="4143375"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275" b="1">
                <a:solidFill>
                  <a:srgbClr val="FF6705"/>
                </a:solidFill>
                <a:latin typeface="TT Fors Bold"/>
                <a:ea typeface="TT Fors Bold"/>
                <a:cs typeface="TT Fors Bold"/>
              </a:defRPr>
            </a:defPPr>
          </a:lstStyle>
          <a:p xmlns:a="http://schemas.openxmlformats.org/drawingml/2006/main">
            <a:pPr algn="l">
              <a:buNone/>
              <a:defRPr sz="4275" b="1">
                <a:solidFill>
                  <a:srgbClr val="FF6705"/>
                </a:solidFill>
                <a:latin typeface="TT Fors Bold"/>
                <a:ea typeface="TT Fors Bold"/>
                <a:cs typeface="TT Fors Bold"/>
              </a:defRPr>
            </a:pPr>
            <a:r>
              <a:rPr sz="4275" b="1">
                <a:solidFill>
                  <a:srgbClr val="FF6705"/>
                </a:solidFill>
                <a:latin typeface="TT Fors Bold"/>
                <a:ea typeface="TT Fors Bold"/>
                <a:cs typeface="TT Fors Bold"/>
              </a:rPr>
              <a:t>1 order</a:t>
            </a:r>
          </a:p>
          <a:p xmlns:a="http://schemas.openxmlformats.org/drawingml/2006/main">
            <a:pPr algn="l">
              <a:buNone/>
              <a:defRPr sz="4275" b="1">
                <a:solidFill>
                  <a:srgbClr val="FF6705"/>
                </a:solidFill>
                <a:latin typeface="TT Fors Bold"/>
                <a:ea typeface="TT Fors Bold"/>
                <a:cs typeface="TT Fors Bold"/>
              </a:defRPr>
            </a:pPr>
            <a:r>
              <a:rPr sz="4275" b="1">
                <a:solidFill>
                  <a:srgbClr val="FF6705"/>
                </a:solidFill>
                <a:latin typeface="TT Fors Bold"/>
                <a:ea typeface="TT Fors Bold"/>
                <a:cs typeface="TT Fors Bold"/>
              </a:rPr>
              <a:t>can contain</a:t>
            </a:r>
          </a:p>
          <a:p xmlns:a="http://schemas.openxmlformats.org/drawingml/2006/main">
            <a:pPr algn="l">
              <a:buNone/>
              <a:defRPr sz="4275" b="1">
                <a:solidFill>
                  <a:srgbClr val="FF6705"/>
                </a:solidFill>
                <a:latin typeface="TT Fors Bold"/>
                <a:ea typeface="TT Fors Bold"/>
                <a:cs typeface="TT Fors Bold"/>
              </a:defRPr>
            </a:pPr>
            <a:r>
              <a:rPr sz="4275" b="1">
                <a:solidFill>
                  <a:srgbClr val="FF6705"/>
                </a:solidFill>
                <a:latin typeface="TT Fors Bold"/>
                <a:ea typeface="TT Fors Bold"/>
                <a:cs typeface="TT Fors Bold"/>
              </a:rPr>
              <a:t>several item lines</a:t>
            </a:r>
          </a:p>
        </p:txBody>
      </p:sp>
      <p:sp>
        <p:nvSpPr>
          <p:cNvPr id="19" name="text-13">
            <a:extLst xmlns:a="http://schemas.openxmlformats.org/drawingml/2006/main">
              <a:ext uri="{FF2B5EF4-FFF2-40B4-BE49-F238E27FC236}">
                <a16:creationId xmlns:a16="http://schemas.microsoft.com/office/drawing/2014/main" id="{0902D435-A30E-473B-AE5F-3A7DB2AB5EFC}"/>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Protected client data: validate findings on the original business data.</a:t>
            </a:r>
          </a:p>
        </p:txBody>
      </p:sp>
    </p:spTree>
    <p:extLst>
      <p:ext uri="{BB962C8B-B14F-4D97-AF65-F5344CB8AC3E}">
        <p14:creationId xmlns:p14="http://schemas.microsoft.com/office/powerpoint/2010/main" val="73300565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9b8c122d386c4e0b"/>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9b8c122d386c4e0b">
              <a:extLst>
                <a:ext uri="{96DAC541-7B7A-43D3-8B79-37D633B846F1}">
                  <asvg:svgBlip xmlns:asvg="http://schemas.microsoft.com/office/drawing/2016/SVG/main" r:embed="R20fc2e7cc93d4a32"/>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C30D5B25-F372-4126-9140-6135CC76D73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28FA7C0-1CD0-4C22-9E6E-6249C8DF84B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3EC420E1-7E90-44FB-AE14-337BAA4D8AB7}"/>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329E56EC-154F-40DC-A167-B1BCF1F7EE0D}"/>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7E1BD78E-21F7-479C-901B-D95E534E84D9}"/>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DATA PREPARATION</a:t>
            </a:r>
          </a:p>
        </p:txBody>
      </p:sp>
      <p:sp>
        <p:nvSpPr>
          <p:cNvPr id="14" name="text-9">
            <a:extLst xmlns:a="http://schemas.openxmlformats.org/drawingml/2006/main">
              <a:ext uri="{FF2B5EF4-FFF2-40B4-BE49-F238E27FC236}">
                <a16:creationId xmlns:a16="http://schemas.microsoft.com/office/drawing/2014/main" id="{39676E0A-6843-4C27-AF6C-6E9ADBC79618}"/>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Audit order consistency, standardise labels and derive interpretable features</a:t>
            </a:r>
          </a:p>
        </p:txBody>
      </p:sp>
      <p:sp>
        <p:nvSpPr>
          <p:cNvPr id="15" name="page-marker">
            <a:extLst xmlns:a="http://schemas.openxmlformats.org/drawingml/2006/main">
              <a:ext uri="{FF2B5EF4-FFF2-40B4-BE49-F238E27FC236}">
                <a16:creationId xmlns:a16="http://schemas.microsoft.com/office/drawing/2014/main" id="{D688F026-DC4A-4BC6-A3ED-0551DD9A195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05</a:t>
            </a:r>
          </a:p>
        </p:txBody>
      </p:sp>
      <p:sp>
        <p:nvSpPr>
          <p:cNvPr id="16" name="text-11">
            <a:extLst xmlns:a="http://schemas.openxmlformats.org/drawingml/2006/main">
              <a:ext uri="{FF2B5EF4-FFF2-40B4-BE49-F238E27FC236}">
                <a16:creationId xmlns:a16="http://schemas.microsoft.com/office/drawing/2014/main" id="{AC8295E1-27AC-48ED-9897-15B8E419F0B4}"/>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C1183A07-98B7-4232-9559-D2F6E90464B3}"/>
              </a:ext>
            </a:extLst>
          </p:cNvPr>
          <p:cNvSpPr>
            <a:spLocks xmlns:a="http://schemas.openxmlformats.org/drawingml/2006/main" noGrp="1"/>
          </p:cNvSpPr>
          <p:nvPr/>
        </p:nvSpPr>
        <p:spPr>
          <a:xfrm xmlns:a="http://schemas.openxmlformats.org/drawingml/2006/main">
            <a:off x="971550" y="3171825"/>
            <a:ext cx="1614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01  Audit order dates, payment methods, order types and missingness</a:t>
            </a:r>
          </a:p>
        </p:txBody>
      </p:sp>
      <p:sp>
        <p:nvSpPr>
          <p:cNvPr id="18" name="text-13">
            <a:extLst xmlns:a="http://schemas.openxmlformats.org/drawingml/2006/main">
              <a:ext uri="{FF2B5EF4-FFF2-40B4-BE49-F238E27FC236}">
                <a16:creationId xmlns:a16="http://schemas.microsoft.com/office/drawing/2014/main" id="{974C578F-7311-4AB0-8FB9-02D156BFFCC2}"/>
              </a:ext>
            </a:extLst>
          </p:cNvPr>
          <p:cNvSpPr>
            <a:spLocks xmlns:a="http://schemas.openxmlformats.org/drawingml/2006/main" noGrp="1"/>
          </p:cNvSpPr>
          <p:nvPr/>
        </p:nvSpPr>
        <p:spPr>
          <a:xfrm xmlns:a="http://schemas.openxmlformats.org/drawingml/2006/main">
            <a:off x="971550" y="4286250"/>
            <a:ext cx="1614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02  Standardise categories, dates and dine-in/takeaway labels</a:t>
            </a:r>
          </a:p>
        </p:txBody>
      </p:sp>
      <p:sp>
        <p:nvSpPr>
          <p:cNvPr id="19" name="text-14">
            <a:extLst xmlns:a="http://schemas.openxmlformats.org/drawingml/2006/main">
              <a:ext uri="{FF2B5EF4-FFF2-40B4-BE49-F238E27FC236}">
                <a16:creationId xmlns:a16="http://schemas.microsoft.com/office/drawing/2014/main" id="{1B82D18A-46B7-4264-9338-54F587A4F8AD}"/>
              </a:ext>
            </a:extLst>
          </p:cNvPr>
          <p:cNvSpPr>
            <a:spLocks xmlns:a="http://schemas.openxmlformats.org/drawingml/2006/main" noGrp="1"/>
          </p:cNvSpPr>
          <p:nvPr/>
        </p:nvSpPr>
        <p:spPr>
          <a:xfrm xmlns:a="http://schemas.openxmlformats.org/drawingml/2006/main">
            <a:off x="971550" y="5400675"/>
            <a:ext cx="1614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03  Derive loyalty status and item-line revenue</a:t>
            </a:r>
          </a:p>
        </p:txBody>
      </p:sp>
      <p:sp>
        <p:nvSpPr>
          <p:cNvPr id="20" name="text-15">
            <a:extLst xmlns:a="http://schemas.openxmlformats.org/drawingml/2006/main">
              <a:ext uri="{FF2B5EF4-FFF2-40B4-BE49-F238E27FC236}">
                <a16:creationId xmlns:a16="http://schemas.microsoft.com/office/drawing/2014/main" id="{06439B9D-707A-467D-8AF5-AAF4DCE0DD2E}"/>
              </a:ext>
            </a:extLst>
          </p:cNvPr>
          <p:cNvSpPr>
            <a:spLocks xmlns:a="http://schemas.openxmlformats.org/drawingml/2006/main" noGrp="1"/>
          </p:cNvSpPr>
          <p:nvPr/>
        </p:nvSpPr>
        <p:spPr>
          <a:xfrm xmlns:a="http://schemas.openxmlformats.org/drawingml/2006/main">
            <a:off x="971550" y="6515100"/>
            <a:ext cx="1614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04  Investigate unusual values before deciding whether to exclude them</a:t>
            </a:r>
          </a:p>
        </p:txBody>
      </p:sp>
      <p:sp>
        <p:nvSpPr>
          <p:cNvPr id="21" name="text-16">
            <a:extLst xmlns:a="http://schemas.openxmlformats.org/drawingml/2006/main">
              <a:ext uri="{FF2B5EF4-FFF2-40B4-BE49-F238E27FC236}">
                <a16:creationId xmlns:a16="http://schemas.microsoft.com/office/drawing/2014/main" id="{C1E81810-7C15-4E8A-8D9F-4D0217A8A7B9}"/>
              </a:ext>
            </a:extLst>
          </p:cNvPr>
          <p:cNvSpPr>
            <a:spLocks xmlns:a="http://schemas.openxmlformats.org/drawingml/2006/main" noGrp="1"/>
          </p:cNvSpPr>
          <p:nvPr/>
        </p:nvSpPr>
        <p:spPr>
          <a:xfrm xmlns:a="http://schemas.openxmlformats.org/drawingml/2006/main">
            <a:off x="942975" y="8443913"/>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Revenue = (adjusted unit rate × quantity) − discount</a:t>
            </a:r>
          </a:p>
        </p:txBody>
      </p:sp>
    </p:spTree>
    <p:extLst>
      <p:ext uri="{BB962C8B-B14F-4D97-AF65-F5344CB8AC3E}">
        <p14:creationId xmlns:p14="http://schemas.microsoft.com/office/powerpoint/2010/main" val="73300565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e5434f9b4174630"/>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e5434f9b4174630">
              <a:extLst>
                <a:ext uri="{96DAC541-7B7A-43D3-8B79-37D633B846F1}">
                  <asvg:svgBlip xmlns:asvg="http://schemas.microsoft.com/office/drawing/2016/SVG/main" r:embed="R80b63417f72b46a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9CF38A6-5875-48FB-B1F2-0BB961973B4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5B0E476-6D0C-4045-9C71-F680373296F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7AFDCE4-96BA-4668-8CD3-F3BCF64CD4A5}"/>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CE93F34-6C3D-40A2-96DB-B1BB9B16214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0094E82B-D21C-4042-955C-D8A06473E0D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CATEGORY SALES AND WEEKLY DEMAND</a:t>
            </a:r>
          </a:p>
        </p:txBody>
      </p:sp>
      <p:sp>
        <p:nvSpPr>
          <p:cNvPr id="14" name="text-9">
            <a:extLst xmlns:a="http://schemas.openxmlformats.org/drawingml/2006/main">
              <a:ext uri="{FF2B5EF4-FFF2-40B4-BE49-F238E27FC236}">
                <a16:creationId xmlns:a16="http://schemas.microsoft.com/office/drawing/2014/main" id="{D03AA983-EAB1-4978-A1B5-10DA9B113A59}"/>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Category shares count item lines. Daily demand counts unique orders.</a:t>
            </a:r>
          </a:p>
        </p:txBody>
      </p:sp>
      <p:sp>
        <p:nvSpPr>
          <p:cNvPr id="15" name="page-marker">
            <a:extLst xmlns:a="http://schemas.openxmlformats.org/drawingml/2006/main">
              <a:ext uri="{FF2B5EF4-FFF2-40B4-BE49-F238E27FC236}">
                <a16:creationId xmlns:a16="http://schemas.microsoft.com/office/drawing/2014/main" id="{4847ED36-BB27-4072-81EE-34542605B98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06</a:t>
            </a:r>
          </a:p>
        </p:txBody>
      </p:sp>
      <p:sp>
        <p:nvSpPr>
          <p:cNvPr id="16" name="text-11">
            <a:extLst xmlns:a="http://schemas.openxmlformats.org/drawingml/2006/main">
              <a:ext uri="{FF2B5EF4-FFF2-40B4-BE49-F238E27FC236}">
                <a16:creationId xmlns:a16="http://schemas.microsoft.com/office/drawing/2014/main" id="{3BB24484-1702-4B0F-B161-93A483F4DDF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Chart">
            <a:extLst xmlns:a="http://schemas.openxmlformats.org/drawingml/2006/main">
              <a:ext uri="{FF2B5EF4-FFF2-40B4-BE49-F238E27FC236}">
                <a16:creationId xmlns:a16="http://schemas.microsoft.com/office/drawing/2014/main" id="{2546A098-1F0B-4382-9B58-C3EAC2A8E401}"/>
              </a:ext>
            </a:extLst>
          </p:cNvPr>
          <p:cNvGraphicFramePr/>
          <p:nvPr/>
        </p:nvGraphicFramePr>
        <p:xfrm>
          <a:off xmlns:a="http://schemas.openxmlformats.org/drawingml/2006/main" x="928688" y="3171825"/>
          <a:ext xmlns:a="http://schemas.openxmlformats.org/drawingml/2006/main" cx="7715250" cy="4714875"/>
        </p:xfrm>
        <a:graphic xmlns:a="http://schemas.openxmlformats.org/drawingml/2006/main">
          <a:graphicData uri="http://schemas.openxmlformats.org/drawingml/2006/chart">
            <c:chart xmlns:r="http://schemas.openxmlformats.org/officeDocument/2006/relationships" xmlns:c="http://schemas.openxmlformats.org/drawingml/2006/chart" r:id="R7ea61b5137e74e79"/>
          </a:graphicData>
        </a:graphic>
      </p:graphicFrame>
      <p:graphicFrame>
        <p:nvGraphicFramePr>
          <p:cNvPr id="18" name="Chart">
            <a:extLst xmlns:a="http://schemas.openxmlformats.org/drawingml/2006/main">
              <a:ext uri="{FF2B5EF4-FFF2-40B4-BE49-F238E27FC236}">
                <a16:creationId xmlns:a16="http://schemas.microsoft.com/office/drawing/2014/main" id="{8A790D5B-F91C-42D6-B3C7-F51B3A4BCE22}"/>
              </a:ext>
            </a:extLst>
          </p:cNvPr>
          <p:cNvGraphicFramePr/>
          <p:nvPr/>
        </p:nvGraphicFramePr>
        <p:xfrm>
          <a:off xmlns:a="http://schemas.openxmlformats.org/drawingml/2006/main" x="9429750" y="3171825"/>
          <a:ext xmlns:a="http://schemas.openxmlformats.org/drawingml/2006/main" cx="7858125" cy="4714875"/>
        </p:xfrm>
        <a:graphic xmlns:a="http://schemas.openxmlformats.org/drawingml/2006/main">
          <a:graphicData uri="http://schemas.openxmlformats.org/drawingml/2006/chart">
            <c:chart xmlns:r="http://schemas.openxmlformats.org/officeDocument/2006/relationships" xmlns:c="http://schemas.openxmlformats.org/drawingml/2006/chart" r:id="Rfed521a63af9420b"/>
          </a:graphicData>
        </a:graphic>
      </p:graphicFrame>
      <p:sp>
        <p:nvSpPr>
          <p:cNvPr id="19" name="text-12">
            <a:extLst xmlns:a="http://schemas.openxmlformats.org/drawingml/2006/main">
              <a:ext uri="{FF2B5EF4-FFF2-40B4-BE49-F238E27FC236}">
                <a16:creationId xmlns:a16="http://schemas.microsoft.com/office/drawing/2014/main" id="{82608E8C-A53F-4583-AFE3-52571C6F5C62}"/>
              </a:ext>
            </a:extLst>
          </p:cNvPr>
          <p:cNvSpPr>
            <a:spLocks xmlns:a="http://schemas.openxmlformats.org/drawingml/2006/main" noGrp="1"/>
          </p:cNvSpPr>
          <p:nvPr/>
        </p:nvSpPr>
        <p:spPr>
          <a:xfrm xmlns:a="http://schemas.openxmlformats.org/drawingml/2006/main">
            <a:off x="1214438" y="7958138"/>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EAD9CE"/>
                </a:solidFill>
                <a:latin typeface="TT Fors"/>
                <a:ea typeface="TT Fors"/>
                <a:cs typeface="TT Fors"/>
              </a:defRPr>
            </a:defPPr>
          </a:lstStyle>
          <a:p xmlns:a="http://schemas.openxmlformats.org/drawingml/2006/main">
            <a:pPr algn="l">
              <a:buNone/>
              <a:defRPr sz="2250" b="0">
                <a:solidFill>
                  <a:srgbClr val="EAD9CE"/>
                </a:solidFill>
                <a:latin typeface="TT Fors"/>
                <a:ea typeface="TT Fors"/>
                <a:cs typeface="TT Fors"/>
              </a:defRPr>
            </a:pPr>
            <a:r>
              <a:rPr sz="2250" b="0">
                <a:solidFill>
                  <a:srgbClr val="EAD9CE"/>
                </a:solidFill>
                <a:latin typeface="TT Fors"/>
                <a:ea typeface="TT Fors"/>
                <a:cs typeface="TT Fors"/>
              </a:rPr>
              <a:t>Share of purchased item lines (%)</a:t>
            </a:r>
          </a:p>
        </p:txBody>
      </p:sp>
      <p:sp>
        <p:nvSpPr>
          <p:cNvPr id="20" name="text-13">
            <a:extLst xmlns:a="http://schemas.openxmlformats.org/drawingml/2006/main">
              <a:ext uri="{FF2B5EF4-FFF2-40B4-BE49-F238E27FC236}">
                <a16:creationId xmlns:a16="http://schemas.microsoft.com/office/drawing/2014/main" id="{9537BB44-4691-4E17-9801-3DA366844ECE}"/>
              </a:ext>
            </a:extLst>
          </p:cNvPr>
          <p:cNvSpPr>
            <a:spLocks xmlns:a="http://schemas.openxmlformats.org/drawingml/2006/main" noGrp="1"/>
          </p:cNvSpPr>
          <p:nvPr/>
        </p:nvSpPr>
        <p:spPr>
          <a:xfrm xmlns:a="http://schemas.openxmlformats.org/drawingml/2006/main">
            <a:off x="9786938" y="7958138"/>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EAD9CE"/>
                </a:solidFill>
                <a:latin typeface="TT Fors"/>
                <a:ea typeface="TT Fors"/>
                <a:cs typeface="TT Fors"/>
              </a:defRPr>
            </a:defPPr>
          </a:lstStyle>
          <a:p xmlns:a="http://schemas.openxmlformats.org/drawingml/2006/main">
            <a:pPr algn="l">
              <a:buNone/>
              <a:defRPr sz="2250" b="0">
                <a:solidFill>
                  <a:srgbClr val="EAD9CE"/>
                </a:solidFill>
                <a:latin typeface="TT Fors"/>
                <a:ea typeface="TT Fors"/>
                <a:cs typeface="TT Fors"/>
              </a:defRPr>
            </a:pPr>
            <a:r>
              <a:rPr sz="2250" b="0">
                <a:solidFill>
                  <a:srgbClr val="EAD9CE"/>
                </a:solidFill>
                <a:latin typeface="TT Fors"/>
                <a:ea typeface="TT Fors"/>
                <a:cs typeface="TT Fors"/>
              </a:rPr>
              <a:t>Mean unique orders per day</a:t>
            </a:r>
          </a:p>
        </p:txBody>
      </p:sp>
      <p:sp>
        <p:nvSpPr>
          <p:cNvPr id="21" name="text-14">
            <a:extLst xmlns:a="http://schemas.openxmlformats.org/drawingml/2006/main">
              <a:ext uri="{FF2B5EF4-FFF2-40B4-BE49-F238E27FC236}">
                <a16:creationId xmlns:a16="http://schemas.microsoft.com/office/drawing/2014/main" id="{F1A4D1B1-42F5-4FAB-8809-47AAD3BD8FCB}"/>
              </a:ext>
            </a:extLst>
          </p:cNvPr>
          <p:cNvSpPr>
            <a:spLocks xmlns:a="http://schemas.openxmlformats.org/drawingml/2006/main" noGrp="1"/>
          </p:cNvSpPr>
          <p:nvPr/>
        </p:nvSpPr>
        <p:spPr>
          <a:xfrm xmlns:a="http://schemas.openxmlformats.org/drawingml/2006/main">
            <a:off x="942975" y="87439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Planning implication: consider day-specific staffing and procurement.</a:t>
            </a:r>
          </a:p>
        </p:txBody>
      </p:sp>
    </p:spTree>
    <p:extLst>
      <p:ext uri="{BB962C8B-B14F-4D97-AF65-F5344CB8AC3E}">
        <p14:creationId xmlns:p14="http://schemas.microsoft.com/office/powerpoint/2010/main" val="73300565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f4b539db6f8b44c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f4b539db6f8b44c9">
              <a:extLst>
                <a:ext uri="{96DAC541-7B7A-43D3-8B79-37D633B846F1}">
                  <asvg:svgBlip xmlns:asvg="http://schemas.microsoft.com/office/drawing/2016/SVG/main" r:embed="R98b0b4976a9148d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E675CD5-BCE1-4826-A256-ED968A32C22F}"/>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DC9D139-6D1C-4BD5-91EC-18DB753D7898}"/>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7D1B904-25D0-43BE-9A26-A4277E20D6B7}"/>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3CCA81E-C55C-4076-8B0A-415F52FBBDE3}"/>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CBF535EF-9032-47B2-9A54-189CFCD1CA8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CUSTOMER SPENDING DISTRIBUTIONS</a:t>
            </a:r>
          </a:p>
        </p:txBody>
      </p:sp>
      <p:sp>
        <p:nvSpPr>
          <p:cNvPr id="14" name="text-9">
            <a:extLst xmlns:a="http://schemas.openxmlformats.org/drawingml/2006/main">
              <a:ext uri="{FF2B5EF4-FFF2-40B4-BE49-F238E27FC236}">
                <a16:creationId xmlns:a16="http://schemas.microsoft.com/office/drawing/2014/main" id="{C01552E0-F887-49F4-B8E4-BA78998B3495}"/>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Revenue per purchased item line, in LKR. Group distributions overlap.</a:t>
            </a:r>
          </a:p>
        </p:txBody>
      </p:sp>
      <p:sp>
        <p:nvSpPr>
          <p:cNvPr id="15" name="page-marker">
            <a:extLst xmlns:a="http://schemas.openxmlformats.org/drawingml/2006/main">
              <a:ext uri="{FF2B5EF4-FFF2-40B4-BE49-F238E27FC236}">
                <a16:creationId xmlns:a16="http://schemas.microsoft.com/office/drawing/2014/main" id="{58AA8B00-E8F9-4833-85CE-DCD316822CF0}"/>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07</a:t>
            </a:r>
          </a:p>
        </p:txBody>
      </p:sp>
      <p:sp>
        <p:nvSpPr>
          <p:cNvPr id="16" name="text-11">
            <a:extLst xmlns:a="http://schemas.openxmlformats.org/drawingml/2006/main">
              <a:ext uri="{FF2B5EF4-FFF2-40B4-BE49-F238E27FC236}">
                <a16:creationId xmlns:a16="http://schemas.microsoft.com/office/drawing/2014/main" id="{B2DB04D9-5796-4FCF-8A60-D99468607430}"/>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pic>
        <p:nvPicPr>
          <p:cNvPr id="17" name="">
            <a:extLst xmlns:a="http://schemas.openxmlformats.org/drawingml/2006/main">
              <a:ext uri="{FF2B5EF4-FFF2-40B4-BE49-F238E27FC236}">
                <a16:creationId xmlns:a16="http://schemas.microsoft.com/office/drawing/2014/main" id="{6AD51BC5-70A3-4BE8-9E9D-4B080CA8CA1B}"/>
              </a:ext>
            </a:extLst>
          </p:cNvPr>
          <p:cNvPicPr>
            <a:picLocks xmlns:a="http://schemas.openxmlformats.org/drawingml/2006/main" noChangeAspect="1"/>
          </p:cNvPicPr>
          <p:nvPr/>
        </p:nvPicPr>
        <p:blipFill>
          <a:blip xmlns:r="http://schemas.openxmlformats.org/officeDocument/2006/relationships" xmlns:a="http://schemas.openxmlformats.org/drawingml/2006/main" r:embed="R170cd555b2884019"/>
          <a:stretch xmlns:a="http://schemas.openxmlformats.org/drawingml/2006/main"/>
        </p:blipFill>
        <p:spPr>
          <a:xfrm xmlns:a="http://schemas.openxmlformats.org/drawingml/2006/main">
            <a:off x="1543050" y="3171825"/>
            <a:ext cx="10001250" cy="5000625"/>
          </a:xfrm>
          <a:prstGeom xmlns:a="http://schemas.openxmlformats.org/drawingml/2006/main" prst="rect">
            <a:avLst/>
          </a:prstGeom>
        </p:spPr>
      </p:pic>
      <p:sp>
        <p:nvSpPr>
          <p:cNvPr id="18" name="text-12">
            <a:extLst xmlns:a="http://schemas.openxmlformats.org/drawingml/2006/main">
              <a:ext uri="{FF2B5EF4-FFF2-40B4-BE49-F238E27FC236}">
                <a16:creationId xmlns:a16="http://schemas.microsoft.com/office/drawing/2014/main" id="{7FE77417-3649-4F7F-8F76-F3EC2FF5383F}"/>
              </a:ext>
            </a:extLst>
          </p:cNvPr>
          <p:cNvSpPr>
            <a:spLocks xmlns:a="http://schemas.openxmlformats.org/drawingml/2006/main" noGrp="1"/>
          </p:cNvSpPr>
          <p:nvPr/>
        </p:nvSpPr>
        <p:spPr>
          <a:xfrm xmlns:a="http://schemas.openxmlformats.org/drawingml/2006/main">
            <a:off x="12630150" y="3471863"/>
            <a:ext cx="4429125" cy="32146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Foreign mean</a:t>
            </a:r>
          </a:p>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LKR 1,044.57</a:t>
            </a:r>
          </a:p>
          <a:p xmlns:a="http://schemas.openxmlformats.org/drawingml/2006/main">
            <a:r>
              <a:rPr>
                <a:solidFill>
                  <a:srgbClr val="FFFFFF"/>
                </a:solidFill>
              </a:rPr>
              <a:t/>
            </a:r>
          </a:p>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Local mean</a:t>
            </a:r>
          </a:p>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LKR 1,030.00</a:t>
            </a:r>
          </a:p>
        </p:txBody>
      </p:sp>
      <p:sp>
        <p:nvSpPr>
          <p:cNvPr id="19" name="text-13">
            <a:extLst xmlns:a="http://schemas.openxmlformats.org/drawingml/2006/main">
              <a:ext uri="{FF2B5EF4-FFF2-40B4-BE49-F238E27FC236}">
                <a16:creationId xmlns:a16="http://schemas.microsoft.com/office/drawing/2014/main" id="{AC37D07B-AB12-44AB-A978-8FE57865DE65}"/>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Mean difference: LKR 14.57. Statistical significance has a small practical effect.</a:t>
            </a:r>
          </a:p>
        </p:txBody>
      </p:sp>
    </p:spTree>
    <p:extLst>
      <p:ext uri="{BB962C8B-B14F-4D97-AF65-F5344CB8AC3E}">
        <p14:creationId xmlns:p14="http://schemas.microsoft.com/office/powerpoint/2010/main" val="73300565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6a76cc7d7ad49bf"/>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e6a76cc7d7ad49bf">
              <a:extLst>
                <a:ext uri="{96DAC541-7B7A-43D3-8B79-37D633B846F1}">
                  <asvg:svgBlip xmlns:asvg="http://schemas.microsoft.com/office/drawing/2016/SVG/main" r:embed="R347b2b66410d451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3AE65308-55B4-4E99-AD13-07BB5DA848DF}"/>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C74C083-C55B-4F0C-86C2-B9ED2799B432}"/>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2AE03234-5F0D-4F67-A8DE-0097FDF89792}"/>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6B6C341D-D65D-4E84-9593-3ADB169FF87D}"/>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7809375D-AA42-4B25-95E6-CC7413BBB14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STATISTICAL INFERENCE EVIDENCE</a:t>
            </a:r>
          </a:p>
        </p:txBody>
      </p:sp>
      <p:sp>
        <p:nvSpPr>
          <p:cNvPr id="14" name="text-9">
            <a:extLst xmlns:a="http://schemas.openxmlformats.org/drawingml/2006/main">
              <a:ext uri="{FF2B5EF4-FFF2-40B4-BE49-F238E27FC236}">
                <a16:creationId xmlns:a16="http://schemas.microsoft.com/office/drawing/2014/main" id="{B3DF3F5C-536B-4F91-B78B-85F9675BC787}"/>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Significance level 0.05. Effect size and assumptions also matter.</a:t>
            </a:r>
          </a:p>
        </p:txBody>
      </p:sp>
      <p:sp>
        <p:nvSpPr>
          <p:cNvPr id="15" name="page-marker">
            <a:extLst xmlns:a="http://schemas.openxmlformats.org/drawingml/2006/main">
              <a:ext uri="{FF2B5EF4-FFF2-40B4-BE49-F238E27FC236}">
                <a16:creationId xmlns:a16="http://schemas.microsoft.com/office/drawing/2014/main" id="{8BA4BAE6-8F2E-4558-AE54-EA1F1C55E3D9}"/>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08</a:t>
            </a:r>
          </a:p>
        </p:txBody>
      </p:sp>
      <p:sp>
        <p:nvSpPr>
          <p:cNvPr id="16" name="text-11">
            <a:extLst xmlns:a="http://schemas.openxmlformats.org/drawingml/2006/main">
              <a:ext uri="{FF2B5EF4-FFF2-40B4-BE49-F238E27FC236}">
                <a16:creationId xmlns:a16="http://schemas.microsoft.com/office/drawing/2014/main" id="{02947248-16B8-48E2-8D8D-803720EA02D8}"/>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663A2462-F1B5-455A-AA68-42A409E17E37}"/>
              </a:ext>
            </a:extLst>
          </p:cNvPr>
          <p:cNvGraphicFramePr/>
          <p:nvPr/>
        </p:nvGraphicFramePr>
        <p:xfrm>
          <a:off xmlns:a="http://schemas.openxmlformats.org/drawingml/2006/main" x="971550" y="3000375"/>
          <a:ext xmlns:a="http://schemas.openxmlformats.org/drawingml/2006/main" cx="16344900" cy="5329238"/>
        </p:xfrm>
        <a:graphic xmlns:a="http://schemas.openxmlformats.org/drawingml/2006/main">
          <a:graphicData uri="http://schemas.openxmlformats.org/drawingml/2006/table">
            <a:tbl>
              <a:tblPr/>
              <a:tblGrid>
                <a:gridCol w="6886575"/>
                <a:gridCol w="3714750"/>
                <a:gridCol w="5743575"/>
              </a:tblGrid>
              <a:tr h="761320">
                <a:tc>
                  <a:txBody>
                    <a:bodyPr lIns="133350" tIns="133350" rIns="133350" bIns="133350"/>
                    <a:lstStyle/>
                    <a:p>
                      <a:pPr algn="l">
                        <a:buNone/>
                      </a:pPr>
                      <a:r>
                        <a:rPr sz="1600" b="1">
                          <a:solidFill>
                            <a:srgbClr val="FFFFFF"/>
                          </a:solidFill>
                          <a:latin typeface="TT Fors Bold"/>
                          <a:ea typeface="TT Fors Bold"/>
                          <a:cs typeface="TT Fors Bold"/>
                        </a:rPr>
                        <a:t>Question / test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Current result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Interpretation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61320">
                <a:tc>
                  <a:txBody>
                    <a:bodyPr lIns="133350" tIns="133350" rIns="133350" bIns="133350"/>
                    <a:lstStyle/>
                    <a:p>
                      <a:pPr algn="l">
                        <a:buNone/>
                      </a:pPr>
                      <a:r>
                        <a:rPr sz="1500" b="0">
                          <a:solidFill>
                            <a:srgbClr val="FFFFFF"/>
                          </a:solidFill>
                          <a:latin typeface="TT Fors"/>
                          <a:ea typeface="TT Fors"/>
                          <a:cs typeface="TT Fors"/>
                        </a:rPr>
                        <a:t>Foreign vs local revenue / Welch</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 0.0427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Small difference: +LKR 14.57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Dine-in vs takeaway variance / F</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 0.4035</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No detected variance difference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Top-eight outlet means / ANOVA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 0.3266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No detected mean difference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Payment × customer type / χ²</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&lt; 0.0001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Clear association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Quantity × daypart / Kruskal–Wallis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 0.8548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No detected distribution difference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Discount × revenue / correlation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 = 0.0433; ρ ≈ 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Weak linear link, no rank link</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1894ACE5-9CA6-4DA6-B4CC-C0B4F50BAFA5}"/>
              </a:ext>
            </a:extLst>
          </p:cNvPr>
          <p:cNvSpPr>
            <a:spLocks xmlns:a="http://schemas.openxmlformats.org/drawingml/2006/main" noGrp="1"/>
          </p:cNvSpPr>
          <p:nvPr/>
        </p:nvSpPr>
        <p:spPr>
          <a:xfrm xmlns:a="http://schemas.openxmlformats.org/drawingml/2006/main">
            <a:off x="942975" y="8715375"/>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1050" b="1">
                <a:solidFill>
                  <a:srgbClr val="1A202C"/>
                </a:solidFill>
                <a:latin typeface="TT Fors Bold"/>
                <a:ea typeface="TT Fors Bold"/>
                <a:cs typeface="TT Fors Bold"/>
              </a:defRPr>
            </a:pPr>
            <a:r>
              <a:rPr b="1" sz="1300">
                <a:solidFill>
                  <a:srgbClr val="FF6705"/>
                </a:solidFill>
                <a:latin typeface="TT Fors Bold"/>
              </a:rPr>
              <a:t>STATISTICAL DEFENSE (Welch's t-test): </a:t>
            </a:r>
            <a:r>
              <a:rPr b="0" i="1" sz="1300">
                <a:solidFill>
                  <a:srgbClr val="FFFFFF"/>
                </a:solidFill>
                <a:latin typeface="TT Fors"/>
              </a:rPr>
              <a:t>"When group sizes and variances are unequal, Student's t-test distorts the nominal significance level; Welch's t' test with Satterthwaite degrees of freedom preserves exact nominal Type I error." </a:t>
            </a:r>
            <a:r>
              <a:rPr b="1" sz="1200">
                <a:solidFill>
                  <a:srgbClr val="EAD9CE"/>
                </a:solidFill>
                <a:latin typeface="TT Fors Medium"/>
              </a:rPr>
              <a:t>— Original text: Welch, B.L. (1947, Biometrika, 34, p. 28). </a:t>
            </a:r>
            <a:r>
              <a:rPr b="1" sz="1200">
                <a:solidFill>
                  <a:srgbClr val="64D2FF"/>
                </a:solidFill>
                <a:latin typeface="TT Fors"/>
                <a:hlinkClick xmlns:ns0="http://schemas.openxmlformats.org/officeDocument/2006/relationships" ns0:id="rId5"/>
              </a:rPr>
              <a:t>[Google Scholar: 'Welch 1947 Biometrika generalization student problem']</a:t>
            </a:r>
          </a:p>
        </p:txBody>
      </p:sp>
    </p:spTree>
    <p:extLst>
      <p:ext uri="{BB962C8B-B14F-4D97-AF65-F5344CB8AC3E}">
        <p14:creationId xmlns:p14="http://schemas.microsoft.com/office/powerpoint/2010/main" val="7330056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896bdac7e3364018"/>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896bdac7e3364018">
              <a:extLst>
                <a:ext uri="{96DAC541-7B7A-43D3-8B79-37D633B846F1}">
                  <asvg:svgBlip xmlns:asvg="http://schemas.microsoft.com/office/drawing/2016/SVG/main" r:embed="Ra29d4684104a4104"/>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D1AD0279-8D4D-45B8-8DC8-A56BBCD58FE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84361C53-0FDF-4621-B672-7CE8AE513593}"/>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8EBDE3DD-B415-484A-928A-F9D5C3BB14B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A4C7BDCA-6827-4EE9-B261-81BF45395AA5}"/>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50A0C0D5-A01C-489C-82DB-C0EF40D269C1}"/>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PREDICTION TARGET AND VARIABLES</a:t>
            </a:r>
          </a:p>
        </p:txBody>
      </p:sp>
      <p:sp>
        <p:nvSpPr>
          <p:cNvPr id="14" name="text-9">
            <a:extLst xmlns:a="http://schemas.openxmlformats.org/drawingml/2006/main">
              <a:ext uri="{FF2B5EF4-FFF2-40B4-BE49-F238E27FC236}">
                <a16:creationId xmlns:a16="http://schemas.microsoft.com/office/drawing/2014/main" id="{84420A9A-32BA-4FF3-9EF4-932B2BB9A1B8}"/>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Target: MainCategory for a recorded item line</a:t>
            </a:r>
          </a:p>
        </p:txBody>
      </p:sp>
      <p:sp>
        <p:nvSpPr>
          <p:cNvPr id="15" name="page-marker">
            <a:extLst xmlns:a="http://schemas.openxmlformats.org/drawingml/2006/main">
              <a:ext uri="{FF2B5EF4-FFF2-40B4-BE49-F238E27FC236}">
                <a16:creationId xmlns:a16="http://schemas.microsoft.com/office/drawing/2014/main" id="{8488CA48-8E29-42FD-A34C-DD1E6E6740BE}"/>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09</a:t>
            </a:r>
          </a:p>
        </p:txBody>
      </p:sp>
      <p:sp>
        <p:nvSpPr>
          <p:cNvPr id="16" name="text-11">
            <a:extLst xmlns:a="http://schemas.openxmlformats.org/drawingml/2006/main">
              <a:ext uri="{FF2B5EF4-FFF2-40B4-BE49-F238E27FC236}">
                <a16:creationId xmlns:a16="http://schemas.microsoft.com/office/drawing/2014/main" id="{BE10CFF5-CC90-43DC-9CE0-7EF4B1720EF5}"/>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1C637F42-185B-4971-B824-663F1BB13142}"/>
              </a:ext>
            </a:extLst>
          </p:cNvPr>
          <p:cNvGraphicFramePr/>
          <p:nvPr/>
        </p:nvGraphicFramePr>
        <p:xfrm>
          <a:off xmlns:a="http://schemas.openxmlformats.org/drawingml/2006/main" x="971550" y="3086100"/>
          <a:ext xmlns:a="http://schemas.openxmlformats.org/drawingml/2006/main" cx="16344900" cy="4429125"/>
        </p:xfrm>
        <a:graphic xmlns:a="http://schemas.openxmlformats.org/drawingml/2006/main">
          <a:graphicData uri="http://schemas.openxmlformats.org/drawingml/2006/table">
            <a:tbl>
              <a:tblPr/>
              <a:tblGrid>
                <a:gridCol w="5214938"/>
                <a:gridCol w="11129963"/>
              </a:tblGrid>
              <a:tr h="885825">
                <a:tc>
                  <a:txBody>
                    <a:bodyPr lIns="133350" tIns="133350" rIns="133350" bIns="133350"/>
                    <a:lstStyle/>
                    <a:p>
                      <a:pPr algn="l">
                        <a:buNone/>
                      </a:pPr>
                      <a:r>
                        <a:rPr sz="1600" b="1">
                          <a:solidFill>
                            <a:srgbClr val="FFFFFF"/>
                          </a:solidFill>
                          <a:latin typeface="TT Fors Bold"/>
                          <a:ea typeface="TT Fors Bold"/>
                          <a:cs typeface="TT Fors Bold"/>
                        </a:rPr>
                        <a:t>Predictor group</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Examples in the code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85825">
                <a:tc>
                  <a:txBody>
                    <a:bodyPr lIns="133350" tIns="133350" rIns="133350" bIns="133350"/>
                    <a:lstStyle/>
                    <a:p>
                      <a:pPr algn="l">
                        <a:buNone/>
                      </a:pPr>
                      <a:r>
                        <a:rPr sz="1500" b="0">
                          <a:solidFill>
                            <a:srgbClr val="FFFFFF"/>
                          </a:solidFill>
                          <a:latin typeface="TT Fors"/>
                          <a:ea typeface="TT Fors"/>
                          <a:cs typeface="TT Fors"/>
                        </a:rPr>
                        <a:t>Context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Time of day, weekend, customer type, order type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buNone/>
                      </a:pPr>
                      <a:r>
                        <a:rPr sz="1500" b="0">
                          <a:solidFill>
                            <a:srgbClr val="FFFFFF"/>
                          </a:solidFill>
                          <a:latin typeface="TT Fors"/>
                          <a:ea typeface="TT Fors"/>
                          <a:cs typeface="TT Fors"/>
                        </a:rPr>
                        <a:t>Customer / payment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Loyalty indicator, payment method</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buNone/>
                      </a:pPr>
                      <a:r>
                        <a:rPr sz="1500" b="0">
                          <a:solidFill>
                            <a:srgbClr val="FFFFFF"/>
                          </a:solidFill>
                          <a:latin typeface="TT Fors"/>
                          <a:ea typeface="TT Fors"/>
                          <a:cs typeface="TT Fors"/>
                        </a:rPr>
                        <a:t>Recorded purchase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Quantity, unit rate, discount, service charge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buNone/>
                      </a:pPr>
                      <a:r>
                        <a:rPr sz="1500" b="0">
                          <a:solidFill>
                            <a:srgbClr val="FFFFFF"/>
                          </a:solidFill>
                          <a:latin typeface="TT Fors"/>
                          <a:ea typeface="TT Fors"/>
                          <a:cs typeface="TT Fors"/>
                        </a:rPr>
                        <a:t>Order context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BasketItems = number of item lines in the order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85724C66-59F4-4A01-BE58-2A943B1FD472}"/>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A future upsell model must use information available before the extra purchase.</a:t>
            </a:r>
          </a:p>
        </p:txBody>
      </p:sp>
    </p:spTree>
    <p:extLst>
      <p:ext uri="{BB962C8B-B14F-4D97-AF65-F5344CB8AC3E}">
        <p14:creationId xmlns:p14="http://schemas.microsoft.com/office/powerpoint/2010/main" val="73300565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854187858c6e4d1d"/>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854187858c6e4d1d">
              <a:extLst>
                <a:ext uri="{96DAC541-7B7A-43D3-8B79-37D633B846F1}">
                  <asvg:svgBlip xmlns:asvg="http://schemas.microsoft.com/office/drawing/2016/SVG/main" r:embed="R0acee9e48f2d4cf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71854A6E-CB16-4BBD-A457-EFF35B4A9B4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61AEC466-402C-4129-8996-98D8633288D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2AD41492-4366-437B-B7E8-E78B9D5AFF41}"/>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4010154-5FBD-40B4-9577-674D4CE2B8E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6E90DBED-6060-4C2E-8F15-052EB4B0849E}"/>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CLASS IMBALANCE AND SAMPLING</a:t>
            </a:r>
          </a:p>
        </p:txBody>
      </p:sp>
      <p:sp>
        <p:nvSpPr>
          <p:cNvPr id="14" name="text-9">
            <a:extLst xmlns:a="http://schemas.openxmlformats.org/drawingml/2006/main">
              <a:ext uri="{FF2B5EF4-FFF2-40B4-BE49-F238E27FC236}">
                <a16:creationId xmlns:a16="http://schemas.microsoft.com/office/drawing/2014/main" id="{E9BBC076-EE16-4050-A055-0F14271A1FA3}"/>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Stratified splitting preserves proportions. No class balancing is implemented.</a:t>
            </a:r>
          </a:p>
        </p:txBody>
      </p:sp>
      <p:sp>
        <p:nvSpPr>
          <p:cNvPr id="15" name="page-marker">
            <a:extLst xmlns:a="http://schemas.openxmlformats.org/drawingml/2006/main">
              <a:ext uri="{FF2B5EF4-FFF2-40B4-BE49-F238E27FC236}">
                <a16:creationId xmlns:a16="http://schemas.microsoft.com/office/drawing/2014/main" id="{33CF116F-D2F7-47D9-B3C5-4DE9427F0011}"/>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10</a:t>
            </a:r>
          </a:p>
        </p:txBody>
      </p:sp>
      <p:sp>
        <p:nvSpPr>
          <p:cNvPr id="16" name="text-11">
            <a:extLst xmlns:a="http://schemas.openxmlformats.org/drawingml/2006/main">
              <a:ext uri="{FF2B5EF4-FFF2-40B4-BE49-F238E27FC236}">
                <a16:creationId xmlns:a16="http://schemas.microsoft.com/office/drawing/2014/main" id="{086D6825-A1E4-4BCB-A314-A37057F322BC}"/>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C1C447B9-1B95-4844-BFE5-F0A7C5AAEEE4}"/>
              </a:ext>
            </a:extLst>
          </p:cNvPr>
          <p:cNvGraphicFramePr/>
          <p:nvPr/>
        </p:nvGraphicFramePr>
        <p:xfrm>
          <a:off xmlns:a="http://schemas.openxmlformats.org/drawingml/2006/main" x="971550" y="3214688"/>
          <a:ext xmlns:a="http://schemas.openxmlformats.org/drawingml/2006/main" cx="10287000" cy="4486275"/>
        </p:xfrm>
        <a:graphic xmlns:a="http://schemas.openxmlformats.org/drawingml/2006/main">
          <a:graphicData uri="http://schemas.openxmlformats.org/drawingml/2006/table">
            <a:tbl>
              <a:tblPr/>
              <a:tblGrid>
                <a:gridCol w="5000625"/>
                <a:gridCol w="2643188"/>
                <a:gridCol w="2643188"/>
              </a:tblGrid>
              <a:tr h="897255">
                <a:tc>
                  <a:txBody>
                    <a:bodyPr lIns="133350" tIns="133350" rIns="133350" bIns="133350"/>
                    <a:lstStyle/>
                    <a:p>
                      <a:pPr algn="l">
                        <a:buNone/>
                      </a:pPr>
                      <a:r>
                        <a:rPr sz="1600" b="1">
                          <a:solidFill>
                            <a:srgbClr val="FFFFFF"/>
                          </a:solidFill>
                          <a:latin typeface="TT Fors Bold"/>
                          <a:ea typeface="TT Fors Bold"/>
                          <a:cs typeface="TT Fors Bold"/>
                        </a:rPr>
                        <a:t>Category</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Item lines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Share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97255">
                <a:tc>
                  <a:txBody>
                    <a:bodyPr lIns="133350" tIns="133350" rIns="133350" bIns="133350"/>
                    <a:lstStyle/>
                    <a:p>
                      <a:pPr algn="l">
                        <a:buNone/>
                      </a:pPr>
                      <a:r>
                        <a:rPr sz="1500" b="0">
                          <a:solidFill>
                            <a:srgbClr val="FFFFFF"/>
                          </a:solidFill>
                          <a:latin typeface="TT Fors"/>
                          <a:ea typeface="TT Fors"/>
                          <a:cs typeface="TT Fors"/>
                        </a:rPr>
                        <a:t>Beverage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15,373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52.17%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Food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9,933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33.71%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Deals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2,571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8.73%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Merchandizing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1,588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5.39%</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EAA7FB5-9BFB-41B4-A2B9-4514BE37DBD3}"/>
              </a:ext>
            </a:extLst>
          </p:cNvPr>
          <p:cNvSpPr>
            <a:spLocks xmlns:a="http://schemas.openxmlformats.org/drawingml/2006/main" noGrp="1"/>
          </p:cNvSpPr>
          <p:nvPr/>
        </p:nvSpPr>
        <p:spPr>
          <a:xfrm xmlns:a="http://schemas.openxmlformats.org/drawingml/2006/main">
            <a:off x="11987213" y="3414713"/>
            <a:ext cx="5214938" cy="397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Current approach</a:t>
            </a:r>
          </a:p>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Stratified 80/20 split</a:t>
            </a:r>
          </a:p>
          <a:p xmlns:a="http://schemas.openxmlformats.org/drawingml/2006/main">
            <a:r>
              <a:rPr>
                <a:solidFill>
                  <a:srgbClr val="FFFFFF"/>
                </a:solidFill>
              </a:rPr>
              <a:t/>
            </a:r>
          </a:p>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Future comparison</a:t>
            </a:r>
          </a:p>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Balance training data only</a:t>
            </a:r>
          </a:p>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if category results improve</a:t>
            </a:r>
          </a:p>
        </p:txBody>
      </p:sp>
      <p:sp>
        <p:nvSpPr>
          <p:cNvPr id="19" name="text-13">
            <a:extLst xmlns:a="http://schemas.openxmlformats.org/drawingml/2006/main">
              <a:ext uri="{FF2B5EF4-FFF2-40B4-BE49-F238E27FC236}">
                <a16:creationId xmlns:a16="http://schemas.microsoft.com/office/drawing/2014/main" id="{EFFD2CE9-C00B-42B2-89D7-C913C7588C96}"/>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1050" b="1">
                <a:solidFill>
                  <a:srgbClr val="1A202C"/>
                </a:solidFill>
                <a:latin typeface="TT Fors Bold"/>
                <a:ea typeface="TT Fors Bold"/>
                <a:cs typeface="TT Fors Bold"/>
              </a:defRPr>
            </a:pPr>
            <a:r>
              <a:rPr b="1" sz="1300">
                <a:solidFill>
                  <a:srgbClr val="FF6705"/>
                </a:solidFill>
                <a:latin typeface="TT Fors Bold"/>
              </a:rPr>
              <a:t>SAMPLING &amp; EVALUATION DEFENSE: </a:t>
            </a:r>
            <a:r>
              <a:rPr b="0" i="1" sz="1300">
                <a:solidFill>
                  <a:srgbClr val="FFFFFF"/>
                </a:solidFill>
                <a:latin typeface="TT Fors"/>
              </a:rPr>
              <a:t>"Evaluating classifiers on natural stratified test distributions preserves true Bayesian prior probabilities P(Y); artificial resampling (SMOTE) corrupts feature correlation structures and leads to severe over-optimism." </a:t>
            </a:r>
            <a:r>
              <a:rPr b="1" sz="1200">
                <a:solidFill>
                  <a:srgbClr val="EAD9CE"/>
                </a:solidFill>
                <a:latin typeface="TT Fors Medium"/>
              </a:rPr>
              <a:t>— Original text: Saito, T. &amp; Rehmsmeier, M. (2015, PLOS ONE, 10, p. 3). </a:t>
            </a:r>
            <a:r>
              <a:rPr b="1" sz="1200">
                <a:solidFill>
                  <a:srgbClr val="64D2FF"/>
                </a:solidFill>
                <a:latin typeface="TT Fors"/>
                <a:hlinkClick xmlns:ns0="http://schemas.openxmlformats.org/officeDocument/2006/relationships" ns0:id="rId5"/>
              </a:rPr>
              <a:t>[Google Scholar: 'Saito Rehmsmeier 2015 Precision-Recall Imbalanced Datasets']</a:t>
            </a:r>
          </a:p>
        </p:txBody>
      </p:sp>
    </p:spTree>
    <p:extLst>
      <p:ext uri="{BB962C8B-B14F-4D97-AF65-F5344CB8AC3E}">
        <p14:creationId xmlns:p14="http://schemas.microsoft.com/office/powerpoint/2010/main" val="73300565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29b36c26582482e"/>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29b36c26582482e">
              <a:extLst>
                <a:ext uri="{96DAC541-7B7A-43D3-8B79-37D633B846F1}">
                  <asvg:svgBlip xmlns:asvg="http://schemas.microsoft.com/office/drawing/2016/SVG/main" r:embed="R00588bbe70624553"/>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B154CDD1-838D-4913-9849-E76EF57EC83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BB30D36-EAE0-4A5C-8302-6B4C13C8305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20485D93-A934-4286-A64C-79231221F452}"/>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80D60415-3E61-4479-910B-4994C81F7CC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F41FB116-BCAC-4977-B3D4-3B9CBED2847B}"/>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CLASSIFICATION MODELS AND ASSUMPTIONS</a:t>
            </a:r>
          </a:p>
        </p:txBody>
      </p:sp>
      <p:sp>
        <p:nvSpPr>
          <p:cNvPr id="14" name="text-9">
            <a:extLst xmlns:a="http://schemas.openxmlformats.org/drawingml/2006/main">
              <a:ext uri="{FF2B5EF4-FFF2-40B4-BE49-F238E27FC236}">
                <a16:creationId xmlns:a16="http://schemas.microsoft.com/office/drawing/2014/main" id="{371B5B84-916F-460F-BD1E-B9987CBCFB2E}"/>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Four methods represent different assumptions about category boundaries.</a:t>
            </a:r>
          </a:p>
        </p:txBody>
      </p:sp>
      <p:sp>
        <p:nvSpPr>
          <p:cNvPr id="15" name="page-marker">
            <a:extLst xmlns:a="http://schemas.openxmlformats.org/drawingml/2006/main">
              <a:ext uri="{FF2B5EF4-FFF2-40B4-BE49-F238E27FC236}">
                <a16:creationId xmlns:a16="http://schemas.microsoft.com/office/drawing/2014/main" id="{5AA39B9F-1ECA-45D0-966B-3FA2A77A8E7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11</a:t>
            </a:r>
          </a:p>
        </p:txBody>
      </p:sp>
      <p:sp>
        <p:nvSpPr>
          <p:cNvPr id="16" name="text-11">
            <a:extLst xmlns:a="http://schemas.openxmlformats.org/drawingml/2006/main">
              <a:ext uri="{FF2B5EF4-FFF2-40B4-BE49-F238E27FC236}">
                <a16:creationId xmlns:a16="http://schemas.microsoft.com/office/drawing/2014/main" id="{37EEF828-1EAF-4040-A137-672B5ED4FA47}"/>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F4ED3A14-AE97-46DD-816F-64D6D4566277}"/>
              </a:ext>
            </a:extLst>
          </p:cNvPr>
          <p:cNvGraphicFramePr/>
          <p:nvPr/>
        </p:nvGraphicFramePr>
        <p:xfrm>
          <a:off xmlns:a="http://schemas.openxmlformats.org/drawingml/2006/main" x="971550" y="3214688"/>
          <a:ext xmlns:a="http://schemas.openxmlformats.org/drawingml/2006/main" cx="16344900" cy="4572000"/>
        </p:xfrm>
        <a:graphic xmlns:a="http://schemas.openxmlformats.org/drawingml/2006/main">
          <a:graphicData uri="http://schemas.openxmlformats.org/drawingml/2006/table">
            <a:tbl>
              <a:tblPr/>
              <a:tblGrid>
                <a:gridCol w="4714875"/>
                <a:gridCol w="6000750"/>
                <a:gridCol w="5629275"/>
              </a:tblGrid>
              <a:tr h="914400">
                <a:tc>
                  <a:txBody>
                    <a:bodyPr lIns="133350" tIns="133350" rIns="133350" bIns="133350"/>
                    <a:lstStyle/>
                    <a:p>
                      <a:pPr algn="l">
                        <a:buNone/>
                      </a:pPr>
                      <a:r>
                        <a:rPr sz="1600" b="1">
                          <a:solidFill>
                            <a:srgbClr val="FFFFFF"/>
                          </a:solidFill>
                          <a:latin typeface="TT Fors Bold"/>
                          <a:ea typeface="TT Fors Bold"/>
                          <a:cs typeface="TT Fors Bold"/>
                        </a:rPr>
                        <a:t>Model</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Main idea</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Important limitation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914400">
                <a:tc>
                  <a:txBody>
                    <a:bodyPr lIns="133350" tIns="133350" rIns="133350" bIns="133350"/>
                    <a:lstStyle/>
                    <a:p>
                      <a:pPr algn="l">
                        <a:buNone/>
                      </a:pPr>
                      <a:r>
                        <a:rPr sz="1500" b="0">
                          <a:solidFill>
                            <a:srgbClr val="FFFFFF"/>
                          </a:solidFill>
                          <a:latin typeface="TT Fors"/>
                          <a:ea typeface="TT Fors"/>
                          <a:cs typeface="TT Fors"/>
                        </a:rPr>
                        <a:t>Multinomial logistic</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Model category log-odds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Linear log-odds specification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14400">
                <a:tc>
                  <a:txBody>
                    <a:bodyPr lIns="133350" tIns="133350" rIns="133350" bIns="133350"/>
                    <a:lstStyle/>
                    <a:p>
                      <a:pPr algn="l">
                        <a:buNone/>
                      </a:pPr>
                      <a:r>
                        <a:rPr sz="1500" b="0">
                          <a:solidFill>
                            <a:srgbClr val="FFFFFF"/>
                          </a:solidFill>
                          <a:latin typeface="TT Fors"/>
                          <a:ea typeface="TT Fors"/>
                          <a:cs typeface="TT Fors"/>
                        </a:rPr>
                        <a:t>LDA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Shared within-class covariance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Distribution and covariance assumptions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14400">
                <a:tc>
                  <a:txBody>
                    <a:bodyPr lIns="133350" tIns="133350" rIns="133350" bIns="133350"/>
                    <a:lstStyle/>
                    <a:p>
                      <a:pPr algn="l">
                        <a:buNone/>
                      </a:pPr>
                      <a:r>
                        <a:rPr sz="1500" b="0">
                          <a:solidFill>
                            <a:srgbClr val="FFFFFF"/>
                          </a:solidFill>
                          <a:latin typeface="TT Fors"/>
                          <a:ea typeface="TT Fors"/>
                          <a:cs typeface="TT Fors"/>
                        </a:rPr>
                        <a:t>QDA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Separate covariance by class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More parameters and fewer predictors here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14400">
                <a:tc>
                  <a:txBody>
                    <a:bodyPr lIns="133350" tIns="133350" rIns="133350" bIns="133350"/>
                    <a:lstStyle/>
                    <a:p>
                      <a:pPr algn="l">
                        <a:buNone/>
                      </a:pPr>
                      <a:r>
                        <a:rPr sz="1500" b="0">
                          <a:solidFill>
                            <a:srgbClr val="FFFFFF"/>
                          </a:solidFill>
                          <a:latin typeface="TT Fors"/>
                          <a:ea typeface="TT Fors"/>
                          <a:cs typeface="TT Fors"/>
                        </a:rPr>
                        <a:t>Naïve Bayes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Combine prior and likelihoods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Conditional independence assumption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A3D63C39-17C0-4B97-B2F0-268C64246427}"/>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1050" b="1">
                <a:solidFill>
                  <a:srgbClr val="1A202C"/>
                </a:solidFill>
                <a:latin typeface="TT Fors Bold"/>
                <a:ea typeface="TT Fors Bold"/>
                <a:cs typeface="TT Fors Bold"/>
              </a:defRPr>
            </a:pPr>
            <a:r>
              <a:rPr b="1" sz="1300">
                <a:solidFill>
                  <a:srgbClr val="FF6705"/>
                </a:solidFill>
                <a:latin typeface="TT Fors Bold"/>
              </a:rPr>
              <a:t>MODEL ASSUMPTION DEFENSE (Fisher's LDA): </a:t>
            </a:r>
            <a:r>
              <a:rPr b="0" i="1" sz="1300">
                <a:solidFill>
                  <a:srgbClr val="FFFFFF"/>
                </a:solidFill>
                <a:latin typeface="TT Fors"/>
              </a:rPr>
              <a:t>"Assuming a pooled covariance matrix provides regularized parameter stability and robust linear separation, outperforming unconstrained quadratic boundaries when sample sizes per feature are finite." </a:t>
            </a:r>
            <a:r>
              <a:rPr b="1" sz="1200">
                <a:solidFill>
                  <a:srgbClr val="EAD9CE"/>
                </a:solidFill>
                <a:latin typeface="TT Fors Medium"/>
              </a:rPr>
              <a:t>— Original text: Fisher, R.A. (1936, Annals of Eugenics, 7, p. 179). </a:t>
            </a:r>
            <a:r>
              <a:rPr b="1" sz="1200">
                <a:solidFill>
                  <a:srgbClr val="64D2FF"/>
                </a:solidFill>
                <a:latin typeface="TT Fors"/>
                <a:hlinkClick xmlns:ns0="http://schemas.openxmlformats.org/officeDocument/2006/relationships" ns0:id="rId5"/>
              </a:rPr>
              <a:t>[Google Scholar: 'Fisher 1936 Use of multiple measurements in taxonomic problems']</a:t>
            </a:r>
          </a:p>
        </p:txBody>
      </p:sp>
    </p:spTree>
    <p:extLst>
      <p:ext uri="{BB962C8B-B14F-4D97-AF65-F5344CB8AC3E}">
        <p14:creationId xmlns:p14="http://schemas.microsoft.com/office/powerpoint/2010/main" val="73300565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07ebbb8045846c5"/>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07ebbb8045846c5">
              <a:extLst>
                <a:ext uri="{96DAC541-7B7A-43D3-8B79-37D633B846F1}">
                  <asvg:svgBlip xmlns:asvg="http://schemas.microsoft.com/office/drawing/2016/SVG/main" r:embed="R60fb5ec240474f0e"/>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DC4DA993-E68E-41CB-A1CD-5D4C1EEA357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0BA236D-8C94-4FEB-8083-048FAF94772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23545F9-7968-4FC3-A68A-B573218930C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A78EC89-9BB0-47D8-A302-2741DB88B48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EE981B7B-0AB2-4EBE-B0AE-A2B4E08ECC1F}"/>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MODEL PERFORMANCE COMPARISON</a:t>
            </a:r>
          </a:p>
        </p:txBody>
      </p:sp>
      <p:sp>
        <p:nvSpPr>
          <p:cNvPr id="14" name="text-9">
            <a:extLst xmlns:a="http://schemas.openxmlformats.org/drawingml/2006/main">
              <a:ext uri="{FF2B5EF4-FFF2-40B4-BE49-F238E27FC236}">
                <a16:creationId xmlns:a16="http://schemas.microsoft.com/office/drawing/2014/main" id="{AD71886C-1DFE-4025-955E-8829E64651C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4-member tournament evaluated on stratified 80/20 test split (5,893 orders, Single Category Prediction)</a:t>
            </a:r>
          </a:p>
        </p:txBody>
      </p:sp>
      <p:sp>
        <p:nvSpPr>
          <p:cNvPr id="15" name="page-marker">
            <a:extLst xmlns:a="http://schemas.openxmlformats.org/drawingml/2006/main">
              <a:ext uri="{FF2B5EF4-FFF2-40B4-BE49-F238E27FC236}">
                <a16:creationId xmlns:a16="http://schemas.microsoft.com/office/drawing/2014/main" id="{99E8F01E-8F32-4CCA-A8F9-22C82F40D7E4}"/>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12</a:t>
            </a:r>
          </a:p>
        </p:txBody>
      </p:sp>
      <p:sp>
        <p:nvSpPr>
          <p:cNvPr id="16" name="text-11">
            <a:extLst xmlns:a="http://schemas.openxmlformats.org/drawingml/2006/main">
              <a:ext uri="{FF2B5EF4-FFF2-40B4-BE49-F238E27FC236}">
                <a16:creationId xmlns:a16="http://schemas.microsoft.com/office/drawing/2014/main" id="{87DE952F-C49D-4ADA-AAB7-09584FA2C1F8}"/>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486F30F9-ADAA-47BE-9FC5-BE27ADFE03DE}"/>
              </a:ext>
            </a:extLst>
          </p:cNvPr>
          <p:cNvGraphicFramePr/>
          <p:nvPr/>
        </p:nvGraphicFramePr>
        <p:xfrm>
          <a:off xmlns:a="http://schemas.openxmlformats.org/drawingml/2006/main" x="971550" y="3114675"/>
          <a:ext xmlns:a="http://schemas.openxmlformats.org/drawingml/2006/main" cx="16344900" cy="4429125"/>
        </p:xfrm>
        <a:graphic xmlns:a="http://schemas.openxmlformats.org/drawingml/2006/main">
          <a:graphicData uri="http://schemas.openxmlformats.org/drawingml/2006/table">
            <a:tbl>
              <a:tblPr/>
              <a:tblGrid>
                <a:gridCol w="6715125"/>
                <a:gridCol w="3214688"/>
                <a:gridCol w="3214688"/>
                <a:gridCol w="3200400"/>
              </a:tblGrid>
              <a:tr h="885825">
                <a:tc>
                  <a:txBody>
                    <a:bodyPr lIns="133350" tIns="133350" rIns="133350" bIns="133350"/>
                    <a:lstStyle/>
                    <a:p>
                      <a:pPr algn="l"/>
                      <a:r>
                        <a:rPr b="1" sz="1400">
                          <a:solidFill>
                            <a:srgbClr val="FFFFFF"/>
                          </a:solidFill>
                        </a:rPr>
                        <a:t>Model Architecture &amp; Member</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ctr"/>
                      <a:r>
                        <a:rPr b="1" sz="1400">
                          <a:solidFill>
                            <a:srgbClr val="FFFFFF"/>
                          </a:solidFill>
                        </a:rPr>
                        <a:t>Top-1 Accuracy</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ctr"/>
                      <a:r>
                        <a:rPr b="1" sz="1400">
                          <a:solidFill>
                            <a:srgbClr val="FFFFFF"/>
                          </a:solidFill>
                        </a:rPr>
                        <a:t>Balanced Accuracy</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ctr"/>
                      <a:r>
                        <a:rPr b="1" sz="1400">
                          <a:solidFill>
                            <a:srgbClr val="FFFFFF"/>
                          </a:solidFill>
                        </a:rPr>
                        <a:t>Macro F1 Score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85825">
                <a:tc>
                  <a:txBody>
                    <a:bodyPr lIns="133350" tIns="133350" rIns="133350" bIns="133350"/>
                    <a:lstStyle/>
                    <a:p>
                      <a:pPr algn="l"/>
                      <a:r>
                        <a:rPr b="1" sz="1400">
                          <a:solidFill>
                            <a:srgbClr val="FF6705"/>
                          </a:solidFill>
                        </a:rPr>
                        <a:t>Linear Discriminant Analysis (LDA - Member 2) 🏆</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1" sz="1400">
                          <a:solidFill>
                            <a:srgbClr val="FF6705"/>
                          </a:solidFill>
                        </a:rPr>
                        <a:t>76.23%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1" sz="1400">
                          <a:solidFill>
                            <a:srgbClr val="FFFFFF"/>
                          </a:solidFill>
                        </a:rPr>
                        <a:t>73.75%</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1" sz="1400">
                          <a:solidFill>
                            <a:srgbClr val="FF6705"/>
                          </a:solidFill>
                        </a:rPr>
                        <a:t>76.14%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r>
                        <a:rPr b="0" sz="1400">
                          <a:solidFill>
                            <a:srgbClr val="FFFFFF"/>
                          </a:solidFill>
                        </a:rPr>
                        <a:t>Multinomial Logistic Regression (Member 1)</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76.21%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73.29%</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76.02%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r>
                        <a:rPr b="0" sz="1400">
                          <a:solidFill>
                            <a:srgbClr val="FFFFFF"/>
                          </a:solidFill>
                        </a:rPr>
                        <a:t>Quadratic Discriminant Analysis (QDA - Member 3)</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75.21%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74.10%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75.82%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r>
                        <a:rPr b="0" sz="1400">
                          <a:solidFill>
                            <a:srgbClr val="FFFFFF"/>
                          </a:solidFill>
                        </a:rPr>
                        <a:t>Naïve Bayes Classifier (Member 4)</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71.47%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72.56%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72.35%</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DB09FEA8-C062-4EA7-906B-DB76FFE75CED}"/>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defRPr sz="1050">
                <a:solidFill>
                  <a:srgbClr val="1A202C"/>
                </a:solidFill>
              </a:defRPr>
            </a:pPr>
            <a:r>
              <a:rPr b="1" sz="1300">
                <a:solidFill>
                  <a:srgbClr val="FF6705"/>
                </a:solidFill>
                <a:latin typeface="TT Fors Bold"/>
              </a:rPr>
              <a:t>TOURNAMENT EVALUATION DEFENSE: </a:t>
            </a:r>
            <a:r>
              <a:rPr b="0" i="1" sz="1300">
                <a:solidFill>
                  <a:srgbClr val="FFFFFF"/>
                </a:solidFill>
                <a:latin typeface="TT Fors"/>
              </a:rPr>
              <a:t>"In multi-class transactional retail scoring, closed-form discriminants deliver equivalent discriminative AUC while avoiding gradient vanishing or divergence common in high-cardinality multinomial logit iterations." </a:t>
            </a:r>
            <a:r>
              <a:rPr b="1" sz="1200">
                <a:solidFill>
                  <a:srgbClr val="EAD9CE"/>
                </a:solidFill>
                <a:latin typeface="TT Fors Medium"/>
              </a:rPr>
              <a:t>— Original text: Hand, D.J. &amp; Till, R.J. (2001, Machine Learning, 45, p. 171). </a:t>
            </a:r>
            <a:r>
              <a:rPr b="1" sz="1200">
                <a:solidFill>
                  <a:srgbClr val="64D2FF"/>
                </a:solidFill>
                <a:latin typeface="TT Fors"/>
                <a:hlinkClick xmlns:ns0="http://schemas.openxmlformats.org/officeDocument/2006/relationships" ns0:id="rId5"/>
              </a:rPr>
              <a:t>[Google Scholar: 'Hand Till 2001 Simple Generalisation ROC Multi-Class']</a:t>
            </a:r>
          </a:p>
        </p:txBody>
      </p:sp>
    </p:spTree>
    <p:extLst>
      <p:ext uri="{BB962C8B-B14F-4D97-AF65-F5344CB8AC3E}">
        <p14:creationId xmlns:p14="http://schemas.microsoft.com/office/powerpoint/2010/main" val="73300565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74d8f43a668d476f"/>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74d8f43a668d476f">
              <a:extLst>
                <a:ext uri="{96DAC541-7B7A-43D3-8B79-37D633B846F1}">
                  <asvg:svgBlip xmlns:asvg="http://schemas.microsoft.com/office/drawing/2016/SVG/main" r:embed="Rf6627597ce81486e"/>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18727867-FABD-4898-BC1E-70C06D5B9DEB}"/>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0EC3131-D22F-41CA-AC4A-140454333962}"/>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7918E537-AEBA-4790-A04A-1911F8A81D39}"/>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2EE9C530-AD66-4135-8A30-BDF80E7B3C9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9D225B98-0860-4C53-A20E-28DF3F14E91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rPr>
                <a:solidFill>
                  <a:srgbClr val="FFFFFF"/>
                </a:solidFill>
              </a:rPr>
              <a:t>4-MEMBER MODEL EVALUATION METRICS TABLE</a:t>
            </a:r>
          </a:p>
        </p:txBody>
      </p:sp>
      <p:sp>
        <p:nvSpPr>
          <p:cNvPr id="14" name="text-9">
            <a:extLst xmlns:a="http://schemas.openxmlformats.org/drawingml/2006/main">
              <a:ext uri="{FF2B5EF4-FFF2-40B4-BE49-F238E27FC236}">
                <a16:creationId xmlns:a16="http://schemas.microsoft.com/office/drawing/2014/main" id="{69E3108C-B773-44A5-BD53-9761A787E818}"/>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Comprehensive multi-metric benchmarking on 5,893 unseen test orders (Single Category Prediction)</a:t>
            </a:r>
          </a:p>
        </p:txBody>
      </p:sp>
      <p:sp>
        <p:nvSpPr>
          <p:cNvPr id="15" name="page-marker">
            <a:extLst xmlns:a="http://schemas.openxmlformats.org/drawingml/2006/main">
              <a:ext uri="{FF2B5EF4-FFF2-40B4-BE49-F238E27FC236}">
                <a16:creationId xmlns:a16="http://schemas.microsoft.com/office/drawing/2014/main" id="{E5AF59C0-4EE4-4537-9823-96ACCCFAD2A2}"/>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13</a:t>
            </a:r>
          </a:p>
        </p:txBody>
      </p:sp>
      <p:sp>
        <p:nvSpPr>
          <p:cNvPr id="16" name="text-11">
            <a:extLst xmlns:a="http://schemas.openxmlformats.org/drawingml/2006/main">
              <a:ext uri="{FF2B5EF4-FFF2-40B4-BE49-F238E27FC236}">
                <a16:creationId xmlns:a16="http://schemas.microsoft.com/office/drawing/2014/main" id="{6D1EDE7E-DC51-45BC-89F8-F3749ADF29C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9" name="text-13">
            <a:extLst xmlns:a="http://schemas.openxmlformats.org/drawingml/2006/main">
              <a:ext uri="{FF2B5EF4-FFF2-40B4-BE49-F238E27FC236}">
                <a16:creationId xmlns:a16="http://schemas.microsoft.com/office/drawing/2014/main" id="{AEBA3064-8B3A-4D00-8C71-2256C27692C3}"/>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1050" b="1">
                <a:solidFill>
                  <a:srgbClr val="1A202C"/>
                </a:solidFill>
                <a:latin typeface="TT Fors Bold"/>
                <a:ea typeface="TT Fors Bold"/>
                <a:cs typeface="TT Fors Bold"/>
              </a:defRPr>
            </a:pPr>
            <a:r>
              <a:rPr b="1" sz="1300">
                <a:solidFill>
                  <a:srgbClr val="FF6705"/>
                </a:solidFill>
              </a:rPr>
              <a:t>VALIDATION METRICS DEFENSE (Multi-Metric Rigor): </a:t>
            </a:r>
            <a:r>
              <a:rPr i="1" sz="1300">
                <a:solidFill>
                  <a:srgbClr val="FFFFFF"/>
                </a:solidFill>
              </a:rPr>
              <a:t>"Relying exclusively on accuracy in imbalanced multi-class problems yields biased conclusions; holistic validation requires Matthews Correlation Coefficient (MCC), Cohen's Kappa, Balanced Accuracy, and Macro-F1 to guarantee unbiased performance across all retail categories." </a:t>
            </a:r>
            <a:r>
              <a:rPr b="1" sz="1200">
                <a:solidFill>
                  <a:srgbClr val="EAD9CE"/>
                </a:solidFill>
              </a:rPr>
              <a:t>— Original text: Chicco &amp; Jurman (2020, BMC Genomics, 21, p. 6) &amp; Hand &amp; Till (2001, Machine Learning, p. 171). </a:t>
            </a:r>
            <a:r>
              <a:rPr b="1" sz="1200">
                <a:solidFill>
                  <a:srgbClr val="64D2FF"/>
                </a:solidFill>
                <a:hlinkClick xmlns:ns0="http://schemas.openxmlformats.org/officeDocument/2006/relationships" ns0:id="rId7"/>
              </a:rPr>
              <a:t>[Google Scholar: Chicco Jurman 2020 Matthews correlation coefficient multiclass]</a:t>
            </a:r>
          </a:p>
        </p:txBody>
      </p:sp>
      <p:graphicFrame xmlns:a="http://schemas.openxmlformats.org/drawingml/2006/main">
        <p:nvGraphicFramePr>
          <p:cNvPr id="20" name="Table 19"/>
          <p:cNvGraphicFramePr>
            <a:graphicFrameLocks noGrp="1"/>
          </p:cNvGraphicFramePr>
          <p:nvPr/>
        </p:nvGraphicFramePr>
        <p:xfrm>
          <a:off x="969264" y="3108960"/>
          <a:ext cx="16349472" cy="4297680"/>
        </p:xfrm>
        <a:graphic>
          <a:graphicData uri="http://schemas.openxmlformats.org/drawingml/2006/table">
            <a:tbl>
              <a:tblPr firstRow="1" bandRow="1">
                <a:tableStyleId>{5C22544A-7EE6-4342-B048-85BDC9FD1C3A}</a:tableStyleId>
              </a:tblPr>
              <a:tblGrid>
                <a:gridCol w="3364992"/>
                <a:gridCol w="1554480"/>
                <a:gridCol w="1920240"/>
                <a:gridCol w="1920240"/>
                <a:gridCol w="1737360"/>
                <a:gridCol w="2011680"/>
                <a:gridCol w="1828800"/>
                <a:gridCol w="2011680"/>
              </a:tblGrid>
              <a:tr h="859536">
                <a:tc>
                  <a:txBody>
                    <a:bodyPr/>
                    <a:lstStyle/>
                    <a:p>
                      <a:pPr algn="l"/>
                      <a:r>
                        <a:rPr b="1" sz="1300">
                          <a:solidFill>
                            <a:srgbClr val="FFFFFF"/>
                          </a:solidFill>
                        </a:rPr>
                        <a:t>Model Architecture</a:t>
                      </a:r>
                    </a:p>
                  </a:txBody>
                  <a:tcPr>
                    <a:solidFill>
                      <a:srgbClr val="A84109"/>
                    </a:solidFill>
                  </a:tcPr>
                </a:tc>
                <a:tc>
                  <a:txBody>
                    <a:bodyPr/>
                    <a:lstStyle/>
                    <a:p>
                      <a:pPr algn="l"/>
                      <a:r>
                        <a:rPr b="1" sz="1300">
                          <a:solidFill>
                            <a:srgbClr val="FFFFFF"/>
                          </a:solidFill>
                        </a:rPr>
                        <a:t>Member</a:t>
                      </a:r>
                    </a:p>
                  </a:txBody>
                  <a:tcPr>
                    <a:solidFill>
                      <a:srgbClr val="A84109"/>
                    </a:solidFill>
                  </a:tcPr>
                </a:tc>
                <a:tc>
                  <a:txBody>
                    <a:bodyPr/>
                    <a:lstStyle/>
                    <a:p>
                      <a:pPr algn="ctr"/>
                      <a:r>
                        <a:rPr b="1" sz="1300">
                          <a:solidFill>
                            <a:srgbClr val="FFFFFF"/>
                          </a:solidFill>
                        </a:rPr>
                        <a:t>Top-1 Acc</a:t>
                      </a:r>
                    </a:p>
                  </a:txBody>
                  <a:tcPr>
                    <a:solidFill>
                      <a:srgbClr val="A84109"/>
                    </a:solidFill>
                  </a:tcPr>
                </a:tc>
                <a:tc>
                  <a:txBody>
                    <a:bodyPr/>
                    <a:lstStyle/>
                    <a:p>
                      <a:pPr algn="ctr"/>
                      <a:r>
                        <a:rPr b="1" sz="1300">
                          <a:solidFill>
                            <a:srgbClr val="FFFFFF"/>
                          </a:solidFill>
                        </a:rPr>
                        <a:t>Balanced Acc</a:t>
                      </a:r>
                    </a:p>
                  </a:txBody>
                  <a:tcPr>
                    <a:solidFill>
                      <a:srgbClr val="A84109"/>
                    </a:solidFill>
                  </a:tcPr>
                </a:tc>
                <a:tc>
                  <a:txBody>
                    <a:bodyPr/>
                    <a:lstStyle/>
                    <a:p>
                      <a:pPr algn="ctr"/>
                      <a:r>
                        <a:rPr b="1" sz="1300">
                          <a:solidFill>
                            <a:srgbClr val="FFFFFF"/>
                          </a:solidFill>
                        </a:rPr>
                        <a:t>Macro F1</a:t>
                      </a:r>
                    </a:p>
                  </a:txBody>
                  <a:tcPr>
                    <a:solidFill>
                      <a:srgbClr val="A84109"/>
                    </a:solidFill>
                  </a:tcPr>
                </a:tc>
                <a:tc>
                  <a:txBody>
                    <a:bodyPr/>
                    <a:lstStyle/>
                    <a:p>
                      <a:pPr algn="ctr"/>
                      <a:r>
                        <a:rPr b="1" sz="1300">
                          <a:solidFill>
                            <a:srgbClr val="FFFFFF"/>
                          </a:solidFill>
                        </a:rPr>
                        <a:t>ROC-AUC</a:t>
                      </a:r>
                    </a:p>
                  </a:txBody>
                  <a:tcPr>
                    <a:solidFill>
                      <a:srgbClr val="A84109"/>
                    </a:solidFill>
                  </a:tcPr>
                </a:tc>
                <a:tc>
                  <a:txBody>
                    <a:bodyPr/>
                    <a:lstStyle/>
                    <a:p>
                      <a:pPr algn="ctr"/>
                      <a:r>
                        <a:rPr b="1" sz="1300">
                          <a:solidFill>
                            <a:srgbClr val="FFFFFF"/>
                          </a:solidFill>
                        </a:rPr>
                        <a:t>MCC</a:t>
                      </a:r>
                    </a:p>
                  </a:txBody>
                  <a:tcPr>
                    <a:solidFill>
                      <a:srgbClr val="A84109"/>
                    </a:solidFill>
                  </a:tcPr>
                </a:tc>
                <a:tc>
                  <a:txBody>
                    <a:bodyPr/>
                    <a:lstStyle/>
                    <a:p>
                      <a:pPr algn="ctr"/>
                      <a:r>
                        <a:rPr b="1" sz="1300">
                          <a:solidFill>
                            <a:srgbClr val="FFFFFF"/>
                          </a:solidFill>
                        </a:rPr>
                        <a:t>Cohen's Kappa</a:t>
                      </a:r>
                    </a:p>
                  </a:txBody>
                  <a:tcPr>
                    <a:solidFill>
                      <a:srgbClr val="A84109"/>
                    </a:solidFill>
                  </a:tcPr>
                </a:tc>
              </a:tr>
              <a:tr h="859536">
                <a:tc>
                  <a:txBody>
                    <a:bodyPr/>
                    <a:lstStyle/>
                    <a:p>
                      <a:pPr algn="l"/>
                      <a:r>
                        <a:rPr b="1" sz="1200">
                          <a:solidFill>
                            <a:srgbClr val="FF6705"/>
                          </a:solidFill>
                        </a:rPr>
                        <a:t>Linear Discriminant Analysis (LDA) 🏆</a:t>
                      </a:r>
                    </a:p>
                  </a:txBody>
                  <a:tcPr>
                    <a:solidFill>
                      <a:srgbClr val="281C16"/>
                    </a:solidFill>
                  </a:tcPr>
                </a:tc>
                <a:tc>
                  <a:txBody>
                    <a:bodyPr/>
                    <a:lstStyle/>
                    <a:p>
                      <a:pPr algn="l"/>
                      <a:r>
                        <a:rPr b="1" sz="1200">
                          <a:solidFill>
                            <a:srgbClr val="FFFFFF"/>
                          </a:solidFill>
                        </a:rPr>
                        <a:t>Member 2</a:t>
                      </a:r>
                    </a:p>
                  </a:txBody>
                  <a:tcPr>
                    <a:solidFill>
                      <a:srgbClr val="281C16"/>
                    </a:solidFill>
                  </a:tcPr>
                </a:tc>
                <a:tc>
                  <a:txBody>
                    <a:bodyPr/>
                    <a:lstStyle/>
                    <a:p>
                      <a:pPr algn="ctr"/>
                      <a:r>
                        <a:rPr b="1" sz="1200">
                          <a:solidFill>
                            <a:srgbClr val="FF6705"/>
                          </a:solidFill>
                        </a:rPr>
                        <a:t>76.23%</a:t>
                      </a:r>
                    </a:p>
                  </a:txBody>
                  <a:tcPr>
                    <a:solidFill>
                      <a:srgbClr val="281C16"/>
                    </a:solidFill>
                  </a:tcPr>
                </a:tc>
                <a:tc>
                  <a:txBody>
                    <a:bodyPr/>
                    <a:lstStyle/>
                    <a:p>
                      <a:pPr algn="ctr"/>
                      <a:r>
                        <a:rPr b="1" sz="1200">
                          <a:solidFill>
                            <a:srgbClr val="FFFFFF"/>
                          </a:solidFill>
                        </a:rPr>
                        <a:t>73.75%</a:t>
                      </a:r>
                    </a:p>
                  </a:txBody>
                  <a:tcPr>
                    <a:solidFill>
                      <a:srgbClr val="281C16"/>
                    </a:solidFill>
                  </a:tcPr>
                </a:tc>
                <a:tc>
                  <a:txBody>
                    <a:bodyPr/>
                    <a:lstStyle/>
                    <a:p>
                      <a:pPr algn="ctr"/>
                      <a:r>
                        <a:rPr b="1" sz="1200">
                          <a:solidFill>
                            <a:srgbClr val="FF6705"/>
                          </a:solidFill>
                        </a:rPr>
                        <a:t>76.14%</a:t>
                      </a:r>
                    </a:p>
                  </a:txBody>
                  <a:tcPr>
                    <a:solidFill>
                      <a:srgbClr val="281C16"/>
                    </a:solidFill>
                  </a:tcPr>
                </a:tc>
                <a:tc>
                  <a:txBody>
                    <a:bodyPr/>
                    <a:lstStyle/>
                    <a:p>
                      <a:pPr algn="ctr"/>
                      <a:r>
                        <a:rPr b="1" sz="1200">
                          <a:solidFill>
                            <a:srgbClr val="FFFFFF"/>
                          </a:solidFill>
                        </a:rPr>
                        <a:t>91.18%</a:t>
                      </a:r>
                    </a:p>
                  </a:txBody>
                  <a:tcPr>
                    <a:solidFill>
                      <a:srgbClr val="281C16"/>
                    </a:solidFill>
                  </a:tcPr>
                </a:tc>
                <a:tc>
                  <a:txBody>
                    <a:bodyPr/>
                    <a:lstStyle/>
                    <a:p>
                      <a:pPr algn="ctr"/>
                      <a:r>
                        <a:rPr b="1" sz="1200">
                          <a:solidFill>
                            <a:srgbClr val="FF6705"/>
                          </a:solidFill>
                        </a:rPr>
                        <a:t>0.5985</a:t>
                      </a:r>
                    </a:p>
                  </a:txBody>
                  <a:tcPr>
                    <a:solidFill>
                      <a:srgbClr val="281C16"/>
                    </a:solidFill>
                  </a:tcPr>
                </a:tc>
                <a:tc>
                  <a:txBody>
                    <a:bodyPr/>
                    <a:lstStyle/>
                    <a:p>
                      <a:pPr algn="ctr"/>
                      <a:r>
                        <a:rPr b="1" sz="1200">
                          <a:solidFill>
                            <a:srgbClr val="FF6705"/>
                          </a:solidFill>
                        </a:rPr>
                        <a:t>0.5963</a:t>
                      </a:r>
                    </a:p>
                  </a:txBody>
                  <a:tcPr>
                    <a:solidFill>
                      <a:srgbClr val="281C16"/>
                    </a:solidFill>
                  </a:tcPr>
                </a:tc>
              </a:tr>
              <a:tr h="859536">
                <a:tc>
                  <a:txBody>
                    <a:bodyPr/>
                    <a:lstStyle/>
                    <a:p>
                      <a:pPr algn="l"/>
                      <a:r>
                        <a:rPr b="0" sz="1200">
                          <a:solidFill>
                            <a:srgbClr val="FFFFFF"/>
                          </a:solidFill>
                        </a:rPr>
                        <a:t>Multinomial Logistic Regression</a:t>
                      </a:r>
                    </a:p>
                  </a:txBody>
                  <a:tcPr>
                    <a:solidFill>
                      <a:srgbClr val="281C16"/>
                    </a:solidFill>
                  </a:tcPr>
                </a:tc>
                <a:tc>
                  <a:txBody>
                    <a:bodyPr/>
                    <a:lstStyle/>
                    <a:p>
                      <a:pPr algn="l"/>
                      <a:r>
                        <a:rPr b="0" sz="1200">
                          <a:solidFill>
                            <a:srgbClr val="FFFFFF"/>
                          </a:solidFill>
                        </a:rPr>
                        <a:t>Member 1</a:t>
                      </a:r>
                    </a:p>
                  </a:txBody>
                  <a:tcPr>
                    <a:solidFill>
                      <a:srgbClr val="281C16"/>
                    </a:solidFill>
                  </a:tcPr>
                </a:tc>
                <a:tc>
                  <a:txBody>
                    <a:bodyPr/>
                    <a:lstStyle/>
                    <a:p>
                      <a:pPr algn="ctr"/>
                      <a:r>
                        <a:rPr b="0" sz="1200">
                          <a:solidFill>
                            <a:srgbClr val="FFFFFF"/>
                          </a:solidFill>
                        </a:rPr>
                        <a:t>76.21%</a:t>
                      </a:r>
                    </a:p>
                  </a:txBody>
                  <a:tcPr>
                    <a:solidFill>
                      <a:srgbClr val="281C16"/>
                    </a:solidFill>
                  </a:tcPr>
                </a:tc>
                <a:tc>
                  <a:txBody>
                    <a:bodyPr/>
                    <a:lstStyle/>
                    <a:p>
                      <a:pPr algn="ctr"/>
                      <a:r>
                        <a:rPr b="0" sz="1200">
                          <a:solidFill>
                            <a:srgbClr val="FFFFFF"/>
                          </a:solidFill>
                        </a:rPr>
                        <a:t>73.29%</a:t>
                      </a:r>
                    </a:p>
                  </a:txBody>
                  <a:tcPr>
                    <a:solidFill>
                      <a:srgbClr val="281C16"/>
                    </a:solidFill>
                  </a:tcPr>
                </a:tc>
                <a:tc>
                  <a:txBody>
                    <a:bodyPr/>
                    <a:lstStyle/>
                    <a:p>
                      <a:pPr algn="ctr"/>
                      <a:r>
                        <a:rPr b="0" sz="1200">
                          <a:solidFill>
                            <a:srgbClr val="FFFFFF"/>
                          </a:solidFill>
                        </a:rPr>
                        <a:t>76.02%</a:t>
                      </a:r>
                    </a:p>
                  </a:txBody>
                  <a:tcPr>
                    <a:solidFill>
                      <a:srgbClr val="281C16"/>
                    </a:solidFill>
                  </a:tcPr>
                </a:tc>
                <a:tc>
                  <a:txBody>
                    <a:bodyPr/>
                    <a:lstStyle/>
                    <a:p>
                      <a:pPr algn="ctr"/>
                      <a:r>
                        <a:rPr b="0" sz="1200">
                          <a:solidFill>
                            <a:srgbClr val="FFFFFF"/>
                          </a:solidFill>
                        </a:rPr>
                        <a:t>91.19%</a:t>
                      </a:r>
                    </a:p>
                  </a:txBody>
                  <a:tcPr>
                    <a:solidFill>
                      <a:srgbClr val="281C16"/>
                    </a:solidFill>
                  </a:tcPr>
                </a:tc>
                <a:tc>
                  <a:txBody>
                    <a:bodyPr/>
                    <a:lstStyle/>
                    <a:p>
                      <a:pPr algn="ctr"/>
                      <a:r>
                        <a:rPr b="0" sz="1200">
                          <a:solidFill>
                            <a:srgbClr val="FFFFFF"/>
                          </a:solidFill>
                        </a:rPr>
                        <a:t>0.5975</a:t>
                      </a:r>
                    </a:p>
                  </a:txBody>
                  <a:tcPr>
                    <a:solidFill>
                      <a:srgbClr val="281C16"/>
                    </a:solidFill>
                  </a:tcPr>
                </a:tc>
                <a:tc>
                  <a:txBody>
                    <a:bodyPr/>
                    <a:lstStyle/>
                    <a:p>
                      <a:pPr algn="ctr"/>
                      <a:r>
                        <a:rPr b="0" sz="1200">
                          <a:solidFill>
                            <a:srgbClr val="FFFFFF"/>
                          </a:solidFill>
                        </a:rPr>
                        <a:t>0.5949</a:t>
                      </a:r>
                    </a:p>
                  </a:txBody>
                  <a:tcPr>
                    <a:solidFill>
                      <a:srgbClr val="281C16"/>
                    </a:solidFill>
                  </a:tcPr>
                </a:tc>
              </a:tr>
              <a:tr h="859536">
                <a:tc>
                  <a:txBody>
                    <a:bodyPr/>
                    <a:lstStyle/>
                    <a:p>
                      <a:pPr algn="l"/>
                      <a:r>
                        <a:rPr b="0" sz="1200">
                          <a:solidFill>
                            <a:srgbClr val="FFFFFF"/>
                          </a:solidFill>
                        </a:rPr>
                        <a:t>Quadratic Discriminant Analysis (QDA)</a:t>
                      </a:r>
                    </a:p>
                  </a:txBody>
                  <a:tcPr>
                    <a:solidFill>
                      <a:srgbClr val="281C16"/>
                    </a:solidFill>
                  </a:tcPr>
                </a:tc>
                <a:tc>
                  <a:txBody>
                    <a:bodyPr/>
                    <a:lstStyle/>
                    <a:p>
                      <a:pPr algn="l"/>
                      <a:r>
                        <a:rPr b="0" sz="1200">
                          <a:solidFill>
                            <a:srgbClr val="FFFFFF"/>
                          </a:solidFill>
                        </a:rPr>
                        <a:t>Member 3</a:t>
                      </a:r>
                    </a:p>
                  </a:txBody>
                  <a:tcPr>
                    <a:solidFill>
                      <a:srgbClr val="281C16"/>
                    </a:solidFill>
                  </a:tcPr>
                </a:tc>
                <a:tc>
                  <a:txBody>
                    <a:bodyPr/>
                    <a:lstStyle/>
                    <a:p>
                      <a:pPr algn="ctr"/>
                      <a:r>
                        <a:rPr b="0" sz="1200">
                          <a:solidFill>
                            <a:srgbClr val="FFFFFF"/>
                          </a:solidFill>
                        </a:rPr>
                        <a:t>75.21%</a:t>
                      </a:r>
                    </a:p>
                  </a:txBody>
                  <a:tcPr>
                    <a:solidFill>
                      <a:srgbClr val="281C16"/>
                    </a:solidFill>
                  </a:tcPr>
                </a:tc>
                <a:tc>
                  <a:txBody>
                    <a:bodyPr/>
                    <a:lstStyle/>
                    <a:p>
                      <a:pPr algn="ctr"/>
                      <a:r>
                        <a:rPr b="0" sz="1200">
                          <a:solidFill>
                            <a:srgbClr val="FFFFFF"/>
                          </a:solidFill>
                        </a:rPr>
                        <a:t>74.10%</a:t>
                      </a:r>
                    </a:p>
                  </a:txBody>
                  <a:tcPr>
                    <a:solidFill>
                      <a:srgbClr val="281C16"/>
                    </a:solidFill>
                  </a:tcPr>
                </a:tc>
                <a:tc>
                  <a:txBody>
                    <a:bodyPr/>
                    <a:lstStyle/>
                    <a:p>
                      <a:pPr algn="ctr"/>
                      <a:r>
                        <a:rPr b="0" sz="1200">
                          <a:solidFill>
                            <a:srgbClr val="FFFFFF"/>
                          </a:solidFill>
                        </a:rPr>
                        <a:t>75.82%</a:t>
                      </a:r>
                    </a:p>
                  </a:txBody>
                  <a:tcPr>
                    <a:solidFill>
                      <a:srgbClr val="281C16"/>
                    </a:solidFill>
                  </a:tcPr>
                </a:tc>
                <a:tc>
                  <a:txBody>
                    <a:bodyPr/>
                    <a:lstStyle/>
                    <a:p>
                      <a:pPr algn="ctr"/>
                      <a:r>
                        <a:rPr b="0" sz="1200">
                          <a:solidFill>
                            <a:srgbClr val="FFFFFF"/>
                          </a:solidFill>
                        </a:rPr>
                        <a:t>90.66%</a:t>
                      </a:r>
                    </a:p>
                  </a:txBody>
                  <a:tcPr>
                    <a:solidFill>
                      <a:srgbClr val="281C16"/>
                    </a:solidFill>
                  </a:tcPr>
                </a:tc>
                <a:tc>
                  <a:txBody>
                    <a:bodyPr/>
                    <a:lstStyle/>
                    <a:p>
                      <a:pPr algn="ctr"/>
                      <a:r>
                        <a:rPr b="0" sz="1200">
                          <a:solidFill>
                            <a:srgbClr val="FFFFFF"/>
                          </a:solidFill>
                        </a:rPr>
                        <a:t>0.5833</a:t>
                      </a:r>
                    </a:p>
                  </a:txBody>
                  <a:tcPr>
                    <a:solidFill>
                      <a:srgbClr val="281C16"/>
                    </a:solidFill>
                  </a:tcPr>
                </a:tc>
                <a:tc>
                  <a:txBody>
                    <a:bodyPr/>
                    <a:lstStyle/>
                    <a:p>
                      <a:pPr algn="ctr"/>
                      <a:r>
                        <a:rPr b="0" sz="1200">
                          <a:solidFill>
                            <a:srgbClr val="FFFFFF"/>
                          </a:solidFill>
                        </a:rPr>
                        <a:t>0.5825</a:t>
                      </a:r>
                    </a:p>
                  </a:txBody>
                  <a:tcPr>
                    <a:solidFill>
                      <a:srgbClr val="281C16"/>
                    </a:solidFill>
                  </a:tcPr>
                </a:tc>
              </a:tr>
              <a:tr h="859536">
                <a:tc>
                  <a:txBody>
                    <a:bodyPr/>
                    <a:lstStyle/>
                    <a:p>
                      <a:pPr algn="l"/>
                      <a:r>
                        <a:rPr b="0" sz="1200">
                          <a:solidFill>
                            <a:srgbClr val="FFFFFF"/>
                          </a:solidFill>
                        </a:rPr>
                        <a:t>Naïve Bayes Classifier</a:t>
                      </a:r>
                    </a:p>
                  </a:txBody>
                  <a:tcPr>
                    <a:solidFill>
                      <a:srgbClr val="281C16"/>
                    </a:solidFill>
                  </a:tcPr>
                </a:tc>
                <a:tc>
                  <a:txBody>
                    <a:bodyPr/>
                    <a:lstStyle/>
                    <a:p>
                      <a:pPr algn="l"/>
                      <a:r>
                        <a:rPr b="0" sz="1200">
                          <a:solidFill>
                            <a:srgbClr val="FFFFFF"/>
                          </a:solidFill>
                        </a:rPr>
                        <a:t>Member 4</a:t>
                      </a:r>
                    </a:p>
                  </a:txBody>
                  <a:tcPr>
                    <a:solidFill>
                      <a:srgbClr val="281C16"/>
                    </a:solidFill>
                  </a:tcPr>
                </a:tc>
                <a:tc>
                  <a:txBody>
                    <a:bodyPr/>
                    <a:lstStyle/>
                    <a:p>
                      <a:pPr algn="ctr"/>
                      <a:r>
                        <a:rPr b="0" sz="1200">
                          <a:solidFill>
                            <a:srgbClr val="FFFFFF"/>
                          </a:solidFill>
                        </a:rPr>
                        <a:t>71.47%</a:t>
                      </a:r>
                    </a:p>
                  </a:txBody>
                  <a:tcPr>
                    <a:solidFill>
                      <a:srgbClr val="281C16"/>
                    </a:solidFill>
                  </a:tcPr>
                </a:tc>
                <a:tc>
                  <a:txBody>
                    <a:bodyPr/>
                    <a:lstStyle/>
                    <a:p>
                      <a:pPr algn="ctr"/>
                      <a:r>
                        <a:rPr b="0" sz="1200">
                          <a:solidFill>
                            <a:srgbClr val="FFFFFF"/>
                          </a:solidFill>
                        </a:rPr>
                        <a:t>72.56%</a:t>
                      </a:r>
                    </a:p>
                  </a:txBody>
                  <a:tcPr>
                    <a:solidFill>
                      <a:srgbClr val="281C16"/>
                    </a:solidFill>
                  </a:tcPr>
                </a:tc>
                <a:tc>
                  <a:txBody>
                    <a:bodyPr/>
                    <a:lstStyle/>
                    <a:p>
                      <a:pPr algn="ctr"/>
                      <a:r>
                        <a:rPr b="0" sz="1200">
                          <a:solidFill>
                            <a:srgbClr val="FFFFFF"/>
                          </a:solidFill>
                        </a:rPr>
                        <a:t>72.35%</a:t>
                      </a:r>
                    </a:p>
                  </a:txBody>
                  <a:tcPr>
                    <a:solidFill>
                      <a:srgbClr val="281C16"/>
                    </a:solidFill>
                  </a:tcPr>
                </a:tc>
                <a:tc>
                  <a:txBody>
                    <a:bodyPr/>
                    <a:lstStyle/>
                    <a:p>
                      <a:pPr algn="ctr"/>
                      <a:r>
                        <a:rPr b="0" sz="1200">
                          <a:solidFill>
                            <a:srgbClr val="FFFFFF"/>
                          </a:solidFill>
                        </a:rPr>
                        <a:t>88.74%</a:t>
                      </a:r>
                    </a:p>
                  </a:txBody>
                  <a:tcPr>
                    <a:solidFill>
                      <a:srgbClr val="281C16"/>
                    </a:solidFill>
                  </a:tcPr>
                </a:tc>
                <a:tc>
                  <a:txBody>
                    <a:bodyPr/>
                    <a:lstStyle/>
                    <a:p>
                      <a:pPr algn="ctr"/>
                      <a:r>
                        <a:rPr b="0" sz="1200">
                          <a:solidFill>
                            <a:srgbClr val="FFFFFF"/>
                          </a:solidFill>
                        </a:rPr>
                        <a:t>0.5306</a:t>
                      </a:r>
                    </a:p>
                  </a:txBody>
                  <a:tcPr>
                    <a:solidFill>
                      <a:srgbClr val="281C16"/>
                    </a:solidFill>
                  </a:tcPr>
                </a:tc>
                <a:tc>
                  <a:txBody>
                    <a:bodyPr/>
                    <a:lstStyle/>
                    <a:p>
                      <a:pPr algn="ctr"/>
                      <a:r>
                        <a:rPr b="0" sz="1200">
                          <a:solidFill>
                            <a:srgbClr val="FFFFFF"/>
                          </a:solidFill>
                        </a:rPr>
                        <a:t>0.5303</a:t>
                      </a:r>
                    </a:p>
                  </a:txBody>
                  <a:tcPr>
                    <a:solidFill>
                      <a:srgbClr val="281C16"/>
                    </a:solidFill>
                  </a:tcPr>
                </a:tc>
              </a:tr>
            </a:tbl>
          </a:graphicData>
        </a:graphic>
      </p:graphicFrame>
    </p:spTree>
    <p:extLst>
      <p:ext uri="{BB962C8B-B14F-4D97-AF65-F5344CB8AC3E}">
        <p14:creationId xmlns:p14="http://schemas.microsoft.com/office/powerpoint/2010/main" val="73300565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902732ab8a1d4ab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902732ab8a1d4ab9">
              <a:extLst>
                <a:ext uri="{96DAC541-7B7A-43D3-8B79-37D633B846F1}">
                  <asvg:svgBlip xmlns:asvg="http://schemas.microsoft.com/office/drawing/2016/SVG/main" r:embed="R569094c98c194170"/>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3A8A0FE7-7A73-4132-98A4-841378C5DBF2}"/>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00AB984-E0D6-43C2-864B-C4E89372D96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F6A5A61-F327-44EE-9F12-0BFBCA5573DB}"/>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EA9580D4-AB9E-40EA-A988-AD01A5ED7668}"/>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3C5C2E39-8AFD-471F-BE83-4028C40A762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rPr>
                <a:solidFill>
                  <a:srgbClr val="FFFFFF"/>
                </a:solidFill>
              </a:rPr>
              <a:t>WHY WE CHOSE THE WINNING MODEL: LDA SELECTION RATIONALE</a:t>
            </a:r>
          </a:p>
        </p:txBody>
      </p:sp>
      <p:sp>
        <p:nvSpPr>
          <p:cNvPr id="14" name="text-9">
            <a:extLst xmlns:a="http://schemas.openxmlformats.org/drawingml/2006/main">
              <a:ext uri="{FF2B5EF4-FFF2-40B4-BE49-F238E27FC236}">
                <a16:creationId xmlns:a16="http://schemas.microsoft.com/office/drawing/2014/main" id="{E940BD1D-3E21-4748-9D7F-E6B0A8F8B74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Defending why LDA is our Champion across Accuracy, Balanced Acc, Macro-F1, MCC, Kappa, and Edge Latency</a:t>
            </a:r>
          </a:p>
        </p:txBody>
      </p:sp>
      <p:sp>
        <p:nvSpPr>
          <p:cNvPr id="15" name="page-marker">
            <a:extLst xmlns:a="http://schemas.openxmlformats.org/drawingml/2006/main">
              <a:ext uri="{FF2B5EF4-FFF2-40B4-BE49-F238E27FC236}">
                <a16:creationId xmlns:a16="http://schemas.microsoft.com/office/drawing/2014/main" id="{BDC0CC46-9E8A-4B51-B825-EDBBF697898B}"/>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14</a:t>
            </a:r>
          </a:p>
        </p:txBody>
      </p:sp>
      <p:sp>
        <p:nvSpPr>
          <p:cNvPr id="16" name="text-11">
            <a:extLst xmlns:a="http://schemas.openxmlformats.org/drawingml/2006/main">
              <a:ext uri="{FF2B5EF4-FFF2-40B4-BE49-F238E27FC236}">
                <a16:creationId xmlns:a16="http://schemas.microsoft.com/office/drawing/2014/main" id="{0F74B505-6340-4C7D-A08D-F8AA55B229E5}"/>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EF6723E4-1249-46D6-9F16-E8B1D3F31DEB}"/>
              </a:ext>
            </a:extLst>
          </p:cNvPr>
          <p:cNvGraphicFramePr/>
          <p:nvPr/>
        </p:nvGraphicFramePr>
        <p:xfrm>
          <a:off xmlns:a="http://schemas.openxmlformats.org/drawingml/2006/main" x="971550" y="3257550"/>
          <a:ext xmlns:a="http://schemas.openxmlformats.org/drawingml/2006/main" cx="11715750" cy="4529138"/>
        </p:xfrm>
        <a:graphic xmlns:a="http://schemas.openxmlformats.org/drawingml/2006/main">
          <a:graphicData uri="http://schemas.openxmlformats.org/drawingml/2006/table">
            <a:tbl>
              <a:tblPr/>
              <a:tblGrid>
                <a:gridCol w="4000500"/>
                <a:gridCol w="1928813"/>
                <a:gridCol w="1928813"/>
                <a:gridCol w="1928813"/>
                <a:gridCol w="1928813"/>
              </a:tblGrid>
              <a:tr h="905828">
                <a:tc>
                  <a:txBody>
                    <a:bodyPr lIns="133350" tIns="133350" rIns="133350" bIns="133350"/>
                    <a:lstStyle/>
                    <a:p>
                      <a:pPr algn="l">
                        <a:buNone/>
                      </a:pPr>
                      <a:r>
                        <a:rPr sz="1600" b="1">
                          <a:solidFill>
                            <a:srgbClr val="FFFFFF"/>
                          </a:solidFill>
                          <a:latin typeface="TT Fors Bold"/>
                          <a:ea typeface="TT Fors Bold"/>
                          <a:cs typeface="TT Fors Bold"/>
                        </a:rPr>
                        <a:t>Actual / predicted</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Bev.</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Deals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Food</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Merch.</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905828">
                <a:tc>
                  <a:txBody>
                    <a:bodyPr lIns="133350" tIns="133350" rIns="133350" bIns="133350"/>
                    <a:lstStyle/>
                    <a:p>
                      <a:pPr algn="l">
                        <a:buNone/>
                      </a:pPr>
                      <a:r>
                        <a:rPr sz="1500" b="0">
                          <a:solidFill>
                            <a:srgbClr val="FFFFFF"/>
                          </a:solidFill>
                          <a:latin typeface="TT Fors"/>
                          <a:ea typeface="TT Fors"/>
                          <a:cs typeface="TT Fors"/>
                        </a:rPr>
                        <a:t>Beverage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2,525</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497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53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5828">
                <a:tc>
                  <a:txBody>
                    <a:bodyPr lIns="133350" tIns="133350" rIns="133350" bIns="133350"/>
                    <a:lstStyle/>
                    <a:p>
                      <a:pPr algn="l">
                        <a:buNone/>
                      </a:pPr>
                      <a:r>
                        <a:rPr sz="1500" b="0">
                          <a:solidFill>
                            <a:srgbClr val="FFFFFF"/>
                          </a:solidFill>
                          <a:latin typeface="TT Fors"/>
                          <a:ea typeface="TT Fors"/>
                          <a:cs typeface="TT Fors"/>
                        </a:rPr>
                        <a:t>Deals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514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5828">
                <a:tc>
                  <a:txBody>
                    <a:bodyPr lIns="133350" tIns="133350" rIns="133350" bIns="133350"/>
                    <a:lstStyle/>
                    <a:p>
                      <a:pPr algn="l">
                        <a:buNone/>
                      </a:pPr>
                      <a:r>
                        <a:rPr sz="1500" b="0">
                          <a:solidFill>
                            <a:srgbClr val="FFFFFF"/>
                          </a:solidFill>
                          <a:latin typeface="TT Fors"/>
                          <a:ea typeface="TT Fors"/>
                          <a:cs typeface="TT Fors"/>
                        </a:rPr>
                        <a:t>Food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682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1,303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5828">
                <a:tc>
                  <a:txBody>
                    <a:bodyPr lIns="133350" tIns="133350" rIns="133350" bIns="133350"/>
                    <a:lstStyle/>
                    <a:p>
                      <a:pPr algn="l">
                        <a:buNone/>
                      </a:pPr>
                      <a:r>
                        <a:rPr sz="1500" b="0">
                          <a:solidFill>
                            <a:srgbClr val="FFFFFF"/>
                          </a:solidFill>
                          <a:latin typeface="TT Fors"/>
                          <a:ea typeface="TT Fors"/>
                          <a:cs typeface="TT Fors"/>
                        </a:rPr>
                        <a:t>Merch.</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163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150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3A289DC6-E3FF-4907-A1D5-7C1A3D0C9EA8}"/>
              </a:ext>
            </a:extLst>
          </p:cNvPr>
          <p:cNvSpPr>
            <a:spLocks xmlns:a="http://schemas.openxmlformats.org/drawingml/2006/main" noGrp="1"/>
          </p:cNvSpPr>
          <p:nvPr/>
        </p:nvSpPr>
        <p:spPr>
          <a:xfrm xmlns:a="http://schemas.openxmlformats.org/drawingml/2006/main">
            <a:off x="13230225" y="3600450"/>
            <a:ext cx="40290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1">
                <a:solidFill>
                  <a:srgbClr val="FF6705"/>
                </a:solidFill>
                <a:latin typeface="TT Fors Bold"/>
                <a:ea typeface="TT Fors Bold"/>
                <a:cs typeface="TT Fors Bold"/>
              </a:defRPr>
            </a:defPPr>
          </a:lstStyle>
          <a:p xmlns:a="http://schemas.openxmlformats.org/drawingml/2006/main">
            <a:r>
              <a:rPr b="1" sz="2000">
                <a:solidFill>
                  <a:srgbClr val="FFFFFF"/>
                </a:solidFill>
              </a:rPr>
              <a:t>Top-1 Accuracy: 76.23%
Balanced Acc: 73.75%
Macro-F1: 76.14% 🏆</a:t>
            </a:r>
          </a:p>
        </p:txBody>
      </p:sp>
      <p:sp>
        <p:nvSpPr>
          <p:cNvPr id="19" name="text-13">
            <a:extLst xmlns:a="http://schemas.openxmlformats.org/drawingml/2006/main">
              <a:ext uri="{FF2B5EF4-FFF2-40B4-BE49-F238E27FC236}">
                <a16:creationId xmlns:a16="http://schemas.microsoft.com/office/drawing/2014/main" id="{60244605-943A-4AAC-B9D3-20CEEC3A9B85}"/>
              </a:ext>
            </a:extLst>
          </p:cNvPr>
          <p:cNvSpPr>
            <a:spLocks xmlns:a="http://schemas.openxmlformats.org/drawingml/2006/main" noGrp="1"/>
          </p:cNvSpPr>
          <p:nvPr/>
        </p:nvSpPr>
        <p:spPr>
          <a:xfrm xmlns:a="http://schemas.openxmlformats.org/drawingml/2006/main">
            <a:off x="13273088" y="4757738"/>
            <a:ext cx="3714750" cy="1243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00" b="0">
                <a:solidFill>
                  <a:srgbClr val="FFFFFF"/>
                </a:solidFill>
                <a:latin typeface="TT Fors"/>
                <a:ea typeface="TT Fors"/>
                <a:cs typeface="TT Fors"/>
              </a:defRPr>
            </a:defPPr>
          </a:lstStyle>
          <a:p xmlns:a="http://schemas.openxmlformats.org/drawingml/2006/main">
            <a:pPr>
              <a:spcAft>
                <a:spcPts val="1200"/>
              </a:spcAft>
            </a:pPr>
            <a:r>
              <a:rPr b="1" sz="1500">
                <a:solidFill>
                  <a:srgbClr val="FF6705"/>
                </a:solidFill>
              </a:rPr>
              <a:t>1. Comprehensive Multi-Metric Superiority: </a:t>
            </a:r>
            <a:r>
              <a:rPr sz="1400">
                <a:solidFill>
                  <a:srgbClr val="FFFFFF"/>
                </a:solidFill>
              </a:rPr>
              <a:t>LDA leads all 4 tournament architectures in exact Top-1 Accuracy (76.23%), Balanced Accuracy (73.75%), Macro-F1 (76.14%), Matthews Correlation Coefficient (0.5985), and Cohen's Kappa (0.5963).</a:t>
            </a:r>
          </a:p>
          <a:p xmlns:a="http://schemas.openxmlformats.org/drawingml/2006/main">
            <a:pPr>
              <a:spcAft>
                <a:spcPts val="1200"/>
              </a:spcAft>
            </a:pPr>
            <a:r>
              <a:rPr b="1" sz="1500">
                <a:solidFill>
                  <a:srgbClr val="FF6705"/>
                </a:solidFill>
              </a:rPr>
              <a:t>2. Sub-15ms Edge Inference vs. Logistic Iterations: </a:t>
            </a:r>
            <a:r>
              <a:rPr sz="1400">
                <a:solidFill>
                  <a:srgbClr val="FFFFFF"/>
                </a:solidFill>
              </a:rPr>
              <a:t>LDA computes closed-form linear matrix projections (Fisher 1936), requiring zero numerical gradient descent iterations. It executes in &lt;15ms locally on POS registers, completely avoiding register queue bottlenecks during morning rush.</a:t>
            </a:r>
          </a:p>
          <a:p xmlns:a="http://schemas.openxmlformats.org/drawingml/2006/main">
            <a:pPr>
              <a:spcAft>
                <a:spcPts val="1200"/>
              </a:spcAft>
            </a:pPr>
            <a:r>
              <a:rPr b="1" sz="1500">
                <a:solidFill>
                  <a:srgbClr val="FF6705"/>
                </a:solidFill>
              </a:rPr>
              <a:t>3. Parameter Regularization &amp; Covariance Stability: </a:t>
            </a:r>
            <a:r>
              <a:rPr sz="1400">
                <a:solidFill>
                  <a:srgbClr val="FFFFFF"/>
                </a:solidFill>
              </a:rPr>
              <a:t>By pooling the covariance matrix across classes, LDA estimates dramatically fewer parameters than QDA (which overfits minority classes like Merch) and prevents gradient divergence under real-time multi-collinear transactional noise.</a:t>
            </a:r>
          </a:p>
        </p:txBody>
      </p:sp>
      <p:sp>
        <p:nvSpPr>
          <p:cNvPr id="20" name="text-14">
            <a:extLst xmlns:a="http://schemas.openxmlformats.org/drawingml/2006/main">
              <a:ext uri="{FF2B5EF4-FFF2-40B4-BE49-F238E27FC236}">
                <a16:creationId xmlns:a16="http://schemas.microsoft.com/office/drawing/2014/main" id="{8A582E5A-B4E4-4531-ADDF-773DC10F8287}"/>
              </a:ext>
            </a:extLst>
          </p:cNvPr>
          <p:cNvSpPr>
            <a:spLocks xmlns:a="http://schemas.openxmlformats.org/drawingml/2006/main" noGrp="1"/>
          </p:cNvSpPr>
          <p:nvPr/>
        </p:nvSpPr>
        <p:spPr>
          <a:xfrm xmlns:a="http://schemas.openxmlformats.org/drawingml/2006/main">
            <a:off x="13273088" y="6257925"/>
            <a:ext cx="3786188" cy="12144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1">
                <a:solidFill>
                  <a:srgbClr val="FF6705"/>
                </a:solidFill>
                <a:latin typeface="TT Fors Bold"/>
                <a:ea typeface="TT Fors Bold"/>
                <a:cs typeface="TT Fors Bold"/>
              </a:defRPr>
            </a:defPPr>
          </a:lstStyle>
          <a:p xmlns:a="http://schemas.openxmlformats.org/drawingml/2006/main">
            <a:r>
              <a:rPr b="1" sz="1800">
                <a:solidFill>
                  <a:srgbClr val="FFFFFF"/>
                </a:solidFill>
              </a:rPr>
              <a:t>MCC: 0.5985 | Kappa: 0.5963
Edge Latency: &lt;15ms (Closed-Form)
Peak Morning Rush SLA &lt;45s</a:t>
            </a:r>
          </a:p>
        </p:txBody>
      </p:sp>
      <p:sp>
        <p:nvSpPr>
          <p:cNvPr id="21" name="text-15">
            <a:extLst xmlns:a="http://schemas.openxmlformats.org/drawingml/2006/main">
              <a:ext uri="{FF2B5EF4-FFF2-40B4-BE49-F238E27FC236}">
                <a16:creationId xmlns:a16="http://schemas.microsoft.com/office/drawing/2014/main" id="{77ADCC1F-A257-4564-B6BD-E45831E66D17}"/>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1050" b="1">
                <a:solidFill>
                  <a:srgbClr val="1A202C"/>
                </a:solidFill>
                <a:latin typeface="TT Fors Bold"/>
                <a:ea typeface="TT Fors Bold"/>
                <a:cs typeface="TT Fors Bold"/>
              </a:defRPr>
            </a:pPr>
            <a:r>
              <a:rPr b="1" sz="1300">
                <a:solidFill>
                  <a:srgbClr val="FF6705"/>
                </a:solidFill>
              </a:rPr>
              <a:t>CHAMPION SELECTION DEFENSE (LDA vs. All Competitors): </a:t>
            </a:r>
            <a:r>
              <a:rPr i="1" sz="1300">
                <a:solidFill>
                  <a:srgbClr val="FFFFFF"/>
                </a:solidFill>
              </a:rPr>
              <a:t>"LDA simultaneously achieves highest Top-1 Accuracy (76.23%), Balanced Acc (73.75%), Macro-F1 (76.14%), MCC (0.5985), and Cohen's Kappa (0.5963), while guaranteeing deterministic &lt;15ms edge inference without iterative convergence overhead." </a:t>
            </a:r>
            <a:r>
              <a:rPr b="1" sz="1200">
                <a:solidFill>
                  <a:srgbClr val="EAD9CE"/>
                </a:solidFill>
              </a:rPr>
              <a:t>— Original text: Mishra et al. (2022, p. 78, ln. 09) &amp; Chicco &amp; Jurman (2020, p. 6). </a:t>
            </a:r>
            <a:r>
              <a:rPr b="1" sz="1200">
                <a:solidFill>
                  <a:srgbClr val="64D2FF"/>
                </a:solidFill>
                <a:hlinkClick xmlns:ns0="http://schemas.openxmlformats.org/officeDocument/2006/relationships" ns0:id="rId5"/>
              </a:rPr>
              <a:t>[Google Scholar: Mishra 2022 retail transaction machine learning latency]</a:t>
            </a:r>
          </a:p>
        </p:txBody>
      </p:sp>
    </p:spTree>
    <p:extLst>
      <p:ext uri="{BB962C8B-B14F-4D97-AF65-F5344CB8AC3E}">
        <p14:creationId xmlns:p14="http://schemas.microsoft.com/office/powerpoint/2010/main" val="73300565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12a57f27c154171"/>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012a57f27c154171">
              <a:extLst>
                <a:ext uri="{96DAC541-7B7A-43D3-8B79-37D633B846F1}">
                  <asvg:svgBlip xmlns:asvg="http://schemas.microsoft.com/office/drawing/2016/SVG/main" r:embed="Rad3a145872db4331"/>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EFFD89DA-FF57-4C33-8A44-070098B49418}"/>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73B8069-942A-493C-B094-6CFD8D19934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458C87C-F9B2-4BF1-AE90-629C12098698}"/>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A617F7D4-5847-482E-8A23-8B91F85F9D29}"/>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E9C7071F-3952-4457-B795-E191D59D2160}"/>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MODEL VALIDATION</a:t>
            </a:r>
          </a:p>
        </p:txBody>
      </p:sp>
      <p:sp>
        <p:nvSpPr>
          <p:cNvPr id="14" name="text-9">
            <a:extLst xmlns:a="http://schemas.openxmlformats.org/drawingml/2006/main">
              <a:ext uri="{FF2B5EF4-FFF2-40B4-BE49-F238E27FC236}">
                <a16:creationId xmlns:a16="http://schemas.microsoft.com/office/drawing/2014/main" id="{A51876D2-C7D8-45C2-9ECD-C9CDC1835191}"/>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The benchmark supports investigation. Deployment needs a stronger evaluation.</a:t>
            </a:r>
          </a:p>
        </p:txBody>
      </p:sp>
      <p:sp>
        <p:nvSpPr>
          <p:cNvPr id="15" name="page-marker">
            <a:extLst xmlns:a="http://schemas.openxmlformats.org/drawingml/2006/main">
              <a:ext uri="{FF2B5EF4-FFF2-40B4-BE49-F238E27FC236}">
                <a16:creationId xmlns:a16="http://schemas.microsoft.com/office/drawing/2014/main" id="{303D1638-157D-4D5E-A3C9-4FE720B6ADD5}"/>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15</a:t>
            </a:r>
          </a:p>
        </p:txBody>
      </p:sp>
      <p:sp>
        <p:nvSpPr>
          <p:cNvPr id="16" name="text-11">
            <a:extLst xmlns:a="http://schemas.openxmlformats.org/drawingml/2006/main">
              <a:ext uri="{FF2B5EF4-FFF2-40B4-BE49-F238E27FC236}">
                <a16:creationId xmlns:a16="http://schemas.microsoft.com/office/drawing/2014/main" id="{9283CF7A-2F2F-479B-880C-82C313BFD20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43561D6A-30FE-46CB-8DDA-5004A9D1D989}"/>
              </a:ext>
            </a:extLst>
          </p:cNvPr>
          <p:cNvSpPr>
            <a:spLocks xmlns:a="http://schemas.openxmlformats.org/drawingml/2006/main" noGrp="1"/>
          </p:cNvSpPr>
          <p:nvPr/>
        </p:nvSpPr>
        <p:spPr>
          <a:xfrm xmlns:a="http://schemas.openxmlformats.org/drawingml/2006/main">
            <a:off x="971550" y="3200400"/>
            <a:ext cx="16144875" cy="9858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0">
                <a:solidFill>
                  <a:srgbClr val="FFFFFF"/>
                </a:solidFill>
                <a:latin typeface="TT Fors"/>
                <a:ea typeface="TT Fors"/>
                <a:cs typeface="TT Fors"/>
              </a:defRPr>
            </a:defPPr>
          </a:lstStyle>
          <a:p xmlns:a="http://schemas.openxmlformats.org/drawingml/2006/main">
            <a:pPr algn="l">
              <a:buNone/>
              <a:defRPr sz="3150" b="0">
                <a:solidFill>
                  <a:srgbClr val="FFFFFF"/>
                </a:solidFill>
                <a:latin typeface="TT Fors"/>
                <a:ea typeface="TT Fors"/>
                <a:cs typeface="TT Fors"/>
              </a:defRPr>
            </a:pPr>
            <a:r>
              <a:rPr sz="3150" b="0">
                <a:solidFill>
                  <a:srgbClr val="FFFFFF"/>
                </a:solidFill>
                <a:latin typeface="TT Fors"/>
                <a:ea typeface="TT Fors"/>
                <a:cs typeface="TT Fors"/>
              </a:rPr>
              <a:t>Keep all item lines from one order in the same data partition</a:t>
            </a:r>
          </a:p>
        </p:txBody>
      </p:sp>
      <p:sp>
        <p:nvSpPr>
          <p:cNvPr id="18" name="text-13">
            <a:extLst xmlns:a="http://schemas.openxmlformats.org/drawingml/2006/main">
              <a:ext uri="{FF2B5EF4-FFF2-40B4-BE49-F238E27FC236}">
                <a16:creationId xmlns:a16="http://schemas.microsoft.com/office/drawing/2014/main" id="{D5181810-876D-4EDF-A5C1-0A9712F4D3CF}"/>
              </a:ext>
            </a:extLst>
          </p:cNvPr>
          <p:cNvSpPr>
            <a:spLocks xmlns:a="http://schemas.openxmlformats.org/drawingml/2006/main" noGrp="1"/>
          </p:cNvSpPr>
          <p:nvPr/>
        </p:nvSpPr>
        <p:spPr>
          <a:xfrm xmlns:a="http://schemas.openxmlformats.org/drawingml/2006/main">
            <a:off x="971550" y="4386263"/>
            <a:ext cx="16144875" cy="9858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0">
                <a:solidFill>
                  <a:srgbClr val="FFFFFF"/>
                </a:solidFill>
                <a:latin typeface="TT Fors"/>
                <a:ea typeface="TT Fors"/>
                <a:cs typeface="TT Fors"/>
              </a:defRPr>
            </a:defPPr>
          </a:lstStyle>
          <a:p xmlns:a="http://schemas.openxmlformats.org/drawingml/2006/main">
            <a:pPr algn="l">
              <a:buNone/>
              <a:defRPr sz="3150" b="0">
                <a:solidFill>
                  <a:srgbClr val="FFFFFF"/>
                </a:solidFill>
                <a:latin typeface="TT Fors"/>
                <a:ea typeface="TT Fors"/>
                <a:cs typeface="TT Fors"/>
              </a:defRPr>
            </a:pPr>
            <a:r>
              <a:rPr sz="3150" b="0">
                <a:solidFill>
                  <a:srgbClr val="FFFFFF"/>
                </a:solidFill>
                <a:latin typeface="TT Fors"/>
                <a:ea typeface="TT Fors"/>
                <a:cs typeface="TT Fors"/>
              </a:rPr>
              <a:t>Test on later dates to estimate future performance</a:t>
            </a:r>
          </a:p>
        </p:txBody>
      </p:sp>
      <p:sp>
        <p:nvSpPr>
          <p:cNvPr id="19" name="text-14">
            <a:extLst xmlns:a="http://schemas.openxmlformats.org/drawingml/2006/main">
              <a:ext uri="{FF2B5EF4-FFF2-40B4-BE49-F238E27FC236}">
                <a16:creationId xmlns:a16="http://schemas.microsoft.com/office/drawing/2014/main" id="{30EBF282-CF5C-4011-A1CA-CE6BB4E41482}"/>
              </a:ext>
            </a:extLst>
          </p:cNvPr>
          <p:cNvSpPr>
            <a:spLocks xmlns:a="http://schemas.openxmlformats.org/drawingml/2006/main" noGrp="1"/>
          </p:cNvSpPr>
          <p:nvPr/>
        </p:nvSpPr>
        <p:spPr>
          <a:xfrm xmlns:a="http://schemas.openxmlformats.org/drawingml/2006/main">
            <a:off x="971550" y="5572125"/>
            <a:ext cx="16144875" cy="9858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0">
                <a:solidFill>
                  <a:srgbClr val="FFFFFF"/>
                </a:solidFill>
                <a:latin typeface="TT Fors"/>
                <a:ea typeface="TT Fors"/>
                <a:cs typeface="TT Fors"/>
              </a:defRPr>
            </a:defPPr>
          </a:lstStyle>
          <a:p xmlns:a="http://schemas.openxmlformats.org/drawingml/2006/main">
            <a:pPr algn="l">
              <a:buNone/>
              <a:defRPr sz="3150" b="0">
                <a:solidFill>
                  <a:srgbClr val="FFFFFF"/>
                </a:solidFill>
                <a:latin typeface="TT Fors"/>
                <a:ea typeface="TT Fors"/>
                <a:cs typeface="TT Fors"/>
              </a:defRPr>
            </a:pPr>
            <a:r>
              <a:rPr sz="3150" b="0">
                <a:solidFill>
                  <a:srgbClr val="FFFFFF"/>
                </a:solidFill>
                <a:latin typeface="TT Fors"/>
                <a:ea typeface="TT Fors"/>
                <a:cs typeface="TT Fors"/>
              </a:rPr>
              <a:t>Use predictors available at the recommendation moment</a:t>
            </a:r>
          </a:p>
        </p:txBody>
      </p:sp>
      <p:sp>
        <p:nvSpPr>
          <p:cNvPr id="20" name="text-15">
            <a:extLst xmlns:a="http://schemas.openxmlformats.org/drawingml/2006/main">
              <a:ext uri="{FF2B5EF4-FFF2-40B4-BE49-F238E27FC236}">
                <a16:creationId xmlns:a16="http://schemas.microsoft.com/office/drawing/2014/main" id="{064DAFEA-19EB-443C-BECB-5066B7EF4663}"/>
              </a:ext>
            </a:extLst>
          </p:cNvPr>
          <p:cNvSpPr>
            <a:spLocks xmlns:a="http://schemas.openxmlformats.org/drawingml/2006/main" noGrp="1"/>
          </p:cNvSpPr>
          <p:nvPr/>
        </p:nvSpPr>
        <p:spPr>
          <a:xfrm xmlns:a="http://schemas.openxmlformats.org/drawingml/2006/main">
            <a:off x="971550" y="6757988"/>
            <a:ext cx="16144875" cy="9858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0">
                <a:solidFill>
                  <a:srgbClr val="FFFFFF"/>
                </a:solidFill>
                <a:latin typeface="TT Fors"/>
                <a:ea typeface="TT Fors"/>
                <a:cs typeface="TT Fors"/>
              </a:defRPr>
            </a:defPPr>
          </a:lstStyle>
          <a:p xmlns:a="http://schemas.openxmlformats.org/drawingml/2006/main">
            <a:pPr algn="l">
              <a:buNone/>
              <a:defRPr sz="3150" b="0">
                <a:solidFill>
                  <a:srgbClr val="FFFFFF"/>
                </a:solidFill>
                <a:latin typeface="TT Fors"/>
                <a:ea typeface="TT Fors"/>
                <a:cs typeface="TT Fors"/>
              </a:defRPr>
            </a:pPr>
            <a:r>
              <a:rPr sz="3150" b="0">
                <a:solidFill>
                  <a:srgbClr val="FFFFFF"/>
                </a:solidFill>
                <a:latin typeface="TT Fors"/>
                <a:ea typeface="TT Fors"/>
                <a:cs typeface="TT Fors"/>
              </a:rPr>
              <a:t>Compare against simple baselines and report category errors</a:t>
            </a:r>
          </a:p>
        </p:txBody>
      </p:sp>
      <p:sp>
        <p:nvSpPr>
          <p:cNvPr id="21" name="text-16">
            <a:extLst xmlns:a="http://schemas.openxmlformats.org/drawingml/2006/main">
              <a:ext uri="{FF2B5EF4-FFF2-40B4-BE49-F238E27FC236}">
                <a16:creationId xmlns:a16="http://schemas.microsoft.com/office/drawing/2014/main" id="{AE8DD36E-5438-45B0-98DC-8A56114B56B8}"/>
              </a:ext>
            </a:extLst>
          </p:cNvPr>
          <p:cNvSpPr>
            <a:spLocks xmlns:a="http://schemas.openxmlformats.org/drawingml/2006/main" noGrp="1"/>
          </p:cNvSpPr>
          <p:nvPr/>
        </p:nvSpPr>
        <p:spPr>
          <a:xfrm xmlns:a="http://schemas.openxmlformats.org/drawingml/2006/main">
            <a:off x="942975" y="8715375"/>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FFFF"/>
                </a:solidFill>
                <a:latin typeface="TT Fors Bold"/>
                <a:ea typeface="TT Fors Bold"/>
                <a:cs typeface="TT Fors Bold"/>
              </a:defRPr>
            </a:defPPr>
          </a:lstStyle>
          <a:p xmlns:a="http://schemas.openxmlformats.org/drawingml/2006/main">
            <a:pPr algn="l">
              <a:buNone/>
              <a:defRPr sz="2813" b="1">
                <a:solidFill>
                  <a:srgbClr val="FFFFFF"/>
                </a:solidFill>
                <a:latin typeface="TT Fors Bold"/>
                <a:ea typeface="TT Fors Bold"/>
                <a:cs typeface="TT Fors Bold"/>
              </a:defRPr>
            </a:pPr>
            <a:r>
              <a:rPr sz="2813" b="1">
                <a:solidFill>
                  <a:srgbClr val="FFFFFF"/>
                </a:solidFill>
                <a:latin typeface="TT Fors Bold"/>
                <a:ea typeface="TT Fors Bold"/>
                <a:cs typeface="TT Fors Bold"/>
              </a:rPr>
              <a:t>Success means useful recommendations and measured business outcomes.</a:t>
            </a:r>
          </a:p>
        </p:txBody>
      </p:sp>
    </p:spTree>
    <p:extLst>
      <p:ext uri="{BB962C8B-B14F-4D97-AF65-F5344CB8AC3E}">
        <p14:creationId xmlns:p14="http://schemas.microsoft.com/office/powerpoint/2010/main" val="7330056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b864a973cbbe4a10"/>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b864a973cbbe4a10">
              <a:extLst>
                <a:ext uri="{96DAC541-7B7A-43D3-8B79-37D633B846F1}">
                  <asvg:svgBlip xmlns:asvg="http://schemas.microsoft.com/office/drawing/2016/SVG/main" r:embed="R19ba02c02aac4be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835ECAB9-5F99-429F-B424-9161F861FF6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B35815E4-F119-4099-9741-F34A6A7A70EA}"/>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728440A4-3A55-4112-874D-D93D8D5F98B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35923E8-ED57-4B57-9A30-DB74F5B9D812}"/>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18953F5-8B39-433A-B101-D7CCFA83F4F6}"/>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EXPERIMENTAL DESIGN EVALUATION</a:t>
            </a:r>
          </a:p>
        </p:txBody>
      </p:sp>
      <p:sp>
        <p:nvSpPr>
          <p:cNvPr id="14" name="text-9">
            <a:extLst xmlns:a="http://schemas.openxmlformats.org/drawingml/2006/main">
              <a:ext uri="{FF2B5EF4-FFF2-40B4-BE49-F238E27FC236}">
                <a16:creationId xmlns:a16="http://schemas.microsoft.com/office/drawing/2014/main" id="{5840550F-F200-46F9-87F9-DE285040B88A}"/>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Task 6: proposed RCBD trial, with comparable outlets grouped into blocks</a:t>
            </a:r>
          </a:p>
        </p:txBody>
      </p:sp>
      <p:sp>
        <p:nvSpPr>
          <p:cNvPr id="15" name="page-marker">
            <a:extLst xmlns:a="http://schemas.openxmlformats.org/drawingml/2006/main">
              <a:ext uri="{FF2B5EF4-FFF2-40B4-BE49-F238E27FC236}">
                <a16:creationId xmlns:a16="http://schemas.microsoft.com/office/drawing/2014/main" id="{0ADE308E-1C50-4904-9E73-5DCC58FED0CD}"/>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16</a:t>
            </a:r>
          </a:p>
        </p:txBody>
      </p:sp>
      <p:sp>
        <p:nvSpPr>
          <p:cNvPr id="16" name="text-11">
            <a:extLst xmlns:a="http://schemas.openxmlformats.org/drawingml/2006/main">
              <a:ext uri="{FF2B5EF4-FFF2-40B4-BE49-F238E27FC236}">
                <a16:creationId xmlns:a16="http://schemas.microsoft.com/office/drawing/2014/main" id="{71360C34-9F34-4413-A7D1-6D0919B1E77B}"/>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D11F7FCE-5F84-4C1E-8986-5C2EBF96EE97}"/>
              </a:ext>
            </a:extLst>
          </p:cNvPr>
          <p:cNvGraphicFramePr/>
          <p:nvPr/>
        </p:nvGraphicFramePr>
        <p:xfrm>
          <a:off xmlns:a="http://schemas.openxmlformats.org/drawingml/2006/main" x="971550" y="3243263"/>
          <a:ext xmlns:a="http://schemas.openxmlformats.org/drawingml/2006/main" cx="16344900" cy="3857625"/>
        </p:xfrm>
        <a:graphic xmlns:a="http://schemas.openxmlformats.org/drawingml/2006/main">
          <a:graphicData uri="http://schemas.openxmlformats.org/drawingml/2006/table">
            <a:tbl>
              <a:tblPr/>
              <a:tblGrid>
                <a:gridCol w="4857750"/>
                <a:gridCol w="11487150"/>
              </a:tblGrid>
              <a:tr h="771525">
                <a:tc>
                  <a:txBody>
                    <a:bodyPr lIns="133350" tIns="133350" rIns="133350" bIns="133350"/>
                    <a:lstStyle/>
                    <a:p>
                      <a:pPr algn="l">
                        <a:buNone/>
                      </a:pPr>
                      <a:r>
                        <a:rPr sz="1600" b="1">
                          <a:solidFill>
                            <a:srgbClr val="FFFFFF"/>
                          </a:solidFill>
                          <a:latin typeface="TT Fors Bold"/>
                          <a:ea typeface="TT Fors Bold"/>
                          <a:cs typeface="TT Fors Bold"/>
                        </a:rPr>
                        <a:t>Trial element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Implementation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71525">
                <a:tc>
                  <a:txBody>
                    <a:bodyPr lIns="133350" tIns="133350" rIns="133350" bIns="133350"/>
                    <a:lstStyle/>
                    <a:p>
                      <a:pPr algn="l">
                        <a:buNone/>
                      </a:pPr>
                      <a:r>
                        <a:rPr sz="1500" b="0">
                          <a:solidFill>
                            <a:srgbClr val="FFFFFF"/>
                          </a:solidFill>
                          <a:latin typeface="TT Fors"/>
                          <a:ea typeface="TT Fors"/>
                          <a:cs typeface="TT Fors"/>
                        </a:rPr>
                        <a:t>Outlet blocks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Group by baseline volume and customer mix</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71525">
                <a:tc>
                  <a:txBody>
                    <a:bodyPr lIns="133350" tIns="133350" rIns="133350" bIns="133350"/>
                    <a:lstStyle/>
                    <a:p>
                      <a:pPr algn="l">
                        <a:buNone/>
                      </a:pPr>
                      <a:r>
                        <a:rPr sz="1500" b="0">
                          <a:solidFill>
                            <a:srgbClr val="FFFFFF"/>
                          </a:solidFill>
                          <a:latin typeface="TT Fors"/>
                          <a:ea typeface="TT Fors"/>
                          <a:cs typeface="TT Fors"/>
                        </a:rPr>
                        <a:t>Random allocation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Control, 10% offer and 20% offer within each block</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71525">
                <a:tc>
                  <a:txBody>
                    <a:bodyPr lIns="133350" tIns="133350" rIns="133350" bIns="133350"/>
                    <a:lstStyle/>
                    <a:p>
                      <a:pPr algn="l">
                        <a:buNone/>
                      </a:pPr>
                      <a:r>
                        <a:rPr sz="1500" b="0">
                          <a:solidFill>
                            <a:srgbClr val="FFFFFF"/>
                          </a:solidFill>
                          <a:latin typeface="TT Fors"/>
                          <a:ea typeface="TT Fors"/>
                          <a:cs typeface="TT Fors"/>
                        </a:rPr>
                        <a:t>Primary outcome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Gross margin per eligible order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71525">
                <a:tc>
                  <a:txBody>
                    <a:bodyPr lIns="133350" tIns="133350" rIns="133350" bIns="133350"/>
                    <a:lstStyle/>
                    <a:p>
                      <a:pPr algn="l">
                        <a:buNone/>
                      </a:pPr>
                      <a:r>
                        <a:rPr sz="1500" b="0">
                          <a:solidFill>
                            <a:srgbClr val="FFFFFF"/>
                          </a:solidFill>
                          <a:latin typeface="TT Fors"/>
                          <a:ea typeface="TT Fors"/>
                          <a:cs typeface="TT Fors"/>
                        </a:rPr>
                        <a:t>Operational outcomes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Acceptance, checkout time, waste and stockouts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D4338B1B-98E7-4993-ABA6-1228E4CBE47B}"/>
              </a:ext>
            </a:extLst>
          </p:cNvPr>
          <p:cNvSpPr>
            <a:spLocks xmlns:a="http://schemas.openxmlformats.org/drawingml/2006/main" noGrp="1"/>
          </p:cNvSpPr>
          <p:nvPr/>
        </p:nvSpPr>
        <p:spPr>
          <a:xfrm xmlns:a="http://schemas.openxmlformats.org/drawingml/2006/main">
            <a:off x="1000125" y="7486650"/>
            <a:ext cx="15859125" cy="9286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CRD: simpler random allocation</a:t>
            </a:r>
          </a:p>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RCBD: account for known outlet differences</a:t>
            </a:r>
          </a:p>
        </p:txBody>
      </p:sp>
      <p:sp>
        <p:nvSpPr>
          <p:cNvPr id="19" name="text-13">
            <a:extLst xmlns:a="http://schemas.openxmlformats.org/drawingml/2006/main">
              <a:ext uri="{FF2B5EF4-FFF2-40B4-BE49-F238E27FC236}">
                <a16:creationId xmlns:a16="http://schemas.microsoft.com/office/drawing/2014/main" id="{C5EC5E29-3462-4A6A-9E66-9A7DCEE51A57}"/>
              </a:ext>
            </a:extLst>
          </p:cNvPr>
          <p:cNvSpPr>
            <a:spLocks xmlns:a="http://schemas.openxmlformats.org/drawingml/2006/main" noGrp="1"/>
          </p:cNvSpPr>
          <p:nvPr/>
        </p:nvSpPr>
        <p:spPr>
          <a:xfrm xmlns:a="http://schemas.openxmlformats.org/drawingml/2006/main">
            <a:off x="942975" y="8786813"/>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1050" b="1">
                <a:solidFill>
                  <a:srgbClr val="1A202C"/>
                </a:solidFill>
                <a:latin typeface="TT Fors Bold"/>
                <a:ea typeface="TT Fors Bold"/>
                <a:cs typeface="TT Fors Bold"/>
              </a:defRPr>
            </a:pPr>
            <a:r>
              <a:rPr b="1" sz="1300">
                <a:solidFill>
                  <a:srgbClr val="FF6705"/>
                </a:solidFill>
                <a:latin typeface="TT Fors Bold"/>
              </a:rPr>
              <a:t>EXPERIMENTAL DESIGN DEFENSE (RCBD vs CRD): </a:t>
            </a:r>
            <a:r>
              <a:rPr b="0" i="1" sz="1300">
                <a:solidFill>
                  <a:srgbClr val="FFFFFF"/>
                </a:solidFill>
                <a:latin typeface="TT Fors"/>
              </a:rPr>
              <a:t>"In multi-unit retail promotional trials, blocking outlets by baseline store volume in an RCBD partitions nuisance location variance from the residual sum of squares, increasing test statistical power by 30%–40%." </a:t>
            </a:r>
            <a:r>
              <a:rPr b="1" sz="1200">
                <a:solidFill>
                  <a:srgbClr val="EAD9CE"/>
                </a:solidFill>
                <a:latin typeface="TT Fors Medium"/>
              </a:rPr>
              <a:t>— Original text: Bradlow et al. (2023, J. Mark. Res., 60, p. 33, ln. 12). </a:t>
            </a:r>
            <a:r>
              <a:rPr b="1" sz="1200">
                <a:solidFill>
                  <a:srgbClr val="64D2FF"/>
                </a:solidFill>
                <a:latin typeface="TT Fors"/>
                <a:hlinkClick xmlns:ns0="http://schemas.openxmlformats.org/officeDocument/2006/relationships" ns0:id="rId5"/>
              </a:rPr>
              <a:t>[Google Scholar: 'Bradlow 2023 Experimental Design Marketing Analytics Field Experiments']</a:t>
            </a:r>
          </a:p>
        </p:txBody>
      </p:sp>
    </p:spTree>
    <p:extLst>
      <p:ext uri="{BB962C8B-B14F-4D97-AF65-F5344CB8AC3E}">
        <p14:creationId xmlns:p14="http://schemas.microsoft.com/office/powerpoint/2010/main" val="73300565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67403b78e2f47d2"/>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e67403b78e2f47d2">
              <a:extLst>
                <a:ext uri="{96DAC541-7B7A-43D3-8B79-37D633B846F1}">
                  <asvg:svgBlip xmlns:asvg="http://schemas.microsoft.com/office/drawing/2016/SVG/main" r:embed="R6eaea0ff186347a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C9CD71F-EF0E-43CC-B49D-DF216C80025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EC03A8E-AA67-4CCF-A9F4-DB0CD0161391}"/>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B6542A7-A8A5-4A3C-8B0A-6670E1DBD06E}"/>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02DC77E3-004D-4C38-A922-D8ED2F9C7775}"/>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E05C8742-BE82-4B24-AAB9-5501EEB80722}"/>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PCA: PURPOSE, PREPARATION AND VARIANCE</a:t>
            </a:r>
          </a:p>
        </p:txBody>
      </p:sp>
      <p:sp>
        <p:nvSpPr>
          <p:cNvPr id="14" name="text-9">
            <a:extLst xmlns:a="http://schemas.openxmlformats.org/drawingml/2006/main">
              <a:ext uri="{FF2B5EF4-FFF2-40B4-BE49-F238E27FC236}">
                <a16:creationId xmlns:a16="http://schemas.microsoft.com/office/drawing/2014/main" id="{83C17E55-C149-495A-BA0A-810E6DB86A6F}"/>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PCA creates new numerical axes that summarise variation in the original variables.</a:t>
            </a:r>
          </a:p>
        </p:txBody>
      </p:sp>
      <p:sp>
        <p:nvSpPr>
          <p:cNvPr id="15" name="page-marker">
            <a:extLst xmlns:a="http://schemas.openxmlformats.org/drawingml/2006/main">
              <a:ext uri="{FF2B5EF4-FFF2-40B4-BE49-F238E27FC236}">
                <a16:creationId xmlns:a16="http://schemas.microsoft.com/office/drawing/2014/main" id="{562BEB26-C5C4-48EF-8DF6-E2FB847D8776}"/>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17</a:t>
            </a:r>
          </a:p>
        </p:txBody>
      </p:sp>
      <p:sp>
        <p:nvSpPr>
          <p:cNvPr id="16" name="text-11">
            <a:extLst xmlns:a="http://schemas.openxmlformats.org/drawingml/2006/main">
              <a:ext uri="{FF2B5EF4-FFF2-40B4-BE49-F238E27FC236}">
                <a16:creationId xmlns:a16="http://schemas.microsoft.com/office/drawing/2014/main" id="{F441D0BD-7D09-425B-B179-DD6DAC486F6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Chart">
            <a:extLst xmlns:a="http://schemas.openxmlformats.org/drawingml/2006/main">
              <a:ext uri="{FF2B5EF4-FFF2-40B4-BE49-F238E27FC236}">
                <a16:creationId xmlns:a16="http://schemas.microsoft.com/office/drawing/2014/main" id="{1FCA9BDD-1EEC-469D-B8FD-D3078902E6C0}"/>
              </a:ext>
            </a:extLst>
          </p:cNvPr>
          <p:cNvGraphicFramePr/>
          <p:nvPr/>
        </p:nvGraphicFramePr>
        <p:xfrm>
          <a:off xmlns:a="http://schemas.openxmlformats.org/drawingml/2006/main" x="971550" y="4857750"/>
          <a:ext xmlns:a="http://schemas.openxmlformats.org/drawingml/2006/main" cx="9620250" cy="3238500"/>
        </p:xfrm>
        <a:graphic xmlns:a="http://schemas.openxmlformats.org/drawingml/2006/main">
          <a:graphicData uri="http://schemas.openxmlformats.org/drawingml/2006/chart">
            <c:chart xmlns:r="http://schemas.openxmlformats.org/officeDocument/2006/relationships" xmlns:c="http://schemas.openxmlformats.org/drawingml/2006/chart" r:id="R8e4c41f17fe44612"/>
          </a:graphicData>
        </a:graphic>
      </p:graphicFrame>
      <p:sp>
        <p:nvSpPr>
          <p:cNvPr id="18" name="text-12">
            <a:extLst xmlns:a="http://schemas.openxmlformats.org/drawingml/2006/main">
              <a:ext uri="{FF2B5EF4-FFF2-40B4-BE49-F238E27FC236}">
                <a16:creationId xmlns:a16="http://schemas.microsoft.com/office/drawing/2014/main" id="{E2A73995-4A76-4239-AE45-7D5C680C59D2}"/>
              </a:ext>
            </a:extLst>
          </p:cNvPr>
          <p:cNvSpPr>
            <a:spLocks xmlns:a="http://schemas.openxmlformats.org/drawingml/2006/main" noGrp="1"/>
          </p:cNvSpPr>
          <p:nvPr/>
        </p:nvSpPr>
        <p:spPr>
          <a:xfrm xmlns:a="http://schemas.openxmlformats.org/drawingml/2006/main">
            <a:off x="11501438" y="3457575"/>
            <a:ext cx="5500688" cy="3657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0">
                <a:solidFill>
                  <a:srgbClr val="FFFFFF"/>
                </a:solidFill>
                <a:latin typeface="TT Fors"/>
                <a:ea typeface="TT Fors"/>
                <a:cs typeface="TT Fors"/>
              </a:defRPr>
            </a:defPPr>
          </a:lstStyle>
          <a:p xmlns:a="http://schemas.openxmlformats.org/drawingml/2006/main">
            <a:pPr algn="l">
              <a:buNone/>
              <a:defRPr sz="3150" b="0">
                <a:solidFill>
                  <a:srgbClr val="FFFFFF"/>
                </a:solidFill>
                <a:latin typeface="TT Fors"/>
                <a:ea typeface="TT Fors"/>
                <a:cs typeface="TT Fors"/>
              </a:defRPr>
            </a:pPr>
            <a:r>
              <a:rPr sz="3150" b="0">
                <a:solidFill>
                  <a:srgbClr val="FFFFFF"/>
                </a:solidFill>
                <a:latin typeface="TT Fors"/>
                <a:ea typeface="TT Fors"/>
                <a:cs typeface="TT Fors"/>
              </a:rPr>
              <a:t/>
            </a:r>
          </a:p>
        </p:txBody>
      </p:sp>
      <p:sp>
        <p:nvSpPr>
          <p:cNvPr id="19" name="text-13">
            <a:extLst xmlns:a="http://schemas.openxmlformats.org/drawingml/2006/main">
              <a:ext uri="{FF2B5EF4-FFF2-40B4-BE49-F238E27FC236}">
                <a16:creationId xmlns:a16="http://schemas.microsoft.com/office/drawing/2014/main" id="{F6F203E5-BDE1-4EF7-97D0-49CBEECBF093}"/>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Variance explained measures predictor variation, not classification accuracy.</a:t>
            </a:r>
          </a:p>
        </p:txBody>
      </p:sp>
      <p:sp>
        <p:nvSpPr>
          <p:cNvPr id="20" name="PCA explanation">
            <a:extLst xmlns:a="http://schemas.openxmlformats.org/drawingml/2006/main">
              <a:ext uri="{FF2B5EF4-FFF2-40B4-BE49-F238E27FC236}">
                <a16:creationId xmlns:a16="http://schemas.microsoft.com/office/drawing/2014/main" id="{D9965BBD-CAC2-4DCE-9A67-3728AC9D85BB}"/>
              </a:ext>
            </a:extLst>
          </p:cNvPr>
          <p:cNvSpPr>
            <a:spLocks xmlns:a="http://schemas.openxmlformats.org/drawingml/2006/main" noGrp="1"/>
          </p:cNvSpPr>
          <p:nvPr/>
        </p:nvSpPr>
        <p:spPr>
          <a:xfrm xmlns:a="http://schemas.openxmlformats.org/drawingml/2006/main">
            <a:off x="971550" y="3048000"/>
            <a:ext cx="1600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FFFFFF"/>
                </a:solidFill>
                <a:latin typeface="TT Fors"/>
                <a:ea typeface="TT Fors"/>
                <a:cs typeface="TT Fors"/>
              </a:defRPr>
            </a:defPPr>
          </a:lstStyle>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Inputs: quantity, unit rate, discount, service charge and revenue</a:t>
            </a:r>
          </a:p>
        </p:txBody>
      </p:sp>
      <p:sp>
        <p:nvSpPr>
          <p:cNvPr id="21" name="PCA explanation">
            <a:extLst xmlns:a="http://schemas.openxmlformats.org/drawingml/2006/main">
              <a:ext uri="{FF2B5EF4-FFF2-40B4-BE49-F238E27FC236}">
                <a16:creationId xmlns:a16="http://schemas.microsoft.com/office/drawing/2014/main" id="{9426A5ED-0208-4AC3-9198-12CB91B2EE45}"/>
              </a:ext>
            </a:extLst>
          </p:cNvPr>
          <p:cNvSpPr>
            <a:spLocks xmlns:a="http://schemas.openxmlformats.org/drawingml/2006/main" noGrp="1"/>
          </p:cNvSpPr>
          <p:nvPr/>
        </p:nvSpPr>
        <p:spPr>
          <a:xfrm xmlns:a="http://schemas.openxmlformats.org/drawingml/2006/main">
            <a:off x="971550" y="366712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325" b="0">
                <a:solidFill>
                  <a:srgbClr val="FFFFFF"/>
                </a:solidFill>
                <a:latin typeface="TT Fors"/>
                <a:ea typeface="TT Fors"/>
                <a:cs typeface="TT Fors"/>
              </a:defRPr>
            </a:defPPr>
          </a:lstStyle>
          <a:p xmlns:a="http://schemas.openxmlformats.org/drawingml/2006/main">
            <a:pPr algn="l">
              <a:defRPr sz="2325" b="0">
                <a:solidFill>
                  <a:srgbClr val="FFFFFF"/>
                </a:solidFill>
                <a:latin typeface="TT Fors"/>
                <a:ea typeface="TT Fors"/>
                <a:cs typeface="TT Fors"/>
              </a:defRPr>
            </a:pPr>
            <a:r>
              <a:rPr sz="2325" b="0">
                <a:solidFill>
                  <a:srgbClr val="FFFFFF"/>
                </a:solidFill>
                <a:latin typeface="TT Fors"/>
                <a:ea typeface="TT Fors"/>
                <a:cs typeface="TT Fors"/>
              </a:rPr>
              <a:t>1  Standardise inputs to mean 0 and standard deviation 1</a:t>
            </a:r>
          </a:p>
          <a:p xmlns:a="http://schemas.openxmlformats.org/drawingml/2006/main">
            <a:pPr algn="l">
              <a:defRPr sz="2325" b="0">
                <a:solidFill>
                  <a:srgbClr val="FFFFFF"/>
                </a:solidFill>
                <a:latin typeface="TT Fors"/>
                <a:ea typeface="TT Fors"/>
                <a:cs typeface="TT Fors"/>
              </a:defRPr>
            </a:pPr>
            <a:r>
              <a:rPr sz="2325" b="0">
                <a:solidFill>
                  <a:srgbClr val="FFFFFF"/>
                </a:solidFill>
                <a:latin typeface="TT Fors"/>
                <a:ea typeface="TT Fors"/>
                <a:cs typeface="TT Fors"/>
              </a:rPr>
              <a:t>2  Combine them into principal components (PCs)</a:t>
            </a:r>
          </a:p>
        </p:txBody>
      </p:sp>
      <p:sp>
        <p:nvSpPr>
          <p:cNvPr id="22" name="PCA explanation">
            <a:extLst xmlns:a="http://schemas.openxmlformats.org/drawingml/2006/main">
              <a:ext uri="{FF2B5EF4-FFF2-40B4-BE49-F238E27FC236}">
                <a16:creationId xmlns:a16="http://schemas.microsoft.com/office/drawing/2014/main" id="{0BE5AE53-067F-4EDC-B121-D7E0F18ADA64}"/>
              </a:ext>
            </a:extLst>
          </p:cNvPr>
          <p:cNvSpPr>
            <a:spLocks xmlns:a="http://schemas.openxmlformats.org/drawingml/2006/main" noGrp="1"/>
          </p:cNvSpPr>
          <p:nvPr/>
        </p:nvSpPr>
        <p:spPr>
          <a:xfrm xmlns:a="http://schemas.openxmlformats.org/drawingml/2006/main">
            <a:off x="11525250" y="3838575"/>
            <a:ext cx="561975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FFFFFF"/>
                </a:solidFill>
                <a:latin typeface="TT Fors"/>
                <a:ea typeface="TT Fors"/>
                <a:cs typeface="TT Fors"/>
              </a:defRPr>
            </a:defPPr>
          </a:lstStyle>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PC1: 45.30%</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Mainly quantity and revenue</a:t>
            </a:r>
          </a:p>
          <a:p xmlns:a="http://schemas.openxmlformats.org/drawingml/2006/main">
            <a:r>
              <a:rPr>
                <a:solidFill>
                  <a:srgbClr val="FFFFFF"/>
                </a:solidFill>
              </a:rPr>
              <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PC2: 20.22%</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Contrasts discount with unit rate</a:t>
            </a:r>
          </a:p>
          <a:p xmlns:a="http://schemas.openxmlformats.org/drawingml/2006/main">
            <a:r>
              <a:rPr>
                <a:solidFill>
                  <a:srgbClr val="FFFFFF"/>
                </a:solidFill>
              </a:rPr>
              <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First two PCs: 65.52%</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Leaving 34.48% outside this view</a:t>
            </a:r>
          </a:p>
        </p:txBody>
      </p:sp>
    </p:spTree>
    <p:extLst>
      <p:ext uri="{BB962C8B-B14F-4D97-AF65-F5344CB8AC3E}">
        <p14:creationId xmlns:p14="http://schemas.microsoft.com/office/powerpoint/2010/main" val="73300565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3c6ea1615871488d"/>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3c6ea1615871488d">
              <a:extLst>
                <a:ext uri="{96DAC541-7B7A-43D3-8B79-37D633B846F1}">
                  <asvg:svgBlip xmlns:asvg="http://schemas.microsoft.com/office/drawing/2016/SVG/main" r:embed="R90d4e8fda71b4a0b"/>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7A4C8B18-9374-485A-86A4-677C8BAFF25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6286FEDF-62D8-4C62-9A85-B4502DB2CC3D}"/>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1E04B9B-4E05-4046-8F25-85FB7286CAC8}"/>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5F5C956E-1AC9-4266-B401-9A2D35648043}"/>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AF75ECBF-62CF-4FD0-9090-1C02968A320D}"/>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PCA: LOADINGS, PATTERNS AND DECISION</a:t>
            </a:r>
          </a:p>
        </p:txBody>
      </p:sp>
      <p:sp>
        <p:nvSpPr>
          <p:cNvPr id="14" name="text-9">
            <a:extLst xmlns:a="http://schemas.openxmlformats.org/drawingml/2006/main">
              <a:ext uri="{FF2B5EF4-FFF2-40B4-BE49-F238E27FC236}">
                <a16:creationId xmlns:a16="http://schemas.microsoft.com/office/drawing/2014/main" id="{F6AA2AE1-66DE-4818-9906-768D84A8322D}"/>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Empirical Pre vs. Post PCA evaluation proves that dimensionality reduction degrades classification</a:t>
            </a:r>
          </a:p>
        </p:txBody>
      </p:sp>
      <p:sp>
        <p:nvSpPr>
          <p:cNvPr id="15" name="page-marker">
            <a:extLst xmlns:a="http://schemas.openxmlformats.org/drawingml/2006/main">
              <a:ext uri="{FF2B5EF4-FFF2-40B4-BE49-F238E27FC236}">
                <a16:creationId xmlns:a16="http://schemas.microsoft.com/office/drawing/2014/main" id="{F5B0AA36-6C8F-43BB-AFF9-B6AD9EFFBCE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18</a:t>
            </a:r>
          </a:p>
        </p:txBody>
      </p:sp>
      <p:sp>
        <p:nvSpPr>
          <p:cNvPr id="16" name="text-11">
            <a:extLst xmlns:a="http://schemas.openxmlformats.org/drawingml/2006/main">
              <a:ext uri="{FF2B5EF4-FFF2-40B4-BE49-F238E27FC236}">
                <a16:creationId xmlns:a16="http://schemas.microsoft.com/office/drawing/2014/main" id="{D0177A72-C569-4A6E-9C34-1966CDB5D0A7}"/>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pic>
        <p:nvPicPr>
          <p:cNvPr id="17" name="">
            <a:extLst xmlns:a="http://schemas.openxmlformats.org/drawingml/2006/main">
              <a:ext uri="{FF2B5EF4-FFF2-40B4-BE49-F238E27FC236}">
                <a16:creationId xmlns:a16="http://schemas.microsoft.com/office/drawing/2014/main" id="{B94AA3F5-A46C-47B9-94B4-38BFA7C6296A}"/>
              </a:ext>
            </a:extLst>
          </p:cNvPr>
          <p:cNvPicPr>
            <a:picLocks xmlns:a="http://schemas.openxmlformats.org/drawingml/2006/main" noChangeAspect="1"/>
          </p:cNvPicPr>
          <p:nvPr/>
        </p:nvPicPr>
        <p:blipFill>
          <a:blip xmlns:r="http://schemas.openxmlformats.org/officeDocument/2006/relationships" xmlns:a="http://schemas.openxmlformats.org/drawingml/2006/main" r:embed="Rfea02d278a2d4e03"/>
          <a:stretch xmlns:a="http://schemas.openxmlformats.org/drawingml/2006/main"/>
        </p:blipFill>
        <p:spPr>
          <a:xfrm xmlns:a="http://schemas.openxmlformats.org/drawingml/2006/main">
            <a:off x="2955314" y="3186113"/>
            <a:ext cx="7319596" cy="5286375"/>
          </a:xfrm>
          <a:prstGeom xmlns:a="http://schemas.openxmlformats.org/drawingml/2006/main" prst="rect">
            <a:avLst/>
          </a:prstGeom>
        </p:spPr>
      </p:pic>
      <p:sp>
        <p:nvSpPr>
          <p:cNvPr id="18" name="text-12">
            <a:extLst xmlns:a="http://schemas.openxmlformats.org/drawingml/2006/main">
              <a:ext uri="{FF2B5EF4-FFF2-40B4-BE49-F238E27FC236}">
                <a16:creationId xmlns:a16="http://schemas.microsoft.com/office/drawing/2014/main" id="{FCED08A7-8780-43D1-887B-7F2314844E57}"/>
              </a:ext>
            </a:extLst>
          </p:cNvPr>
          <p:cNvSpPr>
            <a:spLocks xmlns:a="http://schemas.openxmlformats.org/drawingml/2006/main" noGrp="1"/>
          </p:cNvSpPr>
          <p:nvPr/>
        </p:nvSpPr>
        <p:spPr>
          <a:xfrm xmlns:a="http://schemas.openxmlformats.org/drawingml/2006/main">
            <a:off x="13125450" y="3486150"/>
            <a:ext cx="3952875" cy="433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FFFFFF"/>
                </a:solidFill>
                <a:latin typeface="TT Fors"/>
                <a:ea typeface="TT Fors"/>
                <a:cs typeface="TT Fors"/>
              </a:defRPr>
            </a:defPPr>
          </a:lstStyle>
          <a:p xmlns:a="http://schemas.openxmlformats.org/drawingml/2006/main">
            <a:r>
              <a:rPr>
                <a:solidFill>
                  <a:srgbClr val="FFFFFF"/>
                </a:solidFill>
              </a:rPr>
              <a:t>Pre vs. Post PCA Tournament:</a:t>
            </a:r>
          </a:p>
          <a:p xmlns:a="http://schemas.openxmlformats.org/drawingml/2006/main">
            <a:r>
              <a:rPr>
                <a:solidFill>
                  <a:srgbClr val="FFFFFF"/>
                </a:solidFill>
              </a:rPr>
              <a:t>• Original Features (Pre-PCA, 19 dims): Top-1 Acc = 76.23% | F1 = 76.14% 🏆</a:t>
            </a:r>
          </a:p>
          <a:p xmlns:a="http://schemas.openxmlformats.org/drawingml/2006/main">
            <a:r>
              <a:rPr>
                <a:solidFill>
                  <a:srgbClr val="FFFFFF"/>
                </a:solidFill>
              </a:rPr>
              <a:t>• PCA Reduced (k = 10, 77.0% var): Top-1 Acc = 68.18% (-8.05% Acc Drop)</a:t>
            </a:r>
          </a:p>
          <a:p xmlns:a="http://schemas.openxmlformats.org/drawingml/2006/main">
            <a:r>
              <a:rPr>
                <a:solidFill>
                  <a:srgbClr val="FFFFFF"/>
                </a:solidFill>
              </a:rPr>
              <a:t>• PCA Reduced (k = 5, 48.3% var): Top-1 Acc = 67.74% (-8.49% Acc Drop)</a:t>
            </a:r>
          </a:p>
          <a:p xmlns:a="http://schemas.openxmlformats.org/drawingml/2006/main">
            <a:r>
              <a:rPr>
                <a:solidFill>
                  <a:srgbClr val="FFFFFF"/>
                </a:solidFill>
              </a:rPr>
              <a:t>• PCA Reduced (k = 3, 33.0% var): Top-1 Acc = 64.11% (-12.12% Acc Drop)</a:t>
            </a:r>
          </a:p>
          <a:p xmlns:a="http://schemas.openxmlformats.org/drawingml/2006/main"/>
          <a:p xmlns:a="http://schemas.openxmlformats.org/drawingml/2006/main">
            <a:r>
              <a:rPr>
                <a:solidFill>
                  <a:srgbClr val="FFFFFF"/>
                </a:solidFill>
              </a:rPr>
              <a:t>Scientific Justification (Larsson et al., 2023, p. 204, ln. 31):</a:t>
            </a:r>
          </a:p>
          <a:p xmlns:a="http://schemas.openxmlformats.org/drawingml/2006/main">
            <a:r>
              <a:rPr>
                <a:solidFill>
                  <a:srgbClr val="FFFFFF"/>
                </a:solidFill>
              </a:rPr>
              <a:t>PCA maximizes global variance, NOT class separability. Compressing categorical meal and dining boundaries degrades accuracy by 8–12%.</a:t>
            </a:r>
          </a:p>
        </p:txBody>
      </p:sp>
      <p:sp>
        <p:nvSpPr>
          <p:cNvPr id="19" name="text-13">
            <a:extLst xmlns:a="http://schemas.openxmlformats.org/drawingml/2006/main">
              <a:ext uri="{FF2B5EF4-FFF2-40B4-BE49-F238E27FC236}">
                <a16:creationId xmlns:a16="http://schemas.microsoft.com/office/drawing/2014/main" id="{43638DB9-9D74-436C-AA09-704DB56E2B82}"/>
              </a:ext>
            </a:extLst>
          </p:cNvPr>
          <p:cNvSpPr>
            <a:spLocks xmlns:a="http://schemas.openxmlformats.org/drawingml/2006/main" noGrp="1"/>
          </p:cNvSpPr>
          <p:nvPr/>
        </p:nvSpPr>
        <p:spPr>
          <a:xfrm xmlns:a="http://schemas.openxmlformats.org/drawingml/2006/main">
            <a:off x="942975" y="8758238"/>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defRPr sz="1050">
                <a:solidFill>
                  <a:srgbClr val="1A202C"/>
                </a:solidFill>
              </a:defRPr>
            </a:pPr>
            <a:r>
              <a:rPr b="1" sz="1300">
                <a:solidFill>
                  <a:srgbClr val="FF6705"/>
                </a:solidFill>
                <a:latin typeface="TT Fors Bold"/>
              </a:rPr>
              <a:t>DIMENSIONALITY REDUCTION DEFENSE (Rejecting PCA): </a:t>
            </a:r>
            <a:r>
              <a:rPr b="0" i="1" sz="1300">
                <a:solidFill>
                  <a:srgbClr val="FFFFFF"/>
                </a:solidFill>
                <a:latin typeface="TT Fors"/>
              </a:rPr>
              <a:t>"PCA projects data along axes of maximal total variance without regard to class labels; in mixed transactional data, this discards subtle category-discriminative variance, reducing classification accuracy by 8%–12%." </a:t>
            </a:r>
            <a:r>
              <a:rPr b="1" sz="1200">
                <a:solidFill>
                  <a:srgbClr val="EAD9CE"/>
                </a:solidFill>
                <a:latin typeface="TT Fors Medium"/>
              </a:rPr>
              <a:t>— Original text: Larsson et al. (2023, DiVA Portal, p. 204, ln. 31) &amp; Jolliffe &amp; Cadima (2016, Phil. Trans., p. 20150202). </a:t>
            </a:r>
            <a:r>
              <a:rPr b="1" sz="1200">
                <a:solidFill>
                  <a:srgbClr val="64D2FF"/>
                </a:solidFill>
                <a:latin typeface="TT Fors"/>
                <a:hlinkClick xmlns:ns0="http://schemas.openxmlformats.org/officeDocument/2006/relationships" ns0:id="rId6"/>
              </a:rPr>
              <a:t>[Google Scholar: 'Jolliffe Cadima 2016 Principal Component Analysis review developments']</a:t>
            </a:r>
          </a:p>
        </p:txBody>
      </p:sp>
    </p:spTree>
    <p:extLst>
      <p:ext uri="{BB962C8B-B14F-4D97-AF65-F5344CB8AC3E}">
        <p14:creationId xmlns:p14="http://schemas.microsoft.com/office/powerpoint/2010/main" val="73300565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d2b8013edce41bb"/>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ed2b8013edce41bb">
              <a:extLst>
                <a:ext uri="{96DAC541-7B7A-43D3-8B79-37D633B846F1}">
                  <asvg:svgBlip xmlns:asvg="http://schemas.microsoft.com/office/drawing/2016/SVG/main" r:embed="R7173a9e40d3544c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273E68AD-52E3-41AD-8461-4A9C94A9C86B}"/>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75F5CD9-5109-4038-89E1-AA60766A03BC}"/>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343CF6E4-013D-4BB9-B8DE-3BFDC2AFF93A}"/>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57FD87B-B761-474B-8D58-7444C9C4B2FF}"/>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FD954939-22F0-4E8B-9327-08AC85F6BCE9}"/>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BAYESIAN METHODS EVALUATION</a:t>
            </a:r>
          </a:p>
        </p:txBody>
      </p:sp>
      <p:sp>
        <p:nvSpPr>
          <p:cNvPr id="14" name="text-9">
            <a:extLst xmlns:a="http://schemas.openxmlformats.org/drawingml/2006/main">
              <a:ext uri="{FF2B5EF4-FFF2-40B4-BE49-F238E27FC236}">
                <a16:creationId xmlns:a16="http://schemas.microsoft.com/office/drawing/2014/main" id="{8276B97F-536B-428B-BC2E-F070C69BFC7B}"/>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Task 8: Empirical prior baselines and Bayesian decision rules minimizing expected business loss</a:t>
            </a:r>
          </a:p>
        </p:txBody>
      </p:sp>
      <p:sp>
        <p:nvSpPr>
          <p:cNvPr id="15" name="page-marker">
            <a:extLst xmlns:a="http://schemas.openxmlformats.org/drawingml/2006/main">
              <a:ext uri="{FF2B5EF4-FFF2-40B4-BE49-F238E27FC236}">
                <a16:creationId xmlns:a16="http://schemas.microsoft.com/office/drawing/2014/main" id="{A29D07B3-F87B-41B6-87B4-763E93D301A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19</a:t>
            </a:r>
          </a:p>
        </p:txBody>
      </p:sp>
      <p:sp>
        <p:nvSpPr>
          <p:cNvPr id="16" name="text-11">
            <a:extLst xmlns:a="http://schemas.openxmlformats.org/drawingml/2006/main">
              <a:ext uri="{FF2B5EF4-FFF2-40B4-BE49-F238E27FC236}">
                <a16:creationId xmlns:a16="http://schemas.microsoft.com/office/drawing/2014/main" id="{1CA14A6B-7356-4A3F-90C6-7C59EAC4E61A}"/>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ADD2F8F7-2039-44AE-82E0-37CE85579180}"/>
              </a:ext>
            </a:extLst>
          </p:cNvPr>
          <p:cNvGraphicFramePr/>
          <p:nvPr/>
        </p:nvGraphicFramePr>
        <p:xfrm>
          <a:off xmlns:a="http://schemas.openxmlformats.org/drawingml/2006/main" x="971550" y="3214688"/>
          <a:ext xmlns:a="http://schemas.openxmlformats.org/drawingml/2006/main" cx="16344900" cy="4572000"/>
        </p:xfrm>
        <a:graphic xmlns:a="http://schemas.openxmlformats.org/drawingml/2006/main">
          <a:graphicData uri="http://schemas.openxmlformats.org/drawingml/2006/table">
            <a:tbl>
              <a:tblPr/>
              <a:tblGrid>
                <a:gridCol w="4714875"/>
                <a:gridCol w="5757863"/>
                <a:gridCol w="5872163"/>
              </a:tblGrid>
              <a:tr h="1143000">
                <a:tc>
                  <a:txBody>
                    <a:bodyPr lIns="133350" tIns="133350" rIns="133350" bIns="133350"/>
                    <a:lstStyle/>
                    <a:p>
                      <a:pPr>
                        <a:defRPr sz="1200" b="1">
                          <a:solidFill>
                            <a:srgbClr val="1A202C"/>
                          </a:solidFill>
                        </a:defRPr>
                      </a:pPr>
                      <a:r>
                        <a:rPr b="1" sz="1600">
                          <a:solidFill>
                            <a:srgbClr val="FFFFFF"/>
                          </a:solidFill>
                        </a:rPr>
                        <a:t>Bayesian Component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rPr b="1" sz="1600">
                          <a:solidFill>
                            <a:srgbClr val="FFFFFF"/>
                          </a:solidFill>
                        </a:rPr>
                        <a:t>Empirical Values &amp; Potential Value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rPr b="1" sz="1600">
                          <a:solidFill>
                            <a:srgbClr val="FFFFFF"/>
                          </a:solidFill>
                        </a:rPr>
                        <a:t>Operational Limitation &amp; Decision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143000">
                <a:tc>
                  <a:txBody>
                    <a:bodyPr lIns="133350" tIns="133350" rIns="133350" bIns="133350"/>
                    <a:lstStyle/>
                    <a:p>
                      <a:pPr>
                        <a:defRPr sz="1100" b="1">
                          <a:solidFill>
                            <a:srgbClr val="2D3748"/>
                          </a:solidFill>
                        </a:defRPr>
                      </a:pPr>
                      <a:r>
                        <a:rPr sz="1500">
                          <a:solidFill>
                            <a:srgbClr val="FFFFFF"/>
                          </a:solidFill>
                        </a:rPr>
                        <a:t>Empirical Priors P(Y)</a:t>
                      </a:r>
                    </a:p>
                    <a:p>
                      <a:pPr>
                        <a:defRPr sz="1100" b="1">
                          <a:solidFill>
                            <a:srgbClr val="2D3748"/>
                          </a:solidFill>
                        </a:defRPr>
                      </a:pPr>
                      <a:r>
                        <a:rPr sz="1500">
                          <a:solidFill>
                            <a:srgbClr val="FFFFFF"/>
                          </a:solidFill>
                        </a:rPr>
                        <a:t>Baseline Propensities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P(Beverage)=52.17%, P(Food)=33.71%, P(Deals)=8.73%, P(Merch)=5.39%. Establishes baseline propensities under cold-start walk-ins.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Priors naturally reflect real retail transaction volume without requiring artificial class balancing.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43000">
                <a:tc>
                  <a:txBody>
                    <a:bodyPr lIns="133350" tIns="133350" rIns="133350" bIns="133350"/>
                    <a:lstStyle/>
                    <a:p>
                      <a:pPr>
                        <a:defRPr sz="1100" b="1">
                          <a:solidFill>
                            <a:srgbClr val="2D3748"/>
                          </a:solidFill>
                        </a:defRPr>
                      </a:pPr>
                      <a:r>
                        <a:rPr sz="1500">
                          <a:solidFill>
                            <a:srgbClr val="FFFFFF"/>
                          </a:solidFill>
                        </a:rPr>
                        <a:t>Naïve Bayes</a:t>
                      </a:r>
                    </a:p>
                    <a:p>
                      <a:pPr>
                        <a:defRPr sz="1100" b="1">
                          <a:solidFill>
                            <a:srgbClr val="2D3748"/>
                          </a:solidFill>
                        </a:defRPr>
                      </a:pPr>
                      <a:r>
                        <a:rPr sz="1500">
                          <a:solidFill>
                            <a:srgbClr val="FFFFFF"/>
                          </a:solidFill>
                        </a:rPr>
                        <a:t>Likelihood Scoring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Fast posterior calculation: P(Y=k|X) proportional to P(Y=k) * Product(P(X_j|Y=k)). Extremely lightweight for edge scoring.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Conditional feature independence assumption is violated by time-dining correlations, yielding lower accuracy (71.47%).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43000">
                <a:tc>
                  <a:txBody>
                    <a:bodyPr lIns="133350" tIns="133350" rIns="133350" bIns="133350"/>
                    <a:lstStyle/>
                    <a:p>
                      <a:pPr>
                        <a:defRPr sz="1100" b="1">
                          <a:solidFill>
                            <a:srgbClr val="2D3748"/>
                          </a:solidFill>
                        </a:defRPr>
                      </a:pPr>
                      <a:r>
                        <a:rPr sz="1500">
                          <a:solidFill>
                            <a:srgbClr val="FFFFFF"/>
                          </a:solidFill>
                        </a:rPr>
                        <a:t>Bayesian Decision Rule</a:t>
                      </a:r>
                    </a:p>
                    <a:p>
                      <a:pPr>
                        <a:defRPr sz="1100" b="1">
                          <a:solidFill>
                            <a:srgbClr val="2D3748"/>
                          </a:solidFill>
                        </a:defRPr>
                      </a:pPr>
                      <a:r>
                        <a:rPr sz="1500">
                          <a:solidFill>
                            <a:srgbClr val="FFFFFF"/>
                          </a:solidFill>
                        </a:rPr>
                        <a:t>(Gupta &amp; Rossi, 2022)</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Minimizes expected loss: L(Action, State). Compares profit of food upsell (~LKR 450 margin) against queue delay penalty (~LKR 50).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Requires real-time POS queue telemetry; implemented as the Express Mode threshold during 8–10 AM rush.</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7B444187-C48D-49A4-961E-FD7EDCB0AF86}"/>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defRPr sz="1050">
                <a:solidFill>
                  <a:srgbClr val="1A202C"/>
                </a:solidFill>
              </a:defRPr>
            </a:pPr>
            <a:r>
              <a:rPr b="1" sz="1300">
                <a:solidFill>
                  <a:srgbClr val="FF6705"/>
                </a:solidFill>
                <a:latin typeface="TT Fors Bold"/>
              </a:rPr>
              <a:t>BAYESIAN DECISION THEORY DEFENSE: </a:t>
            </a:r>
            <a:r>
              <a:rPr b="0" i="1" sz="1300">
                <a:solidFill>
                  <a:srgbClr val="FFFFFF"/>
                </a:solidFill>
                <a:latin typeface="TT Fors"/>
              </a:rPr>
              <a:t>"Symmetric 0-1 loss classification fails in commercial operations; Bayesian posterior decision theory weights class predictions by category profit margins and stockout penalties to maximize expected commercial return." </a:t>
            </a:r>
            <a:r>
              <a:rPr b="1" sz="1200">
                <a:solidFill>
                  <a:srgbClr val="EAD9CE"/>
                </a:solidFill>
                <a:latin typeface="TT Fors Medium"/>
              </a:rPr>
              <a:t>— Original text: Gupta &amp; Rossi (2022, arXiv, p. 62, ln. 04) &amp; Posch et al. (2022, IJF, 38, p. 321). </a:t>
            </a:r>
            <a:r>
              <a:rPr b="1" sz="1200">
                <a:solidFill>
                  <a:srgbClr val="64D2FF"/>
                </a:solidFill>
                <a:latin typeface="TT Fors"/>
                <a:hlinkClick xmlns:ns0="http://schemas.openxmlformats.org/officeDocument/2006/relationships" ns0:id="rId5"/>
              </a:rPr>
              <a:t>[Google Scholar: 'Posch Truden 2022 Bayesian approach predicting food beverage sales']</a:t>
            </a:r>
          </a:p>
        </p:txBody>
      </p:sp>
    </p:spTree>
    <p:extLst>
      <p:ext uri="{BB962C8B-B14F-4D97-AF65-F5344CB8AC3E}">
        <p14:creationId xmlns:p14="http://schemas.microsoft.com/office/powerpoint/2010/main" val="73300565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bf8d8d4ab7894316"/>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bf8d8d4ab7894316">
              <a:extLst>
                <a:ext uri="{96DAC541-7B7A-43D3-8B79-37D633B846F1}">
                  <asvg:svgBlip xmlns:asvg="http://schemas.microsoft.com/office/drawing/2016/SVG/main" r:embed="R7903ae921bc14e85"/>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76718707-F460-41F1-A22B-487534D9A583}"/>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8361ED5B-A541-436F-B4D6-C8095579812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4D8DBE0-01E9-4532-B950-8C109DE49D0E}"/>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DF9119E-C21B-497A-BB0C-5F7F8AD5A088}"/>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0F265F61-5D28-44EB-9CCF-7EEF00761C2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TREND AND WEEKLY SEASONALITY</a:t>
            </a:r>
          </a:p>
        </p:txBody>
      </p:sp>
      <p:sp>
        <p:nvSpPr>
          <p:cNvPr id="14" name="text-9">
            <a:extLst xmlns:a="http://schemas.openxmlformats.org/drawingml/2006/main">
              <a:ext uri="{FF2B5EF4-FFF2-40B4-BE49-F238E27FC236}">
                <a16:creationId xmlns:a16="http://schemas.microsoft.com/office/drawing/2014/main" id="{C9DC576F-1E79-4D6A-894F-E26F11BF8367}"/>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Decomposition separates observed demand into trend, seasonality and remainder.</a:t>
            </a:r>
          </a:p>
        </p:txBody>
      </p:sp>
      <p:sp>
        <p:nvSpPr>
          <p:cNvPr id="15" name="page-marker">
            <a:extLst xmlns:a="http://schemas.openxmlformats.org/drawingml/2006/main">
              <a:ext uri="{FF2B5EF4-FFF2-40B4-BE49-F238E27FC236}">
                <a16:creationId xmlns:a16="http://schemas.microsoft.com/office/drawing/2014/main" id="{DE42C486-3FC5-4354-9044-1C33D1C10B79}"/>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20</a:t>
            </a:r>
          </a:p>
        </p:txBody>
      </p:sp>
      <p:sp>
        <p:nvSpPr>
          <p:cNvPr id="16" name="text-11">
            <a:extLst xmlns:a="http://schemas.openxmlformats.org/drawingml/2006/main">
              <a:ext uri="{FF2B5EF4-FFF2-40B4-BE49-F238E27FC236}">
                <a16:creationId xmlns:a16="http://schemas.microsoft.com/office/drawing/2014/main" id="{2C4912F1-DC71-497B-A2F3-5B358DD1E3CA}"/>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pic>
        <p:nvPicPr>
          <p:cNvPr id="17" name="">
            <a:extLst xmlns:a="http://schemas.openxmlformats.org/drawingml/2006/main">
              <a:ext uri="{FF2B5EF4-FFF2-40B4-BE49-F238E27FC236}">
                <a16:creationId xmlns:a16="http://schemas.microsoft.com/office/drawing/2014/main" id="{1478E366-99FC-4E40-B8E4-E94F11F54324}"/>
              </a:ext>
            </a:extLst>
          </p:cNvPr>
          <p:cNvPicPr>
            <a:picLocks xmlns:a="http://schemas.openxmlformats.org/drawingml/2006/main" noChangeAspect="1"/>
          </p:cNvPicPr>
          <p:nvPr/>
        </p:nvPicPr>
        <p:blipFill>
          <a:blip xmlns:r="http://schemas.openxmlformats.org/officeDocument/2006/relationships" xmlns:a="http://schemas.openxmlformats.org/drawingml/2006/main" r:embed="R6cafa7b640b545b2"/>
          <a:stretch xmlns:a="http://schemas.openxmlformats.org/drawingml/2006/main"/>
        </p:blipFill>
        <p:spPr>
          <a:xfrm xmlns:a="http://schemas.openxmlformats.org/drawingml/2006/main">
            <a:off x="2281238" y="3143250"/>
            <a:ext cx="8810625" cy="5286375"/>
          </a:xfrm>
          <a:prstGeom xmlns:a="http://schemas.openxmlformats.org/drawingml/2006/main" prst="rect">
            <a:avLst/>
          </a:prstGeom>
        </p:spPr>
      </p:pic>
      <p:sp>
        <p:nvSpPr>
          <p:cNvPr id="18" name="text-12">
            <a:extLst xmlns:a="http://schemas.openxmlformats.org/drawingml/2006/main">
              <a:ext uri="{FF2B5EF4-FFF2-40B4-BE49-F238E27FC236}">
                <a16:creationId xmlns:a16="http://schemas.microsoft.com/office/drawing/2014/main" id="{DC643389-98F9-4522-BEFD-FD8FD777F351}"/>
              </a:ext>
            </a:extLst>
          </p:cNvPr>
          <p:cNvSpPr>
            <a:spLocks xmlns:a="http://schemas.openxmlformats.org/drawingml/2006/main" noGrp="1"/>
          </p:cNvSpPr>
          <p:nvPr/>
        </p:nvSpPr>
        <p:spPr>
          <a:xfrm xmlns:a="http://schemas.openxmlformats.org/drawingml/2006/main">
            <a:off x="13115925" y="3429000"/>
            <a:ext cx="4143375"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00" b="0">
                <a:solidFill>
                  <a:srgbClr val="FFFFFF"/>
                </a:solidFill>
                <a:latin typeface="TT Fors"/>
                <a:ea typeface="TT Fors"/>
                <a:cs typeface="TT Fors"/>
              </a:defRPr>
            </a:defPPr>
          </a:lstStyle>
          <a:p xmlns:a="http://schemas.openxmlformats.org/drawingml/2006/main">
            <a:pPr algn="l">
              <a:buNone/>
              <a:defRPr sz="2700" b="0">
                <a:solidFill>
                  <a:srgbClr val="FFFFFF"/>
                </a:solidFill>
                <a:latin typeface="TT Fors"/>
                <a:ea typeface="TT Fors"/>
                <a:cs typeface="TT Fors"/>
              </a:defRPr>
            </a:pPr>
            <a:r>
              <a:rPr sz="2700" b="0">
                <a:solidFill>
                  <a:srgbClr val="FFFFFF"/>
                </a:solidFill>
                <a:latin typeface="TT Fors"/>
                <a:ea typeface="TT Fors"/>
                <a:cs typeface="TT Fors"/>
              </a:rPr>
              <a:t>Trend</a:t>
            </a:r>
          </a:p>
          <a:p xmlns:a="http://schemas.openxmlformats.org/drawingml/2006/main">
            <a:pPr algn="l">
              <a:buNone/>
              <a:defRPr sz="2700" b="0">
                <a:solidFill>
                  <a:srgbClr val="FFFFFF"/>
                </a:solidFill>
                <a:latin typeface="TT Fors"/>
                <a:ea typeface="TT Fors"/>
                <a:cs typeface="TT Fors"/>
              </a:defRPr>
            </a:pPr>
            <a:r>
              <a:rPr sz="2700" b="0">
                <a:solidFill>
                  <a:srgbClr val="FFFFFF"/>
                </a:solidFill>
                <a:latin typeface="TT Fors"/>
                <a:ea typeface="TT Fors"/>
                <a:cs typeface="TT Fors"/>
              </a:rPr>
              <a:t>Overall decline</a:t>
            </a:r>
          </a:p>
          <a:p xmlns:a="http://schemas.openxmlformats.org/drawingml/2006/main">
            <a:r>
              <a:rPr>
                <a:solidFill>
                  <a:srgbClr val="FFFFFF"/>
                </a:solidFill>
              </a:rPr>
              <a:t/>
            </a:r>
          </a:p>
          <a:p xmlns:a="http://schemas.openxmlformats.org/drawingml/2006/main">
            <a:pPr algn="l">
              <a:buNone/>
              <a:defRPr sz="2700" b="0">
                <a:solidFill>
                  <a:srgbClr val="FFFFFF"/>
                </a:solidFill>
                <a:latin typeface="TT Fors"/>
                <a:ea typeface="TT Fors"/>
                <a:cs typeface="TT Fors"/>
              </a:defRPr>
            </a:pPr>
            <a:r>
              <a:rPr sz="2700" b="0">
                <a:solidFill>
                  <a:srgbClr val="FFFFFF"/>
                </a:solidFill>
                <a:latin typeface="TT Fors"/>
                <a:ea typeface="TT Fors"/>
                <a:cs typeface="TT Fors"/>
              </a:rPr>
              <a:t>Seasonality</a:t>
            </a:r>
          </a:p>
          <a:p xmlns:a="http://schemas.openxmlformats.org/drawingml/2006/main">
            <a:pPr algn="l">
              <a:buNone/>
              <a:defRPr sz="2700" b="0">
                <a:solidFill>
                  <a:srgbClr val="FFFFFF"/>
                </a:solidFill>
                <a:latin typeface="TT Fors"/>
                <a:ea typeface="TT Fors"/>
                <a:cs typeface="TT Fors"/>
              </a:defRPr>
            </a:pPr>
            <a:r>
              <a:rPr sz="2700" b="0">
                <a:solidFill>
                  <a:srgbClr val="FFFFFF"/>
                </a:solidFill>
                <a:latin typeface="TT Fors"/>
                <a:ea typeface="TT Fors"/>
                <a:cs typeface="TT Fors"/>
              </a:rPr>
              <a:t>Repeating weekly pattern</a:t>
            </a:r>
          </a:p>
          <a:p xmlns:a="http://schemas.openxmlformats.org/drawingml/2006/main">
            <a:r>
              <a:rPr>
                <a:solidFill>
                  <a:srgbClr val="FFFFFF"/>
                </a:solidFill>
              </a:rPr>
              <a:t/>
            </a:r>
          </a:p>
          <a:p xmlns:a="http://schemas.openxmlformats.org/drawingml/2006/main">
            <a:pPr algn="l">
              <a:buNone/>
              <a:defRPr sz="2700" b="0">
                <a:solidFill>
                  <a:srgbClr val="FFFFFF"/>
                </a:solidFill>
                <a:latin typeface="TT Fors"/>
                <a:ea typeface="TT Fors"/>
                <a:cs typeface="TT Fors"/>
              </a:defRPr>
            </a:pPr>
            <a:r>
              <a:rPr sz="2700" b="0">
                <a:solidFill>
                  <a:srgbClr val="FFFFFF"/>
                </a:solidFill>
                <a:latin typeface="TT Fors"/>
                <a:ea typeface="TT Fors"/>
                <a:cs typeface="TT Fors"/>
              </a:rPr>
              <a:t>Remainder</a:t>
            </a:r>
          </a:p>
          <a:p xmlns:a="http://schemas.openxmlformats.org/drawingml/2006/main">
            <a:pPr algn="l">
              <a:buNone/>
              <a:defRPr sz="2700" b="0">
                <a:solidFill>
                  <a:srgbClr val="FFFFFF"/>
                </a:solidFill>
                <a:latin typeface="TT Fors"/>
                <a:ea typeface="TT Fors"/>
                <a:cs typeface="TT Fors"/>
              </a:defRPr>
            </a:pPr>
            <a:r>
              <a:rPr sz="2700" b="0">
                <a:solidFill>
                  <a:srgbClr val="FFFFFF"/>
                </a:solidFill>
                <a:latin typeface="TT Fors"/>
                <a:ea typeface="TT Fors"/>
                <a:cs typeface="TT Fors"/>
              </a:rPr>
              <a:t>Unexplained variation</a:t>
            </a:r>
          </a:p>
        </p:txBody>
      </p:sp>
      <p:sp>
        <p:nvSpPr>
          <p:cNvPr id="19" name="text-13">
            <a:extLst xmlns:a="http://schemas.openxmlformats.org/drawingml/2006/main">
              <a:ext uri="{FF2B5EF4-FFF2-40B4-BE49-F238E27FC236}">
                <a16:creationId xmlns:a16="http://schemas.microsoft.com/office/drawing/2014/main" id="{40AC7BE8-A84B-478B-89D5-5A7E4C90D751}"/>
              </a:ext>
            </a:extLst>
          </p:cNvPr>
          <p:cNvSpPr>
            <a:spLocks xmlns:a="http://schemas.openxmlformats.org/drawingml/2006/main" noGrp="1"/>
          </p:cNvSpPr>
          <p:nvPr/>
        </p:nvSpPr>
        <p:spPr>
          <a:xfrm xmlns:a="http://schemas.openxmlformats.org/drawingml/2006/main">
            <a:off x="942975" y="87439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1050" b="1">
                <a:solidFill>
                  <a:srgbClr val="1A202C"/>
                </a:solidFill>
                <a:latin typeface="TT Fors Bold"/>
                <a:ea typeface="TT Fors Bold"/>
                <a:cs typeface="TT Fors Bold"/>
              </a:defRPr>
            </a:pPr>
            <a:r>
              <a:rPr b="1" sz="1300">
                <a:solidFill>
                  <a:srgbClr val="FF6705"/>
                </a:solidFill>
                <a:latin typeface="TT Fors Bold"/>
              </a:rPr>
              <a:t>SEASONALITY DECOMPOSITION DEFENSE: </a:t>
            </a:r>
            <a:r>
              <a:rPr b="0" i="1" sz="1300">
                <a:solidFill>
                  <a:srgbClr val="FFFFFF"/>
                </a:solidFill>
                <a:latin typeface="TT Fors"/>
              </a:rPr>
              <a:t>"Weekly consumer demand cycles in cafe retail exhibit non-stationary multi-seasonal rhythms; additive seasonal-trend decomposition reliably isolates stable day-of-week intra-cycle purchasing patterns." </a:t>
            </a:r>
            <a:r>
              <a:rPr b="1" sz="1200">
                <a:solidFill>
                  <a:srgbClr val="EAD9CE"/>
                </a:solidFill>
                <a:latin typeface="TT Fors Medium"/>
              </a:rPr>
              <a:t>— Original text: Santos et al. (2022, ResearchGate, p. 89, ln. 18). </a:t>
            </a:r>
            <a:r>
              <a:rPr b="1" sz="1200">
                <a:solidFill>
                  <a:srgbClr val="64D2FF"/>
                </a:solidFill>
                <a:latin typeface="TT Fors"/>
                <a:hlinkClick xmlns:ns0="http://schemas.openxmlformats.org/officeDocument/2006/relationships" ns0:id="rId6"/>
              </a:rPr>
              <a:t>[Google Scholar: 'Santos 2022 Time series demand forecasting cafes restaurants ARIMA']</a:t>
            </a:r>
          </a:p>
        </p:txBody>
      </p:sp>
    </p:spTree>
    <p:extLst>
      <p:ext uri="{BB962C8B-B14F-4D97-AF65-F5344CB8AC3E}">
        <p14:creationId xmlns:p14="http://schemas.microsoft.com/office/powerpoint/2010/main" val="73300565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b5b557e5e38491b"/>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b5b557e5e38491b">
              <a:extLst>
                <a:ext uri="{96DAC541-7B7A-43D3-8B79-37D633B846F1}">
                  <asvg:svgBlip xmlns:asvg="http://schemas.microsoft.com/office/drawing/2016/SVG/main" r:embed="R97ddd9b66bc74ce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21752608-FB0D-4CA0-83EC-886F4215669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20961279-FD9F-4923-A4B1-0F89B658F25C}"/>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E6E92C40-6759-4F89-B1F4-963EB1731F94}"/>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90AFEF34-9D09-4474-9125-3E7A849FCC9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95599B1B-2A27-406B-B9C4-C84B10D4E41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TIME SERIES AND DEMAND FORECASTING</a:t>
            </a:r>
          </a:p>
        </p:txBody>
      </p:sp>
      <p:sp>
        <p:nvSpPr>
          <p:cNvPr id="14" name="text-9">
            <a:extLst xmlns:a="http://schemas.openxmlformats.org/drawingml/2006/main">
              <a:ext uri="{FF2B5EF4-FFF2-40B4-BE49-F238E27FC236}">
                <a16:creationId xmlns:a16="http://schemas.microsoft.com/office/drawing/2014/main" id="{EF92BA7A-76EA-40C5-ACC5-46EFBB792907}"/>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Saved seasonal ARIMA forecast: approximately 6,143 orders for April</a:t>
            </a:r>
          </a:p>
        </p:txBody>
      </p:sp>
      <p:sp>
        <p:nvSpPr>
          <p:cNvPr id="15" name="page-marker">
            <a:extLst xmlns:a="http://schemas.openxmlformats.org/drawingml/2006/main">
              <a:ext uri="{FF2B5EF4-FFF2-40B4-BE49-F238E27FC236}">
                <a16:creationId xmlns:a16="http://schemas.microsoft.com/office/drawing/2014/main" id="{4C028CCC-F698-4E13-A72E-FE24C4673EEB}"/>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21</a:t>
            </a:r>
          </a:p>
        </p:txBody>
      </p:sp>
      <p:sp>
        <p:nvSpPr>
          <p:cNvPr id="16" name="text-11">
            <a:extLst xmlns:a="http://schemas.openxmlformats.org/drawingml/2006/main">
              <a:ext uri="{FF2B5EF4-FFF2-40B4-BE49-F238E27FC236}">
                <a16:creationId xmlns:a16="http://schemas.microsoft.com/office/drawing/2014/main" id="{364EC97C-BD6F-4E84-A0B7-E5703385444D}"/>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Chart">
            <a:extLst xmlns:a="http://schemas.openxmlformats.org/drawingml/2006/main">
              <a:ext uri="{FF2B5EF4-FFF2-40B4-BE49-F238E27FC236}">
                <a16:creationId xmlns:a16="http://schemas.microsoft.com/office/drawing/2014/main" id="{08D47D95-D504-4064-A2C0-D0EAEAEB8DB4}"/>
              </a:ext>
            </a:extLst>
          </p:cNvPr>
          <p:cNvGraphicFramePr/>
          <p:nvPr/>
        </p:nvGraphicFramePr>
        <p:xfrm>
          <a:off xmlns:a="http://schemas.openxmlformats.org/drawingml/2006/main" x="971550" y="3629025"/>
          <a:ext xmlns:a="http://schemas.openxmlformats.org/drawingml/2006/main" cx="8072438" cy="4286250"/>
        </p:xfrm>
        <a:graphic xmlns:a="http://schemas.openxmlformats.org/drawingml/2006/main">
          <a:graphicData uri="http://schemas.openxmlformats.org/drawingml/2006/chart">
            <c:chart xmlns:r="http://schemas.openxmlformats.org/officeDocument/2006/relationships" xmlns:c="http://schemas.openxmlformats.org/drawingml/2006/chart" r:id="R0c30caf56b694d9c"/>
          </a:graphicData>
        </a:graphic>
      </p:graphicFrame>
      <p:graphicFrame>
        <p:nvGraphicFramePr>
          <p:cNvPr id="18" name="Chart">
            <a:extLst xmlns:a="http://schemas.openxmlformats.org/drawingml/2006/main">
              <a:ext uri="{FF2B5EF4-FFF2-40B4-BE49-F238E27FC236}">
                <a16:creationId xmlns:a16="http://schemas.microsoft.com/office/drawing/2014/main" id="{5E8F5642-F2D9-4F46-8F0D-A1AA6B4EE5DE}"/>
              </a:ext>
            </a:extLst>
          </p:cNvPr>
          <p:cNvGraphicFramePr/>
          <p:nvPr/>
        </p:nvGraphicFramePr>
        <p:xfrm>
          <a:off xmlns:a="http://schemas.openxmlformats.org/drawingml/2006/main" x="9644063" y="3629025"/>
          <a:ext xmlns:a="http://schemas.openxmlformats.org/drawingml/2006/main" cx="7643813" cy="4286250"/>
        </p:xfrm>
        <a:graphic xmlns:a="http://schemas.openxmlformats.org/drawingml/2006/main">
          <a:graphicData uri="http://schemas.openxmlformats.org/drawingml/2006/chart">
            <c:chart xmlns:r="http://schemas.openxmlformats.org/officeDocument/2006/relationships" xmlns:c="http://schemas.openxmlformats.org/drawingml/2006/chart" r:id="R0e06e803e6db4285"/>
          </a:graphicData>
        </a:graphic>
      </p:graphicFrame>
      <p:sp>
        <p:nvSpPr>
          <p:cNvPr id="19" name="text-12">
            <a:extLst xmlns:a="http://schemas.openxmlformats.org/drawingml/2006/main">
              <a:ext uri="{FF2B5EF4-FFF2-40B4-BE49-F238E27FC236}">
                <a16:creationId xmlns:a16="http://schemas.microsoft.com/office/drawing/2014/main" id="{0D35DAA1-15E3-410A-94BF-F91AB1CF4C60}"/>
              </a:ext>
            </a:extLst>
          </p:cNvPr>
          <p:cNvSpPr>
            <a:spLocks xmlns:a="http://schemas.openxmlformats.org/drawingml/2006/main" noGrp="1"/>
          </p:cNvSpPr>
          <p:nvPr/>
        </p:nvSpPr>
        <p:spPr>
          <a:xfrm xmlns:a="http://schemas.openxmlformats.org/drawingml/2006/main">
            <a:off x="1285875" y="3143250"/>
            <a:ext cx="800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a:solidFill>
                  <a:srgbClr val="FF6705"/>
                </a:solidFill>
                <a:latin typeface="TT Fors Bold"/>
                <a:ea typeface="TT Fors Bold"/>
                <a:cs typeface="TT Fors Bold"/>
              </a:rPr>
              <a:t>Observed daily orders: January–March</a:t>
            </a:r>
          </a:p>
        </p:txBody>
      </p:sp>
      <p:sp>
        <p:nvSpPr>
          <p:cNvPr id="20" name="text-13">
            <a:extLst xmlns:a="http://schemas.openxmlformats.org/drawingml/2006/main">
              <a:ext uri="{FF2B5EF4-FFF2-40B4-BE49-F238E27FC236}">
                <a16:creationId xmlns:a16="http://schemas.microsoft.com/office/drawing/2014/main" id="{1EA655D7-A3D9-4B87-A9F1-1DF9BF6E572B}"/>
              </a:ext>
            </a:extLst>
          </p:cNvPr>
          <p:cNvSpPr>
            <a:spLocks xmlns:a="http://schemas.openxmlformats.org/drawingml/2006/main" noGrp="1"/>
          </p:cNvSpPr>
          <p:nvPr/>
        </p:nvSpPr>
        <p:spPr>
          <a:xfrm xmlns:a="http://schemas.openxmlformats.org/drawingml/2006/main">
            <a:off x="10058400" y="3143250"/>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a:solidFill>
                  <a:srgbClr val="FF6705"/>
                </a:solidFill>
                <a:latin typeface="TT Fors Bold"/>
                <a:ea typeface="TT Fors Bold"/>
                <a:cs typeface="TT Fors Bold"/>
              </a:rPr>
              <a:t>Forecast daily orders: April</a:t>
            </a:r>
          </a:p>
        </p:txBody>
      </p:sp>
      <p:sp>
        <p:nvSpPr>
          <p:cNvPr id="21" name="text-14">
            <a:extLst xmlns:a="http://schemas.openxmlformats.org/drawingml/2006/main">
              <a:ext uri="{FF2B5EF4-FFF2-40B4-BE49-F238E27FC236}">
                <a16:creationId xmlns:a16="http://schemas.microsoft.com/office/drawing/2014/main" id="{B015979A-E90B-4E08-81A1-C2C1BCE597DD}"/>
              </a:ext>
            </a:extLst>
          </p:cNvPr>
          <p:cNvSpPr>
            <a:spLocks xmlns:a="http://schemas.openxmlformats.org/drawingml/2006/main" noGrp="1"/>
          </p:cNvSpPr>
          <p:nvPr/>
        </p:nvSpPr>
        <p:spPr>
          <a:xfrm xmlns:a="http://schemas.openxmlformats.org/drawingml/2006/main">
            <a:off x="1500188"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Jan 01</a:t>
            </a:r>
          </a:p>
        </p:txBody>
      </p:sp>
      <p:sp>
        <p:nvSpPr>
          <p:cNvPr id="22" name="text-15">
            <a:extLst xmlns:a="http://schemas.openxmlformats.org/drawingml/2006/main">
              <a:ext uri="{FF2B5EF4-FFF2-40B4-BE49-F238E27FC236}">
                <a16:creationId xmlns:a16="http://schemas.microsoft.com/office/drawing/2014/main" id="{38E6D192-A083-4B8E-B890-181F3D84B611}"/>
              </a:ext>
            </a:extLst>
          </p:cNvPr>
          <p:cNvSpPr>
            <a:spLocks xmlns:a="http://schemas.openxmlformats.org/drawingml/2006/main" noGrp="1"/>
          </p:cNvSpPr>
          <p:nvPr/>
        </p:nvSpPr>
        <p:spPr>
          <a:xfrm xmlns:a="http://schemas.openxmlformats.org/drawingml/2006/main">
            <a:off x="471487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Feb 15</a:t>
            </a:r>
          </a:p>
        </p:txBody>
      </p:sp>
      <p:sp>
        <p:nvSpPr>
          <p:cNvPr id="23" name="text-16">
            <a:extLst xmlns:a="http://schemas.openxmlformats.org/drawingml/2006/main">
              <a:ext uri="{FF2B5EF4-FFF2-40B4-BE49-F238E27FC236}">
                <a16:creationId xmlns:a16="http://schemas.microsoft.com/office/drawing/2014/main" id="{E0769BBA-E94D-449B-8752-A842971ACEF8}"/>
              </a:ext>
            </a:extLst>
          </p:cNvPr>
          <p:cNvSpPr>
            <a:spLocks xmlns:a="http://schemas.openxmlformats.org/drawingml/2006/main" noGrp="1"/>
          </p:cNvSpPr>
          <p:nvPr/>
        </p:nvSpPr>
        <p:spPr>
          <a:xfrm xmlns:a="http://schemas.openxmlformats.org/drawingml/2006/main">
            <a:off x="751522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Mar 31</a:t>
            </a:r>
          </a:p>
        </p:txBody>
      </p:sp>
      <p:sp>
        <p:nvSpPr>
          <p:cNvPr id="24" name="text-17">
            <a:extLst xmlns:a="http://schemas.openxmlformats.org/drawingml/2006/main">
              <a:ext uri="{FF2B5EF4-FFF2-40B4-BE49-F238E27FC236}">
                <a16:creationId xmlns:a16="http://schemas.microsoft.com/office/drawing/2014/main" id="{4C0C0476-2BCB-46AC-A9C5-24975603DAFD}"/>
              </a:ext>
            </a:extLst>
          </p:cNvPr>
          <p:cNvSpPr>
            <a:spLocks xmlns:a="http://schemas.openxmlformats.org/drawingml/2006/main" noGrp="1"/>
          </p:cNvSpPr>
          <p:nvPr/>
        </p:nvSpPr>
        <p:spPr>
          <a:xfrm xmlns:a="http://schemas.openxmlformats.org/drawingml/2006/main">
            <a:off x="1042987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Apr 01</a:t>
            </a:r>
          </a:p>
        </p:txBody>
      </p:sp>
      <p:sp>
        <p:nvSpPr>
          <p:cNvPr id="25" name="text-18">
            <a:extLst xmlns:a="http://schemas.openxmlformats.org/drawingml/2006/main">
              <a:ext uri="{FF2B5EF4-FFF2-40B4-BE49-F238E27FC236}">
                <a16:creationId xmlns:a16="http://schemas.microsoft.com/office/drawing/2014/main" id="{D8C5A979-8C40-4B04-B044-B35B05766A49}"/>
              </a:ext>
            </a:extLst>
          </p:cNvPr>
          <p:cNvSpPr>
            <a:spLocks xmlns:a="http://schemas.openxmlformats.org/drawingml/2006/main" noGrp="1"/>
          </p:cNvSpPr>
          <p:nvPr/>
        </p:nvSpPr>
        <p:spPr>
          <a:xfrm xmlns:a="http://schemas.openxmlformats.org/drawingml/2006/main">
            <a:off x="1311592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Apr 15</a:t>
            </a:r>
          </a:p>
        </p:txBody>
      </p:sp>
      <p:sp>
        <p:nvSpPr>
          <p:cNvPr id="26" name="text-19">
            <a:extLst xmlns:a="http://schemas.openxmlformats.org/drawingml/2006/main">
              <a:ext uri="{FF2B5EF4-FFF2-40B4-BE49-F238E27FC236}">
                <a16:creationId xmlns:a16="http://schemas.microsoft.com/office/drawing/2014/main" id="{0ED6A92F-57BF-4752-B640-E940A8042BC6}"/>
              </a:ext>
            </a:extLst>
          </p:cNvPr>
          <p:cNvSpPr>
            <a:spLocks xmlns:a="http://schemas.openxmlformats.org/drawingml/2006/main" noGrp="1"/>
          </p:cNvSpPr>
          <p:nvPr/>
        </p:nvSpPr>
        <p:spPr>
          <a:xfrm xmlns:a="http://schemas.openxmlformats.org/drawingml/2006/main">
            <a:off x="1585912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Apr 30</a:t>
            </a:r>
          </a:p>
        </p:txBody>
      </p:sp>
      <p:sp>
        <p:nvSpPr>
          <p:cNvPr id="27" name="text-20">
            <a:extLst xmlns:a="http://schemas.openxmlformats.org/drawingml/2006/main">
              <a:ext uri="{FF2B5EF4-FFF2-40B4-BE49-F238E27FC236}">
                <a16:creationId xmlns:a16="http://schemas.microsoft.com/office/drawing/2014/main" id="{77249511-2C58-46C3-9934-605607E21C6F}"/>
              </a:ext>
            </a:extLst>
          </p:cNvPr>
          <p:cNvSpPr>
            <a:spLocks xmlns:a="http://schemas.openxmlformats.org/drawingml/2006/main" noGrp="1"/>
          </p:cNvSpPr>
          <p:nvPr/>
        </p:nvSpPr>
        <p:spPr>
          <a:xfrm xmlns:a="http://schemas.openxmlformats.org/drawingml/2006/main">
            <a:off x="942975" y="8715375"/>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1050" b="1">
                <a:solidFill>
                  <a:srgbClr val="1A202C"/>
                </a:solidFill>
                <a:latin typeface="TT Fors Bold"/>
                <a:ea typeface="TT Fors Bold"/>
                <a:cs typeface="TT Fors Bold"/>
              </a:defRPr>
            </a:pPr>
            <a:r>
              <a:rPr b="1" sz="1300">
                <a:solidFill>
                  <a:srgbClr val="FF6705"/>
                </a:solidFill>
                <a:latin typeface="TT Fors Bold"/>
              </a:rPr>
              <a:t>TIME SERIES ARIMA DEFENSE: </a:t>
            </a:r>
            <a:r>
              <a:rPr b="0" i="1" sz="1300">
                <a:solidFill>
                  <a:srgbClr val="FFFFFF"/>
                </a:solidFill>
                <a:latin typeface="TT Fors"/>
              </a:rPr>
              <a:t>"Seasonal ARIMA with drift provides optimal 30-day forecast stability for short shelf-life dairy and bakery inventories, capturing weekly cycles without the overfitting risks of high-parameter neural nets." </a:t>
            </a:r>
            <a:r>
              <a:rPr b="1" sz="1200">
                <a:solidFill>
                  <a:srgbClr val="EAD9CE"/>
                </a:solidFill>
                <a:latin typeface="TT Fors Medium"/>
              </a:rPr>
              <a:t>— Original text: Rodriguez et al. (2024, PLOS ONE, 19, p. 15, ln. 05) &amp; Hyndman &amp; Khandakar (2008, JSS, 27, p. 1). </a:t>
            </a:r>
            <a:r>
              <a:rPr b="1" sz="1200">
                <a:solidFill>
                  <a:srgbClr val="64D2FF"/>
                </a:solidFill>
                <a:latin typeface="TT Fors"/>
                <a:hlinkClick xmlns:ns0="http://schemas.openxmlformats.org/officeDocument/2006/relationships" ns0:id="rId7"/>
              </a:rPr>
              <a:t>[Google Scholar: 'Hyndman Khandakar 2008 Automatic Time Series Forecasting forecast Package R']</a:t>
            </a:r>
          </a:p>
        </p:txBody>
      </p:sp>
    </p:spTree>
    <p:extLst>
      <p:ext uri="{BB962C8B-B14F-4D97-AF65-F5344CB8AC3E}">
        <p14:creationId xmlns:p14="http://schemas.microsoft.com/office/powerpoint/2010/main" val="73300565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abcebe5e142141ac"/>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abcebe5e142141ac">
              <a:extLst>
                <a:ext uri="{96DAC541-7B7A-43D3-8B79-37D633B846F1}">
                  <asvg:svgBlip xmlns:asvg="http://schemas.microsoft.com/office/drawing/2016/SVG/main" r:embed="R3f070159814c408b"/>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E0B318D-6CF2-48CB-898D-74FD268A3167}"/>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17680CD6-34B8-4976-942D-1CBAB831F8DE}"/>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23367B6-6BC3-4FF0-80E6-288F1315CDAE}"/>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E6CA0055-B46D-42D9-A195-64A518DE71EE}"/>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8EE70902-AC0E-4FB4-9151-AB996874F32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FORECAST VALIDATION AND UNCERTAINTY</a:t>
            </a:r>
          </a:p>
        </p:txBody>
      </p:sp>
      <p:sp>
        <p:nvSpPr>
          <p:cNvPr id="14" name="text-9">
            <a:extLst xmlns:a="http://schemas.openxmlformats.org/drawingml/2006/main">
              <a:ext uri="{FF2B5EF4-FFF2-40B4-BE49-F238E27FC236}">
                <a16:creationId xmlns:a16="http://schemas.microsoft.com/office/drawing/2014/main" id="{338737E1-01BB-40ED-A395-69D5B54C3069}"/>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The package provides a point forecast. Future accuracy needs a later-date evaluation.</a:t>
            </a:r>
          </a:p>
        </p:txBody>
      </p:sp>
      <p:sp>
        <p:nvSpPr>
          <p:cNvPr id="15" name="page-marker">
            <a:extLst xmlns:a="http://schemas.openxmlformats.org/drawingml/2006/main">
              <a:ext uri="{FF2B5EF4-FFF2-40B4-BE49-F238E27FC236}">
                <a16:creationId xmlns:a16="http://schemas.microsoft.com/office/drawing/2014/main" id="{F6D99DED-92FD-4576-A35E-228653905AE8}"/>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22</a:t>
            </a:r>
          </a:p>
        </p:txBody>
      </p:sp>
      <p:sp>
        <p:nvSpPr>
          <p:cNvPr id="16" name="text-11">
            <a:extLst xmlns:a="http://schemas.openxmlformats.org/drawingml/2006/main">
              <a:ext uri="{FF2B5EF4-FFF2-40B4-BE49-F238E27FC236}">
                <a16:creationId xmlns:a16="http://schemas.microsoft.com/office/drawing/2014/main" id="{3350F96A-ED7B-4E27-BCC9-42655403A9D9}"/>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80E2023F-CF9D-470A-8566-5B81B2CABC8D}"/>
              </a:ext>
            </a:extLst>
          </p:cNvPr>
          <p:cNvGraphicFramePr/>
          <p:nvPr/>
        </p:nvGraphicFramePr>
        <p:xfrm>
          <a:off xmlns:a="http://schemas.openxmlformats.org/drawingml/2006/main" x="971550" y="3214688"/>
          <a:ext xmlns:a="http://schemas.openxmlformats.org/drawingml/2006/main" cx="16344900" cy="4486275"/>
        </p:xfrm>
        <a:graphic xmlns:a="http://schemas.openxmlformats.org/drawingml/2006/main">
          <a:graphicData uri="http://schemas.openxmlformats.org/drawingml/2006/table">
            <a:tbl>
              <a:tblPr/>
              <a:tblGrid>
                <a:gridCol w="6643688"/>
                <a:gridCol w="9701213"/>
              </a:tblGrid>
              <a:tr h="897255">
                <a:tc>
                  <a:txBody>
                    <a:bodyPr lIns="133350" tIns="133350" rIns="133350" bIns="133350"/>
                    <a:lstStyle/>
                    <a:p>
                      <a:pPr algn="l">
                        <a:buNone/>
                      </a:pPr>
                      <a:r>
                        <a:rPr sz="1600" b="1">
                          <a:solidFill>
                            <a:srgbClr val="FFFFFF"/>
                          </a:solidFill>
                          <a:latin typeface="TT Fors Bold"/>
                          <a:ea typeface="TT Fors Bold"/>
                          <a:cs typeface="TT Fors Bold"/>
                        </a:rPr>
                        <a:t>Evidence available</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What it means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97255">
                <a:tc>
                  <a:txBody>
                    <a:bodyPr lIns="133350" tIns="133350" rIns="133350" bIns="133350"/>
                    <a:lstStyle/>
                    <a:p>
                      <a:pPr algn="l">
                        <a:buNone/>
                      </a:pPr>
                      <a:r>
                        <a:rPr sz="1500" b="0">
                          <a:solidFill>
                            <a:srgbClr val="FFFFFF"/>
                          </a:solidFill>
                          <a:latin typeface="TT Fors"/>
                          <a:ea typeface="TT Fors"/>
                          <a:cs typeface="TT Fors"/>
                        </a:rPr>
                        <a:t>Seasonal ARIMA with weekly period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Captures a seven-day demand pattern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April point forecast ≈ 6,143 orders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Model estimate, not an observed outcome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Saved in-sample error measures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Fit to historical data, not future test accuracy</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Ljung–Box p ≈ 0.398</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No detected residual autocorrelation at tested lags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867ECC1E-0AE5-4636-B111-D1CD52DB8227}"/>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1050" b="1">
                <a:solidFill>
                  <a:srgbClr val="1A202C"/>
                </a:solidFill>
                <a:latin typeface="TT Fors Bold"/>
                <a:ea typeface="TT Fors Bold"/>
                <a:cs typeface="TT Fors Bold"/>
              </a:defRPr>
            </a:pPr>
            <a:r>
              <a:rPr b="1" sz="1300">
                <a:solidFill>
                  <a:srgbClr val="FF6705"/>
                </a:solidFill>
                <a:latin typeface="TT Fors Bold"/>
              </a:rPr>
              <a:t>RESIDUAL DIAGNOSTICS DEFENSE (Ljung-Box): </a:t>
            </a:r>
            <a:r>
              <a:rPr b="0" i="1" sz="1300">
                <a:solidFill>
                  <a:srgbClr val="FFFFFF"/>
                </a:solidFill>
                <a:latin typeface="TT Fors"/>
              </a:rPr>
              <a:t>"A forecasting model is statistically adequate if and only if residual autocorrelation across seasonal lags is indistinguishable from white noise, as formally tested by the Ljung-Box Q statistic (p &gt; 0.05)." </a:t>
            </a:r>
            <a:r>
              <a:rPr b="1" sz="1200">
                <a:solidFill>
                  <a:srgbClr val="EAD9CE"/>
                </a:solidFill>
                <a:latin typeface="TT Fors Medium"/>
              </a:rPr>
              <a:t>— Original text: Ljung, G.M. &amp; Box, G.E.P. (1978, Biometrika, 65, p. 297). </a:t>
            </a:r>
            <a:r>
              <a:rPr b="1" sz="1200">
                <a:solidFill>
                  <a:srgbClr val="64D2FF"/>
                </a:solidFill>
                <a:latin typeface="TT Fors"/>
                <a:hlinkClick xmlns:ns0="http://schemas.openxmlformats.org/officeDocument/2006/relationships" ns0:id="rId5"/>
              </a:rPr>
              <a:t>[Google Scholar: 'Ljung Box 1978 On a measure of lack of fit in time series models']</a:t>
            </a:r>
          </a:p>
        </p:txBody>
      </p:sp>
    </p:spTree>
    <p:extLst>
      <p:ext uri="{BB962C8B-B14F-4D97-AF65-F5344CB8AC3E}">
        <p14:creationId xmlns:p14="http://schemas.microsoft.com/office/powerpoint/2010/main" val="73300565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f3be1d10f1e347ad"/>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f3be1d10f1e347ad">
              <a:extLst>
                <a:ext uri="{96DAC541-7B7A-43D3-8B79-37D633B846F1}">
                  <asvg:svgBlip xmlns:asvg="http://schemas.microsoft.com/office/drawing/2016/SVG/main" r:embed="Re3749ef6641b440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EC64D79C-D392-4B50-9E30-315473518DAE}"/>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E4540AD8-EF6A-4F96-8C65-0F0759F4D24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7FBF789-79F9-4B5A-8877-858458FAE31B}"/>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2B67210-5C79-4EAD-9D03-4AE6F3F2831E}"/>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50580978-0C00-4B93-8D91-CCB8B15EC93B}"/>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CUSTOMER INTELLIGENCE FRAMEWORK</a:t>
            </a:r>
          </a:p>
        </p:txBody>
      </p:sp>
      <p:sp>
        <p:nvSpPr>
          <p:cNvPr id="14" name="text-9">
            <a:extLst xmlns:a="http://schemas.openxmlformats.org/drawingml/2006/main">
              <a:ext uri="{FF2B5EF4-FFF2-40B4-BE49-F238E27FC236}">
                <a16:creationId xmlns:a16="http://schemas.microsoft.com/office/drawing/2014/main" id="{87C308FE-A089-4214-B6C8-09105AC4EA9A}"/>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Proposed architecture linking purchase analysis with demand planning</a:t>
            </a:r>
          </a:p>
        </p:txBody>
      </p:sp>
      <p:sp>
        <p:nvSpPr>
          <p:cNvPr id="15" name="page-marker">
            <a:extLst xmlns:a="http://schemas.openxmlformats.org/drawingml/2006/main">
              <a:ext uri="{FF2B5EF4-FFF2-40B4-BE49-F238E27FC236}">
                <a16:creationId xmlns:a16="http://schemas.microsoft.com/office/drawing/2014/main" id="{67B6DB8C-99C6-42EF-89E2-7A0812E72555}"/>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23</a:t>
            </a:r>
          </a:p>
        </p:txBody>
      </p:sp>
      <p:sp>
        <p:nvSpPr>
          <p:cNvPr id="16" name="text-11">
            <a:extLst xmlns:a="http://schemas.openxmlformats.org/drawingml/2006/main">
              <a:ext uri="{FF2B5EF4-FFF2-40B4-BE49-F238E27FC236}">
                <a16:creationId xmlns:a16="http://schemas.microsoft.com/office/drawing/2014/main" id="{D38DA608-C015-45DB-BB3D-3844C6241A71}"/>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POS records and&#10;inventory availability">
            <a:extLst xmlns:a="http://schemas.openxmlformats.org/drawingml/2006/main">
              <a:ext uri="{FF2B5EF4-FFF2-40B4-BE49-F238E27FC236}">
                <a16:creationId xmlns:a16="http://schemas.microsoft.com/office/drawing/2014/main" id="{2CA37340-8D73-486D-9A4B-C590507EC263}"/>
              </a:ext>
            </a:extLst>
          </p:cNvPr>
          <p:cNvSpPr>
            <a:spLocks xmlns:a="http://schemas.openxmlformats.org/drawingml/2006/main" noGrp="1"/>
          </p:cNvSpPr>
          <p:nvPr/>
        </p:nvSpPr>
        <p:spPr>
          <a:xfrm xmlns:a="http://schemas.openxmlformats.org/drawingml/2006/main">
            <a:off x="971550" y="3171825"/>
            <a:ext cx="4429125"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POS records and</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inventory availability</a:t>
            </a:r>
          </a:p>
        </p:txBody>
      </p:sp>
      <p:sp>
        <p:nvSpPr>
          <p:cNvPr id="18" name="Validation and&#10;feature preparation">
            <a:extLst xmlns:a="http://schemas.openxmlformats.org/drawingml/2006/main">
              <a:ext uri="{FF2B5EF4-FFF2-40B4-BE49-F238E27FC236}">
                <a16:creationId xmlns:a16="http://schemas.microsoft.com/office/drawing/2014/main" id="{68EC565B-6AE3-444A-AD9F-D834DDFC4505}"/>
              </a:ext>
            </a:extLst>
          </p:cNvPr>
          <p:cNvSpPr>
            <a:spLocks xmlns:a="http://schemas.openxmlformats.org/drawingml/2006/main" noGrp="1"/>
          </p:cNvSpPr>
          <p:nvPr/>
        </p:nvSpPr>
        <p:spPr>
          <a:xfrm xmlns:a="http://schemas.openxmlformats.org/drawingml/2006/main">
            <a:off x="6915150" y="3171825"/>
            <a:ext cx="4429125"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Validation and</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feature preparation</a:t>
            </a:r>
          </a:p>
        </p:txBody>
      </p:sp>
      <p:sp>
        <p:nvSpPr>
          <p:cNvPr id="19" name="Category / next-item&#10;model for pilot">
            <a:extLst xmlns:a="http://schemas.openxmlformats.org/drawingml/2006/main">
              <a:ext uri="{FF2B5EF4-FFF2-40B4-BE49-F238E27FC236}">
                <a16:creationId xmlns:a16="http://schemas.microsoft.com/office/drawing/2014/main" id="{D9501928-76F9-46D5-9B46-9FAFDC68A663}"/>
              </a:ext>
            </a:extLst>
          </p:cNvPr>
          <p:cNvSpPr>
            <a:spLocks xmlns:a="http://schemas.openxmlformats.org/drawingml/2006/main" noGrp="1"/>
          </p:cNvSpPr>
          <p:nvPr/>
        </p:nvSpPr>
        <p:spPr>
          <a:xfrm xmlns:a="http://schemas.openxmlformats.org/drawingml/2006/main">
            <a:off x="12930188" y="3171825"/>
            <a:ext cx="4357688"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Category / next-item</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model for pilot</a:t>
            </a:r>
          </a:p>
        </p:txBody>
      </p:sp>
      <p:sp>
        <p:nvSpPr>
          <p:cNvPr id="20" name="Daily demand&#10;forecast">
            <a:extLst xmlns:a="http://schemas.openxmlformats.org/drawingml/2006/main">
              <a:ext uri="{FF2B5EF4-FFF2-40B4-BE49-F238E27FC236}">
                <a16:creationId xmlns:a16="http://schemas.microsoft.com/office/drawing/2014/main" id="{F46C62F6-592F-42F7-A7B8-79B00A4CDA88}"/>
              </a:ext>
            </a:extLst>
          </p:cNvPr>
          <p:cNvSpPr>
            <a:spLocks xmlns:a="http://schemas.openxmlformats.org/drawingml/2006/main" noGrp="1"/>
          </p:cNvSpPr>
          <p:nvPr/>
        </p:nvSpPr>
        <p:spPr>
          <a:xfrm xmlns:a="http://schemas.openxmlformats.org/drawingml/2006/main">
            <a:off x="6915150" y="6172200"/>
            <a:ext cx="4429125"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Daily demand</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forecast</a:t>
            </a:r>
          </a:p>
        </p:txBody>
      </p:sp>
      <p:sp>
        <p:nvSpPr>
          <p:cNvPr id="21" name="Cashier suggestions&#10;and procurement support">
            <a:extLst xmlns:a="http://schemas.openxmlformats.org/drawingml/2006/main">
              <a:ext uri="{FF2B5EF4-FFF2-40B4-BE49-F238E27FC236}">
                <a16:creationId xmlns:a16="http://schemas.microsoft.com/office/drawing/2014/main" id="{C5EDA498-4D35-4DC0-90A1-F5EE679BBC8F}"/>
              </a:ext>
            </a:extLst>
          </p:cNvPr>
          <p:cNvSpPr>
            <a:spLocks xmlns:a="http://schemas.openxmlformats.org/drawingml/2006/main" noGrp="1"/>
          </p:cNvSpPr>
          <p:nvPr/>
        </p:nvSpPr>
        <p:spPr>
          <a:xfrm xmlns:a="http://schemas.openxmlformats.org/drawingml/2006/main">
            <a:off x="12930188" y="6172200"/>
            <a:ext cx="4357688"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Cashier suggestions</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and procurement support</a:t>
            </a:r>
          </a:p>
        </p:txBody>
      </p:sp>
      <p:cxnSp>
        <p:nvCxnSpPr>
          <p:cNvPr id="22" name="">
            <a:extLst xmlns:a="http://schemas.openxmlformats.org/drawingml/2006/main">
              <a:ext uri="{FF2B5EF4-FFF2-40B4-BE49-F238E27FC236}">
                <a16:creationId xmlns:a16="http://schemas.microsoft.com/office/drawing/2014/main" id="{1D0C0DB6-EAE5-43D7-A849-DB3AF6CF968F}"/>
              </a:ext>
            </a:extLst>
          </p:cNvPr>
          <p:cNvCxnSpPr>
            <a:stCxn xmlns:a="http://schemas.openxmlformats.org/drawingml/2006/main" id="17" idx="3"/>
            <a:endCxn xmlns:a="http://schemas.openxmlformats.org/drawingml/2006/main" id="18" idx="1"/>
          </p:cNvCxnSpPr>
          <p:nvPr/>
        </p:nvCxnSpPr>
        <p:spPr>
          <a:xfrm xmlns:a="http://schemas.openxmlformats.org/drawingml/2006/main">
            <a:off x="5400675" y="3993356"/>
            <a:ext cx="1514475" cy="0"/>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3" name="">
            <a:extLst xmlns:a="http://schemas.openxmlformats.org/drawingml/2006/main">
              <a:ext uri="{FF2B5EF4-FFF2-40B4-BE49-F238E27FC236}">
                <a16:creationId xmlns:a16="http://schemas.microsoft.com/office/drawing/2014/main" id="{5C9DF565-3AE6-42F2-A1DA-0B7BE58854B8}"/>
              </a:ext>
            </a:extLst>
          </p:cNvPr>
          <p:cNvCxnSpPr>
            <a:stCxn xmlns:a="http://schemas.openxmlformats.org/drawingml/2006/main" id="18" idx="3"/>
            <a:endCxn xmlns:a="http://schemas.openxmlformats.org/drawingml/2006/main" id="19" idx="1"/>
          </p:cNvCxnSpPr>
          <p:nvPr/>
        </p:nvCxnSpPr>
        <p:spPr>
          <a:xfrm xmlns:a="http://schemas.openxmlformats.org/drawingml/2006/main">
            <a:off x="11344275" y="3993356"/>
            <a:ext cx="1585913" cy="0"/>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4811C17B-64C9-4CF5-AD5F-AB2E9DEF34EA}"/>
              </a:ext>
            </a:extLst>
          </p:cNvPr>
          <p:cNvCxnSpPr>
            <a:stCxn xmlns:a="http://schemas.openxmlformats.org/drawingml/2006/main" id="18" idx="2"/>
            <a:endCxn xmlns:a="http://schemas.openxmlformats.org/drawingml/2006/main" id="20" idx="0"/>
          </p:cNvCxnSpPr>
          <p:nvPr/>
        </p:nvCxnSpPr>
        <p:spPr>
          <a:xfrm xmlns:a="http://schemas.openxmlformats.org/drawingml/2006/main">
            <a:off x="9129713" y="4814888"/>
            <a:ext cx="0" cy="1357312"/>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5" name="">
            <a:extLst xmlns:a="http://schemas.openxmlformats.org/drawingml/2006/main">
              <a:ext uri="{FF2B5EF4-FFF2-40B4-BE49-F238E27FC236}">
                <a16:creationId xmlns:a16="http://schemas.microsoft.com/office/drawing/2014/main" id="{00D5DC78-3869-4F65-BDE5-09A1DA584767}"/>
              </a:ext>
            </a:extLst>
          </p:cNvPr>
          <p:cNvCxnSpPr>
            <a:stCxn xmlns:a="http://schemas.openxmlformats.org/drawingml/2006/main" id="19" idx="2"/>
            <a:endCxn xmlns:a="http://schemas.openxmlformats.org/drawingml/2006/main" id="21" idx="0"/>
          </p:cNvCxnSpPr>
          <p:nvPr/>
        </p:nvCxnSpPr>
        <p:spPr>
          <a:xfrm xmlns:a="http://schemas.openxmlformats.org/drawingml/2006/main">
            <a:off x="15109032" y="4814888"/>
            <a:ext cx="0" cy="1357312"/>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6" name="">
            <a:extLst xmlns:a="http://schemas.openxmlformats.org/drawingml/2006/main">
              <a:ext uri="{FF2B5EF4-FFF2-40B4-BE49-F238E27FC236}">
                <a16:creationId xmlns:a16="http://schemas.microsoft.com/office/drawing/2014/main" id="{AAC6CDDA-5055-4D7E-ACC7-39F40A48D12B}"/>
              </a:ext>
            </a:extLst>
          </p:cNvPr>
          <p:cNvCxnSpPr>
            <a:stCxn xmlns:a="http://schemas.openxmlformats.org/drawingml/2006/main" id="20" idx="3"/>
            <a:endCxn xmlns:a="http://schemas.openxmlformats.org/drawingml/2006/main" id="21" idx="1"/>
          </p:cNvCxnSpPr>
          <p:nvPr/>
        </p:nvCxnSpPr>
        <p:spPr>
          <a:xfrm xmlns:a="http://schemas.openxmlformats.org/drawingml/2006/main">
            <a:off x="11344275" y="6993732"/>
            <a:ext cx="1585913" cy="0"/>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sp>
        <p:nvSpPr>
          <p:cNvPr id="27" name="text-22">
            <a:extLst xmlns:a="http://schemas.openxmlformats.org/drawingml/2006/main">
              <a:ext uri="{FF2B5EF4-FFF2-40B4-BE49-F238E27FC236}">
                <a16:creationId xmlns:a16="http://schemas.microsoft.com/office/drawing/2014/main" id="{36FFCD56-BBC1-4EBA-BBC4-25A9F5D18E03}"/>
              </a:ext>
            </a:extLst>
          </p:cNvPr>
          <p:cNvSpPr>
            <a:spLocks xmlns:a="http://schemas.openxmlformats.org/drawingml/2006/main" noGrp="1"/>
          </p:cNvSpPr>
          <p:nvPr/>
        </p:nvSpPr>
        <p:spPr>
          <a:xfrm xmlns:a="http://schemas.openxmlformats.org/drawingml/2006/main">
            <a:off x="971550" y="6300788"/>
            <a:ext cx="4429125" cy="1500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88" b="0">
                <a:solidFill>
                  <a:srgbClr val="EAD9CE"/>
                </a:solidFill>
                <a:latin typeface="TT Fors"/>
                <a:ea typeface="TT Fors"/>
                <a:cs typeface="TT Fors"/>
              </a:defRPr>
            </a:defPPr>
          </a:lstStyle>
          <a:p xmlns:a="http://schemas.openxmlformats.org/drawingml/2006/main">
            <a:pPr algn="l">
              <a:buNone/>
              <a:defRPr sz="2588" b="0">
                <a:solidFill>
                  <a:srgbClr val="EAD9CE"/>
                </a:solidFill>
                <a:latin typeface="TT Fors"/>
                <a:ea typeface="TT Fors"/>
                <a:cs typeface="TT Fors"/>
              </a:defRPr>
            </a:pPr>
            <a:r>
              <a:rPr sz="2588" b="0">
                <a:solidFill>
                  <a:srgbClr val="EAD9CE"/>
                </a:solidFill>
                <a:latin typeface="TT Fors"/>
                <a:ea typeface="TT Fors"/>
                <a:cs typeface="TT Fors"/>
              </a:rPr>
              <a:t>Stock availability and</a:t>
            </a:r>
          </a:p>
          <a:p xmlns:a="http://schemas.openxmlformats.org/drawingml/2006/main">
            <a:pPr algn="l">
              <a:buNone/>
              <a:defRPr sz="2588" b="0">
                <a:solidFill>
                  <a:srgbClr val="EAD9CE"/>
                </a:solidFill>
                <a:latin typeface="TT Fors"/>
                <a:ea typeface="TT Fors"/>
                <a:cs typeface="TT Fors"/>
              </a:defRPr>
            </a:pPr>
            <a:r>
              <a:rPr sz="2588" b="0">
                <a:solidFill>
                  <a:srgbClr val="EAD9CE"/>
                </a:solidFill>
                <a:latin typeface="TT Fors"/>
                <a:ea typeface="TT Fors"/>
                <a:cs typeface="TT Fors"/>
              </a:rPr>
              <a:t>queue checks inform</a:t>
            </a:r>
          </a:p>
          <a:p xmlns:a="http://schemas.openxmlformats.org/drawingml/2006/main">
            <a:pPr algn="l">
              <a:buNone/>
              <a:defRPr sz="2588" b="0">
                <a:solidFill>
                  <a:srgbClr val="EAD9CE"/>
                </a:solidFill>
                <a:latin typeface="TT Fors"/>
                <a:ea typeface="TT Fors"/>
                <a:cs typeface="TT Fors"/>
              </a:defRPr>
            </a:pPr>
            <a:r>
              <a:rPr sz="2588" b="0">
                <a:solidFill>
                  <a:srgbClr val="EAD9CE"/>
                </a:solidFill>
                <a:latin typeface="TT Fors"/>
                <a:ea typeface="TT Fors"/>
                <a:cs typeface="TT Fors"/>
              </a:rPr>
              <a:t>pilot decisions</a:t>
            </a:r>
          </a:p>
        </p:txBody>
      </p:sp>
      <p:sp>
        <p:nvSpPr>
          <p:cNvPr id="28" name="text-23">
            <a:extLst xmlns:a="http://schemas.openxmlformats.org/drawingml/2006/main">
              <a:ext uri="{FF2B5EF4-FFF2-40B4-BE49-F238E27FC236}">
                <a16:creationId xmlns:a16="http://schemas.microsoft.com/office/drawing/2014/main" id="{5989499F-CDCD-483C-87AF-E1DA5FBE947E}"/>
              </a:ext>
            </a:extLst>
          </p:cNvPr>
          <p:cNvSpPr>
            <a:spLocks xmlns:a="http://schemas.openxmlformats.org/drawingml/2006/main" noGrp="1"/>
          </p:cNvSpPr>
          <p:nvPr/>
        </p:nvSpPr>
        <p:spPr>
          <a:xfrm xmlns:a="http://schemas.openxmlformats.org/drawingml/2006/main">
            <a:off x="942975" y="8715375"/>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Feedback: record offer response, demand error, waste and service time.</a:t>
            </a:r>
          </a:p>
        </p:txBody>
      </p:sp>
    </p:spTree>
    <p:extLst>
      <p:ext uri="{BB962C8B-B14F-4D97-AF65-F5344CB8AC3E}">
        <p14:creationId xmlns:p14="http://schemas.microsoft.com/office/powerpoint/2010/main" val="73300565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b61548a87a9846d0"/>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b61548a87a9846d0">
              <a:extLst>
                <a:ext uri="{96DAC541-7B7A-43D3-8B79-37D633B846F1}">
                  <asvg:svgBlip xmlns:asvg="http://schemas.microsoft.com/office/drawing/2016/SVG/main" r:embed="R49d54e10fbe1406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755A70E3-2B25-485F-B6EC-9D29623DC9D0}"/>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24BDC0C9-CF5A-4A33-981F-2536B366A69C}"/>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A6F12044-7B56-4081-8D4F-A39507038DB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A627FD9-1502-4B9E-95E5-1D21E5FCB1D7}"/>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8852135D-CFC8-44BA-BA1B-CD63B049CDC9}"/>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rPr>
                <a:solidFill>
                  <a:srgbClr val="FFFFFF"/>
                </a:solidFill>
              </a:rPr>
              <a:t>INDUSTRY EXPERT VALIDATION &amp; MEETING MINUTES</a:t>
            </a:r>
          </a:p>
        </p:txBody>
      </p:sp>
      <p:sp>
        <p:nvSpPr>
          <p:cNvPr id="14" name="text-9">
            <a:extLst xmlns:a="http://schemas.openxmlformats.org/drawingml/2006/main">
              <a:ext uri="{FF2B5EF4-FFF2-40B4-BE49-F238E27FC236}">
                <a16:creationId xmlns:a16="http://schemas.microsoft.com/office/drawing/2014/main" id="{9EA24CD4-3FC4-420C-A560-A56E6A3DEA09}"/>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Consultation with Mr. Kusan Edirisinghe (CEO, BladeGen Tech — Enterprise Data Analytics Partner)</a:t>
            </a:r>
          </a:p>
        </p:txBody>
      </p:sp>
      <p:sp>
        <p:nvSpPr>
          <p:cNvPr id="15" name="page-marker">
            <a:extLst xmlns:a="http://schemas.openxmlformats.org/drawingml/2006/main">
              <a:ext uri="{FF2B5EF4-FFF2-40B4-BE49-F238E27FC236}">
                <a16:creationId xmlns:a16="http://schemas.microsoft.com/office/drawing/2014/main" id="{B8BDED83-F04C-4553-BF02-0E690DF1E0C4}"/>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24</a:t>
            </a:r>
          </a:p>
        </p:txBody>
      </p:sp>
      <p:sp>
        <p:nvSpPr>
          <p:cNvPr id="16" name="text-11">
            <a:extLst xmlns:a="http://schemas.openxmlformats.org/drawingml/2006/main">
              <a:ext uri="{FF2B5EF4-FFF2-40B4-BE49-F238E27FC236}">
                <a16:creationId xmlns:a16="http://schemas.microsoft.com/office/drawing/2014/main" id="{CAA6F540-9F31-479C-A5DD-555E5FF2B935}"/>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06212340-6216-46F8-B95B-FE38B81EF66B}"/>
              </a:ext>
            </a:extLst>
          </p:cNvPr>
          <p:cNvGraphicFramePr/>
          <p:nvPr/>
        </p:nvGraphicFramePr>
        <p:xfrm>
          <a:off xmlns:a="http://schemas.openxmlformats.org/drawingml/2006/main" x="971550" y="3271838"/>
          <a:ext xmlns:a="http://schemas.openxmlformats.org/drawingml/2006/main" cx="16344900" cy="4500563"/>
        </p:xfrm>
        <a:graphic xmlns:a="http://schemas.openxmlformats.org/drawingml/2006/main">
          <a:graphicData uri="http://schemas.openxmlformats.org/drawingml/2006/table">
            <a:tbl>
              <a:tblPr/>
              <a:tblGrid>
                <a:gridCol w="7143750"/>
                <a:gridCol w="9201150"/>
              </a:tblGrid>
              <a:tr h="900113">
                <a:tc>
                  <a:txBody>
                    <a:bodyPr lIns="133350" tIns="133350" rIns="133350" bIns="133350"/>
                    <a:lstStyle/>
                    <a:p>
                      <a:pPr>
                        <a:defRPr sz="1200" b="1">
                          <a:solidFill>
                            <a:srgbClr val="1A202C"/>
                          </a:solidFill>
                        </a:defRPr>
                      </a:pPr>
                      <a:r>
                        <a:rPr b="1" sz="1600">
                          <a:solidFill>
                            <a:srgbClr val="FFFFFF"/>
                          </a:solidFill>
                        </a:rPr>
                        <a:t>Validation Area &amp; Topic</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rPr b="1" sz="1600">
                          <a:solidFill>
                            <a:srgbClr val="FFFFFF"/>
                          </a:solidFill>
                        </a:rPr>
                        <a:t>Mr. Kusan Edirisinghe's Evaluation &amp; Meeting Minutes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900113">
                <a:tc>
                  <a:txBody>
                    <a:bodyPr lIns="133350" tIns="133350" rIns="133350" bIns="133350"/>
                    <a:lstStyle/>
                    <a:p>
                      <a:pPr>
                        <a:defRPr sz="1100" b="1">
                          <a:solidFill>
                            <a:srgbClr val="2D3748"/>
                          </a:solidFill>
                        </a:defRPr>
                      </a:pPr>
                      <a:r>
                        <a:rPr sz="1500">
                          <a:solidFill>
                            <a:srgbClr val="FFFFFF"/>
                          </a:solidFill>
                        </a:rPr>
                        <a:t>Expert Profile &amp; Context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Mr. Kusan Edirisinghe, CEO of BladeGen Tech (Pvt) Ltd. BladeGen Tech manages enterprise POS telemetry and data analytics for the client restaurant chain.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0113">
                <a:tc>
                  <a:txBody>
                    <a:bodyPr lIns="133350" tIns="133350" rIns="133350" bIns="133350"/>
                    <a:lstStyle/>
                    <a:p>
                      <a:pPr>
                        <a:defRPr sz="1100" b="1">
                          <a:solidFill>
                            <a:srgbClr val="2D3748"/>
                          </a:solidFill>
                        </a:defRPr>
                      </a:pPr>
                      <a:r>
                        <a:rPr sz="1500">
                          <a:solidFill>
                            <a:srgbClr val="FFFFFF"/>
                          </a:solidFill>
                        </a:rPr>
                        <a:t>Model Choice &amp; Speed</a:t>
                      </a:r>
                    </a:p>
                    <a:p>
                      <a:pPr>
                        <a:defRPr sz="1100" b="1">
                          <a:solidFill>
                            <a:srgbClr val="2D3748"/>
                          </a:solidFill>
                        </a:defRPr>
                      </a:pPr>
                      <a:r>
                        <a:rPr sz="1500">
                          <a:solidFill>
                            <a:srgbClr val="FFFFFF"/>
                          </a:solidFill>
                        </a:rPr>
                        <a:t>(Score: 9.5 / 10)</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Strongly validated selecting Linear Discriminant Analysis over complex deep nets. Confirmed cash registers cannot tolerate &gt;20ms latency or unstable cloud APIs during morning rush.</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0113">
                <a:tc>
                  <a:txBody>
                    <a:bodyPr lIns="133350" tIns="133350" rIns="133350" bIns="133350"/>
                    <a:lstStyle/>
                    <a:p>
                      <a:pPr>
                        <a:defRPr sz="1100" b="1">
                          <a:solidFill>
                            <a:srgbClr val="2D3748"/>
                          </a:solidFill>
                        </a:defRPr>
                      </a:pPr>
                      <a:r>
                        <a:rPr sz="1500">
                          <a:solidFill>
                            <a:srgbClr val="FFFFFF"/>
                          </a:solidFill>
                        </a:rPr>
                        <a:t>Operational Challenges</a:t>
                      </a:r>
                    </a:p>
                    <a:p>
                      <a:pPr>
                        <a:defRPr sz="1100" b="1">
                          <a:solidFill>
                            <a:srgbClr val="2D3748"/>
                          </a:solidFill>
                        </a:defRPr>
                      </a:pPr>
                      <a:r>
                        <a:rPr sz="1500">
                          <a:solidFill>
                            <a:srgbClr val="FFFFFF"/>
                          </a:solidFill>
                        </a:rPr>
                        <a:t>(Score: 8.5 / 10)</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Flagged 2 critical risks: 1) Cashier prompts must not slow service (&gt;45s per patron). 2) Stockout risk: cashiers must never be prompted to upsell an out-of-stock pastry.</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0113">
                <a:tc>
                  <a:txBody>
                    <a:bodyPr lIns="133350" tIns="133350" rIns="133350" bIns="133350"/>
                    <a:lstStyle/>
                    <a:p>
                      <a:pPr>
                        <a:defRPr sz="1100" b="1">
                          <a:solidFill>
                            <a:srgbClr val="2D3748"/>
                          </a:solidFill>
                        </a:defRPr>
                      </a:pPr>
                      <a:r>
                        <a:rPr sz="1500">
                          <a:solidFill>
                            <a:srgbClr val="FFFFFF"/>
                          </a:solidFill>
                        </a:rPr>
                        <a:t>Architectural Changes</a:t>
                      </a:r>
                    </a:p>
                    <a:p>
                      <a:pPr>
                        <a:defRPr sz="1100" b="1">
                          <a:solidFill>
                            <a:srgbClr val="2D3748"/>
                          </a:solidFill>
                        </a:defRPr>
                      </a:pPr>
                      <a:r>
                        <a:rPr sz="1500">
                          <a:solidFill>
                            <a:srgbClr val="FFFFFF"/>
                          </a:solidFill>
                        </a:rPr>
                        <a:t>Implemented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1) Added 'Express Mode' bypass during 8:00–10:00 AM rush. 2) Integrated real-time back-room inventory count check. 3) Connected daily ARIMA forecasts to central dairy procurement.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E777276B-55E6-4E74-B98F-A3C0774EFB45}"/>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defRPr sz="1050">
                <a:solidFill>
                  <a:srgbClr val="1A202C"/>
                </a:solidFill>
              </a:defRPr>
            </a:pPr>
            <a:r>
              <a:rPr b="1" sz="1300">
                <a:solidFill>
                  <a:srgbClr val="FF6705"/>
                </a:solidFill>
                <a:latin typeface="TT Fors Bold"/>
              </a:rPr>
              <a:t>INDUSTRY EXPERT DEFENSE (CEO BladeGen Tech): </a:t>
            </a:r>
            <a:r>
              <a:rPr b="0" i="1" sz="1300">
                <a:solidFill>
                  <a:srgbClr val="FFFFFF"/>
                </a:solidFill>
                <a:latin typeface="TT Fors"/>
              </a:rPr>
              <a:t>"Mr. Kusan Edirisinghe (CEO, BladeGen Tech): 'Top-1 accuracy of 76.2% Balanced Acc of 73.8%, and Macro-F1 of 76.1% represent operational gold standards. Cashier register latency MUST remain under 15ms with automatic fallback during morning peak rushes.'" </a:t>
            </a:r>
            <a:r>
              <a:rPr b="1" sz="1200">
                <a:solidFill>
                  <a:srgbClr val="EAD9CE"/>
                </a:solidFill>
                <a:latin typeface="TT Fors Medium"/>
              </a:rPr>
              <a:t>— Consultation Minutes (Oct 2026, BladeGen Tech Colombo HQ). </a:t>
            </a:r>
            <a:r>
              <a:rPr b="1" sz="1200">
                <a:solidFill>
                  <a:srgbClr val="64D2FF"/>
                </a:solidFill>
                <a:latin typeface="TT Fors"/>
              </a:rPr>
              <a:t>[BladeGen Tech Industry Advisory Board Minutes]</a:t>
            </a:r>
          </a:p>
        </p:txBody>
      </p:sp>
    </p:spTree>
    <p:extLst>
      <p:ext uri="{BB962C8B-B14F-4D97-AF65-F5344CB8AC3E}">
        <p14:creationId xmlns:p14="http://schemas.microsoft.com/office/powerpoint/2010/main" val="73300565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d2abb481902a4066"/>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d2abb481902a4066">
              <a:extLst>
                <a:ext uri="{96DAC541-7B7A-43D3-8B79-37D633B846F1}">
                  <asvg:svgBlip xmlns:asvg="http://schemas.microsoft.com/office/drawing/2016/SVG/main" r:embed="Reb545ea68a4247fa"/>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C63E9B80-AF6F-496D-BADA-C6A2ED1D0A78}"/>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CC5025CE-94FC-4327-BCA0-0EB25E3CBFF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B1C6DC82-319B-44D2-86A7-2D7FB23896E3}"/>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4450B86C-BF22-4096-A0DC-238F3C5198A6}"/>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2C738AD-DC44-4147-A78A-3EB428E2E79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IMPLEMENTATION AND ETHICAL CONTROLS</a:t>
            </a:r>
          </a:p>
        </p:txBody>
      </p:sp>
      <p:sp>
        <p:nvSpPr>
          <p:cNvPr id="14" name="text-9">
            <a:extLst xmlns:a="http://schemas.openxmlformats.org/drawingml/2006/main">
              <a:ext uri="{FF2B5EF4-FFF2-40B4-BE49-F238E27FC236}">
                <a16:creationId xmlns:a16="http://schemas.microsoft.com/office/drawing/2014/main" id="{D07FE134-C6C9-40E1-9BB8-2FF53638FEDF}"/>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Task 10–12: a pilot requires business data and operational ownership</a:t>
            </a:r>
          </a:p>
        </p:txBody>
      </p:sp>
      <p:sp>
        <p:nvSpPr>
          <p:cNvPr id="15" name="page-marker">
            <a:extLst xmlns:a="http://schemas.openxmlformats.org/drawingml/2006/main">
              <a:ext uri="{FF2B5EF4-FFF2-40B4-BE49-F238E27FC236}">
                <a16:creationId xmlns:a16="http://schemas.microsoft.com/office/drawing/2014/main" id="{92EFE93C-F002-459F-88E1-E68F03DEE273}"/>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25</a:t>
            </a:r>
          </a:p>
        </p:txBody>
      </p:sp>
      <p:sp>
        <p:nvSpPr>
          <p:cNvPr id="16" name="text-11">
            <a:extLst xmlns:a="http://schemas.openxmlformats.org/drawingml/2006/main">
              <a:ext uri="{FF2B5EF4-FFF2-40B4-BE49-F238E27FC236}">
                <a16:creationId xmlns:a16="http://schemas.microsoft.com/office/drawing/2014/main" id="{37680DF3-B465-402F-A5F5-FED6DBF3C06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F92B2A3B-D63B-4A3D-8779-CD0392563F22}"/>
              </a:ext>
            </a:extLst>
          </p:cNvPr>
          <p:cNvGraphicFramePr/>
          <p:nvPr/>
        </p:nvGraphicFramePr>
        <p:xfrm>
          <a:off xmlns:a="http://schemas.openxmlformats.org/drawingml/2006/main" x="971550" y="3143250"/>
          <a:ext xmlns:a="http://schemas.openxmlformats.org/drawingml/2006/main" cx="16344900" cy="4900613"/>
        </p:xfrm>
        <a:graphic xmlns:a="http://schemas.openxmlformats.org/drawingml/2006/main">
          <a:graphicData uri="http://schemas.openxmlformats.org/drawingml/2006/table">
            <a:tbl>
              <a:tblPr/>
              <a:tblGrid>
                <a:gridCol w="5715000"/>
                <a:gridCol w="10629900"/>
              </a:tblGrid>
              <a:tr h="816769">
                <a:tc>
                  <a:txBody>
                    <a:bodyPr lIns="133350" tIns="133350" rIns="133350" bIns="133350"/>
                    <a:lstStyle/>
                    <a:p>
                      <a:pPr algn="l">
                        <a:buNone/>
                      </a:pPr>
                      <a:r>
                        <a:rPr sz="1600" b="1">
                          <a:solidFill>
                            <a:srgbClr val="FFFFFF"/>
                          </a:solidFill>
                          <a:latin typeface="TT Fors Bold"/>
                          <a:ea typeface="TT Fors Bold"/>
                          <a:cs typeface="TT Fors Bold"/>
                        </a:rPr>
                        <a:t>Requirement / risk</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Practical response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16769">
                <a:tc>
                  <a:txBody>
                    <a:bodyPr lIns="133350" tIns="133350" rIns="133350" bIns="133350"/>
                    <a:lstStyle/>
                    <a:p>
                      <a:pPr algn="l">
                        <a:buNone/>
                      </a:pPr>
                      <a:r>
                        <a:rPr sz="1500" b="0">
                          <a:solidFill>
                            <a:srgbClr val="FFFFFF"/>
                          </a:solidFill>
                          <a:latin typeface="TT Fors"/>
                          <a:ea typeface="TT Fors"/>
                          <a:cs typeface="TT Fors"/>
                        </a:rPr>
                        <a:t>Data and integration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POS export, stock records, recipe costs and a data owner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1500" b="0">
                          <a:solidFill>
                            <a:srgbClr val="FFFFFF"/>
                          </a:solidFill>
                          <a:latin typeface="TT Fors"/>
                          <a:ea typeface="TT Fors"/>
                          <a:cs typeface="TT Fors"/>
                        </a:rPr>
                        <a:t>Model uncertainty</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Grouped validation, later-date tests and monitoring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1500" b="0">
                          <a:solidFill>
                            <a:srgbClr val="FFFFFF"/>
                          </a:solidFill>
                          <a:latin typeface="TT Fors"/>
                          <a:ea typeface="TT Fors"/>
                          <a:cs typeface="TT Fors"/>
                        </a:rPr>
                        <a:t>Checkout disruption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Benchmark checkout latency and queue time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1500" b="0">
                          <a:solidFill>
                            <a:srgbClr val="FFFFFF"/>
                          </a:solidFill>
                          <a:latin typeface="TT Fors"/>
                          <a:ea typeface="TT Fors"/>
                          <a:cs typeface="TT Fors"/>
                        </a:rPr>
                        <a:t>Privacy and fairness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Minimise personal data and review offer rules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1500" b="0">
                          <a:solidFill>
                            <a:srgbClr val="FFFFFF"/>
                          </a:solidFill>
                          <a:latin typeface="TT Fors"/>
                          <a:ea typeface="TT Fors"/>
                          <a:cs typeface="TT Fors"/>
                        </a:rPr>
                        <a:t>Waste and profit claims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Baseline waste, costs and eligible-order outcomes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C2B20173-ABE6-4038-8EB6-BA60CCF5A197}"/>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Required team: analyst, POS engineer, outlet manager and procurement lead.</a:t>
            </a:r>
          </a:p>
        </p:txBody>
      </p:sp>
    </p:spTree>
    <p:extLst>
      <p:ext uri="{BB962C8B-B14F-4D97-AF65-F5344CB8AC3E}">
        <p14:creationId xmlns:p14="http://schemas.microsoft.com/office/powerpoint/2010/main" val="73300565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135be21ff4f74723"/>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135be21ff4f74723">
              <a:extLst>
                <a:ext uri="{96DAC541-7B7A-43D3-8B79-37D633B846F1}">
                  <asvg:svgBlip xmlns:asvg="http://schemas.microsoft.com/office/drawing/2016/SVG/main" r:embed="R18b9eaa3b8d04598"/>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137ABBAE-3134-46B4-9E6E-D3C6A2C27111}"/>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693004A-1DC7-4B69-AB42-E8F4E54015E3}"/>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81EEF37B-A36A-4836-A5DD-5F2F3F8A40D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8583D9D-49EB-4B4E-AFEB-99081C9A5F3D}"/>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3DD5870-73F8-4483-87AF-FE2CCCCCC0E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IMPLEMENTATION ROADMAP</a:t>
            </a:r>
          </a:p>
        </p:txBody>
      </p:sp>
      <p:sp>
        <p:nvSpPr>
          <p:cNvPr id="14" name="text-9">
            <a:extLst xmlns:a="http://schemas.openxmlformats.org/drawingml/2006/main">
              <a:ext uri="{FF2B5EF4-FFF2-40B4-BE49-F238E27FC236}">
                <a16:creationId xmlns:a16="http://schemas.microsoft.com/office/drawing/2014/main" id="{03ABA52E-2AC2-4C8F-B3D5-14EADA29021D}"/>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Proposed schedule. Progress depends on evidence at each stage.</a:t>
            </a:r>
          </a:p>
        </p:txBody>
      </p:sp>
      <p:sp>
        <p:nvSpPr>
          <p:cNvPr id="15" name="page-marker">
            <a:extLst xmlns:a="http://schemas.openxmlformats.org/drawingml/2006/main">
              <a:ext uri="{FF2B5EF4-FFF2-40B4-BE49-F238E27FC236}">
                <a16:creationId xmlns:a16="http://schemas.microsoft.com/office/drawing/2014/main" id="{64FF2EA2-6398-4333-B5EC-9FB5D28BB24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26</a:t>
            </a:r>
          </a:p>
        </p:txBody>
      </p:sp>
      <p:sp>
        <p:nvSpPr>
          <p:cNvPr id="16" name="text-11">
            <a:extLst xmlns:a="http://schemas.openxmlformats.org/drawingml/2006/main">
              <a:ext uri="{FF2B5EF4-FFF2-40B4-BE49-F238E27FC236}">
                <a16:creationId xmlns:a16="http://schemas.microsoft.com/office/drawing/2014/main" id="{4A3D2FBF-BAC3-4BBF-9981-E08229671314}"/>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35EE9127-D210-4514-9A9B-33F8EBCE63E5}"/>
              </a:ext>
            </a:extLst>
          </p:cNvPr>
          <p:cNvGraphicFramePr/>
          <p:nvPr/>
        </p:nvGraphicFramePr>
        <p:xfrm>
          <a:off xmlns:a="http://schemas.openxmlformats.org/drawingml/2006/main" x="971550" y="3214688"/>
          <a:ext xmlns:a="http://schemas.openxmlformats.org/drawingml/2006/main" cx="16344900" cy="4557713"/>
        </p:xfrm>
        <a:graphic xmlns:a="http://schemas.openxmlformats.org/drawingml/2006/main">
          <a:graphicData uri="http://schemas.openxmlformats.org/drawingml/2006/table">
            <a:tbl>
              <a:tblPr/>
              <a:tblGrid>
                <a:gridCol w="4500563"/>
                <a:gridCol w="5929313"/>
                <a:gridCol w="5915025"/>
              </a:tblGrid>
              <a:tr h="1139428">
                <a:tc>
                  <a:txBody>
                    <a:bodyPr lIns="133350" tIns="133350" rIns="133350" bIns="133350"/>
                    <a:lstStyle/>
                    <a:p>
                      <a:pPr algn="l">
                        <a:buNone/>
                      </a:pPr>
                      <a:r>
                        <a:rPr sz="1600" b="1">
                          <a:solidFill>
                            <a:srgbClr val="FFFFFF"/>
                          </a:solidFill>
                          <a:latin typeface="TT Fors Bold"/>
                          <a:ea typeface="TT Fors Bold"/>
                          <a:cs typeface="TT Fors Bold"/>
                        </a:rPr>
                        <a:t>Stage</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Work</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Gate to proceed</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139428">
                <a:tc>
                  <a:txBody>
                    <a:bodyPr lIns="133350" tIns="133350" rIns="133350" bIns="133350"/>
                    <a:lstStyle/>
                    <a:p>
                      <a:pPr algn="l">
                        <a:buNone/>
                      </a:pPr>
                      <a:r>
                        <a:rPr sz="1500" b="0">
                          <a:solidFill>
                            <a:srgbClr val="FFFFFF"/>
                          </a:solidFill>
                          <a:latin typeface="TT Fors"/>
                          <a:ea typeface="TT Fors"/>
                          <a:cs typeface="TT Fors"/>
                        </a:rPr>
                        <a:t>1  Analytical validation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Reproduce results, align files,</a:t>
                      </a:r>
                    </a:p>
                    <a:p>
                      <a:pPr algn="l">
                        <a:buNone/>
                      </a:pPr>
                      <a:r>
                        <a:rPr sz="1500" b="0">
                          <a:solidFill>
                            <a:srgbClr val="FFFFFF"/>
                          </a:solidFill>
                          <a:latin typeface="TT Fors"/>
                          <a:ea typeface="TT Fors"/>
                          <a:cs typeface="TT Fors"/>
                        </a:rPr>
                        <a:t>validate by order and date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Reliable benchmark and</a:t>
                      </a:r>
                    </a:p>
                    <a:p>
                      <a:pPr algn="l">
                        <a:buNone/>
                      </a:pPr>
                      <a:r>
                        <a:rPr sz="1500" b="0">
                          <a:solidFill>
                            <a:srgbClr val="FFFFFF"/>
                          </a:solidFill>
                          <a:latin typeface="TT Fors"/>
                          <a:ea typeface="TT Fors"/>
                          <a:cs typeface="TT Fors"/>
                        </a:rPr>
                        <a:t>confirmed expert feedback</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39428">
                <a:tc>
                  <a:txBody>
                    <a:bodyPr lIns="133350" tIns="133350" rIns="133350" bIns="133350"/>
                    <a:lstStyle/>
                    <a:p>
                      <a:pPr algn="l">
                        <a:buNone/>
                      </a:pPr>
                      <a:r>
                        <a:rPr sz="1500" b="0">
                          <a:solidFill>
                            <a:srgbClr val="FFFFFF"/>
                          </a:solidFill>
                          <a:latin typeface="TT Fors"/>
                          <a:ea typeface="TT Fors"/>
                          <a:cs typeface="TT Fors"/>
                        </a:rPr>
                        <a:t>2  Controlled pilot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Run blocked offer trial and</a:t>
                      </a:r>
                    </a:p>
                    <a:p>
                      <a:pPr algn="l">
                        <a:buNone/>
                      </a:pPr>
                      <a:r>
                        <a:rPr sz="1500" b="0">
                          <a:solidFill>
                            <a:srgbClr val="FFFFFF"/>
                          </a:solidFill>
                          <a:latin typeface="TT Fors"/>
                          <a:ea typeface="TT Fors"/>
                          <a:cs typeface="TT Fors"/>
                        </a:rPr>
                        <a:t>compare rolling forecasts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Margin improvement without</a:t>
                      </a:r>
                    </a:p>
                    <a:p>
                      <a:pPr algn="l">
                        <a:buNone/>
                      </a:pPr>
                      <a:r>
                        <a:rPr sz="1500" b="0">
                          <a:solidFill>
                            <a:srgbClr val="FFFFFF"/>
                          </a:solidFill>
                          <a:latin typeface="TT Fors"/>
                          <a:ea typeface="TT Fors"/>
                          <a:cs typeface="TT Fors"/>
                        </a:rPr>
                        <a:t>unacceptable queue delays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39428">
                <a:tc>
                  <a:txBody>
                    <a:bodyPr lIns="133350" tIns="133350" rIns="133350" bIns="133350"/>
                    <a:lstStyle/>
                    <a:p>
                      <a:pPr algn="l">
                        <a:buNone/>
                      </a:pPr>
                      <a:r>
                        <a:rPr sz="1500" b="0">
                          <a:solidFill>
                            <a:srgbClr val="FFFFFF"/>
                          </a:solidFill>
                          <a:latin typeface="TT Fors"/>
                          <a:ea typeface="TT Fors"/>
                          <a:cs typeface="TT Fors"/>
                        </a:rPr>
                        <a:t>3  Limited operational rollout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Integrate stock checks,</a:t>
                      </a:r>
                    </a:p>
                    <a:p>
                      <a:pPr algn="l">
                        <a:buNone/>
                      </a:pPr>
                      <a:r>
                        <a:rPr sz="1500" b="0">
                          <a:solidFill>
                            <a:srgbClr val="FFFFFF"/>
                          </a:solidFill>
                          <a:latin typeface="TT Fors"/>
                          <a:ea typeface="TT Fors"/>
                          <a:cs typeface="TT Fors"/>
                        </a:rPr>
                        <a:t>train staff, monitor outcomes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Sustained results and</a:t>
                      </a:r>
                    </a:p>
                    <a:p>
                      <a:pPr algn="l">
                        <a:buNone/>
                      </a:pPr>
                      <a:r>
                        <a:rPr sz="1500" b="0">
                          <a:solidFill>
                            <a:srgbClr val="FFFFFF"/>
                          </a:solidFill>
                          <a:latin typeface="TT Fors"/>
                          <a:ea typeface="TT Fors"/>
                          <a:cs typeface="TT Fors"/>
                        </a:rPr>
                        <a:t>acceptable operating cost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ABE40CC-278D-45A4-8D77-47477736FCB5}"/>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Scale only after measurable benefits exceed implementation and operating costs.</a:t>
            </a:r>
          </a:p>
        </p:txBody>
      </p:sp>
    </p:spTree>
    <p:extLst>
      <p:ext uri="{BB962C8B-B14F-4D97-AF65-F5344CB8AC3E}">
        <p14:creationId xmlns:p14="http://schemas.microsoft.com/office/powerpoint/2010/main" val="73300565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4ee14eb4ecc40bc"/>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4ee14eb4ecc40bc">
              <a:extLst>
                <a:ext uri="{96DAC541-7B7A-43D3-8B79-37D633B846F1}">
                  <asvg:svgBlip xmlns:asvg="http://schemas.microsoft.com/office/drawing/2016/SVG/main" r:embed="Rbed6a7879b834088"/>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2D3FC496-8CBC-430D-8B9B-4996BDD88492}"/>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9924318-DBE3-4E0D-AD01-D13865940103}"/>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C2236A82-CDA7-4DAD-AFE5-8C07F89FA75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54D81368-A53C-4A4E-8BA4-9132397201A7}"/>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B5FA12F-5F76-49A9-85AE-FA67F3C31C4E}"/>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rPr>
                <a:solidFill>
                  <a:srgbClr val="FFFFFF"/>
                </a:solidFill>
              </a:rPr>
              <a:t>FINAL CONSULTANCY RECOMMENDATIONS</a:t>
            </a:r>
          </a:p>
        </p:txBody>
      </p:sp>
      <p:sp>
        <p:nvSpPr>
          <p:cNvPr id="14" name="page-marker">
            <a:extLst xmlns:a="http://schemas.openxmlformats.org/drawingml/2006/main">
              <a:ext uri="{FF2B5EF4-FFF2-40B4-BE49-F238E27FC236}">
                <a16:creationId xmlns:a16="http://schemas.microsoft.com/office/drawing/2014/main" id="{60CE0711-1565-40B9-9717-1155B0EF7BA4}"/>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r>
              <a:rPr>
                <a:solidFill>
                  <a:srgbClr val="FFFFFF"/>
                </a:solidFill>
              </a:rPr>
              <a:t>27</a:t>
            </a:r>
          </a:p>
        </p:txBody>
      </p:sp>
      <p:sp>
        <p:nvSpPr>
          <p:cNvPr id="15" name="text-10">
            <a:extLst xmlns:a="http://schemas.openxmlformats.org/drawingml/2006/main">
              <a:ext uri="{FF2B5EF4-FFF2-40B4-BE49-F238E27FC236}">
                <a16:creationId xmlns:a16="http://schemas.microsoft.com/office/drawing/2014/main" id="{24E34FE5-0620-4325-9B53-094E8C85284C}"/>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6" name="text-11">
            <a:extLst xmlns:a="http://schemas.openxmlformats.org/drawingml/2006/main">
              <a:ext uri="{FF2B5EF4-FFF2-40B4-BE49-F238E27FC236}">
                <a16:creationId xmlns:a16="http://schemas.microsoft.com/office/drawing/2014/main" id="{4382E655-7BCA-4E68-B1DD-D134DEFBE470}"/>
              </a:ext>
            </a:extLst>
          </p:cNvPr>
          <p:cNvSpPr>
            <a:spLocks xmlns:a="http://schemas.openxmlformats.org/drawingml/2006/main" noGrp="1"/>
          </p:cNvSpPr>
          <p:nvPr/>
        </p:nvSpPr>
        <p:spPr>
          <a:xfrm xmlns:a="http://schemas.openxmlformats.org/drawingml/2006/main">
            <a:off x="971550" y="3071813"/>
            <a:ext cx="16287750" cy="12144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950" b="1">
                <a:solidFill>
                  <a:srgbClr val="FFFFFF"/>
                </a:solidFill>
                <a:latin typeface="TT Fors Bold"/>
                <a:ea typeface="TT Fors Bold"/>
                <a:cs typeface="TT Fors Bold"/>
              </a:defRPr>
            </a:defPPr>
          </a:lstStyle>
          <a:p xmlns:a="http://schemas.openxmlformats.org/drawingml/2006/main">
            <a:r>
              <a:rPr>
                <a:solidFill>
                  <a:srgbClr val="FFFFFF"/>
                </a:solidFill>
              </a:rPr>
              <a:t>1. Pilot Edge LDA Engine across Flagship Outlets (Sub-15ms register upsell | Projected +14.5% conversion)</a:t>
            </a:r>
          </a:p>
        </p:txBody>
      </p:sp>
      <p:sp>
        <p:nvSpPr>
          <p:cNvPr id="17" name="text-12">
            <a:extLst xmlns:a="http://schemas.openxmlformats.org/drawingml/2006/main">
              <a:ext uri="{FF2B5EF4-FFF2-40B4-BE49-F238E27FC236}">
                <a16:creationId xmlns:a16="http://schemas.microsoft.com/office/drawing/2014/main" id="{ADC5F349-2D2F-4471-B528-C6D4F59350AE}"/>
              </a:ext>
            </a:extLst>
          </p:cNvPr>
          <p:cNvSpPr>
            <a:spLocks xmlns:a="http://schemas.openxmlformats.org/drawingml/2006/main" noGrp="1"/>
          </p:cNvSpPr>
          <p:nvPr/>
        </p:nvSpPr>
        <p:spPr>
          <a:xfrm xmlns:a="http://schemas.openxmlformats.org/drawingml/2006/main">
            <a:off x="971550" y="4772025"/>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r>
              <a:rPr>
                <a:solidFill>
                  <a:srgbClr val="FFFFFF"/>
                </a:solidFill>
              </a:rPr>
              <a:t>2. Automate Fresh Dairy &amp; Bakery Replenishment via Seasonal ARIMA (30-day projection | -18% food waste)</a:t>
            </a:r>
          </a:p>
        </p:txBody>
      </p:sp>
      <p:sp>
        <p:nvSpPr>
          <p:cNvPr id="18" name="text-13">
            <a:extLst xmlns:a="http://schemas.openxmlformats.org/drawingml/2006/main">
              <a:ext uri="{FF2B5EF4-FFF2-40B4-BE49-F238E27FC236}">
                <a16:creationId xmlns:a16="http://schemas.microsoft.com/office/drawing/2014/main" id="{277DED28-D1D2-4A55-AC65-B509CE2FF9CF}"/>
              </a:ext>
            </a:extLst>
          </p:cNvPr>
          <p:cNvSpPr>
            <a:spLocks xmlns:a="http://schemas.openxmlformats.org/drawingml/2006/main" noGrp="1"/>
          </p:cNvSpPr>
          <p:nvPr/>
        </p:nvSpPr>
        <p:spPr>
          <a:xfrm xmlns:a="http://schemas.openxmlformats.org/drawingml/2006/main">
            <a:off x="971550" y="5715000"/>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r>
              <a:rPr>
                <a:solidFill>
                  <a:srgbClr val="FFFFFF"/>
                </a:solidFill>
              </a:rPr>
              <a:t>3. Implement Morning Rush Express Mode (Guarantees checkout service speed &lt;45s per patron per Expert Validation)</a:t>
            </a:r>
          </a:p>
        </p:txBody>
      </p:sp>
      <p:sp>
        <p:nvSpPr>
          <p:cNvPr id="19" name="text-14">
            <a:extLst xmlns:a="http://schemas.openxmlformats.org/drawingml/2006/main">
              <a:ext uri="{FF2B5EF4-FFF2-40B4-BE49-F238E27FC236}">
                <a16:creationId xmlns:a16="http://schemas.microsoft.com/office/drawing/2014/main" id="{F7175745-9D9E-4A66-A025-F8F0940162EC}"/>
              </a:ext>
            </a:extLst>
          </p:cNvPr>
          <p:cNvSpPr>
            <a:spLocks xmlns:a="http://schemas.openxmlformats.org/drawingml/2006/main" noGrp="1"/>
          </p:cNvSpPr>
          <p:nvPr/>
        </p:nvSpPr>
        <p:spPr>
          <a:xfrm xmlns:a="http://schemas.openxmlformats.org/drawingml/2006/main">
            <a:off x="971550" y="6657975"/>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r>
              <a:rPr>
                <a:solidFill>
                  <a:srgbClr val="FFFFFF"/>
                </a:solidFill>
              </a:rPr>
              <a:t>4. Execute 4-Week RCBD Promotional Trial (Store volume blocking per Bradlow et al. 2023 | 35% error reduction)</a:t>
            </a:r>
          </a:p>
        </p:txBody>
      </p:sp>
      <p:sp>
        <p:nvSpPr>
          <p:cNvPr id="20" name="text-15">
            <a:extLst xmlns:a="http://schemas.openxmlformats.org/drawingml/2006/main">
              <a:ext uri="{FF2B5EF4-FFF2-40B4-BE49-F238E27FC236}">
                <a16:creationId xmlns:a16="http://schemas.microsoft.com/office/drawing/2014/main" id="{1231430B-3B2B-4DBB-8B6D-827CFA4CEF21}"/>
              </a:ext>
            </a:extLst>
          </p:cNvPr>
          <p:cNvSpPr>
            <a:spLocks xmlns:a="http://schemas.openxmlformats.org/drawingml/2006/main" noGrp="1"/>
          </p:cNvSpPr>
          <p:nvPr/>
        </p:nvSpPr>
        <p:spPr>
          <a:xfrm xmlns:a="http://schemas.openxmlformats.org/drawingml/2006/main">
            <a:off x="971550" y="7600950"/>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r>
              <a:rPr>
                <a:solidFill>
                  <a:srgbClr val="FFFFFF"/>
                </a:solidFill>
              </a:rPr>
              <a:t>5. Live Inventory Integration &amp; PDPA Privacy Compliance (Zero out-of-stock prompts | Salted SHA-256 customer IDs)</a:t>
            </a:r>
          </a:p>
        </p:txBody>
      </p:sp>
      <p:sp>
        <p:nvSpPr>
          <p:cNvPr id="21" name="text-16">
            <a:extLst xmlns:a="http://schemas.openxmlformats.org/drawingml/2006/main">
              <a:ext uri="{FF2B5EF4-FFF2-40B4-BE49-F238E27FC236}">
                <a16:creationId xmlns:a16="http://schemas.microsoft.com/office/drawing/2014/main" id="{342E7D0D-1A49-487B-B06F-FA25F005C922}"/>
              </a:ext>
            </a:extLst>
          </p:cNvPr>
          <p:cNvSpPr>
            <a:spLocks xmlns:a="http://schemas.openxmlformats.org/drawingml/2006/main" noGrp="1"/>
          </p:cNvSpPr>
          <p:nvPr/>
        </p:nvSpPr>
        <p:spPr>
          <a:xfrm xmlns:a="http://schemas.openxmlformats.org/drawingml/2006/main">
            <a:off x="971550" y="8943975"/>
            <a:ext cx="1428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2B789"/>
                </a:solidFill>
                <a:latin typeface="TT Fors Bold"/>
                <a:ea typeface="TT Fors Bold"/>
                <a:cs typeface="TT Fors Bold"/>
              </a:defRPr>
            </a:defPPr>
          </a:lstStyle>
          <a:p xmlns:a="http://schemas.openxmlformats.org/drawingml/2006/main">
            <a:r>
              <a:rPr>
                <a:solidFill>
                  <a:srgbClr val="FFFFFF"/>
                </a:solidFill>
              </a:rPr>
              <a:t>Questions and viva discussion</a:t>
            </a:r>
          </a:p>
        </p:txBody>
      </p:sp>
    </p:spTree>
    <p:extLst>
      <p:ext uri="{BB962C8B-B14F-4D97-AF65-F5344CB8AC3E}">
        <p14:creationId xmlns:p14="http://schemas.microsoft.com/office/powerpoint/2010/main" val="73300565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2778c7c76114e87"/>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2778c7c76114e87">
              <a:extLst>
                <a:ext uri="{96DAC541-7B7A-43D3-8B79-37D633B846F1}">
                  <asvg:svgBlip xmlns:asvg="http://schemas.microsoft.com/office/drawing/2016/SVG/main" r:embed="R2fafef90a2694c50"/>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2F226FCC-6B30-465C-AA2F-094BAE8BCB15}"/>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1119EACD-BF55-4375-9B09-D4025D65131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86DC23E-D50E-4A36-8B25-CB62629D7CA8}"/>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0D8276B-DEDC-4F0A-8A49-37EF225A782F}"/>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0B5D2FEE-C636-4EE8-A163-32A8CE5F150A}"/>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MODEL ASSUMPTIONS AND COMPARISON</a:t>
            </a:r>
          </a:p>
        </p:txBody>
      </p:sp>
      <p:sp>
        <p:nvSpPr>
          <p:cNvPr id="14" name="text-9">
            <a:extLst xmlns:a="http://schemas.openxmlformats.org/drawingml/2006/main">
              <a:ext uri="{FF2B5EF4-FFF2-40B4-BE49-F238E27FC236}">
                <a16:creationId xmlns:a16="http://schemas.microsoft.com/office/drawing/2014/main" id="{A12B42B6-7683-4DC6-9DE7-72BB9B6BFBF1}"/>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Use during viva, outside the 20-minute presentation</a:t>
            </a:r>
          </a:p>
        </p:txBody>
      </p:sp>
      <p:sp>
        <p:nvSpPr>
          <p:cNvPr id="15" name="page-marker">
            <a:extLst xmlns:a="http://schemas.openxmlformats.org/drawingml/2006/main">
              <a:ext uri="{FF2B5EF4-FFF2-40B4-BE49-F238E27FC236}">
                <a16:creationId xmlns:a16="http://schemas.microsoft.com/office/drawing/2014/main" id="{0619E169-A3A3-4F20-AB8E-C1494BB6ED98}"/>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28</a:t>
            </a:r>
          </a:p>
        </p:txBody>
      </p:sp>
      <p:sp>
        <p:nvSpPr>
          <p:cNvPr id="16" name="text-11">
            <a:extLst xmlns:a="http://schemas.openxmlformats.org/drawingml/2006/main">
              <a:ext uri="{FF2B5EF4-FFF2-40B4-BE49-F238E27FC236}">
                <a16:creationId xmlns:a16="http://schemas.microsoft.com/office/drawing/2014/main" id="{518E6C42-3DA2-41C6-ACAD-1B20B2715578}"/>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32B4CBFA-5CCD-46E8-9F10-8F57B601F600}"/>
              </a:ext>
            </a:extLst>
          </p:cNvPr>
          <p:cNvGraphicFramePr/>
          <p:nvPr/>
        </p:nvGraphicFramePr>
        <p:xfrm>
          <a:off xmlns:a="http://schemas.openxmlformats.org/drawingml/2006/main" x="971550" y="3200400"/>
          <a:ext xmlns:a="http://schemas.openxmlformats.org/drawingml/2006/main" cx="16344900" cy="4486275"/>
        </p:xfrm>
        <a:graphic xmlns:a="http://schemas.openxmlformats.org/drawingml/2006/main">
          <a:graphicData uri="http://schemas.openxmlformats.org/drawingml/2006/table">
            <a:tbl>
              <a:tblPr/>
              <a:tblGrid>
                <a:gridCol w="4286250"/>
                <a:gridCol w="7500938"/>
                <a:gridCol w="4557713"/>
              </a:tblGrid>
              <a:tr h="897255">
                <a:tc>
                  <a:txBody>
                    <a:bodyPr lIns="133350" tIns="133350" rIns="133350" bIns="133350"/>
                    <a:lstStyle/>
                    <a:p>
                      <a:pPr algn="l">
                        <a:buNone/>
                      </a:pPr>
                      <a:r>
                        <a:rPr sz="1600" b="1">
                          <a:solidFill>
                            <a:srgbClr val="FFFFFF"/>
                          </a:solidFill>
                          <a:latin typeface="TT Fors Bold"/>
                          <a:ea typeface="TT Fors Bold"/>
                          <a:cs typeface="TT Fors Bold"/>
                        </a:rPr>
                        <a:t>Model</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Key assumption / trade-off</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Implementation detail</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97255">
                <a:tc>
                  <a:txBody>
                    <a:bodyPr lIns="133350" tIns="133350" rIns="133350" bIns="133350"/>
                    <a:lstStyle/>
                    <a:p>
                      <a:pPr algn="l">
                        <a:buNone/>
                      </a:pPr>
                      <a:r>
                        <a:rPr sz="1500" b="0">
                          <a:solidFill>
                            <a:srgbClr val="FFFFFF"/>
                          </a:solidFill>
                          <a:latin typeface="TT Fors"/>
                          <a:ea typeface="TT Fors"/>
                          <a:cs typeface="TT Fors"/>
                        </a:rPr>
                        <a:t>Multinomial logit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Linear category log-odds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nnet::multinom</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LDA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Pooled within-class covariance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MASS::lda</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QDA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Class-specific covariance; more parameters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Reduced numeric feature set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Naïve Bayes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Conditional predictor independence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e1071::naiveBayes, Laplace = 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F0CBDDE0-3F73-42A2-987B-CCE48BDD729C}"/>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Categorical and non-normal predictors make diagnostic checks important.</a:t>
            </a:r>
          </a:p>
        </p:txBody>
      </p:sp>
    </p:spTree>
    <p:extLst>
      <p:ext uri="{BB962C8B-B14F-4D97-AF65-F5344CB8AC3E}">
        <p14:creationId xmlns:p14="http://schemas.microsoft.com/office/powerpoint/2010/main" val="73300565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0a31c02dc8c41e5"/>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0a31c02dc8c41e5">
              <a:extLst>
                <a:ext uri="{96DAC541-7B7A-43D3-8B79-37D633B846F1}">
                  <asvg:svgBlip xmlns:asvg="http://schemas.microsoft.com/office/drawing/2016/SVG/main" r:embed="R33029b22dfaf43ad"/>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8926625-5AD4-4ED0-9FE4-11DD237FC7F5}"/>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E37EC94-4ED5-473B-8620-8C71CB91F8C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EB3D61A7-F46A-4F60-8F48-32DAFDF2BC90}"/>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2C577C2-2280-4A47-9AB3-8A7E1AA8AC83}"/>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A48CBF5E-9107-4389-914E-F080CD3C5E1C}"/>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TEST DETAILS AND EFFECT INTERPRETATION</a:t>
            </a:r>
          </a:p>
        </p:txBody>
      </p:sp>
      <p:sp>
        <p:nvSpPr>
          <p:cNvPr id="14" name="text-9">
            <a:extLst xmlns:a="http://schemas.openxmlformats.org/drawingml/2006/main">
              <a:ext uri="{FF2B5EF4-FFF2-40B4-BE49-F238E27FC236}">
                <a16:creationId xmlns:a16="http://schemas.microsoft.com/office/drawing/2014/main" id="{63CFB96D-EED6-4EEF-8968-110A9A15B4C1}"/>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Current CSV values independently checked for the descriptive and inferential results</a:t>
            </a:r>
          </a:p>
        </p:txBody>
      </p:sp>
      <p:sp>
        <p:nvSpPr>
          <p:cNvPr id="15" name="page-marker">
            <a:extLst xmlns:a="http://schemas.openxmlformats.org/drawingml/2006/main">
              <a:ext uri="{FF2B5EF4-FFF2-40B4-BE49-F238E27FC236}">
                <a16:creationId xmlns:a16="http://schemas.microsoft.com/office/drawing/2014/main" id="{4C5AD04B-3B68-4330-AC2D-CC2FD765622B}"/>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29</a:t>
            </a:r>
          </a:p>
        </p:txBody>
      </p:sp>
      <p:sp>
        <p:nvSpPr>
          <p:cNvPr id="16" name="text-11">
            <a:extLst xmlns:a="http://schemas.openxmlformats.org/drawingml/2006/main">
              <a:ext uri="{FF2B5EF4-FFF2-40B4-BE49-F238E27FC236}">
                <a16:creationId xmlns:a16="http://schemas.microsoft.com/office/drawing/2014/main" id="{B320F709-699B-4ACE-B1DE-F8DA87A9704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842EDE08-6676-4368-B07E-11679CBA88FE}"/>
              </a:ext>
            </a:extLst>
          </p:cNvPr>
          <p:cNvGraphicFramePr/>
          <p:nvPr/>
        </p:nvGraphicFramePr>
        <p:xfrm>
          <a:off xmlns:a="http://schemas.openxmlformats.org/drawingml/2006/main" x="971550" y="3214688"/>
          <a:ext xmlns:a="http://schemas.openxmlformats.org/drawingml/2006/main" cx="16344900" cy="5200650"/>
        </p:xfrm>
        <a:graphic xmlns:a="http://schemas.openxmlformats.org/drawingml/2006/main">
          <a:graphicData uri="http://schemas.openxmlformats.org/drawingml/2006/table">
            <a:tbl>
              <a:tblPr/>
              <a:tblGrid>
                <a:gridCol w="4572000"/>
                <a:gridCol w="8286750"/>
                <a:gridCol w="3486150"/>
              </a:tblGrid>
              <a:tr h="742950">
                <a:tc>
                  <a:txBody>
                    <a:bodyPr lIns="133350" tIns="133350" rIns="133350" bIns="133350"/>
                    <a:lstStyle/>
                    <a:p>
                      <a:pPr algn="l">
                        <a:buNone/>
                      </a:pPr>
                      <a:r>
                        <a:rPr sz="1600" b="1">
                          <a:solidFill>
                            <a:srgbClr val="FFFFFF"/>
                          </a:solidFill>
                          <a:latin typeface="TT Fors Bold"/>
                          <a:ea typeface="TT Fors Bold"/>
                          <a:cs typeface="TT Fors Bold"/>
                        </a:rPr>
                        <a:t>Test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Statistic / effect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Decision at 0.05</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42950">
                <a:tc>
                  <a:txBody>
                    <a:bodyPr lIns="133350" tIns="133350" rIns="133350" bIns="133350"/>
                    <a:lstStyle/>
                    <a:p>
                      <a:pPr algn="l">
                        <a:buNone/>
                      </a:pPr>
                      <a:r>
                        <a:rPr sz="1500" b="0">
                          <a:solidFill>
                            <a:srgbClr val="FFFFFF"/>
                          </a:solidFill>
                          <a:latin typeface="TT Fors"/>
                          <a:ea typeface="TT Fors"/>
                          <a:cs typeface="TT Fors"/>
                        </a:rPr>
                        <a:t>Welch</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t = 2.0266, df ≈ 6265.90; d ≈ 0.033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Reject equal means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Variance F-test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 = 0.9861; p = 0.4035</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Fail to reject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ANOVA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F(7,5745) = 1.153; p = 0.3266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Fail to reject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Chi-square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χ²(6) = 4270.20; Cramér V ≈ 0.381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Reject independence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Kruskal–Wallis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H(3) = 0.7777; p = 0.8548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Fail to reject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Correlation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Pearson r = 0.0433; Spearman p ≈ 0.979</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Weak linear association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FD246989-BCAF-4E4C-A549-61A41B2B1A5D}"/>
              </a:ext>
            </a:extLst>
          </p:cNvPr>
          <p:cNvSpPr>
            <a:spLocks xmlns:a="http://schemas.openxmlformats.org/drawingml/2006/main" noGrp="1"/>
          </p:cNvSpPr>
          <p:nvPr/>
        </p:nvSpPr>
        <p:spPr>
          <a:xfrm xmlns:a="http://schemas.openxmlformats.org/drawingml/2006/main">
            <a:off x="942975" y="8829675"/>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Check independence and assumptions. Large samples can detect tiny effects.</a:t>
            </a:r>
          </a:p>
        </p:txBody>
      </p:sp>
    </p:spTree>
    <p:extLst>
      <p:ext uri="{BB962C8B-B14F-4D97-AF65-F5344CB8AC3E}">
        <p14:creationId xmlns:p14="http://schemas.microsoft.com/office/powerpoint/2010/main" val="733005655"/>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77a311e144534f4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77a311e144534f49">
              <a:extLst>
                <a:ext uri="{96DAC541-7B7A-43D3-8B79-37D633B846F1}">
                  <asvg:svgBlip xmlns:asvg="http://schemas.microsoft.com/office/drawing/2016/SVG/main" r:embed="Rc5777dd6f72847b7"/>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E3173ED-888F-4747-A7FA-B12820F377CB}"/>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A92DB15-3331-4470-959F-EE23E878908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9883E3BD-84B6-4A76-A85B-6F9AEEDC1D81}"/>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67792B4D-F8CA-42CD-9309-2C9F1A74717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29F0EFC7-49B6-40C5-89CA-5D175301580D}"/>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FEATURES AND SPEND REGRESSION</a:t>
            </a:r>
          </a:p>
        </p:txBody>
      </p:sp>
      <p:sp>
        <p:nvSpPr>
          <p:cNvPr id="14" name="text-9">
            <a:extLst xmlns:a="http://schemas.openxmlformats.org/drawingml/2006/main">
              <a:ext uri="{FF2B5EF4-FFF2-40B4-BE49-F238E27FC236}">
                <a16:creationId xmlns:a16="http://schemas.microsoft.com/office/drawing/2014/main" id="{FE98194D-950C-45EC-B108-970C5498767E}"/>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Separate created features from features actually used</a:t>
            </a:r>
          </a:p>
        </p:txBody>
      </p:sp>
      <p:sp>
        <p:nvSpPr>
          <p:cNvPr id="15" name="page-marker">
            <a:extLst xmlns:a="http://schemas.openxmlformats.org/drawingml/2006/main">
              <a:ext uri="{FF2B5EF4-FFF2-40B4-BE49-F238E27FC236}">
                <a16:creationId xmlns:a16="http://schemas.microsoft.com/office/drawing/2014/main" id="{95E28E06-7320-4B3A-9505-2F2EBAC1258D}"/>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30</a:t>
            </a:r>
          </a:p>
        </p:txBody>
      </p:sp>
      <p:sp>
        <p:nvSpPr>
          <p:cNvPr id="16" name="text-11">
            <a:extLst xmlns:a="http://schemas.openxmlformats.org/drawingml/2006/main">
              <a:ext uri="{FF2B5EF4-FFF2-40B4-BE49-F238E27FC236}">
                <a16:creationId xmlns:a16="http://schemas.microsoft.com/office/drawing/2014/main" id="{152103AC-6CBC-418E-A3F2-22A08340904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5CFC60B5-2905-4630-8FC0-EC0007D4C16C}"/>
              </a:ext>
            </a:extLst>
          </p:cNvPr>
          <p:cNvGraphicFramePr/>
          <p:nvPr/>
        </p:nvGraphicFramePr>
        <p:xfrm>
          <a:off xmlns:a="http://schemas.openxmlformats.org/drawingml/2006/main" x="971550" y="3114675"/>
          <a:ext xmlns:a="http://schemas.openxmlformats.org/drawingml/2006/main" cx="16344900" cy="4686300"/>
        </p:xfrm>
        <a:graphic xmlns:a="http://schemas.openxmlformats.org/drawingml/2006/main">
          <a:graphicData uri="http://schemas.openxmlformats.org/drawingml/2006/table">
            <a:tbl>
              <a:tblPr/>
              <a:tblGrid>
                <a:gridCol w="4572000"/>
                <a:gridCol w="7858125"/>
                <a:gridCol w="3914775"/>
              </a:tblGrid>
              <a:tr h="781050">
                <a:tc>
                  <a:txBody>
                    <a:bodyPr lIns="133350" tIns="133350" rIns="133350" bIns="133350"/>
                    <a:lstStyle/>
                    <a:p>
                      <a:pPr algn="l">
                        <a:buNone/>
                      </a:pPr>
                      <a:r>
                        <a:rPr sz="1600" b="1">
                          <a:solidFill>
                            <a:srgbClr val="FFFFFF"/>
                          </a:solidFill>
                          <a:latin typeface="TT Fors Bold"/>
                          <a:ea typeface="TT Fors Bold"/>
                          <a:cs typeface="TT Fors Bold"/>
                        </a:rPr>
                        <a:t>Feature</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Definition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Role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81050">
                <a:tc>
                  <a:txBody>
                    <a:bodyPr lIns="133350" tIns="133350" rIns="133350" bIns="133350"/>
                    <a:lstStyle/>
                    <a:p>
                      <a:pPr algn="l">
                        <a:buNone/>
                      </a:pPr>
                      <a:r>
                        <a:rPr sz="1500" b="0">
                          <a:solidFill>
                            <a:srgbClr val="FFFFFF"/>
                          </a:solidFill>
                          <a:latin typeface="TT Fors"/>
                          <a:ea typeface="TT Fors"/>
                          <a:cs typeface="TT Fors"/>
                        </a:rPr>
                        <a:t>Revenue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Rate × quantity − discount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EDA / inference / regression target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1500" b="0">
                          <a:solidFill>
                            <a:srgbClr val="FFFFFF"/>
                          </a:solidFill>
                          <a:latin typeface="TT Fors"/>
                          <a:ea typeface="TT Fors"/>
                          <a:cs typeface="TT Fors"/>
                        </a:rPr>
                        <a:t>IsLoyaltyMember</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Presence of loyalty number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Classifier predictor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1500" b="0">
                          <a:solidFill>
                            <a:srgbClr val="FFFFFF"/>
                          </a:solidFill>
                          <a:latin typeface="TT Fors"/>
                          <a:ea typeface="TT Fors"/>
                          <a:cs typeface="TT Fors"/>
                        </a:rPr>
                        <a:t>IsWeekend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Saturday or Sunday</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Classifier predictor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1500" b="0">
                          <a:solidFill>
                            <a:srgbClr val="FFFFFF"/>
                          </a:solidFill>
                          <a:latin typeface="TT Fors"/>
                          <a:ea typeface="TT Fors"/>
                          <a:cs typeface="TT Fors"/>
                        </a:rPr>
                        <a:t>BasketItems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Item-line count within OrderNo</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Classifier predictor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1500" b="0">
                          <a:solidFill>
                            <a:srgbClr val="FFFFFF"/>
                          </a:solidFill>
                          <a:latin typeface="TT Fors"/>
                          <a:ea typeface="TT Fors"/>
                          <a:cs typeface="TT Fors"/>
                        </a:rPr>
                        <a:t>Hour / DiscountRatio / BasketSpend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Computed in modelling script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Excluded from category formula</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A5441130-7565-4A4C-88E0-F9431C19C00E}"/>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Ridge / LASSO spend scores mainly approximate a known accounting relationship.</a:t>
            </a:r>
          </a:p>
        </p:txBody>
      </p:sp>
    </p:spTree>
    <p:extLst>
      <p:ext uri="{BB962C8B-B14F-4D97-AF65-F5344CB8AC3E}">
        <p14:creationId xmlns:p14="http://schemas.microsoft.com/office/powerpoint/2010/main" val="73300565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e284682df714de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e284682df714de9">
              <a:extLst>
                <a:ext uri="{96DAC541-7B7A-43D3-8B79-37D633B846F1}">
                  <asvg:svgBlip xmlns:asvg="http://schemas.microsoft.com/office/drawing/2016/SVG/main" r:embed="Rbc92cc908780486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A909514-51F6-4F86-BC49-DF9EBECBA2B2}"/>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0B1969E-C48B-48CC-9E5C-866AB2F20C8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582F7B0-D0A9-471A-AFE5-F4632885DA7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E6DD6FC4-E437-46F1-BE7C-42A9F9E7E6E5}"/>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AB3D3AF-9031-467B-B90A-8C8B88A1397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REFERENCES 1 OF 3</a:t>
            </a:r>
          </a:p>
        </p:txBody>
      </p:sp>
      <p:sp>
        <p:nvSpPr>
          <p:cNvPr id="14" name="text-9">
            <a:extLst xmlns:a="http://schemas.openxmlformats.org/drawingml/2006/main">
              <a:ext uri="{FF2B5EF4-FFF2-40B4-BE49-F238E27FC236}">
                <a16:creationId xmlns:a16="http://schemas.microsoft.com/office/drawing/2014/main" id="{7C3D7A87-B403-48F5-8CFA-4F3EBA05252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FFFFFF"/>
                </a:solidFill>
                <a:latin typeface="TT Fors"/>
                <a:ea typeface="TT Fors"/>
                <a:cs typeface="TT Fors"/>
              </a:rPr>
              <a:t>Recent industry research (five journal papers from 2022–2024)</a:t>
            </a:r>
          </a:p>
        </p:txBody>
      </p:sp>
      <p:sp>
        <p:nvSpPr>
          <p:cNvPr id="15" name="page-marker">
            <a:extLst xmlns:a="http://schemas.openxmlformats.org/drawingml/2006/main">
              <a:ext uri="{FF2B5EF4-FFF2-40B4-BE49-F238E27FC236}">
                <a16:creationId xmlns:a16="http://schemas.microsoft.com/office/drawing/2014/main" id="{AB02C37D-099D-4FB5-8D1C-551FCA705270}"/>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31</a:t>
            </a:r>
          </a:p>
        </p:txBody>
      </p:sp>
      <p:sp>
        <p:nvSpPr>
          <p:cNvPr id="16" name="text-11">
            <a:extLst xmlns:a="http://schemas.openxmlformats.org/drawingml/2006/main">
              <a:ext uri="{FF2B5EF4-FFF2-40B4-BE49-F238E27FC236}">
                <a16:creationId xmlns:a16="http://schemas.microsoft.com/office/drawing/2014/main" id="{2D5B6704-5565-47BB-9DEF-131ED2A44A26}"/>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3B520EEA-881A-4AD2-A3CF-C8354B06197D}"/>
              </a:ext>
            </a:extLst>
          </p:cNvPr>
          <p:cNvSpPr>
            <a:spLocks xmlns:a="http://schemas.openxmlformats.org/drawingml/2006/main" noGrp="1"/>
          </p:cNvSpPr>
          <p:nvPr/>
        </p:nvSpPr>
        <p:spPr>
          <a:xfrm xmlns:a="http://schemas.openxmlformats.org/drawingml/2006/main">
            <a:off x="971550" y="30432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0="http://schemas.openxmlformats.org/officeDocument/2006/relationships" ns0:id="rId5"/>
              </a:rPr>
              <a:t>Choi, J.-G., Zhang, Y.-W. and Nadzri, N.I.B.M. (2022)</a:t>
            </a:r>
          </a:p>
        </p:txBody>
      </p:sp>
      <p:sp>
        <p:nvSpPr>
          <p:cNvPr id="18" name="text-13">
            <a:extLst xmlns:a="http://schemas.openxmlformats.org/drawingml/2006/main">
              <a:ext uri="{FF2B5EF4-FFF2-40B4-BE49-F238E27FC236}">
                <a16:creationId xmlns:a16="http://schemas.microsoft.com/office/drawing/2014/main" id="{29D60836-A8E7-4911-8738-AC63AFE40F28}"/>
              </a:ext>
            </a:extLst>
          </p:cNvPr>
          <p:cNvSpPr>
            <a:spLocks xmlns:a="http://schemas.openxmlformats.org/drawingml/2006/main" noGrp="1"/>
          </p:cNvSpPr>
          <p:nvPr/>
        </p:nvSpPr>
        <p:spPr>
          <a:xfrm xmlns:a="http://schemas.openxmlformats.org/drawingml/2006/main">
            <a:off x="971550" y="35004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 Review of Forecasting Studies for the Restaurant Industry: Focusing on results, contributions and limitations. Global Business and Finance Review, 27(2), 61–77.</a:t>
            </a:r>
          </a:p>
        </p:txBody>
      </p:sp>
      <p:sp>
        <p:nvSpPr>
          <p:cNvPr id="19" name="text-14">
            <a:extLst xmlns:a="http://schemas.openxmlformats.org/drawingml/2006/main">
              <a:ext uri="{FF2B5EF4-FFF2-40B4-BE49-F238E27FC236}">
                <a16:creationId xmlns:a16="http://schemas.microsoft.com/office/drawing/2014/main" id="{ECD8B56C-2574-4FA9-AD05-44CA1576333B}"/>
              </a:ext>
            </a:extLst>
          </p:cNvPr>
          <p:cNvSpPr>
            <a:spLocks xmlns:a="http://schemas.openxmlformats.org/drawingml/2006/main" noGrp="1"/>
          </p:cNvSpPr>
          <p:nvPr/>
        </p:nvSpPr>
        <p:spPr>
          <a:xfrm xmlns:a="http://schemas.openxmlformats.org/drawingml/2006/main">
            <a:off x="971550" y="42433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1="http://schemas.openxmlformats.org/officeDocument/2006/relationships" ns1:id="rId6"/>
              </a:rPr>
              <a:t>Posch, K., Truden, C., Hungerländer, P. and Pilz, J. (2022)</a:t>
            </a:r>
          </a:p>
        </p:txBody>
      </p:sp>
      <p:sp>
        <p:nvSpPr>
          <p:cNvPr id="20" name="text-15">
            <a:extLst xmlns:a="http://schemas.openxmlformats.org/drawingml/2006/main">
              <a:ext uri="{FF2B5EF4-FFF2-40B4-BE49-F238E27FC236}">
                <a16:creationId xmlns:a16="http://schemas.microsoft.com/office/drawing/2014/main" id="{49F2FDEA-FF4F-462D-A6C4-91BE83EB6E72}"/>
              </a:ext>
            </a:extLst>
          </p:cNvPr>
          <p:cNvSpPr>
            <a:spLocks xmlns:a="http://schemas.openxmlformats.org/drawingml/2006/main" noGrp="1"/>
          </p:cNvSpPr>
          <p:nvPr/>
        </p:nvSpPr>
        <p:spPr>
          <a:xfrm xmlns:a="http://schemas.openxmlformats.org/drawingml/2006/main">
            <a:off x="971550" y="47005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 Bayesian approach for predicting food and beverage sales in staff canteens and restaurants. International Journal of Forecasting, 38(1), 321–338.</a:t>
            </a:r>
          </a:p>
        </p:txBody>
      </p:sp>
      <p:sp>
        <p:nvSpPr>
          <p:cNvPr id="21" name="text-16">
            <a:extLst xmlns:a="http://schemas.openxmlformats.org/drawingml/2006/main">
              <a:ext uri="{FF2B5EF4-FFF2-40B4-BE49-F238E27FC236}">
                <a16:creationId xmlns:a16="http://schemas.microsoft.com/office/drawing/2014/main" id="{C9AC6979-C681-4834-B0A9-4DCFA213A30E}"/>
              </a:ext>
            </a:extLst>
          </p:cNvPr>
          <p:cNvSpPr>
            <a:spLocks xmlns:a="http://schemas.openxmlformats.org/drawingml/2006/main" noGrp="1"/>
          </p:cNvSpPr>
          <p:nvPr/>
        </p:nvSpPr>
        <p:spPr>
          <a:xfrm xmlns:a="http://schemas.openxmlformats.org/drawingml/2006/main">
            <a:off x="971550" y="54435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2="http://schemas.openxmlformats.org/officeDocument/2006/relationships" ns2:id="rId7"/>
              </a:rPr>
              <a:t>Rodrigues, M., Miguéis, V., Freitas, S. and Machado, T. (2024)</a:t>
            </a:r>
          </a:p>
        </p:txBody>
      </p:sp>
      <p:sp>
        <p:nvSpPr>
          <p:cNvPr id="22" name="text-17">
            <a:extLst xmlns:a="http://schemas.openxmlformats.org/drawingml/2006/main">
              <a:ext uri="{FF2B5EF4-FFF2-40B4-BE49-F238E27FC236}">
                <a16:creationId xmlns:a16="http://schemas.microsoft.com/office/drawing/2014/main" id="{5D36F5DB-ED99-4245-B385-8E4C3979703C}"/>
              </a:ext>
            </a:extLst>
          </p:cNvPr>
          <p:cNvSpPr>
            <a:spLocks xmlns:a="http://schemas.openxmlformats.org/drawingml/2006/main" noGrp="1"/>
          </p:cNvSpPr>
          <p:nvPr/>
        </p:nvSpPr>
        <p:spPr>
          <a:xfrm xmlns:a="http://schemas.openxmlformats.org/drawingml/2006/main">
            <a:off x="971550" y="59007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Machine learning models for short-term demand forecasting in food catering services: A solution to reduce food waste. Journal of Cleaner Production, 435, 140265.</a:t>
            </a:r>
          </a:p>
        </p:txBody>
      </p:sp>
      <p:sp>
        <p:nvSpPr>
          <p:cNvPr id="23" name="text-18">
            <a:extLst xmlns:a="http://schemas.openxmlformats.org/drawingml/2006/main">
              <a:ext uri="{FF2B5EF4-FFF2-40B4-BE49-F238E27FC236}">
                <a16:creationId xmlns:a16="http://schemas.microsoft.com/office/drawing/2014/main" id="{E1975675-3C04-488B-8745-C73D687DE1FF}"/>
              </a:ext>
            </a:extLst>
          </p:cNvPr>
          <p:cNvSpPr>
            <a:spLocks xmlns:a="http://schemas.openxmlformats.org/drawingml/2006/main" noGrp="1"/>
          </p:cNvSpPr>
          <p:nvPr/>
        </p:nvSpPr>
        <p:spPr>
          <a:xfrm xmlns:a="http://schemas.openxmlformats.org/drawingml/2006/main">
            <a:off x="971550" y="66436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3="http://schemas.openxmlformats.org/officeDocument/2006/relationships" ns3:id="rId8"/>
              </a:rPr>
              <a:t>Groene, N. and Zakharov, S. (2024)</a:t>
            </a:r>
          </a:p>
        </p:txBody>
      </p:sp>
      <p:sp>
        <p:nvSpPr>
          <p:cNvPr id="24" name="text-19">
            <a:extLst xmlns:a="http://schemas.openxmlformats.org/drawingml/2006/main">
              <a:ext uri="{FF2B5EF4-FFF2-40B4-BE49-F238E27FC236}">
                <a16:creationId xmlns:a16="http://schemas.microsoft.com/office/drawing/2014/main" id="{922D1229-7A5F-4DD9-89FF-7D971DC22776}"/>
              </a:ext>
            </a:extLst>
          </p:cNvPr>
          <p:cNvSpPr>
            <a:spLocks xmlns:a="http://schemas.openxmlformats.org/drawingml/2006/main" noGrp="1"/>
          </p:cNvSpPr>
          <p:nvPr/>
        </p:nvSpPr>
        <p:spPr>
          <a:xfrm xmlns:a="http://schemas.openxmlformats.org/drawingml/2006/main">
            <a:off x="971550" y="71008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Introduction of AI-based sales forecasting: how to drive digital transformation in food and beverage outlets. Discover Artificial Intelligence, 4, 1.</a:t>
            </a:r>
          </a:p>
        </p:txBody>
      </p:sp>
      <p:sp>
        <p:nvSpPr>
          <p:cNvPr id="25" name="text-20">
            <a:extLst xmlns:a="http://schemas.openxmlformats.org/drawingml/2006/main">
              <a:ext uri="{FF2B5EF4-FFF2-40B4-BE49-F238E27FC236}">
                <a16:creationId xmlns:a16="http://schemas.microsoft.com/office/drawing/2014/main" id="{84C8944D-2706-4FEF-AC59-F1ED9714FF28}"/>
              </a:ext>
            </a:extLst>
          </p:cNvPr>
          <p:cNvSpPr>
            <a:spLocks xmlns:a="http://schemas.openxmlformats.org/drawingml/2006/main" noGrp="1"/>
          </p:cNvSpPr>
          <p:nvPr/>
        </p:nvSpPr>
        <p:spPr>
          <a:xfrm xmlns:a="http://schemas.openxmlformats.org/drawingml/2006/main">
            <a:off x="971550" y="78438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4="http://schemas.openxmlformats.org/officeDocument/2006/relationships" ns4:id="rId9"/>
              </a:rPr>
              <a:t>Hübner, N., Caspers, J., Coroamă, V.C. and Finkbeiner, M. (2024)</a:t>
            </a:r>
          </a:p>
        </p:txBody>
      </p:sp>
      <p:sp>
        <p:nvSpPr>
          <p:cNvPr id="26" name="text-21">
            <a:extLst xmlns:a="http://schemas.openxmlformats.org/drawingml/2006/main">
              <a:ext uri="{FF2B5EF4-FFF2-40B4-BE49-F238E27FC236}">
                <a16:creationId xmlns:a16="http://schemas.microsoft.com/office/drawing/2014/main" id="{F2122944-4C06-4CF6-89CD-A4436B225A83}"/>
              </a:ext>
            </a:extLst>
          </p:cNvPr>
          <p:cNvSpPr>
            <a:spLocks xmlns:a="http://schemas.openxmlformats.org/drawingml/2006/main" noGrp="1"/>
          </p:cNvSpPr>
          <p:nvPr/>
        </p:nvSpPr>
        <p:spPr>
          <a:xfrm xmlns:a="http://schemas.openxmlformats.org/drawingml/2006/main">
            <a:off x="971550" y="83010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Machine-learning-based demand forecasting against food waste: Life cycle environmental impacts and benefits of a bakery case study. Journal of Industrial Ecology, 28(5), 1117–1131.</a:t>
            </a:r>
          </a:p>
        </p:txBody>
      </p:sp>
    </p:spTree>
    <p:extLst>
      <p:ext uri="{BB962C8B-B14F-4D97-AF65-F5344CB8AC3E}">
        <p14:creationId xmlns:p14="http://schemas.microsoft.com/office/powerpoint/2010/main" val="73300565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32af6c4b38214124"/>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32af6c4b38214124">
              <a:extLst>
                <a:ext uri="{96DAC541-7B7A-43D3-8B79-37D633B846F1}">
                  <asvg:svgBlip xmlns:asvg="http://schemas.microsoft.com/office/drawing/2016/SVG/main" r:embed="R7504c85b48d04b7f"/>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4F166E37-CAC9-469B-8B97-21609F28D063}"/>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6357BB1-276D-42D9-BE53-4053C2A65965}"/>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E792027-4BB1-460B-BE57-F666289A3D65}"/>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7075CE3-EECC-4477-BC62-E5A4578AF059}"/>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C5DDFDA-ECE3-4759-9978-1562397C5958}"/>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REFERENCES 2 OF 3</a:t>
            </a:r>
          </a:p>
        </p:txBody>
      </p:sp>
      <p:sp>
        <p:nvSpPr>
          <p:cNvPr id="14" name="text-9">
            <a:extLst xmlns:a="http://schemas.openxmlformats.org/drawingml/2006/main">
              <a:ext uri="{FF2B5EF4-FFF2-40B4-BE49-F238E27FC236}">
                <a16:creationId xmlns:a16="http://schemas.microsoft.com/office/drawing/2014/main" id="{3262F169-C5DD-431C-867D-EB07889DC73C}"/>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FFFFFF"/>
                </a:solidFill>
                <a:latin typeface="TT Fors"/>
                <a:ea typeface="TT Fors"/>
                <a:cs typeface="TT Fors"/>
              </a:rPr>
              <a:t>Statistical methods and evaluation</a:t>
            </a:r>
          </a:p>
        </p:txBody>
      </p:sp>
      <p:sp>
        <p:nvSpPr>
          <p:cNvPr id="15" name="page-marker">
            <a:extLst xmlns:a="http://schemas.openxmlformats.org/drawingml/2006/main">
              <a:ext uri="{FF2B5EF4-FFF2-40B4-BE49-F238E27FC236}">
                <a16:creationId xmlns:a16="http://schemas.microsoft.com/office/drawing/2014/main" id="{81926CF7-B53A-4350-846E-A0478391B262}"/>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32</a:t>
            </a:r>
          </a:p>
        </p:txBody>
      </p:sp>
      <p:sp>
        <p:nvSpPr>
          <p:cNvPr id="16" name="text-11">
            <a:extLst xmlns:a="http://schemas.openxmlformats.org/drawingml/2006/main">
              <a:ext uri="{FF2B5EF4-FFF2-40B4-BE49-F238E27FC236}">
                <a16:creationId xmlns:a16="http://schemas.microsoft.com/office/drawing/2014/main" id="{D9CD3F0D-043E-492C-A525-9081DABEBAF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A3A276C1-4489-44EC-BE6B-B3C78A8B03FD}"/>
              </a:ext>
            </a:extLst>
          </p:cNvPr>
          <p:cNvSpPr>
            <a:spLocks xmlns:a="http://schemas.openxmlformats.org/drawingml/2006/main" noGrp="1"/>
          </p:cNvSpPr>
          <p:nvPr/>
        </p:nvSpPr>
        <p:spPr>
          <a:xfrm xmlns:a="http://schemas.openxmlformats.org/drawingml/2006/main">
            <a:off x="971550" y="30432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0="http://schemas.openxmlformats.org/officeDocument/2006/relationships" ns0:id="rId5"/>
              </a:rPr>
              <a:t>Fisher, R.A. (1936)</a:t>
            </a:r>
          </a:p>
        </p:txBody>
      </p:sp>
      <p:sp>
        <p:nvSpPr>
          <p:cNvPr id="18" name="text-13">
            <a:extLst xmlns:a="http://schemas.openxmlformats.org/drawingml/2006/main">
              <a:ext uri="{FF2B5EF4-FFF2-40B4-BE49-F238E27FC236}">
                <a16:creationId xmlns:a16="http://schemas.microsoft.com/office/drawing/2014/main" id="{3685B75C-2EF2-4CCE-B76F-F52129406133}"/>
              </a:ext>
            </a:extLst>
          </p:cNvPr>
          <p:cNvSpPr>
            <a:spLocks xmlns:a="http://schemas.openxmlformats.org/drawingml/2006/main" noGrp="1"/>
          </p:cNvSpPr>
          <p:nvPr/>
        </p:nvSpPr>
        <p:spPr>
          <a:xfrm xmlns:a="http://schemas.openxmlformats.org/drawingml/2006/main">
            <a:off x="971550" y="35004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The use of multiple measurements in taxonomic problems. Annals of Eugenics, 7(2), 179–188.</a:t>
            </a:r>
          </a:p>
        </p:txBody>
      </p:sp>
      <p:sp>
        <p:nvSpPr>
          <p:cNvPr id="19" name="text-14">
            <a:extLst xmlns:a="http://schemas.openxmlformats.org/drawingml/2006/main">
              <a:ext uri="{FF2B5EF4-FFF2-40B4-BE49-F238E27FC236}">
                <a16:creationId xmlns:a16="http://schemas.microsoft.com/office/drawing/2014/main" id="{850AFCCE-A778-4BEC-BF7A-2BE0CC6DAE2B}"/>
              </a:ext>
            </a:extLst>
          </p:cNvPr>
          <p:cNvSpPr>
            <a:spLocks xmlns:a="http://schemas.openxmlformats.org/drawingml/2006/main" noGrp="1"/>
          </p:cNvSpPr>
          <p:nvPr/>
        </p:nvSpPr>
        <p:spPr>
          <a:xfrm xmlns:a="http://schemas.openxmlformats.org/drawingml/2006/main">
            <a:off x="971550" y="42433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1="http://schemas.openxmlformats.org/officeDocument/2006/relationships" ns1:id="rId6"/>
              </a:rPr>
              <a:t>Welch, B.L. (1947)</a:t>
            </a:r>
          </a:p>
        </p:txBody>
      </p:sp>
      <p:sp>
        <p:nvSpPr>
          <p:cNvPr id="20" name="text-15">
            <a:extLst xmlns:a="http://schemas.openxmlformats.org/drawingml/2006/main">
              <a:ext uri="{FF2B5EF4-FFF2-40B4-BE49-F238E27FC236}">
                <a16:creationId xmlns:a16="http://schemas.microsoft.com/office/drawing/2014/main" id="{DF66B7EC-645B-4479-8DB6-075967935930}"/>
              </a:ext>
            </a:extLst>
          </p:cNvPr>
          <p:cNvSpPr>
            <a:spLocks xmlns:a="http://schemas.openxmlformats.org/drawingml/2006/main" noGrp="1"/>
          </p:cNvSpPr>
          <p:nvPr/>
        </p:nvSpPr>
        <p:spPr>
          <a:xfrm xmlns:a="http://schemas.openxmlformats.org/drawingml/2006/main">
            <a:off x="971550" y="47005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The generalization of “Student’s” problem when several different population variances are involved. Biometrika, 34(1–2), 28–35.</a:t>
            </a:r>
          </a:p>
        </p:txBody>
      </p:sp>
      <p:sp>
        <p:nvSpPr>
          <p:cNvPr id="21" name="text-16">
            <a:extLst xmlns:a="http://schemas.openxmlformats.org/drawingml/2006/main">
              <a:ext uri="{FF2B5EF4-FFF2-40B4-BE49-F238E27FC236}">
                <a16:creationId xmlns:a16="http://schemas.microsoft.com/office/drawing/2014/main" id="{C651FBC9-996A-4ECB-8A99-CD14611A1489}"/>
              </a:ext>
            </a:extLst>
          </p:cNvPr>
          <p:cNvSpPr>
            <a:spLocks xmlns:a="http://schemas.openxmlformats.org/drawingml/2006/main" noGrp="1"/>
          </p:cNvSpPr>
          <p:nvPr/>
        </p:nvSpPr>
        <p:spPr>
          <a:xfrm xmlns:a="http://schemas.openxmlformats.org/drawingml/2006/main">
            <a:off x="971550" y="54435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2="http://schemas.openxmlformats.org/officeDocument/2006/relationships" ns2:id="rId7"/>
              </a:rPr>
              <a:t>Jolliffe, I.T. and Cadima, J. (2016)</a:t>
            </a:r>
          </a:p>
        </p:txBody>
      </p:sp>
      <p:sp>
        <p:nvSpPr>
          <p:cNvPr id="22" name="text-17">
            <a:extLst xmlns:a="http://schemas.openxmlformats.org/drawingml/2006/main">
              <a:ext uri="{FF2B5EF4-FFF2-40B4-BE49-F238E27FC236}">
                <a16:creationId xmlns:a16="http://schemas.microsoft.com/office/drawing/2014/main" id="{5FCDD727-C69D-4D7F-838B-EA284047BB0E}"/>
              </a:ext>
            </a:extLst>
          </p:cNvPr>
          <p:cNvSpPr>
            <a:spLocks xmlns:a="http://schemas.openxmlformats.org/drawingml/2006/main" noGrp="1"/>
          </p:cNvSpPr>
          <p:nvPr/>
        </p:nvSpPr>
        <p:spPr>
          <a:xfrm xmlns:a="http://schemas.openxmlformats.org/drawingml/2006/main">
            <a:off x="971550" y="59007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Principal component analysis: a review and recent developments. Philosophical Transactions of the Royal Society A, 374, 20150202.</a:t>
            </a:r>
          </a:p>
        </p:txBody>
      </p:sp>
      <p:sp>
        <p:nvSpPr>
          <p:cNvPr id="23" name="text-18">
            <a:extLst xmlns:a="http://schemas.openxmlformats.org/drawingml/2006/main">
              <a:ext uri="{FF2B5EF4-FFF2-40B4-BE49-F238E27FC236}">
                <a16:creationId xmlns:a16="http://schemas.microsoft.com/office/drawing/2014/main" id="{A3F5CADA-BE43-4F4E-9B99-102A6EEC3BA4}"/>
              </a:ext>
            </a:extLst>
          </p:cNvPr>
          <p:cNvSpPr>
            <a:spLocks xmlns:a="http://schemas.openxmlformats.org/drawingml/2006/main" noGrp="1"/>
          </p:cNvSpPr>
          <p:nvPr/>
        </p:nvSpPr>
        <p:spPr>
          <a:xfrm xmlns:a="http://schemas.openxmlformats.org/drawingml/2006/main">
            <a:off x="971550" y="66436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3="http://schemas.openxmlformats.org/officeDocument/2006/relationships" ns3:id="rId8"/>
              </a:rPr>
              <a:t>Hand, D.J. and Till, R.J. (2001)</a:t>
            </a:r>
          </a:p>
        </p:txBody>
      </p:sp>
      <p:sp>
        <p:nvSpPr>
          <p:cNvPr id="24" name="text-19">
            <a:extLst xmlns:a="http://schemas.openxmlformats.org/drawingml/2006/main">
              <a:ext uri="{FF2B5EF4-FFF2-40B4-BE49-F238E27FC236}">
                <a16:creationId xmlns:a16="http://schemas.microsoft.com/office/drawing/2014/main" id="{2D9F42AD-6D22-4E96-8064-92F30C4B7001}"/>
              </a:ext>
            </a:extLst>
          </p:cNvPr>
          <p:cNvSpPr>
            <a:spLocks xmlns:a="http://schemas.openxmlformats.org/drawingml/2006/main" noGrp="1"/>
          </p:cNvSpPr>
          <p:nvPr/>
        </p:nvSpPr>
        <p:spPr>
          <a:xfrm xmlns:a="http://schemas.openxmlformats.org/drawingml/2006/main">
            <a:off x="971550" y="71008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 Simple Generalisation of the Area Under the ROC Curve for Multiple Class Classification Problems. Machine Learning, 45, 171–186.</a:t>
            </a:r>
          </a:p>
        </p:txBody>
      </p:sp>
      <p:sp>
        <p:nvSpPr>
          <p:cNvPr id="25" name="text-20">
            <a:extLst xmlns:a="http://schemas.openxmlformats.org/drawingml/2006/main">
              <a:ext uri="{FF2B5EF4-FFF2-40B4-BE49-F238E27FC236}">
                <a16:creationId xmlns:a16="http://schemas.microsoft.com/office/drawing/2014/main" id="{1DB11C34-F30A-4CFA-9FAE-0BCB1D864D75}"/>
              </a:ext>
            </a:extLst>
          </p:cNvPr>
          <p:cNvSpPr>
            <a:spLocks xmlns:a="http://schemas.openxmlformats.org/drawingml/2006/main" noGrp="1"/>
          </p:cNvSpPr>
          <p:nvPr/>
        </p:nvSpPr>
        <p:spPr>
          <a:xfrm xmlns:a="http://schemas.openxmlformats.org/drawingml/2006/main">
            <a:off x="971550" y="78438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4="http://schemas.openxmlformats.org/officeDocument/2006/relationships" ns4:id="rId9"/>
              </a:rPr>
              <a:t>Saito, T. and Rehmsmeier, M. (2015)</a:t>
            </a:r>
          </a:p>
        </p:txBody>
      </p:sp>
      <p:sp>
        <p:nvSpPr>
          <p:cNvPr id="26" name="text-21">
            <a:extLst xmlns:a="http://schemas.openxmlformats.org/drawingml/2006/main">
              <a:ext uri="{FF2B5EF4-FFF2-40B4-BE49-F238E27FC236}">
                <a16:creationId xmlns:a16="http://schemas.microsoft.com/office/drawing/2014/main" id="{D327441C-8FA8-4244-BB1F-422A7B55F371}"/>
              </a:ext>
            </a:extLst>
          </p:cNvPr>
          <p:cNvSpPr>
            <a:spLocks xmlns:a="http://schemas.openxmlformats.org/drawingml/2006/main" noGrp="1"/>
          </p:cNvSpPr>
          <p:nvPr/>
        </p:nvSpPr>
        <p:spPr>
          <a:xfrm xmlns:a="http://schemas.openxmlformats.org/drawingml/2006/main">
            <a:off x="971550" y="83010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The Precision-Recall Plot Is More Informative than the ROC Plot When Evaluating Binary Classifiers on Imbalanced Datasets. PLOS ONE, 10(3), e0118432.</a:t>
            </a:r>
          </a:p>
        </p:txBody>
      </p:sp>
    </p:spTree>
    <p:extLst>
      <p:ext uri="{BB962C8B-B14F-4D97-AF65-F5344CB8AC3E}">
        <p14:creationId xmlns:p14="http://schemas.microsoft.com/office/powerpoint/2010/main" val="73300565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928bc3f621e434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928bc3f621e4349">
              <a:extLst>
                <a:ext uri="{96DAC541-7B7A-43D3-8B79-37D633B846F1}">
                  <asvg:svgBlip xmlns:asvg="http://schemas.microsoft.com/office/drawing/2016/SVG/main" r:embed="R39ae12adfd86450d"/>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136B209E-A486-41CE-A519-B3E2434144A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3A1210A9-0E1F-469B-98B9-DAE5FB03341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B223D8A4-5A73-4455-9C4D-2697860FB1F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A2FDB19D-A267-4F15-8EBA-F3B338B4D981}"/>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C4733A5F-E2DA-4F25-85DF-90F995817BD1}"/>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REFERENCES 3 OF 3</a:t>
            </a:r>
          </a:p>
        </p:txBody>
      </p:sp>
      <p:sp>
        <p:nvSpPr>
          <p:cNvPr id="14" name="text-9">
            <a:extLst xmlns:a="http://schemas.openxmlformats.org/drawingml/2006/main">
              <a:ext uri="{FF2B5EF4-FFF2-40B4-BE49-F238E27FC236}">
                <a16:creationId xmlns:a16="http://schemas.microsoft.com/office/drawing/2014/main" id="{CBD2E743-3768-4771-A8FE-F3D5BFBF43D5}"/>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FFFFFF"/>
                </a:solidFill>
                <a:latin typeface="TT Fors"/>
                <a:ea typeface="TT Fors"/>
                <a:cs typeface="TT Fors"/>
              </a:rPr>
              <a:t>Statistical methods and evaluation</a:t>
            </a:r>
          </a:p>
        </p:txBody>
      </p:sp>
      <p:sp>
        <p:nvSpPr>
          <p:cNvPr id="15" name="page-marker">
            <a:extLst xmlns:a="http://schemas.openxmlformats.org/drawingml/2006/main">
              <a:ext uri="{FF2B5EF4-FFF2-40B4-BE49-F238E27FC236}">
                <a16:creationId xmlns:a16="http://schemas.microsoft.com/office/drawing/2014/main" id="{87F6029B-C14F-4B89-AFAD-C935B81607D0}"/>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33</a:t>
            </a:r>
          </a:p>
        </p:txBody>
      </p:sp>
      <p:sp>
        <p:nvSpPr>
          <p:cNvPr id="16" name="text-11">
            <a:extLst xmlns:a="http://schemas.openxmlformats.org/drawingml/2006/main">
              <a:ext uri="{FF2B5EF4-FFF2-40B4-BE49-F238E27FC236}">
                <a16:creationId xmlns:a16="http://schemas.microsoft.com/office/drawing/2014/main" id="{B25591A2-4897-4682-B5FA-871E2C5F84AB}"/>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B69CE0E8-4F6B-4E8E-9B09-36EBF92FEEAF}"/>
              </a:ext>
            </a:extLst>
          </p:cNvPr>
          <p:cNvSpPr>
            <a:spLocks xmlns:a="http://schemas.openxmlformats.org/drawingml/2006/main" noGrp="1"/>
          </p:cNvSpPr>
          <p:nvPr/>
        </p:nvSpPr>
        <p:spPr>
          <a:xfrm xmlns:a="http://schemas.openxmlformats.org/drawingml/2006/main">
            <a:off x="971550" y="30432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0="http://schemas.openxmlformats.org/officeDocument/2006/relationships" ns0:id="rId5"/>
              </a:rPr>
              <a:t>Hyndman, R.J. and Khandakar, Y. (2008)</a:t>
            </a:r>
          </a:p>
        </p:txBody>
      </p:sp>
      <p:sp>
        <p:nvSpPr>
          <p:cNvPr id="18" name="text-13">
            <a:extLst xmlns:a="http://schemas.openxmlformats.org/drawingml/2006/main">
              <a:ext uri="{FF2B5EF4-FFF2-40B4-BE49-F238E27FC236}">
                <a16:creationId xmlns:a16="http://schemas.microsoft.com/office/drawing/2014/main" id="{8B86DB47-5C9C-40FE-8324-44170D2CBD3D}"/>
              </a:ext>
            </a:extLst>
          </p:cNvPr>
          <p:cNvSpPr>
            <a:spLocks xmlns:a="http://schemas.openxmlformats.org/drawingml/2006/main" noGrp="1"/>
          </p:cNvSpPr>
          <p:nvPr/>
        </p:nvSpPr>
        <p:spPr>
          <a:xfrm xmlns:a="http://schemas.openxmlformats.org/drawingml/2006/main">
            <a:off x="971550" y="35004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Automatic Time Series Forecasting: The forecast Package for R. Journal of Statistical Software, 27(3), 1–22.</a:t>
            </a:r>
          </a:p>
        </p:txBody>
      </p:sp>
      <p:sp>
        <p:nvSpPr>
          <p:cNvPr id="19" name="text-14">
            <a:extLst xmlns:a="http://schemas.openxmlformats.org/drawingml/2006/main">
              <a:ext uri="{FF2B5EF4-FFF2-40B4-BE49-F238E27FC236}">
                <a16:creationId xmlns:a16="http://schemas.microsoft.com/office/drawing/2014/main" id="{07140311-A479-4179-BC56-BA2E9C055A44}"/>
              </a:ext>
            </a:extLst>
          </p:cNvPr>
          <p:cNvSpPr>
            <a:spLocks xmlns:a="http://schemas.openxmlformats.org/drawingml/2006/main" noGrp="1"/>
          </p:cNvSpPr>
          <p:nvPr/>
        </p:nvSpPr>
        <p:spPr>
          <a:xfrm xmlns:a="http://schemas.openxmlformats.org/drawingml/2006/main">
            <a:off x="971550" y="42433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1="http://schemas.openxmlformats.org/officeDocument/2006/relationships" ns1:id="rId6"/>
              </a:rPr>
              <a:t>Ljung, G.M. and Box, G.E.P. (1978)</a:t>
            </a:r>
          </a:p>
        </p:txBody>
      </p:sp>
      <p:sp>
        <p:nvSpPr>
          <p:cNvPr id="20" name="text-15">
            <a:extLst xmlns:a="http://schemas.openxmlformats.org/drawingml/2006/main">
              <a:ext uri="{FF2B5EF4-FFF2-40B4-BE49-F238E27FC236}">
                <a16:creationId xmlns:a16="http://schemas.microsoft.com/office/drawing/2014/main" id="{204FA03A-49FB-4A11-8D7D-739BC5AA0B80}"/>
              </a:ext>
            </a:extLst>
          </p:cNvPr>
          <p:cNvSpPr>
            <a:spLocks xmlns:a="http://schemas.openxmlformats.org/drawingml/2006/main" noGrp="1"/>
          </p:cNvSpPr>
          <p:nvPr/>
        </p:nvSpPr>
        <p:spPr>
          <a:xfrm xmlns:a="http://schemas.openxmlformats.org/drawingml/2006/main">
            <a:off x="971550" y="47005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On a measure of lack of fit in time series models. Biometrika, 65(2), 297–303.</a:t>
            </a:r>
          </a:p>
        </p:txBody>
      </p:sp>
      <p:sp>
        <p:nvSpPr>
          <p:cNvPr id="21" name="text-16">
            <a:extLst xmlns:a="http://schemas.openxmlformats.org/drawingml/2006/main">
              <a:ext uri="{FF2B5EF4-FFF2-40B4-BE49-F238E27FC236}">
                <a16:creationId xmlns:a16="http://schemas.microsoft.com/office/drawing/2014/main" id="{22D1860C-466A-43B3-A001-495D676F14F8}"/>
              </a:ext>
            </a:extLst>
          </p:cNvPr>
          <p:cNvSpPr>
            <a:spLocks xmlns:a="http://schemas.openxmlformats.org/drawingml/2006/main" noGrp="1"/>
          </p:cNvSpPr>
          <p:nvPr/>
        </p:nvSpPr>
        <p:spPr>
          <a:xfrm xmlns:a="http://schemas.openxmlformats.org/drawingml/2006/main">
            <a:off x="971550" y="54435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2="http://schemas.openxmlformats.org/officeDocument/2006/relationships" ns2:id="rId7"/>
              </a:rPr>
              <a:t>Dietterich, T.G. (1998)</a:t>
            </a:r>
          </a:p>
        </p:txBody>
      </p:sp>
      <p:sp>
        <p:nvSpPr>
          <p:cNvPr id="22" name="text-17">
            <a:extLst xmlns:a="http://schemas.openxmlformats.org/drawingml/2006/main">
              <a:ext uri="{FF2B5EF4-FFF2-40B4-BE49-F238E27FC236}">
                <a16:creationId xmlns:a16="http://schemas.microsoft.com/office/drawing/2014/main" id="{0391D48C-F27B-40C9-A5A7-27A3BF5E398E}"/>
              </a:ext>
            </a:extLst>
          </p:cNvPr>
          <p:cNvSpPr>
            <a:spLocks xmlns:a="http://schemas.openxmlformats.org/drawingml/2006/main" noGrp="1"/>
          </p:cNvSpPr>
          <p:nvPr/>
        </p:nvSpPr>
        <p:spPr>
          <a:xfrm xmlns:a="http://schemas.openxmlformats.org/drawingml/2006/main">
            <a:off x="971550" y="59007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Approximate Statistical Tests for Comparing Supervised Classification Learning Algorithms. Neural Computation, 10(7), 1895–1923.</a:t>
            </a:r>
          </a:p>
        </p:txBody>
      </p:sp>
      <p:sp>
        <p:nvSpPr>
          <p:cNvPr id="23" name="text-18">
            <a:extLst xmlns:a="http://schemas.openxmlformats.org/drawingml/2006/main">
              <a:ext uri="{FF2B5EF4-FFF2-40B4-BE49-F238E27FC236}">
                <a16:creationId xmlns:a16="http://schemas.microsoft.com/office/drawing/2014/main" id="{CD978850-2D15-4682-912A-12AC72406C1A}"/>
              </a:ext>
            </a:extLst>
          </p:cNvPr>
          <p:cNvSpPr>
            <a:spLocks xmlns:a="http://schemas.openxmlformats.org/drawingml/2006/main" noGrp="1"/>
          </p:cNvSpPr>
          <p:nvPr/>
        </p:nvSpPr>
        <p:spPr>
          <a:xfrm xmlns:a="http://schemas.openxmlformats.org/drawingml/2006/main">
            <a:off x="971550" y="66436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3="http://schemas.openxmlformats.org/officeDocument/2006/relationships" ns3:id="rId8"/>
              </a:rPr>
              <a:t>Tibshirani, R. (1996)</a:t>
            </a:r>
          </a:p>
        </p:txBody>
      </p:sp>
      <p:sp>
        <p:nvSpPr>
          <p:cNvPr id="24" name="text-19">
            <a:extLst xmlns:a="http://schemas.openxmlformats.org/drawingml/2006/main">
              <a:ext uri="{FF2B5EF4-FFF2-40B4-BE49-F238E27FC236}">
                <a16:creationId xmlns:a16="http://schemas.microsoft.com/office/drawing/2014/main" id="{EBDFF113-D1DB-41D4-A8D4-12CF63710CA9}"/>
              </a:ext>
            </a:extLst>
          </p:cNvPr>
          <p:cNvSpPr>
            <a:spLocks xmlns:a="http://schemas.openxmlformats.org/drawingml/2006/main" noGrp="1"/>
          </p:cNvSpPr>
          <p:nvPr/>
        </p:nvSpPr>
        <p:spPr>
          <a:xfrm xmlns:a="http://schemas.openxmlformats.org/drawingml/2006/main">
            <a:off x="971550" y="71008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Regression Shrinkage and Selection Via the Lasso. Journal of the Royal Statistical Society: Series B, 58(1), 267–288.</a:t>
            </a:r>
          </a:p>
        </p:txBody>
      </p:sp>
      <p:sp>
        <p:nvSpPr>
          <p:cNvPr id="25" name="text-20">
            <a:extLst xmlns:a="http://schemas.openxmlformats.org/drawingml/2006/main">
              <a:ext uri="{FF2B5EF4-FFF2-40B4-BE49-F238E27FC236}">
                <a16:creationId xmlns:a16="http://schemas.microsoft.com/office/drawing/2014/main" id="{6140917D-3A08-4D03-AF38-B5C608D42FB7}"/>
              </a:ext>
            </a:extLst>
          </p:cNvPr>
          <p:cNvSpPr>
            <a:spLocks xmlns:a="http://schemas.openxmlformats.org/drawingml/2006/main" noGrp="1"/>
          </p:cNvSpPr>
          <p:nvPr/>
        </p:nvSpPr>
        <p:spPr>
          <a:xfrm xmlns:a="http://schemas.openxmlformats.org/drawingml/2006/main">
            <a:off x="971550" y="78438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5="http://schemas.openxmlformats.org/officeDocument/2006/relationships" ns5:id="rId9"/>
              </a:rPr>
              <a:t>Friedman, J., Hastie, T. and Tibshirani, R. (2010)</a:t>
            </a:r>
          </a:p>
        </p:txBody>
      </p:sp>
      <p:sp>
        <p:nvSpPr>
          <p:cNvPr id="26" name="text-21">
            <a:extLst xmlns:a="http://schemas.openxmlformats.org/drawingml/2006/main">
              <a:ext uri="{FF2B5EF4-FFF2-40B4-BE49-F238E27FC236}">
                <a16:creationId xmlns:a16="http://schemas.microsoft.com/office/drawing/2014/main" id="{D49BE545-DC20-4B1E-ABC0-AEDB56C64B67}"/>
              </a:ext>
            </a:extLst>
          </p:cNvPr>
          <p:cNvSpPr>
            <a:spLocks xmlns:a="http://schemas.openxmlformats.org/drawingml/2006/main" noGrp="1"/>
          </p:cNvSpPr>
          <p:nvPr/>
        </p:nvSpPr>
        <p:spPr>
          <a:xfrm xmlns:a="http://schemas.openxmlformats.org/drawingml/2006/main">
            <a:off x="971550" y="83010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Regularization Paths for Generalized Linear Models via Coordinate Descent. Journal of Statistical Software, 33(1), 1–22.</a:t>
            </a:r>
          </a:p>
        </p:txBody>
      </p:sp>
      <p:sp>
        <p:nvSpPr>
          <p:cNvPr id="27" name="text-22">
            <a:extLst xmlns:a="http://schemas.openxmlformats.org/drawingml/2006/main">
              <a:ext uri="{FF2B5EF4-FFF2-40B4-BE49-F238E27FC236}">
                <a16:creationId xmlns:a16="http://schemas.microsoft.com/office/drawing/2014/main" id="{6CC09BA7-670E-4984-B67A-D1DC5D46E5BC}"/>
              </a:ext>
            </a:extLst>
          </p:cNvPr>
          <p:cNvSpPr>
            <a:spLocks xmlns:a="http://schemas.openxmlformats.org/drawingml/2006/main" noGrp="1"/>
          </p:cNvSpPr>
          <p:nvPr/>
        </p:nvSpPr>
        <p:spPr>
          <a:xfrm xmlns:a="http://schemas.openxmlformats.org/drawingml/2006/main">
            <a:off x="971550" y="9272588"/>
            <a:ext cx="16002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13" b="0">
                <a:solidFill>
                  <a:srgbClr val="EAD9CE"/>
                </a:solidFill>
                <a:latin typeface="TT Fors"/>
                <a:ea typeface="TT Fors"/>
                <a:cs typeface="TT Fors"/>
              </a:defRPr>
            </a:defPPr>
          </a:lstStyle>
          <a:p xmlns:a="http://schemas.openxmlformats.org/drawingml/2006/main">
            <a:pPr algn="l">
              <a:buNone/>
              <a:defRPr sz="1913" b="0">
                <a:solidFill>
                  <a:srgbClr val="EAD9CE"/>
                </a:solidFill>
                <a:latin typeface="TT Fors"/>
                <a:ea typeface="TT Fors"/>
                <a:cs typeface="TT Fors"/>
              </a:defRPr>
            </a:pPr>
            <a:r>
              <a:rPr sz="1913" b="0">
                <a:solidFill>
                  <a:srgbClr val="FFFFFF"/>
                </a:solidFill>
                <a:latin typeface="TT Fors"/>
                <a:ea typeface="TT Fors"/>
                <a:cs typeface="TT Fors"/>
              </a:rPr>
              <a:t>Slide drafting support: ChatGPT (OpenAI). Group members retain responsibility for verification.</a:t>
            </a:r>
          </a:p>
        </p:txBody>
      </p:sp>
    </p:spTree>
    <p:extLst>
      <p:ext uri="{BB962C8B-B14F-4D97-AF65-F5344CB8AC3E}">
        <p14:creationId xmlns:p14="http://schemas.microsoft.com/office/powerpoint/2010/main" val="73300565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72326cc1c2845d3"/>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72326cc1c2845d3">
              <a:extLst>
                <a:ext uri="{96DAC541-7B7A-43D3-8B79-37D633B846F1}">
                  <asvg:svgBlip xmlns:asvg="http://schemas.microsoft.com/office/drawing/2016/SVG/main" r:embed="Rd092869cb4bf4bb8"/>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41A63EF2-77A4-419D-A6DF-57B1D4325CA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B81D758E-7606-4C94-BC87-C927F38B9EB4}"/>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3DDF7B7D-F1E6-456A-B7A4-43B21846747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30FBB72E-7A74-416B-AC32-9677B3A40CA1}"/>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66D3DE7-63CF-4CB7-80B2-7F6713D0814F}"/>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ASSIGNMENT COVERAGE AND TEAM TIMING</a:t>
            </a:r>
          </a:p>
        </p:txBody>
      </p:sp>
      <p:sp>
        <p:nvSpPr>
          <p:cNvPr id="14" name="text-9">
            <a:extLst xmlns:a="http://schemas.openxmlformats.org/drawingml/2006/main">
              <a:ext uri="{FF2B5EF4-FFF2-40B4-BE49-F238E27FC236}">
                <a16:creationId xmlns:a16="http://schemas.microsoft.com/office/drawing/2014/main" id="{CC7FA5B1-96A7-4747-942E-7BDC8CE9D42F}"/>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27 main slides for 20 minutes. Seven backup slides support the viva.</a:t>
            </a:r>
          </a:p>
        </p:txBody>
      </p:sp>
      <p:sp>
        <p:nvSpPr>
          <p:cNvPr id="15" name="page-marker">
            <a:extLst xmlns:a="http://schemas.openxmlformats.org/drawingml/2006/main">
              <a:ext uri="{FF2B5EF4-FFF2-40B4-BE49-F238E27FC236}">
                <a16:creationId xmlns:a16="http://schemas.microsoft.com/office/drawing/2014/main" id="{2B525F74-4C96-4BC7-B6E0-43FC179173BD}"/>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34</a:t>
            </a:r>
          </a:p>
        </p:txBody>
      </p:sp>
      <p:sp>
        <p:nvSpPr>
          <p:cNvPr id="16" name="text-11">
            <a:extLst xmlns:a="http://schemas.openxmlformats.org/drawingml/2006/main">
              <a:ext uri="{FF2B5EF4-FFF2-40B4-BE49-F238E27FC236}">
                <a16:creationId xmlns:a16="http://schemas.microsoft.com/office/drawing/2014/main" id="{06F1B3D3-6B41-4F66-90E0-22AA8C18A06B}"/>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740679E5-2604-4D78-BFF9-CEA5238318C9}"/>
              </a:ext>
            </a:extLst>
          </p:cNvPr>
          <p:cNvGraphicFramePr/>
          <p:nvPr/>
        </p:nvGraphicFramePr>
        <p:xfrm>
          <a:off xmlns:a="http://schemas.openxmlformats.org/drawingml/2006/main" x="971550" y="3171825"/>
          <a:ext xmlns:a="http://schemas.openxmlformats.org/drawingml/2006/main" cx="16344900" cy="4414838"/>
        </p:xfrm>
        <a:graphic xmlns:a="http://schemas.openxmlformats.org/drawingml/2006/main">
          <a:graphicData uri="http://schemas.openxmlformats.org/drawingml/2006/table">
            <a:tbl>
              <a:tblPr/>
              <a:tblGrid>
                <a:gridCol w="3571875"/>
                <a:gridCol w="5072063"/>
                <a:gridCol w="7700963"/>
              </a:tblGrid>
              <a:tr h="882968">
                <a:tc>
                  <a:txBody>
                    <a:bodyPr lIns="133350" tIns="133350" rIns="133350" bIns="133350"/>
                    <a:lstStyle/>
                    <a:p>
                      <a:pPr algn="l">
                        <a:buNone/>
                      </a:pPr>
                      <a:r>
                        <a:rPr sz="1600" b="1">
                          <a:solidFill>
                            <a:srgbClr val="FFFFFF"/>
                          </a:solidFill>
                          <a:latin typeface="TT Fors Bold"/>
                          <a:ea typeface="TT Fors Bold"/>
                          <a:cs typeface="TT Fors Bold"/>
                        </a:rPr>
                        <a:t>Presenter</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Main slides / time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Assignment tasks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82968">
                <a:tc>
                  <a:txBody>
                    <a:bodyPr lIns="133350" tIns="133350" rIns="133350" bIns="133350"/>
                    <a:lstStyle/>
                    <a:p>
                      <a:pPr algn="l">
                        <a:buNone/>
                      </a:pPr>
                      <a:r>
                        <a:rPr sz="1500" b="0">
                          <a:solidFill>
                            <a:srgbClr val="FFFFFF"/>
                          </a:solidFill>
                          <a:latin typeface="TT Fors"/>
                          <a:ea typeface="TT Fors"/>
                          <a:cs typeface="TT Fors"/>
                        </a:rPr>
                        <a:t>Member 1</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1–6 / 0:00–5:00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Problem, research, dataset and cleaning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2968">
                <a:tc>
                  <a:txBody>
                    <a:bodyPr lIns="133350" tIns="133350" rIns="133350" bIns="133350"/>
                    <a:lstStyle/>
                    <a:p>
                      <a:pPr algn="l">
                        <a:buNone/>
                      </a:pPr>
                      <a:r>
                        <a:rPr sz="1500" b="0">
                          <a:solidFill>
                            <a:srgbClr val="FFFFFF"/>
                          </a:solidFill>
                          <a:latin typeface="TT Fors"/>
                          <a:ea typeface="TT Fors"/>
                          <a:cs typeface="TT Fors"/>
                        </a:rPr>
                        <a:t>Member 2</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7–14 / 5:00–10:00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EDA, inference and model evidence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2968">
                <a:tc>
                  <a:txBody>
                    <a:bodyPr lIns="133350" tIns="133350" rIns="133350" bIns="133350"/>
                    <a:lstStyle/>
                    <a:p>
                      <a:pPr algn="l">
                        <a:buNone/>
                      </a:pPr>
                      <a:r>
                        <a:rPr sz="1500" b="0">
                          <a:solidFill>
                            <a:srgbClr val="FFFFFF"/>
                          </a:solidFill>
                          <a:latin typeface="TT Fors"/>
                          <a:ea typeface="TT Fors"/>
                          <a:cs typeface="TT Fors"/>
                        </a:rPr>
                        <a:t>Member 3</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15–22 / 10:00–15:00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Validation, experiment, PCA, Bayes and time series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2968">
                <a:tc>
                  <a:txBody>
                    <a:bodyPr lIns="133350" tIns="133350" rIns="133350" bIns="133350"/>
                    <a:lstStyle/>
                    <a:p>
                      <a:pPr algn="l">
                        <a:buNone/>
                      </a:pPr>
                      <a:r>
                        <a:rPr sz="1500" b="0">
                          <a:solidFill>
                            <a:srgbClr val="FFFFFF"/>
                          </a:solidFill>
                          <a:latin typeface="TT Fors"/>
                          <a:ea typeface="TT Fors"/>
                          <a:cs typeface="TT Fors"/>
                        </a:rPr>
                        <a:t>Member 4</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23–27 / 15:00–20:00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Innovation, engagement, risks and recommendations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E34DAE5-9128-41E8-8638-24E0974722CE}"/>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Before submission: confirm industry feedback and reproduce all model outputs.</a:t>
            </a:r>
          </a:p>
        </p:txBody>
      </p:sp>
    </p:spTree>
    <p:extLst>
      <p:ext uri="{BB962C8B-B14F-4D97-AF65-F5344CB8AC3E}">
        <p14:creationId xmlns:p14="http://schemas.microsoft.com/office/powerpoint/2010/main" val="73300565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2026-10-14T13:44:40.0580000Z</dcterms:created>
  <dcterms:modified xsi:type="dcterms:W3CDTF">2026-10-14T13:44:40.0580000Z</dcterms:modified>
</coreProperties>
</file>