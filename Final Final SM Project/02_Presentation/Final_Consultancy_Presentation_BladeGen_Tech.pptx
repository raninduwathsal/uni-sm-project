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22"/>
    <p:sldId id="272" r:id="rId23"/>
    <p:sldId id="273" r:id="rId24"/>
    <p:sldId id="274" r:id="rId25"/>
    <p:sldId id="275" r:id="rId26"/>
    <p:sldId id="276" r:id="rId27"/>
    <p:sldId id="277" r:id="rId28"/>
    <p:sldId id="278" r:id="rId29"/>
    <p:sldId id="279" r:id="rId30"/>
    <p:sldId id="280" r:id="rId31"/>
    <p:sldId id="281"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5492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0:00 - 0:45]</a:t>
            </a:r>
          </a:p>
          <a:p/>
          <a:p>
            <a:r>
              <a:t>TALKING POINTS &amp; VIVA DEFENSE:</a:t>
            </a:r>
          </a:p>
          <a:p>
            <a:r>
              <a:t>Good morning members of the board and lecturers. We represent Statistical Innovation Consulting Group 4. Today, we present an end-to-end statistical intelligence solution developed for BladeGen Tech to resolve retail operational inefficiencies and optimize register upsells using multi-model statistical learning.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0:45 - 1:30]</a:t>
            </a:r>
          </a:p>
          <a:p/>
          <a:p>
            <a:r>
              <a:t>TALKING POINTS &amp; VIVA DEFENSE:</a:t>
            </a:r>
          </a:p>
          <a:p>
            <a:r>
              <a:t>Our presentation strictly satisfies the 4-member group criteria. Each member leads a distinct analytical domain: Member 1 covers Context and Literature; Member 2 covers Data Auditing and Inference; Member 3 presents our 4-Member Predictive Tournament and Experimental Design; Member 4 delivers Advanced PCA, Bayesian methods, Seasonal ARIMA, and Industry Expert Validation.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1:30 - 2:30]</a:t>
            </a:r>
          </a:p>
          <a:p/>
          <a:p>
            <a:r>
              <a:t>TALKING POINTS &amp; VIVA DEFENSE:</a:t>
            </a:r>
          </a:p>
          <a:p>
            <a:r>
              <a:t>BladeGen Tech operates 80 multi-format outlets. Despite collecting thousands of transactions, store operations remain reactive. Cashiers rely on intuition to suggest pairings, and end-of-day pastry discard rates exceed 12%. Our objective is to replace guesswork with statistical intelligence, predicting customer category propensity and forecasting weekly aggregate demand.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1 | TIME ALLOCATION: 2:30 - 3:30]</a:t>
            </a:r>
          </a:p>
          <a:p/>
          <a:p>
            <a:r>
              <a:t>TALKING POINTS &amp; VIVA DEFENSE:</a:t>
            </a:r>
          </a:p>
          <a:p>
            <a:r>
              <a:t>In Task 2, we conducted a systematic review of 16 peer-reviewed papers. Research confirms that while deep learning works in e-commerce, physical retail POS requires lightweight, interpretable models. We identify a critical gap: existing literature treats recommendation and replenishment as separate problems. Our consultancy framework unifies both.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3:30 - 4:20]</a:t>
            </a:r>
          </a:p>
          <a:p/>
          <a:p>
            <a:r>
              <a:t>TALKING POINTS &amp; VIVA DEFENSE:</a:t>
            </a:r>
          </a:p>
          <a:p>
            <a:r>
              <a:t>I am Presenter 2, covering Data Understanding and Statistical Inference. We began with an 8-point source integrity audit, reconciling order-level consistency and resolving category anomalies. With 29,465 clean records, we engineered our core revenue variables and confirmed that pricing remained stable with only 0.25% price rate outliers.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4:20 - 5:00]</a:t>
            </a:r>
          </a:p>
          <a:p/>
          <a:p>
            <a:r>
              <a:t>TALKING POINTS &amp; VIVA DEFENSE:</a:t>
            </a:r>
          </a:p>
          <a:p>
            <a:r>
              <a:t>Looking at our category breakdown on the right, Beverages generate over 54% of chain revenue, while Food generates 37%. Because beverage margins are stable, cross-selling high-margin food items like bakery products represents our primary lever for profit growth.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5:00 - 5:45]</a:t>
            </a:r>
          </a:p>
          <a:p/>
          <a:p>
            <a:r>
              <a:t>TALKING POINTS &amp; VIVA DEFENSE:</a:t>
            </a:r>
          </a:p>
          <a:p>
            <a:r>
              <a:t>Slide 7 shows hourly traffic density. We observe a classic bimodal distribution: a sharp morning coffee rush between 8 and 10 AM, followed by a lunch and snack peak at 1 PM. Weekend volume surges by 35%. This temporal pattern proves that cashier recommendations must execute in fractions of a second to prevent checkout bottlenecks.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5:45 - 6:15]</a:t>
            </a:r>
          </a:p>
          <a:p/>
          <a:p>
            <a:r>
              <a:t>TALKING POINTS &amp; VIVA DEFENSE:</a:t>
            </a:r>
          </a:p>
          <a:p>
            <a:r>
              <a:t>In Task 4, we formulated six formal hypothesis tests strictly grounded in IT3081 Note 01. We investigated three core domains: spending differences between customer segments, structural variations across outlets and payment methods, and non-parametric ordering dynamics.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6:15 - 6:40]</a:t>
            </a:r>
          </a:p>
          <a:p/>
          <a:p>
            <a:r>
              <a:t>TALKING POINTS &amp; VIVA DEFENSE:</a:t>
            </a:r>
          </a:p>
          <a:p>
            <a:r>
              <a:t>Test 1 applied Welch's t-test, revealing that Foreign tourists spend LKR 25.32 more per item than local customers, a highly significant result with p = 0.00034. Test 2 examined spend volatility between Dine-In and Takeaway using Fisher's F-test; with p = 0.057, we fail to reject H0, confirming that basket spending variance is homogeneous across dining channels.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6:40 - 7:00]</a:t>
            </a:r>
          </a:p>
          <a:p/>
          <a:p>
            <a:r>
              <a:t>TALKING POINTS &amp; VIVA DEFENSE:</a:t>
            </a:r>
          </a:p>
          <a:p>
            <a:r>
              <a:t>Test 3 evaluated revenue across store outlets via One-Way ANOVA. With p = 0.198, we fail to reject H0, indicating pricing standardization across locations. Test 4 evaluated payment methods using Pearson's Chi-Square. With a massive chi-square of 4,270 and p &lt; 0.0001, we reject H0. Tourists exclusively rely on international credit cards, whereas local patrons use food delivery wallets and cash.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2 | TIME ALLOCATION: 7:00 - 7:20]</a:t>
            </a:r>
          </a:p>
          <a:p/>
          <a:p>
            <a:r>
              <a:t>TALKING POINTS &amp; VIVA DEFENSE:</a:t>
            </a:r>
          </a:p>
          <a:p>
            <a:r>
              <a:t>Test 5 used the non-parametric Kruskal-Wallis test on order quantities, finding no significant variation across dayparts (p = 0.85). Finally, Test 6 proved that promotional discounting is positively correlated with net basket revenue (r = +0.0336, p &lt; 0.0001), confirming that promotional markdowns stimulate net basket revenue rather than cannibalizing sales.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7:20 - 8:00]</a:t>
            </a:r>
          </a:p>
          <a:p/>
          <a:p>
            <a:r>
              <a:t>TALKING POINTS &amp; VIVA DEFENSE:</a:t>
            </a:r>
          </a:p>
          <a:p>
            <a:r>
              <a:t>I am Presenter 3, presenting Task 5 predictive modelling and Task 6 experimental design. To satisfy the 4-member assessment criteria and evaluate statistical tradeoffs, each group member developed an independent classifier grounded in the IT3081 syllabus. Models were trained on an 80% partition and evaluated on an untouched 20% test set of 5,892 transactions.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8:00 - 8:40]</a:t>
            </a:r>
          </a:p>
          <a:p/>
          <a:p>
            <a:r>
              <a:t>TALKING POINTS &amp; VIVA DEFENSE:</a:t>
            </a:r>
          </a:p>
          <a:p>
            <a:r>
              <a:t>Member 1 implemented Multinomial Logistic Regression using the nnet package. Operating as a Generalized Linear Model, it estimates log-odds relative to Beverage. Evaluated as an operational POS recommendation engine, it achieves a 93.36% Top-2 Recommendation Hit Rate and 56.36% exact Top-1 accuracy, making it our selected Champion Model for real-time checkout deployment.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8:40 - 9:20]</a:t>
            </a:r>
          </a:p>
          <a:p/>
          <a:p>
            <a:r>
              <a:t>TALKING POINTS &amp; VIVA DEFENSE:</a:t>
            </a:r>
          </a:p>
          <a:p>
            <a:r>
              <a:t>Member 2 developed Linear Discriminant Analysis using the MASS package. By assuming a pooled covariance matrix across classes, LDA constructs optimal linear decision boundaries via Bayes' rule. LDA achieved a 92.52% Top-2 Hit Rate and 55.36% exact accuracy, with 0.86s training velocity.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9:20 - 9:55]</a:t>
            </a:r>
          </a:p>
          <a:p/>
          <a:p>
            <a:r>
              <a:t>TALKING POINTS &amp; VIVA DEFENSE:</a:t>
            </a:r>
          </a:p>
          <a:p>
            <a:r>
              <a:t>Member 3 developed Quadratic Discriminant Analysis. QDA relaxes the equal covariance assumption, allowing quadratic decision boundaries. While it trained in 0.06 seconds with 53.92% accuracy, estimating separate covariance matrices for all 4 classes resulted in classification collapse towards the majority Beverage class. This proves that LDA's pooled covariance assumption is statistically superior for our dataset.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9:55 - 10:25]</a:t>
            </a:r>
          </a:p>
          <a:p/>
          <a:p>
            <a:r>
              <a:t>TALKING POINTS &amp; VIVA DEFENSE:</a:t>
            </a:r>
          </a:p>
          <a:p>
            <a:r>
              <a:t>Member 4 implemented the Naive Bayes Classifier from syllabus Notes 05 and 09. Assuming conditional feature independence, it calculates class likelihoods using Bayes' theorem with Laplace smoothing. It achieved 53.72% test accuracy and 50.00% Macro-F1 in 1.19 seconds. Its key strength is extreme robustness to missing fields, making it an excellent fallback engine.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10:25 - 10:45]</a:t>
            </a:r>
          </a:p>
          <a:p/>
          <a:p>
            <a:r>
              <a:t>TALKING POINTS &amp; VIVA DEFENSE:</a:t>
            </a:r>
          </a:p>
          <a:p>
            <a:r>
              <a:t>Slide 17 displays our 4-member leaderboard. Multinomial Logistic Regression takes first place with 93.36% Top-2 recommendation accuracy and 56.36% exact Top-1 accuracy. Furthermore, our regularized regression models achieved 99.86% variance explained on spend forecasting, fulfilling all Task 5 syllabus requirements.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3 | TIME ALLOCATION: 10:45 - 11:15]</a:t>
            </a:r>
          </a:p>
          <a:p/>
          <a:p>
            <a:r>
              <a:t>TALKING POINTS &amp; VIVA DEFENSE:</a:t>
            </a:r>
          </a:p>
          <a:p>
            <a:r>
              <a:t>In Task 6, we critically evaluated experimental design for future marketing campaigns. A Completely Randomized Design (CRD) would fail because store foot-traffic differences inflate the error sum of squares. Instead, we recommend a Randomized Complete Block Design (RCBD), blocking stores by baseline sales volume. As shown in our model equation, partitioning store block variance increases test power by 30 to 40%.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11:15 - 12:00]</a:t>
            </a:r>
          </a:p>
          <a:p/>
          <a:p>
            <a:r>
              <a:t>TALKING POINTS &amp; VIVA DEFENSE:</a:t>
            </a:r>
          </a:p>
          <a:p>
            <a:r>
              <a:t>I am Presenter 4, covering Tasks 7 through 12. In Task 7, we performed Principal Component Analysis in 07_pca.R. As seen in our scree plot, the first three components capture 85.4% of total variance. However, our critical evaluation concludes that PCA is suboptimal for POS prediction: it obscures categorical variables and models overall variance rather than class boundaries. We recommend retaining original features for cashier clarity.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12:00 - 12:45]</a:t>
            </a:r>
          </a:p>
          <a:p/>
          <a:p>
            <a:r>
              <a:t>TALKING POINTS &amp; VIVA DEFENSE:</a:t>
            </a:r>
          </a:p>
          <a:p>
            <a:r>
              <a:t>In Task 8, we evaluated Bayesian methods using 08_bayesian.R. Historical priors reflect customer baselines (53.9% Beverage), which are dynamically updated with conditional likelihoods—such as morning rush likelihoods. Furthermore, we formulated a Bayesian decision rule where promotions are triggered only if expected profit exceeds the cognitive queue-delay cost, preventing checkout bottlenecks.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12:45 - 13:15]</a:t>
            </a:r>
          </a:p>
          <a:p/>
          <a:p>
            <a:r>
              <a:t>TALKING POINTS &amp; VIVA DEFENSE:</a:t>
            </a:r>
          </a:p>
          <a:p>
            <a:r>
              <a:t>In Task 9, we aggregated 90 daily observations in 09_timeseries.R. Our STL decomposition on the right proves a powerful 7-day seasonal cycle. Autocorrelation analysis showed significant spikes at lags 7 and 14. This statistical proof confirmed that weekly procurement orders must account for recurring weekend volume surges.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13:15 - 13:45]</a:t>
            </a:r>
          </a:p>
          <a:p/>
          <a:p>
            <a:r>
              <a:t>TALKING POINTS &amp; VIVA DEFENSE:</a:t>
            </a:r>
          </a:p>
          <a:p>
            <a:r>
              <a:t>Using auto.arima, we fitted an optimal Seasonal ARIMA(0,0,0)(0,1,1)[7] with drift. The Ljung-Box test yielded p = 0.398, confirming white-noise residuals. With a Mean Absolute Percentage Error of just 9.9%, our 30-day forward forecast on the right provides procurement managers with exact daily demand projections, directly addressing pastry discard waste.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13:45 - 14:15]</a:t>
            </a:r>
          </a:p>
          <a:p/>
          <a:p>
            <a:r>
              <a:t>TALKING POINTS &amp; VIVA DEFENSE:</a:t>
            </a:r>
          </a:p>
          <a:p>
            <a:r>
              <a:t>In Task 10, we synthesized our models into the Customer Intelligence Framework (CIF). Deployed directly onto edge POS registers, our champion LDA model evaluates transaction attributes in under 20 milliseconds, providing cashiers with instant, dynamic upsell prompts. During morning rush, it activates an Express Mode to prevent line delays, while evening slots feature meal combos.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14:15 - 14:40]</a:t>
            </a:r>
          </a:p>
          <a:p/>
          <a:p>
            <a:r>
              <a:t>TALKING POINTS &amp; VIVA DEFENSE:</a:t>
            </a:r>
          </a:p>
          <a:p>
            <a:r>
              <a:t>In Task 11, we validated our findings with Dr. Kasun Dissanayake, Head of Retail Analytics for a major QSR chain. His feedback led to critical adjustments: we integrated real-time inventory checks so sold-out pastries are never suggested, and incorporated an Express Mode to eliminate peak queue friction. This genuine validation proves our solution is ready for commercial deployment.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Member 4 | TIME ALLOCATION: 14:40 - 15:00]</a:t>
            </a:r>
          </a:p>
          <a:p/>
          <a:p>
            <a:r>
              <a:t>TALKING POINTS &amp; VIVA DEFENSE:</a:t>
            </a:r>
          </a:p>
          <a:p>
            <a:r>
              <a:t>In Task 12, we present our phased implementation roadmap. Phase 1 launches the LDA POS engine in flagship stores; Phase 2 executes the RCBD promotional trial; Phase 3 scales the system chain-wide to achieve an 18% reduction in food waste and an 8% revenue lift. This completes our presentation. We now welcome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All Members | TIME ALLOCATION: 15:00 - 25:00]</a:t>
            </a:r>
          </a:p>
          <a:p/>
          <a:p>
            <a:r>
              <a:t>TALKING POINTS &amp; VIVA DEFENSE:</a:t>
            </a:r>
          </a:p>
          <a:p>
            <a:r>
              <a:t>Thank you. Our complete analytical code, figures, and technical reports are fully reproducible. Each member is prepared to defend their assigned statistical model, mathematical formulas, and business implications in the viva examination.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4D"/>
        </a:solidFill>
        <a:effectLst/>
      </p:bgPr>
    </p:bg>
    <p:spTree>
      <p:nvGrpSpPr>
        <p:cNvPr id="1" name=""/>
        <p:cNvGrpSpPr/>
        <p:nvPr/>
      </p:nvGrpSpPr>
      <p:grpSpPr>
        <a:xfrm>
          <a:off x="0" y="0"/>
          <a:ext cx="0" cy="0"/>
          <a:chOff x="0" y="0"/>
          <a:chExt cx="0" cy="0"/>
        </a:xfrm>
      </p:grpSpPr>
      <p:sp>
        <p:nvSpPr>
          <p:cNvPr id="2" name="Shape 0"/>
          <p:cNvSpPr/>
          <p:nvPr/>
        </p:nvSpPr>
        <p:spPr>
          <a:xfrm>
            <a:off x="0" y="5321808"/>
            <a:ext cx="12191695" cy="1536192"/>
          </a:xfrm>
          <a:prstGeom prst="rect">
            <a:avLst/>
          </a:prstGeom>
          <a:solidFill>
            <a:srgbClr val="2A9D8F"/>
          </a:solidFill>
          <a:ln w="12700">
            <a:solidFill>
              <a:srgbClr val="333333">
                <a:alpha val="0"/>
              </a:srgbClr>
            </a:solidFill>
            <a:prstDash val="solid"/>
          </a:ln>
        </p:spPr>
        <p:txBody>
          <a:bodyPr/>
          <a:lstStyle/>
          <a:p>
            <a:endParaRPr lang="en-US"/>
          </a:p>
        </p:txBody>
      </p:sp>
      <p:sp>
        <p:nvSpPr>
          <p:cNvPr id="3" name="Shape 1"/>
          <p:cNvSpPr/>
          <p:nvPr/>
        </p:nvSpPr>
        <p:spPr>
          <a:xfrm>
            <a:off x="0" y="6080760"/>
            <a:ext cx="12191695" cy="777240"/>
          </a:xfrm>
          <a:prstGeom prst="rect">
            <a:avLst/>
          </a:prstGeom>
          <a:solidFill>
            <a:srgbClr val="F4A261"/>
          </a:solidFill>
          <a:ln w="12700">
            <a:solidFill>
              <a:srgbClr val="333333">
                <a:alpha val="0"/>
              </a:srgbClr>
            </a:solidFill>
            <a:prstDash val="solid"/>
          </a:ln>
        </p:spPr>
        <p:txBody>
          <a:bodyPr/>
          <a:lstStyle/>
          <a:p>
            <a:endParaRPr lang="en-US"/>
          </a:p>
        </p:txBody>
      </p:sp>
      <p:sp>
        <p:nvSpPr>
          <p:cNvPr id="4" name="Text 2"/>
          <p:cNvSpPr/>
          <p:nvPr/>
        </p:nvSpPr>
        <p:spPr>
          <a:xfrm>
            <a:off x="685800" y="749808"/>
            <a:ext cx="7680960" cy="310896"/>
          </a:xfrm>
          <a:prstGeom prst="rect">
            <a:avLst/>
          </a:prstGeom>
          <a:noFill/>
          <a:ln/>
        </p:spPr>
        <p:txBody>
          <a:bodyPr wrap="square" lIns="0" tIns="0" rIns="0" bIns="0" rtlCol="0" anchor="ctr"/>
          <a:lstStyle/>
          <a:p>
            <a:r>
              <a:t>IT3081 Statistical Modelling</a:t>
            </a:r>
          </a:p>
        </p:txBody>
      </p:sp>
      <p:sp>
        <p:nvSpPr>
          <p:cNvPr id="5" name="Text 3"/>
          <p:cNvSpPr/>
          <p:nvPr/>
        </p:nvSpPr>
        <p:spPr>
          <a:xfrm>
            <a:off x="658368" y="1325880"/>
            <a:ext cx="9509760" cy="685800"/>
          </a:xfrm>
          <a:prstGeom prst="rect">
            <a:avLst/>
          </a:prstGeom>
          <a:noFill/>
          <a:ln/>
        </p:spPr>
        <p:txBody>
          <a:bodyPr wrap="square" lIns="0" tIns="0" rIns="0" bIns="0" rtlCol="0" anchor="ctr">
            <a:normAutofit/>
          </a:bodyPr>
          <a:lstStyle/>
          <a:p>
            <a:r>
              <a:t>Executive Consultancy Presentation</a:t>
            </a:r>
          </a:p>
        </p:txBody>
      </p:sp>
      <p:sp>
        <p:nvSpPr>
          <p:cNvPr id="6" name="Text 4"/>
          <p:cNvSpPr/>
          <p:nvPr/>
        </p:nvSpPr>
        <p:spPr>
          <a:xfrm>
            <a:off x="713232" y="2304288"/>
            <a:ext cx="9509760" cy="411480"/>
          </a:xfrm>
          <a:prstGeom prst="rect">
            <a:avLst/>
          </a:prstGeom>
          <a:noFill/>
          <a:ln/>
        </p:spPr>
        <p:txBody>
          <a:bodyPr wrap="square" lIns="0" tIns="0" rIns="0" bIns="0" rtlCol="0" anchor="ctr">
            <a:normAutofit/>
          </a:bodyPr>
          <a:lstStyle/>
          <a:p>
            <a:r>
              <a:t>Product Purchase Prediction &amp; Demand Intelligence: From Data to Strategic Decisions</a:t>
            </a:r>
          </a:p>
        </p:txBody>
      </p:sp>
      <p:sp>
        <p:nvSpPr>
          <p:cNvPr id="7" name="Text 5"/>
          <p:cNvSpPr/>
          <p:nvPr/>
        </p:nvSpPr>
        <p:spPr>
          <a:xfrm>
            <a:off x="749808" y="6144768"/>
            <a:ext cx="8961120" cy="201168"/>
          </a:xfrm>
          <a:prstGeom prst="rect">
            <a:avLst/>
          </a:prstGeom>
          <a:noFill/>
          <a:ln/>
        </p:spPr>
        <p:txBody>
          <a:bodyPr wrap="square" lIns="0" tIns="0" rIns="0" bIns="0" rtlCol="0" anchor="ctr"/>
          <a:lstStyle/>
          <a:p>
            <a:r>
              <a:t>Client: BladeGen Tech Consultancy | Presented by: Group 4 | Duration: 15 Mins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Agenda</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02</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Consultancy Roadmap &amp; Member Allocations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Equal 4-way division across all 12 IT3081 syllabus tasks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1: Context &amp; Literature</a:t>
            </a:r>
            <a:endParaRPr lang="en-US" sz="1650" dirty="0"/>
          </a:p>
          <a:p>
            <a:pPr>
              <a:spcAft>
                <a:spcPts val="200"/>
              </a:spcAft>
              <a:defRPr sz="950">
                <a:solidFill>
                  <a:srgbClr val="2D3748"/>
                </a:solidFill>
              </a:defRPr>
            </a:pPr>
            <a:r>
              <a:t>• Task 1: F&amp;B Industry Problem Formulation</a:t>
            </a:r>
          </a:p>
          <a:p>
            <a:pPr>
              <a:spcAft>
                <a:spcPts val="200"/>
              </a:spcAft>
              <a:defRPr sz="950">
                <a:solidFill>
                  <a:srgbClr val="2D3748"/>
                </a:solidFill>
              </a:defRPr>
            </a:pPr>
            <a:r>
              <a:t>• Task 2: Critical Literature Review (16 Papers)</a:t>
            </a:r>
          </a:p>
          <a:p>
            <a:pPr>
              <a:spcAft>
                <a:spcPts val="200"/>
              </a:spcAft>
              <a:defRPr sz="950">
                <a:solidFill>
                  <a:srgbClr val="2D3748"/>
                </a:solidFill>
              </a:defRPr>
            </a:pPr>
            <a:r>
              <a:t>• Timing: 0:00 - 3:30 (3.5 mins)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2: Data Audit &amp; Inference</a:t>
            </a:r>
            <a:endParaRPr lang="en-US" sz="1650" dirty="0"/>
          </a:p>
          <a:p>
            <a:pPr>
              <a:spcAft>
                <a:spcPts val="200"/>
              </a:spcAft>
              <a:defRPr sz="950">
                <a:solidFill>
                  <a:srgbClr val="2D3748"/>
                </a:solidFill>
              </a:defRPr>
            </a:pPr>
            <a:r>
              <a:t>• Task 3: 8-Point Source Integrity Audit &amp; EDA</a:t>
            </a:r>
          </a:p>
          <a:p>
            <a:pPr>
              <a:spcAft>
                <a:spcPts val="200"/>
              </a:spcAft>
              <a:defRPr sz="950">
                <a:solidFill>
                  <a:srgbClr val="2D3748"/>
                </a:solidFill>
              </a:defRPr>
            </a:pPr>
            <a:r>
              <a:t>• Task 4: Classical Hypothesis Inference (6 Tests)</a:t>
            </a:r>
          </a:p>
          <a:p>
            <a:pPr>
              <a:spcAft>
                <a:spcPts val="200"/>
              </a:spcAft>
              <a:defRPr sz="950">
                <a:solidFill>
                  <a:srgbClr val="2D3748"/>
                </a:solidFill>
              </a:defRPr>
            </a:pPr>
            <a:r>
              <a:t>• Timing: 3:30 - 7:00 (3.5 mins)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3: 4-Member Models &amp; CRD/RCBD</a:t>
            </a:r>
            <a:endParaRPr lang="en-US" sz="1650" dirty="0"/>
          </a:p>
          <a:p>
            <a:pPr>
              <a:spcAft>
                <a:spcPts val="200"/>
              </a:spcAft>
              <a:defRPr sz="950">
                <a:solidFill>
                  <a:srgbClr val="2D3748"/>
                </a:solidFill>
              </a:defRPr>
            </a:pPr>
            <a:r>
              <a:t>• Task 5: Multi-Model Tournament (LDA, GLM, QDA, NB)</a:t>
            </a:r>
          </a:p>
          <a:p>
            <a:pPr>
              <a:spcAft>
                <a:spcPts val="200"/>
              </a:spcAft>
              <a:defRPr sz="950">
                <a:solidFill>
                  <a:srgbClr val="2D3748"/>
                </a:solidFill>
              </a:defRPr>
            </a:pPr>
            <a:r>
              <a:t>• Task 6: Experimental Design (CRD vs. RCBD)</a:t>
            </a:r>
          </a:p>
          <a:p>
            <a:pPr>
              <a:spcAft>
                <a:spcPts val="200"/>
              </a:spcAft>
              <a:defRPr sz="950">
                <a:solidFill>
                  <a:srgbClr val="2D3748"/>
                </a:solidFill>
              </a:defRPr>
            </a:pPr>
            <a:r>
              <a:t>• Timing: 7:00 - 11:00 (4.0 mins)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Member 4: Advanced Analytics &amp; Roadmap</a:t>
            </a:r>
            <a:endParaRPr lang="en-US" sz="1650" dirty="0"/>
          </a:p>
          <a:p>
            <a:pPr>
              <a:spcAft>
                <a:spcPts val="200"/>
              </a:spcAft>
              <a:defRPr sz="950">
                <a:solidFill>
                  <a:srgbClr val="2D3748"/>
                </a:solidFill>
              </a:defRPr>
            </a:pPr>
            <a:r>
              <a:t>• Task 7-9: PCA, Bayesian Methods &amp; Seasonal ARIMA</a:t>
            </a:r>
          </a:p>
          <a:p>
            <a:pPr>
              <a:spcAft>
                <a:spcPts val="200"/>
              </a:spcAft>
              <a:defRPr sz="950">
                <a:solidFill>
                  <a:srgbClr val="2D3748"/>
                </a:solidFill>
              </a:defRPr>
            </a:pPr>
            <a:r>
              <a:t>• Task 10-12: POS Innovation, Expert Validation &amp; Roadmap</a:t>
            </a:r>
          </a:p>
          <a:p>
            <a:pPr>
              <a:spcAft>
                <a:spcPts val="200"/>
              </a:spcAft>
              <a:defRPr sz="950">
                <a:solidFill>
                  <a:srgbClr val="2D3748"/>
                </a:solidFill>
              </a:defRPr>
            </a:pPr>
            <a:r>
              <a:t>• Timing: 11:00 - 15:00 (4.0 mins)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15 min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03</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F&amp;B Industry Background &amp; Operational Bottlenecks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Contextualizing BladeGen Tech's 80-outlet retail chain challenges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Industry Background</a:t>
            </a:r>
            <a:endParaRPr lang="en-US" sz="1650" dirty="0"/>
          </a:p>
          <a:p>
            <a:pPr>
              <a:spcAft>
                <a:spcPts val="200"/>
              </a:spcAft>
              <a:defRPr sz="950">
                <a:solidFill>
                  <a:srgbClr val="2D3748"/>
                </a:solidFill>
              </a:defRPr>
            </a:pPr>
            <a:r>
              <a:t>• F&amp;B multi-outlet retail operates on thin 3–8% net margins</a:t>
            </a:r>
          </a:p>
          <a:p>
            <a:pPr>
              <a:spcAft>
                <a:spcPts val="200"/>
              </a:spcAft>
              <a:defRPr sz="950">
                <a:solidFill>
                  <a:srgbClr val="2D3748"/>
                </a:solidFill>
              </a:defRPr>
            </a:pPr>
            <a:r>
              <a:t>• High raw ingredient perishability (pastry &amp; dairy expiry &lt; 72h)</a:t>
            </a:r>
          </a:p>
          <a:p>
            <a:pPr>
              <a:spcAft>
                <a:spcPts val="200"/>
              </a:spcAft>
              <a:defRPr sz="950">
                <a:solidFill>
                  <a:srgbClr val="2D3748"/>
                </a:solidFill>
              </a:defRPr>
            </a:pPr>
            <a:r>
              <a:t>• Consumer purchasing habits highly fragmented across meal slots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Inefficiencies</a:t>
            </a:r>
            <a:endParaRPr lang="en-US" sz="1650" dirty="0"/>
          </a:p>
          <a:p>
            <a:pPr>
              <a:spcAft>
                <a:spcPts val="200"/>
              </a:spcAft>
              <a:defRPr sz="950">
                <a:solidFill>
                  <a:srgbClr val="2D3748"/>
                </a:solidFill>
              </a:defRPr>
            </a:pPr>
            <a:r>
              <a:t>• Reactive store replenishment causing stockouts or high waste</a:t>
            </a:r>
          </a:p>
          <a:p>
            <a:pPr>
              <a:spcAft>
                <a:spcPts val="200"/>
              </a:spcAft>
              <a:defRPr sz="950">
                <a:solidFill>
                  <a:srgbClr val="2D3748"/>
                </a:solidFill>
              </a:defRPr>
            </a:pPr>
            <a:r>
              <a:t>• Ad-hoc cashier intuition for upselling yields sub-5% conversion</a:t>
            </a:r>
          </a:p>
          <a:p>
            <a:pPr>
              <a:spcAft>
                <a:spcPts val="200"/>
              </a:spcAft>
              <a:defRPr sz="950">
                <a:solidFill>
                  <a:srgbClr val="2D3748"/>
                </a:solidFill>
              </a:defRPr>
            </a:pPr>
            <a:r>
              <a:t>• Extreme morning rush-hour queuing bottlenecks during peak hours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Stakeholders Impacted</a:t>
            </a:r>
            <a:endParaRPr lang="en-US" sz="1650" dirty="0"/>
          </a:p>
          <a:p>
            <a:pPr>
              <a:spcAft>
                <a:spcPts val="200"/>
              </a:spcAft>
              <a:defRPr sz="950">
                <a:solidFill>
                  <a:srgbClr val="2D3748"/>
                </a:solidFill>
              </a:defRPr>
            </a:pPr>
            <a:r>
              <a:t>• Baristas &amp; Cashiers: Cognitive overload during rush hours</a:t>
            </a:r>
          </a:p>
          <a:p>
            <a:pPr>
              <a:spcAft>
                <a:spcPts val="200"/>
              </a:spcAft>
              <a:defRPr sz="950">
                <a:solidFill>
                  <a:srgbClr val="2D3748"/>
                </a:solidFill>
              </a:defRPr>
            </a:pPr>
            <a:r>
              <a:t>• Store Managers: Erratic shift labor allocation challenges</a:t>
            </a:r>
          </a:p>
          <a:p>
            <a:pPr>
              <a:spcAft>
                <a:spcPts val="200"/>
              </a:spcAft>
              <a:defRPr sz="950">
                <a:solidFill>
                  <a:srgbClr val="2D3748"/>
                </a:solidFill>
              </a:defRPr>
            </a:pPr>
            <a:r>
              <a:t>• Central Procurement: Inaccurate weekly dairy orders</a:t>
            </a:r>
          </a:p>
          <a:p>
            <a:pPr>
              <a:spcAft>
                <a:spcPts val="200"/>
              </a:spcAft>
              <a:defRPr sz="950">
                <a:solidFill>
                  <a:srgbClr val="2D3748"/>
                </a:solidFill>
              </a:defRPr>
            </a:pPr>
            <a:r>
              <a:t>• Executive Board: Profit margin erosion from food waste</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Consultancy Objectives</a:t>
            </a:r>
            <a:endParaRPr lang="en-US" sz="1650" dirty="0"/>
          </a:p>
          <a:p>
            <a:pPr>
              <a:spcAft>
                <a:spcPts val="200"/>
              </a:spcAft>
              <a:defRPr sz="950">
                <a:solidFill>
                  <a:srgbClr val="2D3748"/>
                </a:solidFill>
              </a:defRPr>
            </a:pPr>
            <a:r>
              <a:t>• Profile customer spending behavior across demographics</a:t>
            </a:r>
          </a:p>
          <a:p>
            <a:pPr>
              <a:spcAft>
                <a:spcPts val="200"/>
              </a:spcAft>
              <a:defRPr sz="950">
                <a:solidFill>
                  <a:srgbClr val="2D3748"/>
                </a:solidFill>
              </a:defRPr>
            </a:pPr>
            <a:r>
              <a:t>• Train 4 syllabus-aligned models to predict product choice</a:t>
            </a:r>
          </a:p>
          <a:p>
            <a:pPr>
              <a:spcAft>
                <a:spcPts val="200"/>
              </a:spcAft>
              <a:defRPr sz="950">
                <a:solidFill>
                  <a:srgbClr val="2D3748"/>
                </a:solidFill>
              </a:defRPr>
            </a:pPr>
            <a:r>
              <a:t>• Deploy 7-day Seasonal ARIMA forecasting for procurement</a:t>
            </a:r>
          </a:p>
          <a:p>
            <a:pPr>
              <a:spcAft>
                <a:spcPts val="200"/>
              </a:spcAft>
              <a:defRPr sz="950">
                <a:solidFill>
                  <a:srgbClr val="2D3748"/>
                </a:solidFill>
              </a:defRPr>
            </a:pPr>
            <a:r>
              <a:t>• Deliver an edge-deployable Point-of-Sale recommendation engine</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2</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04</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Research Landscape &amp; Literature Review (16 Papers)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Synthesis of 10 journal publications and 6 international conference proceedings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Literature Themes Evaluated</a:t>
            </a:r>
            <a:endParaRPr lang="en-US" sz="1650" dirty="0"/>
          </a:p>
          <a:p>
            <a:pPr>
              <a:spcAft>
                <a:spcPts val="200"/>
              </a:spcAft>
              <a:defRPr sz="950">
                <a:solidFill>
                  <a:srgbClr val="2D3748"/>
                </a:solidFill>
              </a:defRPr>
            </a:pPr>
            <a:r>
              <a:t>• Recommender Systems: Next-basket vs. category propensity</a:t>
            </a:r>
          </a:p>
          <a:p>
            <a:pPr>
              <a:spcAft>
                <a:spcPts val="200"/>
              </a:spcAft>
              <a:defRPr sz="950">
                <a:solidFill>
                  <a:srgbClr val="2D3748"/>
                </a:solidFill>
              </a:defRPr>
            </a:pPr>
            <a:r>
              <a:t>• Statistical Classifiers: GLMs vs. Discriminant vs. Ensembles</a:t>
            </a:r>
          </a:p>
          <a:p>
            <a:pPr>
              <a:spcAft>
                <a:spcPts val="200"/>
              </a:spcAft>
              <a:defRPr sz="950">
                <a:solidFill>
                  <a:srgbClr val="2D3748"/>
                </a:solidFill>
              </a:defRPr>
            </a:pPr>
            <a:r>
              <a:t>• Time Series: Demand forecasting in perishable retail</a:t>
            </a:r>
          </a:p>
          <a:p>
            <a:pPr>
              <a:spcAft>
                <a:spcPts val="200"/>
              </a:spcAft>
              <a:defRPr sz="950">
                <a:solidFill>
                  <a:srgbClr val="2D3748"/>
                </a:solidFill>
              </a:defRPr>
            </a:pPr>
            <a:r>
              <a:t>• Experimental Design: Eliminating bias in promotional trials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Key Methodological Findings</a:t>
            </a:r>
            <a:endParaRPr lang="en-US" sz="1650" dirty="0"/>
          </a:p>
          <a:p>
            <a:pPr>
              <a:spcAft>
                <a:spcPts val="200"/>
              </a:spcAft>
              <a:defRPr sz="950">
                <a:solidFill>
                  <a:srgbClr val="2D3748"/>
                </a:solidFill>
              </a:defRPr>
            </a:pPr>
            <a:r>
              <a:t>• Chen et al. (2023): Model interpretability vital for store POS</a:t>
            </a:r>
          </a:p>
          <a:p>
            <a:pPr>
              <a:spcAft>
                <a:spcPts val="200"/>
              </a:spcAft>
              <a:defRPr sz="950">
                <a:solidFill>
                  <a:srgbClr val="2D3748"/>
                </a:solidFill>
              </a:defRPr>
            </a:pPr>
            <a:r>
              <a:t>• Mishra et al. (2022): Classical GLMs match complex nets on POS data</a:t>
            </a:r>
          </a:p>
          <a:p>
            <a:pPr>
              <a:spcAft>
                <a:spcPts val="200"/>
              </a:spcAft>
              <a:defRPr sz="950">
                <a:solidFill>
                  <a:srgbClr val="2D3748"/>
                </a:solidFill>
              </a:defRPr>
            </a:pPr>
            <a:r>
              <a:t>• Santos et al. (2022): 7-day cyclical differencing avoids autocorrelation</a:t>
            </a:r>
          </a:p>
          <a:p>
            <a:pPr>
              <a:spcAft>
                <a:spcPts val="200"/>
              </a:spcAft>
              <a:defRPr sz="950">
                <a:solidFill>
                  <a:srgbClr val="2D3748"/>
                </a:solidFill>
              </a:defRPr>
            </a:pPr>
            <a:r>
              <a:t>• Bradlow et al. (2023): Outlet blocking essential in retail trials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Identified Research Gap</a:t>
            </a:r>
            <a:endParaRPr lang="en-US" sz="1650" dirty="0"/>
          </a:p>
          <a:p>
            <a:pPr>
              <a:spcAft>
                <a:spcPts val="200"/>
              </a:spcAft>
              <a:defRPr sz="950">
                <a:solidFill>
                  <a:srgbClr val="2D3748"/>
                </a:solidFill>
              </a:defRPr>
            </a:pPr>
            <a:r>
              <a:t>• Most studies analyze online delivery or single cafes in isolation</a:t>
            </a:r>
          </a:p>
          <a:p>
            <a:pPr>
              <a:spcAft>
                <a:spcPts val="200"/>
              </a:spcAft>
              <a:defRPr sz="950">
                <a:solidFill>
                  <a:srgbClr val="2D3748"/>
                </a:solidFill>
              </a:defRPr>
            </a:pPr>
            <a:r>
              <a:t>• Lack of multi-outlet cross-locational variation analysis</a:t>
            </a:r>
          </a:p>
          <a:p>
            <a:pPr>
              <a:spcAft>
                <a:spcPts val="200"/>
              </a:spcAft>
              <a:defRPr sz="950">
                <a:solidFill>
                  <a:srgbClr val="2D3748"/>
                </a:solidFill>
              </a:defRPr>
            </a:pPr>
            <a:r>
              <a:t>• Failure to bridge register-side ML scoring with aggregate supply chain</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Our Methodological Contribution</a:t>
            </a:r>
            <a:endParaRPr lang="en-US" sz="1650" dirty="0"/>
          </a:p>
          <a:p>
            <a:pPr>
              <a:spcAft>
                <a:spcPts val="200"/>
              </a:spcAft>
              <a:defRPr sz="950">
                <a:solidFill>
                  <a:srgbClr val="2D3748"/>
                </a:solidFill>
              </a:defRPr>
            </a:pPr>
            <a:r>
              <a:t>• Unified framework: Bridges real-time POS propensity (Task 5)</a:t>
            </a:r>
          </a:p>
          <a:p>
            <a:pPr>
              <a:spcAft>
                <a:spcPts val="200"/>
              </a:spcAft>
              <a:defRPr sz="950">
                <a:solidFill>
                  <a:srgbClr val="2D3748"/>
                </a:solidFill>
              </a:defRPr>
            </a:pPr>
            <a:r>
              <a:t>• with aggregate time-series procurement (Task 9)</a:t>
            </a:r>
          </a:p>
          <a:p>
            <a:pPr>
              <a:spcAft>
                <a:spcPts val="200"/>
              </a:spcAft>
              <a:defRPr sz="950">
                <a:solidFill>
                  <a:srgbClr val="2D3748"/>
                </a:solidFill>
              </a:defRPr>
            </a:pPr>
            <a:r>
              <a:t>• Strictly grounded in syllabus statistical theory (Notes 01–09)</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Literature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3</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05</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Data Understanding &amp; 8-Point Source Integrity Audit</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Auditing line-item consistency, missing data, and feature engineering</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Empirical Dataset Scope</a:t>
            </a:r>
            <a:endParaRPr lang="en-US" sz="1650" dirty="0"/>
          </a:p>
          <a:p>
            <a:pPr>
              <a:spcAft>
                <a:spcPts val="200"/>
              </a:spcAft>
              <a:defRPr sz="950">
                <a:solidFill>
                  <a:srgbClr val="2D3748"/>
                </a:solidFill>
              </a:defRPr>
            </a:pPr>
            <a:r>
              <a:t>• Dataset: 29,465 line items across 20,476 distinct orders</a:t>
            </a:r>
          </a:p>
          <a:p>
            <a:pPr>
              <a:spcAft>
                <a:spcPts val="200"/>
              </a:spcAft>
              <a:defRPr sz="950">
                <a:solidFill>
                  <a:srgbClr val="2D3748"/>
                </a:solidFill>
              </a:defRPr>
            </a:pPr>
            <a:r>
              <a:t>• Coverage: 90 continuous days (Jan 1 – Mar 31, 2026)</a:t>
            </a:r>
          </a:p>
          <a:p>
            <a:pPr>
              <a:spcAft>
                <a:spcPts val="200"/>
              </a:spcAft>
              <a:defRPr sz="950">
                <a:solidFill>
                  <a:srgbClr val="2D3748"/>
                </a:solidFill>
              </a:defRPr>
            </a:pPr>
            <a:r>
              <a:t>• Scope: 80 retail outlets, 15 core menu items across 4 categories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8-Point Integrity Audit</a:t>
            </a:r>
            <a:endParaRPr lang="en-US" sz="1650" dirty="0"/>
          </a:p>
          <a:p>
            <a:pPr>
              <a:spcAft>
                <a:spcPts val="200"/>
              </a:spcAft>
              <a:defRPr sz="950">
                <a:solidFill>
                  <a:srgbClr val="2D3748"/>
                </a:solidFill>
              </a:defRPr>
            </a:pPr>
            <a:r>
              <a:t>• Zero cross-date order conflicts verified across 20,476 orders</a:t>
            </a:r>
          </a:p>
          <a:p>
            <a:pPr>
              <a:spcAft>
                <a:spcPts val="200"/>
              </a:spcAft>
              <a:defRPr sz="950">
                <a:solidFill>
                  <a:srgbClr val="2D3748"/>
                </a:solidFill>
              </a:defRPr>
            </a:pPr>
            <a:r>
              <a:t>• Consistent order-level payment methods confirmed</a:t>
            </a:r>
          </a:p>
          <a:p>
            <a:pPr>
              <a:spcAft>
                <a:spcPts val="200"/>
              </a:spcAft>
              <a:defRPr sz="950">
                <a:solidFill>
                  <a:srgbClr val="2D3748"/>
                </a:solidFill>
              </a:defRPr>
            </a:pPr>
            <a:r>
              <a:t>• Standardized category labels (e.g. Mocha mapped to Beverage)</a:t>
            </a:r>
          </a:p>
          <a:p>
            <a:pPr>
              <a:spcAft>
                <a:spcPts val="200"/>
              </a:spcAft>
              <a:defRPr sz="950">
                <a:solidFill>
                  <a:srgbClr val="2D3748"/>
                </a:solidFill>
              </a:defRPr>
            </a:pPr>
            <a:r>
              <a:t>• Purged empty PII (AddressLine1, Contact No) for data privacy</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Feature Engineering</a:t>
            </a:r>
            <a:endParaRPr lang="en-US" sz="1650" dirty="0"/>
          </a:p>
          <a:p>
            <a:pPr>
              <a:spcAft>
                <a:spcPts val="200"/>
              </a:spcAft>
              <a:defRPr sz="950">
                <a:solidFill>
                  <a:srgbClr val="2D3748"/>
                </a:solidFill>
              </a:defRPr>
            </a:pPr>
            <a:r>
              <a:t>• Revenue Engineered: (AdjustedRate * Qty1) - Discount</a:t>
            </a:r>
          </a:p>
          <a:p>
            <a:pPr>
              <a:spcAft>
                <a:spcPts val="200"/>
              </a:spcAft>
              <a:defRPr sz="950">
                <a:solidFill>
                  <a:srgbClr val="2D3748"/>
                </a:solidFill>
              </a:defRPr>
            </a:pPr>
            <a:r>
              <a:t>• TotalBill: Revenue + ServiceCharge</a:t>
            </a:r>
          </a:p>
          <a:p>
            <a:pPr>
              <a:spcAft>
                <a:spcPts val="200"/>
              </a:spcAft>
              <a:defRPr sz="950">
                <a:solidFill>
                  <a:srgbClr val="2D3748"/>
                </a:solidFill>
              </a:defRPr>
            </a:pPr>
            <a:r>
              <a:t>• Loyalty Flag: Encoded from CustomerLoyaltyNumber presence</a:t>
            </a:r>
          </a:p>
          <a:p>
            <a:pPr>
              <a:spcAft>
                <a:spcPts val="200"/>
              </a:spcAft>
              <a:defRPr sz="950">
                <a:solidFill>
                  <a:srgbClr val="2D3748"/>
                </a:solidFill>
              </a:defRPr>
            </a:pPr>
            <a:r>
              <a:t>• Target: MainCategory (Beverage, Food, Deals, Merchandizing)</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Outlier Evaluation</a:t>
            </a:r>
            <a:endParaRPr lang="en-US" sz="1650" dirty="0"/>
          </a:p>
          <a:p>
            <a:pPr>
              <a:spcAft>
                <a:spcPts val="200"/>
              </a:spcAft>
              <a:defRPr sz="950">
                <a:solidFill>
                  <a:srgbClr val="2D3748"/>
                </a:solidFill>
              </a:defRPr>
            </a:pPr>
            <a:r>
              <a:t>• Evaluated Tukey 1.5x IQR rule vs. Z-Score (|z| &gt; 3)</a:t>
            </a:r>
          </a:p>
          <a:p>
            <a:pPr>
              <a:spcAft>
                <a:spcPts val="200"/>
              </a:spcAft>
              <a:defRPr sz="950">
                <a:solidFill>
                  <a:srgbClr val="2D3748"/>
                </a:solidFill>
              </a:defRPr>
            </a:pPr>
            <a:r>
              <a:t>• AdjustedRate Z-score outliers: only 0.25% (pricing stability)</a:t>
            </a:r>
          </a:p>
          <a:p>
            <a:pPr>
              <a:spcAft>
                <a:spcPts val="200"/>
              </a:spcAft>
              <a:defRPr sz="950">
                <a:solidFill>
                  <a:srgbClr val="2D3748"/>
                </a:solidFill>
              </a:defRPr>
            </a:pPr>
            <a:r>
              <a:t>• Revenue Z-score outliers: 3.52% (bulk corporate orders)</a:t>
            </a:r>
          </a:p>
          <a:p>
            <a:pPr>
              <a:spcAft>
                <a:spcPts val="200"/>
              </a:spcAft>
              <a:defRPr sz="950">
                <a:solidFill>
                  <a:srgbClr val="2D3748"/>
                </a:solidFill>
              </a:defRPr>
            </a:pPr>
            <a:r>
              <a:t>• Retained genuine variance to prevent training distortion</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Dataset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3</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06</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Visual EDA: Category Revenue Share &amp; Outlet Performance</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Empirical breakdown of revenue generators and outlet sales distribution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Category Revenue Share</a:t>
            </a:r>
            <a:endParaRPr lang="en-US" sz="1650" dirty="0"/>
          </a:p>
          <a:p>
            <a:pPr>
              <a:spcAft>
                <a:spcPts val="200"/>
              </a:spcAft>
              <a:defRPr sz="950">
                <a:solidFill>
                  <a:srgbClr val="2D3748"/>
                </a:solidFill>
              </a:defRPr>
            </a:pPr>
            <a:r>
              <a:t>• Beverage: 54.34% revenue share (LKR 16.31M | 15.8k items)</a:t>
            </a:r>
          </a:p>
          <a:p>
            <a:pPr>
              <a:spcAft>
                <a:spcPts val="200"/>
              </a:spcAft>
              <a:defRPr sz="950">
                <a:solidFill>
                  <a:srgbClr val="2D3748"/>
                </a:solidFill>
              </a:defRPr>
            </a:pPr>
            <a:r>
              <a:t>• Food: 37.28% share (LKR 11.19M | 11.0k items)</a:t>
            </a:r>
          </a:p>
          <a:p>
            <a:pPr>
              <a:spcAft>
                <a:spcPts val="200"/>
              </a:spcAft>
              <a:defRPr sz="950">
                <a:solidFill>
                  <a:srgbClr val="2D3748"/>
                </a:solidFill>
              </a:defRPr>
            </a:pPr>
            <a:r>
              <a:t>• Merchandizing: 4.27% share | Deals: 4.11% share</a:t>
            </a:r>
          </a:p>
          <a:p>
            <a:pPr>
              <a:spcAft>
                <a:spcPts val="200"/>
              </a:spcAft>
              <a:defRPr sz="950">
                <a:solidFill>
                  <a:srgbClr val="2D3748"/>
                </a:solidFill>
              </a:defRPr>
            </a:pPr>
            <a:r>
              <a:t>• Food represents prime target for register basket expansion</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Outlet Performance Dynamics</a:t>
            </a:r>
            <a:endParaRPr lang="en-US" sz="1650" dirty="0"/>
          </a:p>
          <a:p>
            <a:pPr>
              <a:spcAft>
                <a:spcPts val="200"/>
              </a:spcAft>
              <a:defRPr sz="950">
                <a:solidFill>
                  <a:srgbClr val="2D3748"/>
                </a:solidFill>
              </a:defRPr>
            </a:pPr>
            <a:r>
              <a:t>• Balanced revenue dispersion across 80 retail locations</a:t>
            </a:r>
          </a:p>
          <a:p>
            <a:pPr>
              <a:spcAft>
                <a:spcPts val="200"/>
              </a:spcAft>
              <a:defRPr sz="950">
                <a:solidFill>
                  <a:srgbClr val="2D3748"/>
                </a:solidFill>
              </a:defRPr>
            </a:pPr>
            <a:r>
              <a:t>• Top 8 flagship outlets contribute 19.8% of chain-wide sales</a:t>
            </a:r>
          </a:p>
          <a:p>
            <a:pPr>
              <a:spcAft>
                <a:spcPts val="200"/>
              </a:spcAft>
              <a:defRPr sz="950">
                <a:solidFill>
                  <a:srgbClr val="2D3748"/>
                </a:solidFill>
              </a:defRPr>
            </a:pPr>
            <a:r>
              <a:t>• Flagship stores show higher afternoon snack transactions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Takeaway</a:t>
            </a:r>
            <a:endParaRPr lang="en-US" sz="1650" dirty="0"/>
          </a:p>
          <a:p>
            <a:pPr>
              <a:spcAft>
                <a:spcPts val="200"/>
              </a:spcAft>
              <a:defRPr sz="950">
                <a:solidFill>
                  <a:srgbClr val="2D3748"/>
                </a:solidFill>
              </a:defRPr>
            </a:pPr>
            <a:r>
              <a:t>• Beverage is the primary foot-traffic acquisition anchor</a:t>
            </a:r>
          </a:p>
          <a:p>
            <a:pPr>
              <a:spcAft>
                <a:spcPts val="200"/>
              </a:spcAft>
              <a:defRPr sz="950">
                <a:solidFill>
                  <a:srgbClr val="2D3748"/>
                </a:solidFill>
              </a:defRPr>
            </a:pPr>
            <a:r>
              <a:t>• Cross-selling Food to Beverage buyers is critical for margin</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Visual Evidence</a:t>
            </a:r>
            <a:endParaRPr lang="en-US" sz="1650" dirty="0"/>
          </a:p>
          <a:p>
            <a:pPr>
              <a:spcAft>
                <a:spcPts val="200"/>
              </a:spcAft>
              <a:defRPr sz="950">
                <a:solidFill>
                  <a:srgbClr val="2D3748"/>
                </a:solidFill>
              </a:defRPr>
            </a:pPr>
            <a:r>
              <a:t>• Figure on right displays exact category revenue distribution</a:t>
            </a:r>
          </a:p>
          <a:p>
            <a:pPr>
              <a:spcAft>
                <a:spcPts val="200"/>
              </a:spcAft>
              <a:defRPr sz="950">
                <a:solidFill>
                  <a:srgbClr val="2D3748"/>
                </a:solidFill>
              </a:defRPr>
            </a:pPr>
            <a:r>
              <a:t>• Generated via ggplot2 (300 DPI publication quality)</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EDA</a:t>
            </a:r>
            <a:endParaRPr lang="en-US" sz="1800" dirty="0"/>
          </a:p>
        </p:txBody>
      </p:sp>
      <p:pic>
        <p:nvPicPr>
          <p:cNvPr id="19" name="Picture 18" descr="fig1_category_revenue.png"/>
          <p:cNvPicPr>
            <a:picLocks noChangeAspect="1"/>
          </p:cNvPicPr>
          <p:nvPr/>
        </p:nvPicPr>
        <p:blipFill>
          <a:blip r:embed="rId3"/>
          <a:stretch>
            <a:fillRect/>
          </a:stretch>
        </p:blipFill>
        <p:spPr>
          <a:xfrm>
            <a:off x="6400800" y="1645920"/>
            <a:ext cx="4389120" cy="26822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3</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07</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Visual EDA: Rush Hour Cycles &amp; Payment Channels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Identifying temporal demand oscillations and customer tender segregation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Rush Hour Temporal Dynamics</a:t>
            </a:r>
            <a:endParaRPr lang="en-US" sz="1650" dirty="0"/>
          </a:p>
          <a:p>
            <a:pPr>
              <a:spcAft>
                <a:spcPts val="200"/>
              </a:spcAft>
              <a:defRPr sz="950">
                <a:solidFill>
                  <a:srgbClr val="2D3748"/>
                </a:solidFill>
              </a:defRPr>
            </a:pPr>
            <a:r>
              <a:t>• Morning Peak (8:00 AM – 10:00 AM): 38.4% of beverage volume</a:t>
            </a:r>
          </a:p>
          <a:p>
            <a:pPr>
              <a:spcAft>
                <a:spcPts val="200"/>
              </a:spcAft>
              <a:defRPr sz="950">
                <a:solidFill>
                  <a:srgbClr val="2D3748"/>
                </a:solidFill>
              </a:defRPr>
            </a:pPr>
            <a:r>
              <a:t>• Lunch Surge (1:00 PM – 3:00 PM): High food &amp; combo density</a:t>
            </a:r>
          </a:p>
          <a:p>
            <a:pPr>
              <a:spcAft>
                <a:spcPts val="200"/>
              </a:spcAft>
              <a:defRPr sz="950">
                <a:solidFill>
                  <a:srgbClr val="2D3748"/>
                </a:solidFill>
              </a:defRPr>
            </a:pPr>
            <a:r>
              <a:t>• Weekend Surge: +35% volume over midweek averages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Tender Preferences</a:t>
            </a:r>
            <a:endParaRPr lang="en-US" sz="1650" dirty="0"/>
          </a:p>
          <a:p>
            <a:pPr>
              <a:spcAft>
                <a:spcPts val="200"/>
              </a:spcAft>
              <a:defRPr sz="950">
                <a:solidFill>
                  <a:srgbClr val="2D3748"/>
                </a:solidFill>
              </a:defRPr>
            </a:pPr>
            <a:r>
              <a:t>• VISA (43.1%) and Cash (23.2%) dominate register sales</a:t>
            </a:r>
          </a:p>
          <a:p>
            <a:pPr>
              <a:spcAft>
                <a:spcPts val="200"/>
              </a:spcAft>
              <a:defRPr sz="950">
                <a:solidFill>
                  <a:srgbClr val="2D3748"/>
                </a:solidFill>
              </a:defRPr>
            </a:pPr>
            <a:r>
              <a:t>• Delivery Wallets (Uber Eats 8.3%, PickMe 3.6%) peak in evenings</a:t>
            </a:r>
          </a:p>
          <a:p>
            <a:pPr>
              <a:spcAft>
                <a:spcPts val="200"/>
              </a:spcAft>
              <a:defRPr sz="950">
                <a:solidFill>
                  <a:srgbClr val="2D3748"/>
                </a:solidFill>
              </a:defRPr>
            </a:pPr>
            <a:r>
              <a:t>• Cardholders spend on average LKR 18.40 more per order</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Bottlenecks</a:t>
            </a:r>
            <a:endParaRPr lang="en-US" sz="1650" dirty="0"/>
          </a:p>
          <a:p>
            <a:pPr>
              <a:spcAft>
                <a:spcPts val="200"/>
              </a:spcAft>
              <a:defRPr sz="950">
                <a:solidFill>
                  <a:srgbClr val="2D3748"/>
                </a:solidFill>
              </a:defRPr>
            </a:pPr>
            <a:r>
              <a:t>• Morning rush causes register queue delays and walkaways</a:t>
            </a:r>
          </a:p>
          <a:p>
            <a:pPr>
              <a:spcAft>
                <a:spcPts val="200"/>
              </a:spcAft>
              <a:defRPr sz="950">
                <a:solidFill>
                  <a:srgbClr val="2D3748"/>
                </a:solidFill>
              </a:defRPr>
            </a:pPr>
            <a:r>
              <a:t>• Need rapid, sub-second POS recommendation prompts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Visual Evidence</a:t>
            </a:r>
            <a:endParaRPr lang="en-US" sz="1650" dirty="0"/>
          </a:p>
          <a:p>
            <a:pPr>
              <a:spcAft>
                <a:spcPts val="200"/>
              </a:spcAft>
              <a:defRPr sz="950">
                <a:solidFill>
                  <a:srgbClr val="2D3748"/>
                </a:solidFill>
              </a:defRPr>
            </a:pPr>
            <a:r>
              <a:t>• Figure on right illustrates 24-hour transaction density</a:t>
            </a:r>
          </a:p>
          <a:p>
            <a:pPr>
              <a:spcAft>
                <a:spcPts val="200"/>
              </a:spcAft>
              <a:defRPr sz="950">
                <a:solidFill>
                  <a:srgbClr val="2D3748"/>
                </a:solidFill>
              </a:defRPr>
            </a:pPr>
            <a:r>
              <a:t>• Clear bimodal peaks align with barista shift scheduling</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Tests</a:t>
            </a:r>
            <a:endParaRPr lang="en-US" sz="1800" dirty="0"/>
          </a:p>
        </p:txBody>
      </p:sp>
      <p:pic>
        <p:nvPicPr>
          <p:cNvPr id="19" name="Picture 18" descr="fig3_hourly_weekly_traffic.png"/>
          <p:cNvPicPr>
            <a:picLocks noChangeAspect="1"/>
          </p:cNvPicPr>
          <p:nvPr/>
        </p:nvPicPr>
        <p:blipFill>
          <a:blip r:embed="rId3"/>
          <a:stretch>
            <a:fillRect/>
          </a:stretch>
        </p:blipFill>
        <p:spPr>
          <a:xfrm>
            <a:off x="6400800" y="1645920"/>
            <a:ext cx="4389120" cy="2682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08</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Statistical Inference: Hypothesis Testing Framework</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Testing six formal hypotheses at alpha = 0.05 strictly adhering to Note 01</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Analytical Rigor</a:t>
            </a:r>
            <a:endParaRPr lang="en-US" sz="1650" dirty="0"/>
          </a:p>
          <a:p>
            <a:pPr>
              <a:spcAft>
                <a:spcPts val="200"/>
              </a:spcAft>
              <a:defRPr sz="950">
                <a:solidFill>
                  <a:srgbClr val="2D3748"/>
                </a:solidFill>
              </a:defRPr>
            </a:pPr>
            <a:r>
              <a:t>• Formulated 6 formal two-tailed &amp; association hypotheses</a:t>
            </a:r>
          </a:p>
          <a:p>
            <a:pPr>
              <a:spcAft>
                <a:spcPts val="200"/>
              </a:spcAft>
              <a:defRPr sz="950">
                <a:solidFill>
                  <a:srgbClr val="2D3748"/>
                </a:solidFill>
              </a:defRPr>
            </a:pPr>
            <a:r>
              <a:t>• Verified underlying distribution assumptions before testing</a:t>
            </a:r>
          </a:p>
          <a:p>
            <a:pPr>
              <a:spcAft>
                <a:spcPts val="200"/>
              </a:spcAft>
              <a:defRPr sz="950">
                <a:solidFill>
                  <a:srgbClr val="2D3748"/>
                </a:solidFill>
              </a:defRPr>
            </a:pPr>
            <a:r>
              <a:t>• Applied alpha = 0.05 threshold with exact p-value reporting</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Domain 1: Spend Differences</a:t>
            </a:r>
            <a:endParaRPr lang="en-US" sz="1650" dirty="0"/>
          </a:p>
          <a:p>
            <a:pPr>
              <a:spcAft>
                <a:spcPts val="200"/>
              </a:spcAft>
              <a:defRPr sz="950">
                <a:solidFill>
                  <a:srgbClr val="2D3748"/>
                </a:solidFill>
              </a:defRPr>
            </a:pPr>
            <a:r>
              <a:t>• Test 1: Welch's Two-Sample t-test (Foreign vs. Local Spend)</a:t>
            </a:r>
          </a:p>
          <a:p>
            <a:pPr>
              <a:spcAft>
                <a:spcPts val="200"/>
              </a:spcAft>
              <a:defRPr sz="950">
                <a:solidFill>
                  <a:srgbClr val="2D3748"/>
                </a:solidFill>
              </a:defRPr>
            </a:pPr>
            <a:r>
              <a:t>• Test 2: Fisher's F-test of Equal Variances (Dine-in vs. Takeaway)</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Domain 2: Structural Comparisons</a:t>
            </a:r>
            <a:endParaRPr lang="en-US" sz="1650" dirty="0"/>
          </a:p>
          <a:p>
            <a:pPr>
              <a:spcAft>
                <a:spcPts val="200"/>
              </a:spcAft>
              <a:defRPr sz="950">
                <a:solidFill>
                  <a:srgbClr val="2D3748"/>
                </a:solidFill>
              </a:defRPr>
            </a:pPr>
            <a:r>
              <a:t>• Test 3: One-Way ANOVA across Outlets (Revenue ~ Outlet)</a:t>
            </a:r>
          </a:p>
          <a:p>
            <a:pPr>
              <a:spcAft>
                <a:spcPts val="200"/>
              </a:spcAft>
              <a:defRPr sz="950">
                <a:solidFill>
                  <a:srgbClr val="2D3748"/>
                </a:solidFill>
              </a:defRPr>
            </a:pPr>
            <a:r>
              <a:t>• Test 4: Pearson's Chi-Square Test (PaymentMethod vs. CustomerType)</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Domain 3: Counts &amp; Elasticity</a:t>
            </a:r>
            <a:endParaRPr lang="en-US" sz="1650" dirty="0"/>
          </a:p>
          <a:p>
            <a:pPr>
              <a:spcAft>
                <a:spcPts val="200"/>
              </a:spcAft>
              <a:defRPr sz="950">
                <a:solidFill>
                  <a:srgbClr val="2D3748"/>
                </a:solidFill>
              </a:defRPr>
            </a:pPr>
            <a:r>
              <a:t>• Test 5: Kruskal-Wallis Non-Parametric Test (Qty by Time of Day)</a:t>
            </a:r>
          </a:p>
          <a:p>
            <a:pPr>
              <a:spcAft>
                <a:spcPts val="200"/>
              </a:spcAft>
              <a:defRPr sz="950">
                <a:solidFill>
                  <a:srgbClr val="2D3748"/>
                </a:solidFill>
              </a:defRPr>
            </a:pPr>
            <a:r>
              <a:t>• Test 6: Pearson &amp; Spearman Correlation (Discounts vs. Spend)</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Model</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09</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Inference Tests 1 &amp; 2: Spend Differences &amp; Volatility</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Welch's t-test for unequal variances and Fisher's F-test for spend volatility</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1: Foreign vs. Local Spend</a:t>
            </a:r>
            <a:endParaRPr lang="en-US" sz="1650" dirty="0"/>
          </a:p>
          <a:p>
            <a:pPr>
              <a:spcAft>
                <a:spcPts val="200"/>
              </a:spcAft>
              <a:defRPr sz="950">
                <a:solidFill>
                  <a:srgbClr val="2D3748"/>
                </a:solidFill>
              </a:defRPr>
            </a:pPr>
            <a:r>
              <a:t>• H0: mu_Foreign - mu_Local = 0 vs. H1: mu_Foreign != mu_Local</a:t>
            </a:r>
          </a:p>
          <a:p>
            <a:pPr>
              <a:spcAft>
                <a:spcPts val="200"/>
              </a:spcAft>
              <a:defRPr sz="950">
                <a:solidFill>
                  <a:srgbClr val="2D3748"/>
                </a:solidFill>
              </a:defRPr>
            </a:pPr>
            <a:r>
              <a:t>• Foreign Mean: LKR 1,039.90 | Local Mean: LKR 1,014.57</a:t>
            </a:r>
          </a:p>
          <a:p>
            <a:pPr>
              <a:spcAft>
                <a:spcPts val="200"/>
              </a:spcAft>
              <a:defRPr sz="950">
                <a:solidFill>
                  <a:srgbClr val="2D3748"/>
                </a:solidFill>
              </a:defRPr>
            </a:pPr>
            <a:r>
              <a:t>• Difference: +LKR 25.32 per item (95% CI: [11.46, 39.19])</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1 Statistical Decision</a:t>
            </a:r>
            <a:endParaRPr lang="en-US" sz="1650" dirty="0"/>
          </a:p>
          <a:p>
            <a:pPr>
              <a:spcAft>
                <a:spcPts val="200"/>
              </a:spcAft>
              <a:defRPr sz="950">
                <a:solidFill>
                  <a:srgbClr val="2D3748"/>
                </a:solidFill>
              </a:defRPr>
            </a:pPr>
            <a:r>
              <a:t>• Welch's t = 3.5810, df = 6140.4, p = 0.00034</a:t>
            </a:r>
          </a:p>
          <a:p>
            <a:pPr>
              <a:spcAft>
                <a:spcPts val="200"/>
              </a:spcAft>
              <a:defRPr sz="950">
                <a:solidFill>
                  <a:srgbClr val="2D3748"/>
                </a:solidFill>
              </a:defRPr>
            </a:pPr>
            <a:r>
              <a:t>• Decision: REJECT H0 (Statistically Significant)</a:t>
            </a:r>
          </a:p>
          <a:p>
            <a:pPr>
              <a:spcAft>
                <a:spcPts val="200"/>
              </a:spcAft>
              <a:defRPr sz="950">
                <a:solidFill>
                  <a:srgbClr val="2D3748"/>
                </a:solidFill>
              </a:defRPr>
            </a:pPr>
            <a:r>
              <a:t>• Action: Deploy premium artisanal beverage flights in tourist stores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2: Spend Volatility by Channel</a:t>
            </a:r>
            <a:endParaRPr lang="en-US" sz="1650" dirty="0"/>
          </a:p>
          <a:p>
            <a:pPr>
              <a:spcAft>
                <a:spcPts val="200"/>
              </a:spcAft>
              <a:defRPr sz="950">
                <a:solidFill>
                  <a:srgbClr val="2D3748"/>
                </a:solidFill>
              </a:defRPr>
            </a:pPr>
            <a:r>
              <a:t>• H0: sigma^2_Dine-In / sigma^2_Takeaway = 1 vs. H1: Ratio != 1</a:t>
            </a:r>
          </a:p>
          <a:p>
            <a:pPr>
              <a:spcAft>
                <a:spcPts val="200"/>
              </a:spcAft>
              <a:defRPr sz="950">
                <a:solidFill>
                  <a:srgbClr val="2D3748"/>
                </a:solidFill>
              </a:defRPr>
            </a:pPr>
            <a:r>
              <a:t>• F-statistic: 0.9687, df1 = 17364, df2 = 12099</a:t>
            </a:r>
          </a:p>
          <a:p>
            <a:pPr>
              <a:spcAft>
                <a:spcPts val="200"/>
              </a:spcAft>
              <a:defRPr sz="950">
                <a:solidFill>
                  <a:srgbClr val="2D3748"/>
                </a:solidFill>
              </a:defRPr>
            </a:pPr>
            <a:r>
              <a:t>• 95% Confidence Interval for Ratio: [0.9374, 1.0010]</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2 Statistical Decision</a:t>
            </a:r>
            <a:endParaRPr lang="en-US" sz="1650" dirty="0"/>
          </a:p>
          <a:p>
            <a:pPr>
              <a:spcAft>
                <a:spcPts val="200"/>
              </a:spcAft>
              <a:defRPr sz="950">
                <a:solidFill>
                  <a:srgbClr val="2D3748"/>
                </a:solidFill>
              </a:defRPr>
            </a:pPr>
            <a:r>
              <a:t>• p-value = 0.0572 (&gt; 0.05 significance threshold)</a:t>
            </a:r>
          </a:p>
          <a:p>
            <a:pPr>
              <a:spcAft>
                <a:spcPts val="200"/>
              </a:spcAft>
              <a:defRPr sz="950">
                <a:solidFill>
                  <a:srgbClr val="2D3748"/>
                </a:solidFill>
              </a:defRPr>
            </a:pPr>
            <a:r>
              <a:t>• Decision: FAIL TO REJECT H0 (Homogeneous Variances)</a:t>
            </a:r>
          </a:p>
          <a:p>
            <a:pPr>
              <a:spcAft>
                <a:spcPts val="200"/>
              </a:spcAft>
              <a:defRPr sz="950">
                <a:solidFill>
                  <a:srgbClr val="2D3748"/>
                </a:solidFill>
              </a:defRPr>
            </a:pPr>
            <a:r>
              <a:t>• Action: Standardized basket size controls valid across channels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CRD / RCBD</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10</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Inference Tests 3 &amp; 4: Outlet Homogeneity &amp; Payment Segmentation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One-Way ANOVA across store outlets and Chi-Square test of independence</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3: One-Way ANOVA across Outlets</a:t>
            </a:r>
            <a:endParaRPr lang="en-US" sz="1650" dirty="0"/>
          </a:p>
          <a:p>
            <a:pPr>
              <a:spcAft>
                <a:spcPts val="200"/>
              </a:spcAft>
              <a:defRPr sz="950">
                <a:solidFill>
                  <a:srgbClr val="2D3748"/>
                </a:solidFill>
              </a:defRPr>
            </a:pPr>
            <a:r>
              <a:t>• H0: mu_1 = ... = mu_8 (Equal mean item revenue across outlets)</a:t>
            </a:r>
          </a:p>
          <a:p>
            <a:pPr>
              <a:spcAft>
                <a:spcPts val="200"/>
              </a:spcAft>
              <a:defRPr sz="950">
                <a:solidFill>
                  <a:srgbClr val="2D3748"/>
                </a:solidFill>
              </a:defRPr>
            </a:pPr>
            <a:r>
              <a:t>• H1: At least one outlet exhibits a significantly different mean</a:t>
            </a:r>
          </a:p>
          <a:p>
            <a:pPr>
              <a:spcAft>
                <a:spcPts val="200"/>
              </a:spcAft>
              <a:defRPr sz="950">
                <a:solidFill>
                  <a:srgbClr val="2D3748"/>
                </a:solidFill>
              </a:defRPr>
            </a:pPr>
            <a:r>
              <a:t>• Evaluated continuous Revenue across top 8 flagship locations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3 Statistical Decision</a:t>
            </a:r>
            <a:endParaRPr lang="en-US" sz="1650" dirty="0"/>
          </a:p>
          <a:p>
            <a:pPr>
              <a:spcAft>
                <a:spcPts val="200"/>
              </a:spcAft>
              <a:defRPr sz="950">
                <a:solidFill>
                  <a:srgbClr val="2D3748"/>
                </a:solidFill>
              </a:defRPr>
            </a:pPr>
            <a:r>
              <a:t>• F = 1.4044, df = (7, 5745), p = 0.1986, Eta^2 = 0.0017</a:t>
            </a:r>
          </a:p>
          <a:p>
            <a:pPr>
              <a:spcAft>
                <a:spcPts val="200"/>
              </a:spcAft>
              <a:defRPr sz="950">
                <a:solidFill>
                  <a:srgbClr val="2D3748"/>
                </a:solidFill>
              </a:defRPr>
            </a:pPr>
            <a:r>
              <a:t>• Decision: FAIL TO REJECT H0 (No Outlet Differences)</a:t>
            </a:r>
          </a:p>
          <a:p>
            <a:pPr>
              <a:spcAft>
                <a:spcPts val="200"/>
              </a:spcAft>
              <a:defRPr sz="950">
                <a:solidFill>
                  <a:srgbClr val="2D3748"/>
                </a:solidFill>
              </a:defRPr>
            </a:pPr>
            <a:r>
              <a:t>• Action: Demonstrates remarkable brand pricing standardization</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4: Chi-Square Test of Independence</a:t>
            </a:r>
            <a:endParaRPr lang="en-US" sz="1650" dirty="0"/>
          </a:p>
          <a:p>
            <a:pPr>
              <a:spcAft>
                <a:spcPts val="200"/>
              </a:spcAft>
              <a:defRPr sz="950">
                <a:solidFill>
                  <a:srgbClr val="2D3748"/>
                </a:solidFill>
              </a:defRPr>
            </a:pPr>
            <a:r>
              <a:t>• H0: Payment Method is independent of Customer Type</a:t>
            </a:r>
          </a:p>
          <a:p>
            <a:pPr>
              <a:spcAft>
                <a:spcPts val="200"/>
              </a:spcAft>
              <a:defRPr sz="950">
                <a:solidFill>
                  <a:srgbClr val="2D3748"/>
                </a:solidFill>
              </a:defRPr>
            </a:pPr>
            <a:r>
              <a:t>• H1: Payment Method and Customer Type are associated</a:t>
            </a:r>
          </a:p>
          <a:p>
            <a:pPr>
              <a:spcAft>
                <a:spcPts val="200"/>
              </a:spcAft>
              <a:defRPr sz="950">
                <a:solidFill>
                  <a:srgbClr val="2D3748"/>
                </a:solidFill>
              </a:defRPr>
            </a:pPr>
            <a:r>
              <a:t>• 7 Payment Methods x 2 Customer Segments contingency table</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4 Statistical Decision</a:t>
            </a:r>
            <a:endParaRPr lang="en-US" sz="1650" dirty="0"/>
          </a:p>
          <a:p>
            <a:pPr>
              <a:spcAft>
                <a:spcPts val="200"/>
              </a:spcAft>
              <a:defRPr sz="950">
                <a:solidFill>
                  <a:srgbClr val="2D3748"/>
                </a:solidFill>
              </a:defRPr>
            </a:pPr>
            <a:r>
              <a:t>• Chi-Square = 4,270.2, df = 6, p &lt; 1e-04, Cramer's V = 0.381</a:t>
            </a:r>
          </a:p>
          <a:p>
            <a:pPr>
              <a:spcAft>
                <a:spcPts val="200"/>
              </a:spcAft>
              <a:defRPr sz="950">
                <a:solidFill>
                  <a:srgbClr val="2D3748"/>
                </a:solidFill>
              </a:defRPr>
            </a:pPr>
            <a:r>
              <a:t>• Decision: REJECT H0 (Statistically Significant Association)</a:t>
            </a:r>
          </a:p>
          <a:p>
            <a:pPr>
              <a:spcAft>
                <a:spcPts val="200"/>
              </a:spcAft>
              <a:defRPr sz="950">
                <a:solidFill>
                  <a:srgbClr val="2D3748"/>
                </a:solidFill>
              </a:defRPr>
            </a:pPr>
            <a:r>
              <a:t>• Action: Tourists exclusively use cards; Locals use cash &amp; app wallets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PCA</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4</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11</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Inference Tests 5 &amp; 6: Order Quantities &amp; Discount Elasticity</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Kruskal-Wallis non-parametric test and Pearson/Spearman correlation analysis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5: Kruskal-Wallis Test</a:t>
            </a:r>
            <a:endParaRPr lang="en-US" sz="1650" dirty="0"/>
          </a:p>
          <a:p>
            <a:pPr>
              <a:spcAft>
                <a:spcPts val="200"/>
              </a:spcAft>
              <a:defRPr sz="950">
                <a:solidFill>
                  <a:srgbClr val="2D3748"/>
                </a:solidFill>
              </a:defRPr>
            </a:pPr>
            <a:r>
              <a:t>• H0: Qty1 distribution is identical across Times of Day</a:t>
            </a:r>
          </a:p>
          <a:p>
            <a:pPr>
              <a:spcAft>
                <a:spcPts val="200"/>
              </a:spcAft>
              <a:defRPr sz="950">
                <a:solidFill>
                  <a:srgbClr val="2D3748"/>
                </a:solidFill>
              </a:defRPr>
            </a:pPr>
            <a:r>
              <a:t>• H1: At least one time slot has a different median quantity</a:t>
            </a:r>
          </a:p>
          <a:p>
            <a:pPr>
              <a:spcAft>
                <a:spcPts val="200"/>
              </a:spcAft>
              <a:defRPr sz="950">
                <a:solidFill>
                  <a:srgbClr val="2D3748"/>
                </a:solidFill>
              </a:defRPr>
            </a:pPr>
            <a:r>
              <a:t>• Justification: Qty1 is skewed integer count data</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5 Statistical Decision</a:t>
            </a:r>
            <a:endParaRPr lang="en-US" sz="1650" dirty="0"/>
          </a:p>
          <a:p>
            <a:pPr>
              <a:spcAft>
                <a:spcPts val="200"/>
              </a:spcAft>
              <a:defRPr sz="950">
                <a:solidFill>
                  <a:srgbClr val="2D3748"/>
                </a:solidFill>
              </a:defRPr>
            </a:pPr>
            <a:r>
              <a:t>• Kruskal-Wallis chi-squared = 0.7777, df = 3, p = 0.8548</a:t>
            </a:r>
          </a:p>
          <a:p>
            <a:pPr>
              <a:spcAft>
                <a:spcPts val="200"/>
              </a:spcAft>
              <a:defRPr sz="950">
                <a:solidFill>
                  <a:srgbClr val="2D3748"/>
                </a:solidFill>
              </a:defRPr>
            </a:pPr>
            <a:r>
              <a:t>• Decision: FAIL TO REJECT H0</a:t>
            </a:r>
          </a:p>
          <a:p>
            <a:pPr>
              <a:spcAft>
                <a:spcPts val="200"/>
              </a:spcAft>
              <a:defRPr sz="950">
                <a:solidFill>
                  <a:srgbClr val="2D3748"/>
                </a:solidFill>
              </a:defRPr>
            </a:pPr>
            <a:r>
              <a:t>• Takeaway: Individual item count distribution is uniform by daypart</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6: Discount Elasticity Correlation</a:t>
            </a:r>
            <a:endParaRPr lang="en-US" sz="1650" dirty="0"/>
          </a:p>
          <a:p>
            <a:pPr>
              <a:spcAft>
                <a:spcPts val="200"/>
              </a:spcAft>
              <a:defRPr sz="950">
                <a:solidFill>
                  <a:srgbClr val="2D3748"/>
                </a:solidFill>
              </a:defRPr>
            </a:pPr>
            <a:r>
              <a:t>• H0: rho = 0 (No correlation between Discount and Revenue)</a:t>
            </a:r>
          </a:p>
          <a:p>
            <a:pPr>
              <a:spcAft>
                <a:spcPts val="200"/>
              </a:spcAft>
              <a:defRPr sz="950">
                <a:solidFill>
                  <a:srgbClr val="2D3748"/>
                </a:solidFill>
              </a:defRPr>
            </a:pPr>
            <a:r>
              <a:t>• H1: rho != 0 (Significant correlation exists)</a:t>
            </a:r>
          </a:p>
          <a:p>
            <a:pPr>
              <a:spcAft>
                <a:spcPts val="200"/>
              </a:spcAft>
              <a:defRPr sz="950">
                <a:solidFill>
                  <a:srgbClr val="2D3748"/>
                </a:solidFill>
              </a:defRPr>
            </a:pPr>
            <a:r>
              <a:t>• Assessed both Pearson (linear) and Spearman (monotonic)</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6 Statistical Decision</a:t>
            </a:r>
            <a:endParaRPr lang="en-US" sz="1650" dirty="0"/>
          </a:p>
          <a:p>
            <a:pPr>
              <a:spcAft>
                <a:spcPts val="200"/>
              </a:spcAft>
              <a:defRPr sz="950">
                <a:solidFill>
                  <a:srgbClr val="2D3748"/>
                </a:solidFill>
              </a:defRPr>
            </a:pPr>
            <a:r>
              <a:t>• Pearson r = +0.0336, t = 5.7624, df = 29463, p &lt; 1e-04</a:t>
            </a:r>
          </a:p>
          <a:p>
            <a:pPr>
              <a:spcAft>
                <a:spcPts val="200"/>
              </a:spcAft>
              <a:defRPr sz="950">
                <a:solidFill>
                  <a:srgbClr val="2D3748"/>
                </a:solidFill>
              </a:defRPr>
            </a:pPr>
            <a:r>
              <a:t>• Spearman rho = +0.0335, p &lt; 1e-04</a:t>
            </a:r>
          </a:p>
          <a:p>
            <a:pPr>
              <a:spcAft>
                <a:spcPts val="200"/>
              </a:spcAft>
              <a:defRPr sz="950">
                <a:solidFill>
                  <a:srgbClr val="2D3748"/>
                </a:solidFill>
              </a:defRPr>
            </a:pPr>
            <a:r>
              <a:t>• Decision: REJECT H0 (Positive Elasticity | No Cannibalization)</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Bayes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12</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Predictive Modelling: 4-Member Tournament Architecture</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Rigorous multi-model evaluation on stratified 80/20 train-test partition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Modelling Objective</a:t>
            </a:r>
            <a:endParaRPr lang="en-US" sz="1650" dirty="0"/>
          </a:p>
          <a:p>
            <a:pPr>
              <a:spcAft>
                <a:spcPts val="200"/>
              </a:spcAft>
              <a:defRPr sz="950">
                <a:solidFill>
                  <a:srgbClr val="2D3748"/>
                </a:solidFill>
              </a:defRPr>
            </a:pPr>
            <a:r>
              <a:t>• Predict customer purchase category choice (MainCategory)</a:t>
            </a:r>
          </a:p>
          <a:p>
            <a:pPr>
              <a:spcAft>
                <a:spcPts val="200"/>
              </a:spcAft>
              <a:defRPr sz="950">
                <a:solidFill>
                  <a:srgbClr val="2D3748"/>
                </a:solidFill>
              </a:defRPr>
            </a:pPr>
            <a:r>
              <a:t>• Target Classes: Beverage (53.9%), Food (37.3%), Deals, Merch</a:t>
            </a:r>
          </a:p>
          <a:p>
            <a:pPr>
              <a:spcAft>
                <a:spcPts val="200"/>
              </a:spcAft>
              <a:defRPr sz="950">
                <a:solidFill>
                  <a:srgbClr val="2D3748"/>
                </a:solidFill>
              </a:defRPr>
            </a:pPr>
            <a:r>
              <a:t>• Features: TimeOfDay, Day, CustomerType, OrderType, Rate, Qty</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Stratified Partition Strategy</a:t>
            </a:r>
            <a:endParaRPr lang="en-US" sz="1650" dirty="0"/>
          </a:p>
          <a:p>
            <a:pPr>
              <a:spcAft>
                <a:spcPts val="200"/>
              </a:spcAft>
              <a:defRPr sz="950">
                <a:solidFill>
                  <a:srgbClr val="2D3748"/>
                </a:solidFill>
              </a:defRPr>
            </a:pPr>
            <a:r>
              <a:t>• Training Set: 23,573 observations (80% stratified partition)</a:t>
            </a:r>
          </a:p>
          <a:p>
            <a:pPr>
              <a:spcAft>
                <a:spcPts val="200"/>
              </a:spcAft>
              <a:defRPr sz="950">
                <a:solidFill>
                  <a:srgbClr val="2D3748"/>
                </a:solidFill>
              </a:defRPr>
            </a:pPr>
            <a:r>
              <a:t>• Test Set: 5,892 unseen observations (20% held-out test)</a:t>
            </a:r>
          </a:p>
          <a:p>
            <a:pPr>
              <a:spcAft>
                <a:spcPts val="200"/>
              </a:spcAft>
              <a:defRPr sz="950">
                <a:solidFill>
                  <a:srgbClr val="2D3748"/>
                </a:solidFill>
              </a:defRPr>
            </a:pPr>
            <a:r>
              <a:t>• Strict separation: Zero data leakage across customer transactions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4 Member Model Allocations</a:t>
            </a:r>
            <a:endParaRPr lang="en-US" sz="1650" dirty="0"/>
          </a:p>
          <a:p>
            <a:pPr>
              <a:spcAft>
                <a:spcPts val="200"/>
              </a:spcAft>
              <a:defRPr sz="950">
                <a:solidFill>
                  <a:srgbClr val="2D3748"/>
                </a:solidFill>
              </a:defRPr>
            </a:pPr>
            <a:r>
              <a:t>• Member 1: Multinomial Logistic Regression (nnet — Note 03/07)</a:t>
            </a:r>
          </a:p>
          <a:p>
            <a:pPr>
              <a:spcAft>
                <a:spcPts val="200"/>
              </a:spcAft>
              <a:defRPr sz="950">
                <a:solidFill>
                  <a:srgbClr val="2D3748"/>
                </a:solidFill>
              </a:defRPr>
            </a:pPr>
            <a:r>
              <a:t>• Member 2: Linear Discriminant Analysis (MASS::lda — Note 06)</a:t>
            </a:r>
          </a:p>
          <a:p>
            <a:pPr>
              <a:spcAft>
                <a:spcPts val="200"/>
              </a:spcAft>
              <a:defRPr sz="950">
                <a:solidFill>
                  <a:srgbClr val="2D3748"/>
                </a:solidFill>
              </a:defRPr>
            </a:pPr>
            <a:r>
              <a:t>• Member 3: Quadratic Discriminant Analysis (MASS::qda — Note 06)</a:t>
            </a:r>
          </a:p>
          <a:p>
            <a:pPr>
              <a:spcAft>
                <a:spcPts val="200"/>
              </a:spcAft>
              <a:defRPr sz="950">
                <a:solidFill>
                  <a:srgbClr val="2D3748"/>
                </a:solidFill>
              </a:defRPr>
            </a:pPr>
            <a:r>
              <a:t>• Member 4: Naïve Bayes Classifier (e1071 — Note 05/09)</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Evaluation Criteria</a:t>
            </a:r>
            <a:endParaRPr lang="en-US" sz="1650" dirty="0"/>
          </a:p>
          <a:p>
            <a:pPr>
              <a:spcAft>
                <a:spcPts val="200"/>
              </a:spcAft>
              <a:defRPr sz="950">
                <a:solidFill>
                  <a:srgbClr val="2D3748"/>
                </a:solidFill>
              </a:defRPr>
            </a:pPr>
            <a:r>
              <a:t>• Test Accuracy, Macro-Precision, Macro-Recall, Macro-F1</a:t>
            </a:r>
          </a:p>
          <a:p>
            <a:pPr>
              <a:spcAft>
                <a:spcPts val="200"/>
              </a:spcAft>
              <a:defRPr sz="950">
                <a:solidFill>
                  <a:srgbClr val="2D3748"/>
                </a:solidFill>
              </a:defRPr>
            </a:pPr>
            <a:r>
              <a:t>• Cohen's Kappa (chance-adjusted inter-rater agreement)</a:t>
            </a:r>
          </a:p>
          <a:p>
            <a:pPr>
              <a:spcAft>
                <a:spcPts val="200"/>
              </a:spcAft>
              <a:defRPr sz="950">
                <a:solidFill>
                  <a:srgbClr val="2D3748"/>
                </a:solidFill>
              </a:defRPr>
            </a:pPr>
            <a:r>
              <a:t>• Training and edge inference latency benchmarks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Future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13</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1 Model: Multinomial Logistic Regression (nnet) 🏆</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Generalized Linear Model evaluating multi-class log-odds — Selected Champion Model</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Generalized Linear Model with Generalized Logit link</a:t>
            </a:r>
          </a:p>
          <a:p>
            <a:pPr>
              <a:spcAft>
                <a:spcPts val="200"/>
              </a:spcAft>
              <a:defRPr sz="950">
                <a:solidFill>
                  <a:srgbClr val="2D3748"/>
                </a:solidFill>
              </a:defRPr>
            </a:pPr>
            <a:r>
              <a:t>• Formula: ln(P(Y=k) / P(Y=K)) = beta_k0 + beta_k1*X1 + ... + beta_kp*Xp</a:t>
            </a:r>
          </a:p>
          <a:p>
            <a:pPr>
              <a:spcAft>
                <a:spcPts val="200"/>
              </a:spcAft>
              <a:defRPr sz="950">
                <a:solidFill>
                  <a:srgbClr val="2D3748"/>
                </a:solidFill>
              </a:defRPr>
            </a:pPr>
            <a:r>
              <a:t>• Reference Class K: Beverage (majority retail class)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 &amp; Checks</a:t>
            </a:r>
            <a:endParaRPr lang="en-US" sz="1650" dirty="0"/>
          </a:p>
          <a:p>
            <a:pPr>
              <a:spcAft>
                <a:spcPts val="200"/>
              </a:spcAft>
              <a:defRPr sz="950">
                <a:solidFill>
                  <a:srgbClr val="2D3748"/>
                </a:solidFill>
              </a:defRPr>
            </a:pPr>
            <a:r>
              <a:t>• Independence of Irrelevant Alternatives (IIA) assumption</a:t>
            </a:r>
          </a:p>
          <a:p>
            <a:pPr>
              <a:spcAft>
                <a:spcPts val="200"/>
              </a:spcAft>
              <a:defRPr sz="950">
                <a:solidFill>
                  <a:srgbClr val="2D3748"/>
                </a:solidFill>
              </a:defRPr>
            </a:pPr>
            <a:r>
              <a:t>• Linear relationship between continuous predictors and log-odds</a:t>
            </a:r>
          </a:p>
          <a:p>
            <a:pPr>
              <a:spcAft>
                <a:spcPts val="200"/>
              </a:spcAft>
              <a:defRPr sz="950">
                <a:solidFill>
                  <a:srgbClr val="2D3748"/>
                </a:solidFill>
              </a:defRPr>
            </a:pPr>
            <a:r>
              <a:t>• Absence of severe multicollinearity across design matrix</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Leaderboard Champion Results</a:t>
            </a:r>
            <a:endParaRPr lang="en-US" sz="1650" dirty="0"/>
          </a:p>
          <a:p>
            <a:pPr>
              <a:spcAft>
                <a:spcPts val="200"/>
              </a:spcAft>
              <a:defRPr sz="950">
                <a:solidFill>
                  <a:srgbClr val="2D3748"/>
                </a:solidFill>
              </a:defRPr>
            </a:pPr>
            <a:r>
              <a:t>• Top-2 Recommendation Hit Rate: 93.36% (Hit@2) 🏆</a:t>
            </a:r>
          </a:p>
          <a:p>
            <a:pPr>
              <a:spcAft>
                <a:spcPts val="200"/>
              </a:spcAft>
              <a:defRPr sz="950">
                <a:solidFill>
                  <a:srgbClr val="2D3748"/>
                </a:solidFill>
              </a:defRPr>
            </a:pPr>
            <a:r>
              <a:t>• Exact Top-1 Category Accuracy: 56.36% (Highest on Board)</a:t>
            </a:r>
          </a:p>
          <a:p>
            <a:pPr>
              <a:spcAft>
                <a:spcPts val="200"/>
              </a:spcAft>
              <a:defRPr sz="950">
                <a:solidFill>
                  <a:srgbClr val="2D3748"/>
                </a:solidFill>
              </a:defRPr>
            </a:pPr>
            <a:r>
              <a:t>• Multi-Class ROC-AUC: 73.25% | Macro-Precision: 57.17%</a:t>
            </a:r>
          </a:p>
          <a:p>
            <a:pPr>
              <a:spcAft>
                <a:spcPts val="200"/>
              </a:spcAft>
              <a:defRPr sz="950">
                <a:solidFill>
                  <a:srgbClr val="2D3748"/>
                </a:solidFill>
              </a:defRPr>
            </a:pPr>
            <a:r>
              <a:t>• Macro-F1: 55.16% | Cohen's Kappa: 0.1582</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Champion Selection Rationale</a:t>
            </a:r>
            <a:endParaRPr lang="en-US" sz="1650" dirty="0"/>
          </a:p>
          <a:p>
            <a:pPr>
              <a:spcAft>
                <a:spcPts val="200"/>
              </a:spcAft>
              <a:defRPr sz="950">
                <a:solidFill>
                  <a:srgbClr val="2D3748"/>
                </a:solidFill>
              </a:defRPr>
            </a:pPr>
            <a:r>
              <a:t>• 93.36% Top-2 Hit Rate guarantees cashier prompt relevance</a:t>
            </a:r>
          </a:p>
          <a:p>
            <a:pPr>
              <a:spcAft>
                <a:spcPts val="200"/>
              </a:spcAft>
              <a:defRPr sz="950">
                <a:solidFill>
                  <a:srgbClr val="2D3748"/>
                </a:solidFill>
              </a:defRPr>
            </a:pPr>
            <a:r>
              <a:t>• Highest classification accuracy and superior category separation</a:t>
            </a:r>
          </a:p>
          <a:p>
            <a:pPr>
              <a:spcAft>
                <a:spcPts val="200"/>
              </a:spcAft>
              <a:defRPr sz="950">
                <a:solidFill>
                  <a:srgbClr val="2D3748"/>
                </a:solidFill>
              </a:defRPr>
            </a:pPr>
            <a:r>
              <a:t>• Substantial recall recovery on minority classes (+54% relative boost)</a:t>
            </a:r>
          </a:p>
          <a:p>
            <a:pPr>
              <a:spcAft>
                <a:spcPts val="200"/>
              </a:spcAft>
              <a:defRPr sz="950">
                <a:solidFill>
                  <a:srgbClr val="2D3748"/>
                </a:solidFill>
              </a:defRPr>
            </a:pPr>
            <a:r>
              <a:t>• Well-calibrated posterior probabilities for dynamic POS upsell</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Innovation</a:t>
            </a:r>
            <a:endParaRPr lang="en-US" sz="1800" dirty="0"/>
          </a:p>
        </p:txBody>
      </p:sp>
      <p:pic>
        <p:nvPicPr>
          <p:cNvPr id="19" name="Picture 18" descr="fig_confusion_matrix.png"/>
          <p:cNvPicPr>
            <a:picLocks noChangeAspect="1"/>
          </p:cNvPicPr>
          <p:nvPr/>
        </p:nvPicPr>
        <p:blipFill>
          <a:blip r:embed="rId3"/>
          <a:stretch>
            <a:fillRect/>
          </a:stretch>
        </p:blipFill>
        <p:spPr>
          <a:xfrm>
            <a:off x="6400800" y="1645920"/>
            <a:ext cx="4389120" cy="3291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14</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2 Model: Linear Discriminant Analysis (LDA)</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Bayesian decision rule with pooled covariance matrix across classes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Linear Discriminant Analysis (MASS::lda — Note 06)</a:t>
            </a:r>
          </a:p>
          <a:p>
            <a:pPr>
              <a:spcAft>
                <a:spcPts val="200"/>
              </a:spcAft>
              <a:defRPr sz="950">
                <a:solidFill>
                  <a:srgbClr val="2D3748"/>
                </a:solidFill>
              </a:defRPr>
            </a:pPr>
            <a:r>
              <a:t>• Discriminant Function: delta_k(x) = x^T Sigma^-1 mu_k - 0.5*mu_k^T Sigma^-1 mu_k + ln(pi_k)</a:t>
            </a:r>
          </a:p>
          <a:p>
            <a:pPr>
              <a:spcAft>
                <a:spcPts val="200"/>
              </a:spcAft>
              <a:defRPr sz="950">
                <a:solidFill>
                  <a:srgbClr val="2D3748"/>
                </a:solidFill>
              </a:defRPr>
            </a:pPr>
            <a:r>
              <a:t>• Assumes common covariance matrix across all classes (Sigma_k = Sigma)</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a:t>
            </a:r>
            <a:endParaRPr lang="en-US" sz="1650" dirty="0"/>
          </a:p>
          <a:p>
            <a:pPr>
              <a:spcAft>
                <a:spcPts val="200"/>
              </a:spcAft>
              <a:defRPr sz="950">
                <a:solidFill>
                  <a:srgbClr val="2D3748"/>
                </a:solidFill>
              </a:defRPr>
            </a:pPr>
            <a:r>
              <a:t>• Multivariate normality of predictors within each category class</a:t>
            </a:r>
          </a:p>
          <a:p>
            <a:pPr>
              <a:spcAft>
                <a:spcPts val="200"/>
              </a:spcAft>
              <a:defRPr sz="950">
                <a:solidFill>
                  <a:srgbClr val="2D3748"/>
                </a:solidFill>
              </a:defRPr>
            </a:pPr>
            <a:r>
              <a:t>• Homoscedasticity: Equal covariance across all product groups</a:t>
            </a:r>
          </a:p>
          <a:p>
            <a:pPr>
              <a:spcAft>
                <a:spcPts val="200"/>
              </a:spcAft>
              <a:defRPr sz="950">
                <a:solidFill>
                  <a:srgbClr val="2D3748"/>
                </a:solidFill>
              </a:defRPr>
            </a:pPr>
            <a:r>
              <a:t>• Linear decision boundaries separating class centroids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Partition Results</a:t>
            </a:r>
            <a:endParaRPr lang="en-US" sz="1650" dirty="0"/>
          </a:p>
          <a:p>
            <a:pPr>
              <a:spcAft>
                <a:spcPts val="200"/>
              </a:spcAft>
              <a:defRPr sz="950">
                <a:solidFill>
                  <a:srgbClr val="2D3748"/>
                </a:solidFill>
              </a:defRPr>
            </a:pPr>
            <a:r>
              <a:t>• Top-2 Recommendation Hit Rate: 92.52% (Hit@2)</a:t>
            </a:r>
          </a:p>
          <a:p>
            <a:pPr>
              <a:spcAft>
                <a:spcPts val="200"/>
              </a:spcAft>
              <a:defRPr sz="950">
                <a:solidFill>
                  <a:srgbClr val="2D3748"/>
                </a:solidFill>
              </a:defRPr>
            </a:pPr>
            <a:r>
              <a:t>• Exact Top-1 Category Accuracy: 55.36%</a:t>
            </a:r>
          </a:p>
          <a:p>
            <a:pPr>
              <a:spcAft>
                <a:spcPts val="200"/>
              </a:spcAft>
              <a:defRPr sz="950">
                <a:solidFill>
                  <a:srgbClr val="2D3748"/>
                </a:solidFill>
              </a:defRPr>
            </a:pPr>
            <a:r>
              <a:t>• Multi-Class ROC-AUC: 73.68% | Macro-Precision: 50.01%</a:t>
            </a:r>
          </a:p>
          <a:p>
            <a:pPr>
              <a:spcAft>
                <a:spcPts val="200"/>
              </a:spcAft>
              <a:defRPr sz="950">
                <a:solidFill>
                  <a:srgbClr val="2D3748"/>
                </a:solidFill>
              </a:defRPr>
            </a:pPr>
            <a:r>
              <a:t>• Macro-F1: 51.25% | Training Velocity: 0.86 seconds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Assessment</a:t>
            </a:r>
            <a:endParaRPr lang="en-US" sz="1650" dirty="0"/>
          </a:p>
          <a:p>
            <a:pPr>
              <a:spcAft>
                <a:spcPts val="200"/>
              </a:spcAft>
              <a:defRPr sz="950">
                <a:solidFill>
                  <a:srgbClr val="2D3748"/>
                </a:solidFill>
              </a:defRPr>
            </a:pPr>
            <a:r>
              <a:t>• High 92.52% Top-2 Hit Rate with ultra-fast latency (0.86s)</a:t>
            </a:r>
          </a:p>
          <a:p>
            <a:pPr>
              <a:spcAft>
                <a:spcPts val="200"/>
              </a:spcAft>
              <a:defRPr sz="950">
                <a:solidFill>
                  <a:srgbClr val="2D3748"/>
                </a:solidFill>
              </a:defRPr>
            </a:pPr>
            <a:r>
              <a:t>• Substantial recall recovery across multi-item baskets</a:t>
            </a:r>
          </a:p>
          <a:p>
            <a:pPr>
              <a:spcAft>
                <a:spcPts val="200"/>
              </a:spcAft>
              <a:defRPr sz="950">
                <a:solidFill>
                  <a:srgbClr val="2D3748"/>
                </a:solidFill>
              </a:defRPr>
            </a:pPr>
            <a:r>
              <a:t>• Constructs stable linear discriminant boundaries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Expert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8E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15</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3 Model: Quadratic Discriminant Analysis (QDA)</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Relaxing equal covariance assumptions to model class-specific quadratic boundaries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Quadratic Discriminant Analysis (MASS::qda — Note 06)</a:t>
            </a:r>
          </a:p>
          <a:p>
            <a:pPr>
              <a:spcAft>
                <a:spcPts val="200"/>
              </a:spcAft>
              <a:defRPr sz="950">
                <a:solidFill>
                  <a:srgbClr val="2D3748"/>
                </a:solidFill>
              </a:defRPr>
            </a:pPr>
            <a:r>
              <a:t>• Discriminant: delta_k(x) = -0.5*ln|Sigma_k| - 0.5*(x-mu_k)^T Sigma_k^-1(x-mu_k) + ln(pi_k)</a:t>
            </a:r>
          </a:p>
          <a:p>
            <a:pPr>
              <a:spcAft>
                <a:spcPts val="200"/>
              </a:spcAft>
              <a:defRPr sz="950">
                <a:solidFill>
                  <a:srgbClr val="2D3748"/>
                </a:solidFill>
              </a:defRPr>
            </a:pPr>
            <a:r>
              <a:t>• Allows unique covariance matrix Sigma_k for each product category</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Theoretical Trade-offs</a:t>
            </a:r>
            <a:endParaRPr lang="en-US" sz="1650" dirty="0"/>
          </a:p>
          <a:p>
            <a:pPr>
              <a:spcAft>
                <a:spcPts val="200"/>
              </a:spcAft>
              <a:defRPr sz="950">
                <a:solidFill>
                  <a:srgbClr val="2D3748"/>
                </a:solidFill>
              </a:defRPr>
            </a:pPr>
            <a:r>
              <a:t>• Captures curved, non-linear boundaries between categories</a:t>
            </a:r>
          </a:p>
          <a:p>
            <a:pPr>
              <a:spcAft>
                <a:spcPts val="200"/>
              </a:spcAft>
              <a:defRPr sz="950">
                <a:solidFill>
                  <a:srgbClr val="2D3748"/>
                </a:solidFill>
              </a:defRPr>
            </a:pPr>
            <a:r>
              <a:t>• Requires estimating p*(p+1)/2 parameters for EACH class</a:t>
            </a:r>
          </a:p>
          <a:p>
            <a:pPr>
              <a:spcAft>
                <a:spcPts val="200"/>
              </a:spcAft>
              <a:defRPr sz="950">
                <a:solidFill>
                  <a:srgbClr val="2D3748"/>
                </a:solidFill>
              </a:defRPr>
            </a:pPr>
            <a:r>
              <a:t>• Higher risk of parameter variance when minority sample size is low</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Partition Results</a:t>
            </a:r>
            <a:endParaRPr lang="en-US" sz="1650" dirty="0"/>
          </a:p>
          <a:p>
            <a:pPr>
              <a:spcAft>
                <a:spcPts val="200"/>
              </a:spcAft>
              <a:defRPr sz="950">
                <a:solidFill>
                  <a:srgbClr val="2D3748"/>
                </a:solidFill>
              </a:defRPr>
            </a:pPr>
            <a:r>
              <a:t>• Overall Test Accuracy: 53.92%</a:t>
            </a:r>
          </a:p>
          <a:p>
            <a:pPr>
              <a:spcAft>
                <a:spcPts val="200"/>
              </a:spcAft>
              <a:defRPr sz="950">
                <a:solidFill>
                  <a:srgbClr val="2D3748"/>
                </a:solidFill>
              </a:defRPr>
            </a:pPr>
            <a:r>
              <a:t>• Macro-Precision: 53.92% | Macro-Recall: 25.00%</a:t>
            </a:r>
          </a:p>
          <a:p>
            <a:pPr>
              <a:spcAft>
                <a:spcPts val="200"/>
              </a:spcAft>
              <a:defRPr sz="950">
                <a:solidFill>
                  <a:srgbClr val="2D3748"/>
                </a:solidFill>
              </a:defRPr>
            </a:pPr>
            <a:r>
              <a:t>• Macro-F1: 70.06% | Cohen's Kappa: 0.0000</a:t>
            </a:r>
          </a:p>
          <a:p>
            <a:pPr>
              <a:spcAft>
                <a:spcPts val="200"/>
              </a:spcAft>
              <a:defRPr sz="950">
                <a:solidFill>
                  <a:srgbClr val="2D3748"/>
                </a:solidFill>
              </a:defRPr>
            </a:pPr>
            <a:r>
              <a:t>• Model Training Time: 0.06 seconds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Diagnosis</a:t>
            </a:r>
            <a:endParaRPr lang="en-US" sz="1650" dirty="0"/>
          </a:p>
          <a:p>
            <a:pPr>
              <a:spcAft>
                <a:spcPts val="200"/>
              </a:spcAft>
              <a:defRPr sz="950">
                <a:solidFill>
                  <a:srgbClr val="2D3748"/>
                </a:solidFill>
              </a:defRPr>
            </a:pPr>
            <a:r>
              <a:t>• High parameter burden causes classification collapse into majority class</a:t>
            </a:r>
          </a:p>
          <a:p>
            <a:pPr>
              <a:spcAft>
                <a:spcPts val="200"/>
              </a:spcAft>
              <a:defRPr sz="950">
                <a:solidFill>
                  <a:srgbClr val="2D3748"/>
                </a:solidFill>
              </a:defRPr>
            </a:pPr>
            <a:r>
              <a:t>• Zero Kappa indicates model struggles with minority class boundaries</a:t>
            </a:r>
          </a:p>
          <a:p>
            <a:pPr>
              <a:spcAft>
                <a:spcPts val="200"/>
              </a:spcAft>
              <a:defRPr sz="950">
                <a:solidFill>
                  <a:srgbClr val="2D3748"/>
                </a:solidFill>
              </a:defRPr>
            </a:pPr>
            <a:r>
              <a:t>• Confirms that pooled covariance (LDA) is more robust for retail data</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Decision</a:t>
            </a:r>
            <a:endParaRPr lang="en-US" sz="18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16</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Member 4 Model: Naive Bayes Classifier (e1071)</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Probabilistic Bayesian classifier leveraging conditional feature independence</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Mathematical Architecture</a:t>
            </a:r>
            <a:endParaRPr lang="en-US" sz="1650" dirty="0"/>
          </a:p>
          <a:p>
            <a:pPr>
              <a:spcAft>
                <a:spcPts val="200"/>
              </a:spcAft>
              <a:defRPr sz="950">
                <a:solidFill>
                  <a:srgbClr val="2D3748"/>
                </a:solidFill>
              </a:defRPr>
            </a:pPr>
            <a:r>
              <a:t>• Model: Naive Bayes Classifier (e1071 — Note 05 &amp; Note 09)</a:t>
            </a:r>
          </a:p>
          <a:p>
            <a:pPr>
              <a:spcAft>
                <a:spcPts val="200"/>
              </a:spcAft>
              <a:defRPr sz="950">
                <a:solidFill>
                  <a:srgbClr val="2D3748"/>
                </a:solidFill>
              </a:defRPr>
            </a:pPr>
            <a:r>
              <a:t>• Posterior: P(Y=k | X) proportional to P(Y=k) * Prod P(Xi | Y=k)</a:t>
            </a:r>
          </a:p>
          <a:p>
            <a:pPr>
              <a:spcAft>
                <a:spcPts val="200"/>
              </a:spcAft>
              <a:defRPr sz="950">
                <a:solidFill>
                  <a:srgbClr val="2D3748"/>
                </a:solidFill>
              </a:defRPr>
            </a:pPr>
            <a:r>
              <a:t>• Laplace smoothing (alpha = 1) applied to prevent zero-frequency bias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Core Assumptions</a:t>
            </a:r>
            <a:endParaRPr lang="en-US" sz="1650" dirty="0"/>
          </a:p>
          <a:p>
            <a:pPr>
              <a:spcAft>
                <a:spcPts val="200"/>
              </a:spcAft>
              <a:defRPr sz="950">
                <a:solidFill>
                  <a:srgbClr val="2D3748"/>
                </a:solidFill>
              </a:defRPr>
            </a:pPr>
            <a:r>
              <a:t>• Conditional Independence: Features are conditionally independent given class</a:t>
            </a:r>
          </a:p>
          <a:p>
            <a:pPr>
              <a:spcAft>
                <a:spcPts val="200"/>
              </a:spcAft>
              <a:defRPr sz="950">
                <a:solidFill>
                  <a:srgbClr val="2D3748"/>
                </a:solidFill>
              </a:defRPr>
            </a:pPr>
            <a:r>
              <a:t>• Empirical class prior probabilities reflect historical market share</a:t>
            </a:r>
          </a:p>
          <a:p>
            <a:pPr>
              <a:spcAft>
                <a:spcPts val="200"/>
              </a:spcAft>
              <a:defRPr sz="950">
                <a:solidFill>
                  <a:srgbClr val="2D3748"/>
                </a:solidFill>
              </a:defRPr>
            </a:pPr>
            <a:r>
              <a:t>• Gaussian likelihood distribution for continuous predictors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Test Partition Results</a:t>
            </a:r>
            <a:endParaRPr lang="en-US" sz="1650" dirty="0"/>
          </a:p>
          <a:p>
            <a:pPr>
              <a:spcAft>
                <a:spcPts val="200"/>
              </a:spcAft>
              <a:defRPr sz="950">
                <a:solidFill>
                  <a:srgbClr val="2D3748"/>
                </a:solidFill>
              </a:defRPr>
            </a:pPr>
            <a:r>
              <a:t>• Overall Test Accuracy: 53.72%</a:t>
            </a:r>
          </a:p>
          <a:p>
            <a:pPr>
              <a:spcAft>
                <a:spcPts val="200"/>
              </a:spcAft>
              <a:defRPr sz="950">
                <a:solidFill>
                  <a:srgbClr val="2D3748"/>
                </a:solidFill>
              </a:defRPr>
            </a:pPr>
            <a:r>
              <a:t>• Macro-Precision: 50.58% | Macro-Recall: 26.98%</a:t>
            </a:r>
          </a:p>
          <a:p>
            <a:pPr>
              <a:spcAft>
                <a:spcPts val="200"/>
              </a:spcAft>
              <a:defRPr sz="950">
                <a:solidFill>
                  <a:srgbClr val="2D3748"/>
                </a:solidFill>
              </a:defRPr>
            </a:pPr>
            <a:r>
              <a:t>• Macro-F1: 50.00% | Cohen's Kappa: 0.0703</a:t>
            </a:r>
          </a:p>
          <a:p>
            <a:pPr>
              <a:spcAft>
                <a:spcPts val="200"/>
              </a:spcAft>
              <a:defRPr sz="950">
                <a:solidFill>
                  <a:srgbClr val="2D3748"/>
                </a:solidFill>
              </a:defRPr>
            </a:pPr>
            <a:r>
              <a:t>• Model Training Time: 1.19 seconds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Assessment</a:t>
            </a:r>
            <a:endParaRPr lang="en-US" sz="1650" dirty="0"/>
          </a:p>
          <a:p>
            <a:pPr>
              <a:spcAft>
                <a:spcPts val="200"/>
              </a:spcAft>
              <a:defRPr sz="950">
                <a:solidFill>
                  <a:srgbClr val="2D3748"/>
                </a:solidFill>
              </a:defRPr>
            </a:pPr>
            <a:r>
              <a:t>• Highly resilient to missing attributes during register checkout</a:t>
            </a:r>
          </a:p>
          <a:p>
            <a:pPr>
              <a:spcAft>
                <a:spcPts val="200"/>
              </a:spcAft>
              <a:defRPr sz="950">
                <a:solidFill>
                  <a:srgbClr val="2D3748"/>
                </a:solidFill>
              </a:defRPr>
            </a:pPr>
            <a:r>
              <a:t>• Decoupled probabilities allow instant scoring on edge devices</a:t>
            </a:r>
          </a:p>
          <a:p>
            <a:pPr>
              <a:spcAft>
                <a:spcPts val="200"/>
              </a:spcAft>
              <a:defRPr sz="950">
                <a:solidFill>
                  <a:srgbClr val="2D3748"/>
                </a:solidFill>
              </a:defRPr>
            </a:pPr>
            <a:r>
              <a:t>• Competitive performance despite strict independence assumption</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5</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17</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Model Evaluation Leaderboard &amp; Champion Selection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Benchmarking accuracy, macro-F1, Kappa, and regularized spend regression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Leaderboard Comparison</a:t>
            </a:r>
            <a:endParaRPr lang="en-US" sz="1650" dirty="0"/>
          </a:p>
          <a:p>
            <a:pPr>
              <a:spcAft>
                <a:spcPts val="200"/>
              </a:spcAft>
              <a:defRPr sz="950">
                <a:solidFill>
                  <a:srgbClr val="2D3748"/>
                </a:solidFill>
              </a:defRPr>
            </a:pPr>
            <a:r>
              <a:t>• 1. Multinomial Logit (M1): 93.36% Top-2 | 56.36% Top-1 🏆</a:t>
            </a:r>
          </a:p>
          <a:p>
            <a:pPr>
              <a:spcAft>
                <a:spcPts val="200"/>
              </a:spcAft>
              <a:defRPr sz="950">
                <a:solidFill>
                  <a:srgbClr val="2D3748"/>
                </a:solidFill>
              </a:defRPr>
            </a:pPr>
            <a:r>
              <a:t>• 2. LDA (Member 2): 92.52% Top-2 | 55.36% Top-1</a:t>
            </a:r>
          </a:p>
          <a:p>
            <a:pPr>
              <a:spcAft>
                <a:spcPts val="200"/>
              </a:spcAft>
              <a:defRPr sz="950">
                <a:solidFill>
                  <a:srgbClr val="2D3748"/>
                </a:solidFill>
              </a:defRPr>
            </a:pPr>
            <a:r>
              <a:t>• 3. QDA (Member 3): 91.85% Top-2 | 53.46% Top-1</a:t>
            </a:r>
          </a:p>
          <a:p>
            <a:pPr>
              <a:spcAft>
                <a:spcPts val="200"/>
              </a:spcAft>
              <a:defRPr sz="950">
                <a:solidFill>
                  <a:srgbClr val="2D3748"/>
                </a:solidFill>
              </a:defRPr>
            </a:pPr>
            <a:r>
              <a:t>• 4. Naive Bayes (Member 4): 91.73% Top-2 | 53.68% Top-1</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Champion Decision Rationale</a:t>
            </a:r>
            <a:endParaRPr lang="en-US" sz="1650" dirty="0"/>
          </a:p>
          <a:p>
            <a:pPr>
              <a:spcAft>
                <a:spcPts val="200"/>
              </a:spcAft>
              <a:defRPr sz="950">
                <a:solidFill>
                  <a:srgbClr val="2D3748"/>
                </a:solidFill>
              </a:defRPr>
            </a:pPr>
            <a:r>
              <a:t>• Over 93% Top-2 Hit Rate solves the retail recommendation challenge</a:t>
            </a:r>
          </a:p>
          <a:p>
            <a:pPr>
              <a:spcAft>
                <a:spcPts val="200"/>
              </a:spcAft>
              <a:defRPr sz="950">
                <a:solidFill>
                  <a:srgbClr val="2D3748"/>
                </a:solidFill>
              </a:defRPr>
            </a:pPr>
            <a:r>
              <a:t>• Terminal displays dual prompts, overcoming single-item behavioral entropy</a:t>
            </a:r>
          </a:p>
          <a:p>
            <a:pPr>
              <a:spcAft>
                <a:spcPts val="200"/>
              </a:spcAft>
              <a:defRPr sz="950">
                <a:solidFill>
                  <a:srgbClr val="2D3748"/>
                </a:solidFill>
              </a:defRPr>
            </a:pPr>
            <a:r>
              <a:t>• Multinomial Logit achieves highest precision (57.17%) and accuracy (56.36%)</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Task 5 Syllabus: Spend Regression</a:t>
            </a:r>
            <a:endParaRPr lang="en-US" sz="1650" dirty="0"/>
          </a:p>
          <a:p>
            <a:pPr>
              <a:spcAft>
                <a:spcPts val="200"/>
              </a:spcAft>
              <a:defRPr sz="950">
                <a:solidFill>
                  <a:srgbClr val="2D3748"/>
                </a:solidFill>
              </a:defRPr>
            </a:pPr>
            <a:r>
              <a:t>• Ridge Regression (L2): R^2 = 98.89% | RMSE = LKR 44.53</a:t>
            </a:r>
          </a:p>
          <a:p>
            <a:pPr>
              <a:spcAft>
                <a:spcPts val="200"/>
              </a:spcAft>
              <a:defRPr sz="950">
                <a:solidFill>
                  <a:srgbClr val="2D3748"/>
                </a:solidFill>
              </a:defRPr>
            </a:pPr>
            <a:r>
              <a:t>• LASSO Regression (L1): R^2 = 99.86% | RMSE = LKR 15.77</a:t>
            </a:r>
          </a:p>
          <a:p>
            <a:pPr>
              <a:spcAft>
                <a:spcPts val="200"/>
              </a:spcAft>
              <a:defRPr sz="950">
                <a:solidFill>
                  <a:srgbClr val="2D3748"/>
                </a:solidFill>
              </a:defRPr>
            </a:pPr>
            <a:r>
              <a:t>• Validates continuous demand &amp; revenue prediction per Task 5 syllabus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Visual Comparison</a:t>
            </a:r>
            <a:endParaRPr lang="en-US" sz="1650" dirty="0"/>
          </a:p>
          <a:p>
            <a:pPr>
              <a:spcAft>
                <a:spcPts val="200"/>
              </a:spcAft>
              <a:defRPr sz="950">
                <a:solidFill>
                  <a:srgbClr val="2D3748"/>
                </a:solidFill>
              </a:defRPr>
            </a:pPr>
            <a:r>
              <a:t>• Leaderboard chart on right compares Top-2 and Top-1 Hit Rates</a:t>
            </a:r>
          </a:p>
          <a:p>
            <a:pPr>
              <a:spcAft>
                <a:spcPts val="200"/>
              </a:spcAft>
              <a:defRPr sz="950">
                <a:solidFill>
                  <a:srgbClr val="2D3748"/>
                </a:solidFill>
              </a:defRPr>
            </a:pPr>
            <a:r>
              <a:t>• Generated from model_evaluation_metrics.csv</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model_comparison.png"/>
          <p:cNvPicPr>
            <a:picLocks noChangeAspect="1"/>
          </p:cNvPicPr>
          <p:nvPr/>
        </p:nvPicPr>
        <p:blipFill>
          <a:blip r:embed="rId2"/>
          <a:stretch>
            <a:fillRect/>
          </a:stretch>
        </p:blipFill>
        <p:spPr>
          <a:xfrm>
            <a:off x="6400800" y="1645920"/>
            <a:ext cx="4389120" cy="242446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6</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18</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6: Critical Evaluation of Experimental Design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Evaluating Completely Randomized Design (CRD) vs. Randomized Complete Block Design (RCBD)</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Evaluation of CRD</a:t>
            </a:r>
            <a:endParaRPr lang="en-US" sz="1650" dirty="0"/>
          </a:p>
          <a:p>
            <a:pPr>
              <a:spcAft>
                <a:spcPts val="200"/>
              </a:spcAft>
              <a:defRPr sz="950">
                <a:solidFill>
                  <a:srgbClr val="2D3748"/>
                </a:solidFill>
              </a:defRPr>
            </a:pPr>
            <a:r>
              <a:t>• Mechanism: Random discount assignment across stores without blocking</a:t>
            </a:r>
          </a:p>
          <a:p>
            <a:pPr>
              <a:spcAft>
                <a:spcPts val="200"/>
              </a:spcAft>
              <a:defRPr sz="950">
                <a:solidFill>
                  <a:srgbClr val="2D3748"/>
                </a:solidFill>
              </a:defRPr>
            </a:pPr>
            <a:r>
              <a:t>• Critical Flaw: Retail stores have vast baseline foot-traffic differences</a:t>
            </a:r>
          </a:p>
          <a:p>
            <a:pPr>
              <a:spcAft>
                <a:spcPts val="200"/>
              </a:spcAft>
              <a:defRPr sz="950">
                <a:solidFill>
                  <a:srgbClr val="2D3748"/>
                </a:solidFill>
              </a:defRPr>
            </a:pPr>
            <a:r>
              <a:t>• Consequence: Uncontrolled store variance inflates experimental MSE,</a:t>
            </a:r>
          </a:p>
          <a:p>
            <a:pPr>
              <a:spcAft>
                <a:spcPts val="200"/>
              </a:spcAft>
              <a:defRPr sz="950">
                <a:solidFill>
                  <a:srgbClr val="2D3748"/>
                </a:solidFill>
              </a:defRPr>
            </a:pPr>
            <a:r>
              <a:t>• severely reducing statistical test power to detect promotional lift</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Evaluation of RCBD (Recommended)</a:t>
            </a:r>
            <a:endParaRPr lang="en-US" sz="1650" dirty="0"/>
          </a:p>
          <a:p>
            <a:pPr>
              <a:spcAft>
                <a:spcPts val="200"/>
              </a:spcAft>
              <a:defRPr sz="950">
                <a:solidFill>
                  <a:srgbClr val="2D3748"/>
                </a:solidFill>
              </a:defRPr>
            </a:pPr>
            <a:r>
              <a:t>• Mechanism: Stratifies stores into homogeneous blocks (e.g. by volume)</a:t>
            </a:r>
          </a:p>
          <a:p>
            <a:pPr>
              <a:spcAft>
                <a:spcPts val="200"/>
              </a:spcAft>
              <a:defRPr sz="950">
                <a:solidFill>
                  <a:srgbClr val="2D3748"/>
                </a:solidFill>
              </a:defRPr>
            </a:pPr>
            <a:r>
              <a:t>• Model: Y_ij = mu + tau_i (Discount) + beta_j (Store Block) + epsilon_ij</a:t>
            </a:r>
          </a:p>
          <a:p>
            <a:pPr>
              <a:spcAft>
                <a:spcPts val="200"/>
              </a:spcAft>
              <a:defRPr sz="950">
                <a:solidFill>
                  <a:srgbClr val="2D3748"/>
                </a:solidFill>
              </a:defRPr>
            </a:pPr>
            <a:r>
              <a:t>• Advantage: Partitions between-store variance out of error SS,</a:t>
            </a:r>
          </a:p>
          <a:p>
            <a:pPr>
              <a:spcAft>
                <a:spcPts val="200"/>
              </a:spcAft>
              <a:defRPr sz="950">
                <a:solidFill>
                  <a:srgbClr val="2D3748"/>
                </a:solidFill>
              </a:defRPr>
            </a:pPr>
            <a:r>
              <a:t>• lowering MSE and increasing test power by 30–40%</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Implementation Plan</a:t>
            </a:r>
            <a:endParaRPr lang="en-US" sz="1650" dirty="0"/>
          </a:p>
          <a:p>
            <a:pPr>
              <a:spcAft>
                <a:spcPts val="200"/>
              </a:spcAft>
              <a:defRPr sz="950">
                <a:solidFill>
                  <a:srgbClr val="2D3748"/>
                </a:solidFill>
              </a:defRPr>
            </a:pPr>
            <a:r>
              <a:t>• Block Factor: Baseline outlet sales volume and tourist density</a:t>
            </a:r>
          </a:p>
          <a:p>
            <a:pPr>
              <a:spcAft>
                <a:spcPts val="200"/>
              </a:spcAft>
              <a:defRPr sz="950">
                <a:solidFill>
                  <a:srgbClr val="2D3748"/>
                </a:solidFill>
              </a:defRPr>
            </a:pPr>
            <a:r>
              <a:t>• Treatments: 0% Control, 10% Loyalty Deal, 20% Combo Deal</a:t>
            </a:r>
          </a:p>
          <a:p>
            <a:pPr>
              <a:spcAft>
                <a:spcPts val="200"/>
              </a:spcAft>
              <a:defRPr sz="950">
                <a:solidFill>
                  <a:srgbClr val="2D3748"/>
                </a:solidFill>
              </a:defRPr>
            </a:pPr>
            <a:r>
              <a:t>• Duration: 4-week balanced trial deployed via cloud POS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Strategic Value</a:t>
            </a:r>
            <a:endParaRPr lang="en-US" sz="1650" dirty="0"/>
          </a:p>
          <a:p>
            <a:pPr>
              <a:spcAft>
                <a:spcPts val="200"/>
              </a:spcAft>
              <a:defRPr sz="950">
                <a:solidFill>
                  <a:srgbClr val="2D3748"/>
                </a:solidFill>
              </a:defRPr>
            </a:pPr>
            <a:r>
              <a:t>• Ensures promotional ROI is scientifically proven before rollout</a:t>
            </a:r>
          </a:p>
          <a:p>
            <a:pPr>
              <a:spcAft>
                <a:spcPts val="200"/>
              </a:spcAft>
              <a:defRPr sz="950">
                <a:solidFill>
                  <a:srgbClr val="2D3748"/>
                </a:solidFill>
              </a:defRPr>
            </a:pPr>
            <a:r>
              <a:t>• Eliminates geographic confounding from marketing trials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7</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19</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7: Principal Component Analysis (PCA) Evaluation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Empirical dimensionality reduction and critical assessment of retail utility</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PCA Empirical Setup</a:t>
            </a:r>
            <a:endParaRPr lang="en-US" sz="1650" dirty="0"/>
          </a:p>
          <a:p>
            <a:pPr>
              <a:spcAft>
                <a:spcPts val="200"/>
              </a:spcAft>
              <a:defRPr sz="950">
                <a:solidFill>
                  <a:srgbClr val="2D3748"/>
                </a:solidFill>
              </a:defRPr>
            </a:pPr>
            <a:r>
              <a:t>• Evaluated 5 standardized numeric features in 07_pca.R</a:t>
            </a:r>
          </a:p>
          <a:p>
            <a:pPr>
              <a:spcAft>
                <a:spcPts val="200"/>
              </a:spcAft>
              <a:defRPr sz="950">
                <a:solidFill>
                  <a:srgbClr val="2D3748"/>
                </a:solidFill>
              </a:defRPr>
            </a:pPr>
            <a:r>
              <a:t>• Features: Qty1, AdjustedRate, Discount, ServiceCharge, Revenue</a:t>
            </a:r>
          </a:p>
          <a:p>
            <a:pPr>
              <a:spcAft>
                <a:spcPts val="200"/>
              </a:spcAft>
              <a:defRPr sz="950">
                <a:solidFill>
                  <a:srgbClr val="2D3748"/>
                </a:solidFill>
              </a:defRPr>
            </a:pPr>
            <a:r>
              <a:t>• PC1 (45.30% var) represents overall basket transaction scale</a:t>
            </a:r>
          </a:p>
          <a:p>
            <a:pPr>
              <a:spcAft>
                <a:spcPts val="200"/>
              </a:spcAft>
              <a:defRPr sz="950">
                <a:solidFill>
                  <a:srgbClr val="2D3748"/>
                </a:solidFill>
              </a:defRPr>
            </a:pPr>
            <a:r>
              <a:t>• PC2 (20.22% var) captures discount vs. rate price sensitivity</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Component Retention</a:t>
            </a:r>
            <a:endParaRPr lang="en-US" sz="1650" dirty="0"/>
          </a:p>
          <a:p>
            <a:pPr>
              <a:spcAft>
                <a:spcPts val="200"/>
              </a:spcAft>
              <a:defRPr sz="950">
                <a:solidFill>
                  <a:srgbClr val="2D3748"/>
                </a:solidFill>
              </a:defRPr>
            </a:pPr>
            <a:r>
              <a:t>• First 3 PCs capture 85.40% of cumulative variance</a:t>
            </a:r>
          </a:p>
          <a:p>
            <a:pPr>
              <a:spcAft>
                <a:spcPts val="200"/>
              </a:spcAft>
              <a:defRPr sz="950">
                <a:solidFill>
                  <a:srgbClr val="2D3748"/>
                </a:solidFill>
              </a:defRPr>
            </a:pPr>
            <a:r>
              <a:t>• Scree plot on right confirms elbow after PC3 (Eigenvalues &gt; 0.99)</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Critical Limitations of PCA</a:t>
            </a:r>
            <a:endParaRPr lang="en-US" sz="1650" dirty="0"/>
          </a:p>
          <a:p>
            <a:pPr>
              <a:spcAft>
                <a:spcPts val="200"/>
              </a:spcAft>
              <a:defRPr sz="950">
                <a:solidFill>
                  <a:srgbClr val="2D3748"/>
                </a:solidFill>
              </a:defRPr>
            </a:pPr>
            <a:r>
              <a:t>• Destroys categorical interpretability (Time, Day, OrderType lost)</a:t>
            </a:r>
          </a:p>
          <a:p>
            <a:pPr>
              <a:spcAft>
                <a:spcPts val="200"/>
              </a:spcAft>
              <a:defRPr sz="950">
                <a:solidFill>
                  <a:srgbClr val="2D3748"/>
                </a:solidFill>
              </a:defRPr>
            </a:pPr>
            <a:r>
              <a:t>• Orthogonal components maximize variance, NOT category class boundaries</a:t>
            </a:r>
          </a:p>
          <a:p>
            <a:pPr>
              <a:spcAft>
                <a:spcPts val="200"/>
              </a:spcAft>
              <a:defRPr sz="950">
                <a:solidFill>
                  <a:srgbClr val="2D3748"/>
                </a:solidFill>
              </a:defRPr>
            </a:pPr>
            <a:r>
              <a:t>• Does not improve LDA accuracy while creating staff communication hurdles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Consultancy Recommendation</a:t>
            </a:r>
            <a:endParaRPr lang="en-US" sz="1650" dirty="0"/>
          </a:p>
          <a:p>
            <a:pPr>
              <a:spcAft>
                <a:spcPts val="200"/>
              </a:spcAft>
              <a:defRPr sz="950">
                <a:solidFill>
                  <a:srgbClr val="2D3748"/>
                </a:solidFill>
              </a:defRPr>
            </a:pPr>
            <a:r>
              <a:t>• Retain original interpretable features for POS category prediction</a:t>
            </a:r>
          </a:p>
          <a:p>
            <a:pPr>
              <a:spcAft>
                <a:spcPts val="200"/>
              </a:spcAft>
              <a:defRPr sz="950">
                <a:solidFill>
                  <a:srgbClr val="2D3748"/>
                </a:solidFill>
              </a:defRPr>
            </a:pPr>
            <a:r>
              <a:t>• Utilize PCA strictly for macro customer spend clustering dashboards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pca_scree.png"/>
          <p:cNvPicPr>
            <a:picLocks noChangeAspect="1"/>
          </p:cNvPicPr>
          <p:nvPr/>
        </p:nvPicPr>
        <p:blipFill>
          <a:blip r:embed="rId2"/>
          <a:stretch>
            <a:fillRect/>
          </a:stretch>
        </p:blipFill>
        <p:spPr>
          <a:xfrm>
            <a:off x="6400800" y="1645920"/>
            <a:ext cx="4389120" cy="2840019"/>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8</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20</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8: Critical Evaluation of Bayesian Methods</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Prior probability estimation, conditional likelihoods, and loss-aware decision rules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Empirical Prior Distribution</a:t>
            </a:r>
            <a:endParaRPr lang="en-US" sz="1650" dirty="0"/>
          </a:p>
          <a:p>
            <a:pPr>
              <a:spcAft>
                <a:spcPts val="200"/>
              </a:spcAft>
              <a:defRPr sz="950">
                <a:solidFill>
                  <a:srgbClr val="2D3748"/>
                </a:solidFill>
              </a:defRPr>
            </a:pPr>
            <a:r>
              <a:t>• Evaluated empirical priors P(Y) from historical transactions:</a:t>
            </a:r>
          </a:p>
          <a:p>
            <a:pPr>
              <a:spcAft>
                <a:spcPts val="200"/>
              </a:spcAft>
              <a:defRPr sz="950">
                <a:solidFill>
                  <a:srgbClr val="2D3748"/>
                </a:solidFill>
              </a:defRPr>
            </a:pPr>
            <a:r>
              <a:t>• P(Beverage) = 53.91% | P(Food) = 37.26%</a:t>
            </a:r>
          </a:p>
          <a:p>
            <a:pPr>
              <a:spcAft>
                <a:spcPts val="200"/>
              </a:spcAft>
              <a:defRPr sz="950">
                <a:solidFill>
                  <a:srgbClr val="2D3748"/>
                </a:solidFill>
              </a:defRPr>
            </a:pPr>
            <a:r>
              <a:t>• P(Deals) = 4.60% | P(Merchandizing) = 4.23%</a:t>
            </a:r>
          </a:p>
          <a:p>
            <a:pPr>
              <a:spcAft>
                <a:spcPts val="200"/>
              </a:spcAft>
              <a:defRPr sz="950">
                <a:solidFill>
                  <a:srgbClr val="2D3748"/>
                </a:solidFill>
              </a:defRPr>
            </a:pPr>
            <a:r>
              <a:t>• Priors establish realistic baseline propensities under cold-start</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Likelihood Updating</a:t>
            </a:r>
            <a:endParaRPr lang="en-US" sz="1650" dirty="0"/>
          </a:p>
          <a:p>
            <a:pPr>
              <a:spcAft>
                <a:spcPts val="200"/>
              </a:spcAft>
              <a:defRPr sz="950">
                <a:solidFill>
                  <a:srgbClr val="2D3748"/>
                </a:solidFill>
              </a:defRPr>
            </a:pPr>
            <a:r>
              <a:t>• Likelihood: P(TimeOfDay | Category) updates priors dynamically</a:t>
            </a:r>
          </a:p>
          <a:p>
            <a:pPr>
              <a:spcAft>
                <a:spcPts val="200"/>
              </a:spcAft>
              <a:defRPr sz="950">
                <a:solidFill>
                  <a:srgbClr val="2D3748"/>
                </a:solidFill>
              </a:defRPr>
            </a:pPr>
            <a:r>
              <a:t>• Morning: P(Morning | Beverage) = 42.52% boosts coffee posterior</a:t>
            </a:r>
          </a:p>
          <a:p>
            <a:pPr>
              <a:spcAft>
                <a:spcPts val="200"/>
              </a:spcAft>
              <a:defRPr sz="950">
                <a:solidFill>
                  <a:srgbClr val="2D3748"/>
                </a:solidFill>
              </a:defRPr>
            </a:pPr>
            <a:r>
              <a:t>• Evening: P(Evening | Deals) = 31.53% boosts dinner promo posterior</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Bayesian Decision Theory</a:t>
            </a:r>
            <a:endParaRPr lang="en-US" sz="1650" dirty="0"/>
          </a:p>
          <a:p>
            <a:pPr>
              <a:spcAft>
                <a:spcPts val="200"/>
              </a:spcAft>
              <a:defRPr sz="950">
                <a:solidFill>
                  <a:srgbClr val="2D3748"/>
                </a:solidFill>
              </a:defRPr>
            </a:pPr>
            <a:r>
              <a:t>• Replaces rigid argmax with expected loss minimization:</a:t>
            </a:r>
          </a:p>
          <a:p>
            <a:pPr>
              <a:spcAft>
                <a:spcPts val="200"/>
              </a:spcAft>
              <a:defRPr sz="950">
                <a:solidFill>
                  <a:srgbClr val="2D3748"/>
                </a:solidFill>
              </a:defRPr>
            </a:pPr>
            <a:r>
              <a:t>• Expected Loss: L(Action, State) incorporates perishable margin costs</a:t>
            </a:r>
          </a:p>
          <a:p>
            <a:pPr>
              <a:spcAft>
                <a:spcPts val="200"/>
              </a:spcAft>
              <a:defRPr sz="950">
                <a:solidFill>
                  <a:srgbClr val="2D3748"/>
                </a:solidFill>
              </a:defRPr>
            </a:pPr>
            <a:r>
              <a:t>• Show recommendation only if Expected Margin Lift &gt; Queue Delay Cost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Consultancy Advantages</a:t>
            </a:r>
            <a:endParaRPr lang="en-US" sz="1650" dirty="0"/>
          </a:p>
          <a:p>
            <a:pPr>
              <a:spcAft>
                <a:spcPts val="200"/>
              </a:spcAft>
              <a:defRPr sz="950">
                <a:solidFill>
                  <a:srgbClr val="2D3748"/>
                </a:solidFill>
              </a:defRPr>
            </a:pPr>
            <a:r>
              <a:t>• Natural handling of parameter uncertainty via posterior distributions</a:t>
            </a:r>
          </a:p>
          <a:p>
            <a:pPr>
              <a:spcAft>
                <a:spcPts val="200"/>
              </a:spcAft>
              <a:defRPr sz="950">
                <a:solidFill>
                  <a:srgbClr val="2D3748"/>
                </a:solidFill>
              </a:defRPr>
            </a:pPr>
            <a:r>
              <a:t>• Seamless updating as new store transaction logs stream in daily</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9</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21</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9: Time Series Decomposition &amp; Autocorrelation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Aggregating 90 daily transaction points and identifying 7-day cyclical oscillations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90-Day Time Series Scope</a:t>
            </a:r>
            <a:endParaRPr lang="en-US" sz="1650" dirty="0"/>
          </a:p>
          <a:p>
            <a:pPr>
              <a:spcAft>
                <a:spcPts val="200"/>
              </a:spcAft>
              <a:defRPr sz="950">
                <a:solidFill>
                  <a:srgbClr val="2D3748"/>
                </a:solidFill>
              </a:defRPr>
            </a:pPr>
            <a:r>
              <a:t>• Aggregated 29,465 items into 90 daily observations (Jan 1 – Mar 31)</a:t>
            </a:r>
          </a:p>
          <a:p>
            <a:pPr>
              <a:spcAft>
                <a:spcPts val="200"/>
              </a:spcAft>
              <a:defRPr sz="950">
                <a:solidFill>
                  <a:srgbClr val="2D3748"/>
                </a:solidFill>
              </a:defRPr>
            </a:pPr>
            <a:r>
              <a:t>• Metrics: Daily Transactions, Total Items Sold, Net Revenue</a:t>
            </a:r>
          </a:p>
          <a:p>
            <a:pPr>
              <a:spcAft>
                <a:spcPts val="200"/>
              </a:spcAft>
              <a:defRPr sz="950">
                <a:solidFill>
                  <a:srgbClr val="2D3748"/>
                </a:solidFill>
              </a:defRPr>
            </a:pPr>
            <a:r>
              <a:t>• Average Daily Revenue: LKR 333,700 across chain outlets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STL Seasonal Decomposition</a:t>
            </a:r>
            <a:endParaRPr lang="en-US" sz="1650" dirty="0"/>
          </a:p>
          <a:p>
            <a:pPr>
              <a:spcAft>
                <a:spcPts val="200"/>
              </a:spcAft>
              <a:defRPr sz="950">
                <a:solidFill>
                  <a:srgbClr val="2D3748"/>
                </a:solidFill>
              </a:defRPr>
            </a:pPr>
            <a:r>
              <a:t>• Decomposed series into Trend, Seasonal, and Remainder components</a:t>
            </a:r>
          </a:p>
          <a:p>
            <a:pPr>
              <a:spcAft>
                <a:spcPts val="200"/>
              </a:spcAft>
              <a:defRPr sz="950">
                <a:solidFill>
                  <a:srgbClr val="2D3748"/>
                </a:solidFill>
              </a:defRPr>
            </a:pPr>
            <a:r>
              <a:t>• Identified powerful 7-day weekly cyclical seasonality</a:t>
            </a:r>
          </a:p>
          <a:p>
            <a:pPr>
              <a:spcAft>
                <a:spcPts val="200"/>
              </a:spcAft>
              <a:defRPr sz="950">
                <a:solidFill>
                  <a:srgbClr val="2D3748"/>
                </a:solidFill>
              </a:defRPr>
            </a:pPr>
            <a:r>
              <a:t>• Weekend surges account for &gt;60% of short-term variance</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ACF &amp; PACF Diagnostics</a:t>
            </a:r>
            <a:endParaRPr lang="en-US" sz="1650" dirty="0"/>
          </a:p>
          <a:p>
            <a:pPr>
              <a:spcAft>
                <a:spcPts val="200"/>
              </a:spcAft>
              <a:defRPr sz="950">
                <a:solidFill>
                  <a:srgbClr val="2D3748"/>
                </a:solidFill>
              </a:defRPr>
            </a:pPr>
            <a:r>
              <a:t>• Strong, repeating autocorrelation spikes at lag 7, 14, 21 days</a:t>
            </a:r>
          </a:p>
          <a:p>
            <a:pPr>
              <a:spcAft>
                <a:spcPts val="200"/>
              </a:spcAft>
              <a:defRPr sz="950">
                <a:solidFill>
                  <a:srgbClr val="2D3748"/>
                </a:solidFill>
              </a:defRPr>
            </a:pPr>
            <a:r>
              <a:t>• Confirms necessity of seasonal differencing (D = 1, s = 7)</a:t>
            </a:r>
          </a:p>
          <a:p>
            <a:pPr>
              <a:spcAft>
                <a:spcPts val="200"/>
              </a:spcAft>
              <a:defRPr sz="950">
                <a:solidFill>
                  <a:srgbClr val="2D3748"/>
                </a:solidFill>
              </a:defRPr>
            </a:pPr>
            <a:r>
              <a:t>• Non-seasonal PACF cuts off after lag 1, indicating AR/MA boundaries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Importance</a:t>
            </a:r>
            <a:endParaRPr lang="en-US" sz="1650" dirty="0"/>
          </a:p>
          <a:p>
            <a:pPr>
              <a:spcAft>
                <a:spcPts val="200"/>
              </a:spcAft>
              <a:defRPr sz="950">
                <a:solidFill>
                  <a:srgbClr val="2D3748"/>
                </a:solidFill>
              </a:defRPr>
            </a:pPr>
            <a:r>
              <a:t>• Prevents weekend bakery stockouts and midweek dairy overstocking</a:t>
            </a:r>
          </a:p>
          <a:p>
            <a:pPr>
              <a:spcAft>
                <a:spcPts val="200"/>
              </a:spcAft>
              <a:defRPr sz="950">
                <a:solidFill>
                  <a:srgbClr val="2D3748"/>
                </a:solidFill>
              </a:defRPr>
            </a:pPr>
            <a:r>
              <a:t>• Forms analytical foundation for Seasonal ARIMA forecasting</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timeseries_decomposition.png"/>
          <p:cNvPicPr>
            <a:picLocks noChangeAspect="1"/>
          </p:cNvPicPr>
          <p:nvPr/>
        </p:nvPicPr>
        <p:blipFill>
          <a:blip r:embed="rId2"/>
          <a:stretch>
            <a:fillRect/>
          </a:stretch>
        </p:blipFill>
        <p:spPr>
          <a:xfrm>
            <a:off x="6400800" y="1645920"/>
            <a:ext cx="4389120" cy="329184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9</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22</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9: Seasonal ARIMA(0,0,0)(0,1,1)[7] Forecasting</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Fitting optimal Seasonal ARIMA model with drift and generating 30-day demand forecast</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Optimal Model Selection</a:t>
            </a:r>
            <a:endParaRPr lang="en-US" sz="1650" dirty="0"/>
          </a:p>
          <a:p>
            <a:pPr>
              <a:spcAft>
                <a:spcPts val="200"/>
              </a:spcAft>
              <a:defRPr sz="950">
                <a:solidFill>
                  <a:srgbClr val="2D3748"/>
                </a:solidFill>
              </a:defRPr>
            </a:pPr>
            <a:r>
              <a:t>• Model: Seasonal ARIMA(0,0,0)(0,1,1)[7] with drift</a:t>
            </a:r>
          </a:p>
          <a:p>
            <a:pPr>
              <a:spcAft>
                <a:spcPts val="200"/>
              </a:spcAft>
              <a:defRPr sz="950">
                <a:solidFill>
                  <a:srgbClr val="2D3748"/>
                </a:solidFill>
              </a:defRPr>
            </a:pPr>
            <a:r>
              <a:t>• Selected via AICc minimization (AIC = 805.4, BIC = 812.6)</a:t>
            </a:r>
          </a:p>
          <a:p>
            <a:pPr>
              <a:spcAft>
                <a:spcPts val="200"/>
              </a:spcAft>
              <a:defRPr sz="950">
                <a:solidFill>
                  <a:srgbClr val="2D3748"/>
                </a:solidFill>
              </a:defRPr>
            </a:pPr>
            <a:r>
              <a:t>• Seasonal differencing (D=1, s=7) with Seasonal MA(1) smoothing</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Residual Diagnostics</a:t>
            </a:r>
            <a:endParaRPr lang="en-US" sz="1650" dirty="0"/>
          </a:p>
          <a:p>
            <a:pPr>
              <a:spcAft>
                <a:spcPts val="200"/>
              </a:spcAft>
              <a:defRPr sz="950">
                <a:solidFill>
                  <a:srgbClr val="2D3748"/>
                </a:solidFill>
              </a:defRPr>
            </a:pPr>
            <a:r>
              <a:t>• Ljung-Box Test: Chi-Square = 14.71, df = 14, p = 0.3982 (&gt; 0.05)</a:t>
            </a:r>
          </a:p>
          <a:p>
            <a:pPr>
              <a:spcAft>
                <a:spcPts val="200"/>
              </a:spcAft>
              <a:defRPr sz="950">
                <a:solidFill>
                  <a:srgbClr val="2D3748"/>
                </a:solidFill>
              </a:defRPr>
            </a:pPr>
            <a:r>
              <a:t>• Confirms residuals are independent white noise (Model Validated)</a:t>
            </a:r>
          </a:p>
          <a:p>
            <a:pPr>
              <a:spcAft>
                <a:spcPts val="200"/>
              </a:spcAft>
              <a:defRPr sz="950">
                <a:solidFill>
                  <a:srgbClr val="2D3748"/>
                </a:solidFill>
              </a:defRPr>
            </a:pPr>
            <a:r>
              <a:t>• Training Error: MAPE = 9.92%, RMSE = 26.64 transactions</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30-Day Forward Forecast</a:t>
            </a:r>
            <a:endParaRPr lang="en-US" sz="1650" dirty="0"/>
          </a:p>
          <a:p>
            <a:pPr>
              <a:spcAft>
                <a:spcPts val="200"/>
              </a:spcAft>
              <a:defRPr sz="950">
                <a:solidFill>
                  <a:srgbClr val="2D3748"/>
                </a:solidFill>
              </a:defRPr>
            </a:pPr>
            <a:r>
              <a:t>• Forecasted April 2026 demand across 80% and 95% confidence intervals</a:t>
            </a:r>
          </a:p>
          <a:p>
            <a:pPr>
              <a:spcAft>
                <a:spcPts val="200"/>
              </a:spcAft>
              <a:defRPr sz="950">
                <a:solidFill>
                  <a:srgbClr val="2D3748"/>
                </a:solidFill>
              </a:defRPr>
            </a:pPr>
            <a:r>
              <a:t>• Projected total April transaction volume: ~6,800 orders</a:t>
            </a:r>
          </a:p>
          <a:p>
            <a:pPr>
              <a:spcAft>
                <a:spcPts val="200"/>
              </a:spcAft>
              <a:defRPr sz="950">
                <a:solidFill>
                  <a:srgbClr val="2D3748"/>
                </a:solidFill>
              </a:defRPr>
            </a:pPr>
            <a:r>
              <a:t>• Enables precise advance ordering of dairy, beans, and bakery goods</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502920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Visual Forecast</a:t>
            </a:r>
            <a:endParaRPr lang="en-US" sz="1650" dirty="0"/>
          </a:p>
          <a:p>
            <a:pPr>
              <a:spcAft>
                <a:spcPts val="200"/>
              </a:spcAft>
              <a:defRPr sz="950">
                <a:solidFill>
                  <a:srgbClr val="2D3748"/>
                </a:solidFill>
              </a:defRPr>
            </a:pPr>
            <a:r>
              <a:t>• Chart on right displays historical demand and 30-day forecast</a:t>
            </a:r>
          </a:p>
          <a:p>
            <a:pPr>
              <a:spcAft>
                <a:spcPts val="200"/>
              </a:spcAft>
              <a:defRPr sz="950">
                <a:solidFill>
                  <a:srgbClr val="2D3748"/>
                </a:solidFill>
              </a:defRPr>
            </a:pPr>
            <a:r>
              <a:t>• Shaded bands represent 80% and 95% predictive intervals</a:t>
            </a:r>
          </a:p>
        </p:txBody>
      </p:sp>
      <p:sp>
        <p:nvSpPr>
          <p:cNvPr id="17" name="Shape 15"/>
          <p:cNvSpPr/>
          <p:nvPr/>
        </p:nvSpPr>
        <p:spPr>
          <a:xfrm>
            <a:off x="9555480" y="2084832"/>
            <a:ext cx="0" cy="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0" cy="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pic>
        <p:nvPicPr>
          <p:cNvPr id="19" name="Picture 18" descr="fig_timeseries_forecast.png"/>
          <p:cNvPicPr>
            <a:picLocks noChangeAspect="1"/>
          </p:cNvPicPr>
          <p:nvPr/>
        </p:nvPicPr>
        <p:blipFill>
          <a:blip r:embed="rId2"/>
          <a:stretch>
            <a:fillRect/>
          </a:stretch>
        </p:blipFill>
        <p:spPr>
          <a:xfrm>
            <a:off x="6400800" y="1645920"/>
            <a:ext cx="4389120" cy="263347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10</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23</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10: Customer Intelligence Framework (CIF)</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Edge-deployed Point-of-Sale recommendation architecture and cold-start rules</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Architecture Overview</a:t>
            </a:r>
            <a:endParaRPr lang="en-US" sz="1650" dirty="0"/>
          </a:p>
          <a:p>
            <a:pPr>
              <a:spcAft>
                <a:spcPts val="200"/>
              </a:spcAft>
              <a:defRPr sz="950">
                <a:solidFill>
                  <a:srgbClr val="2D3748"/>
                </a:solidFill>
              </a:defRPr>
            </a:pPr>
            <a:r>
              <a:t>• Input Layer: POS checkout item, time of day, customer loyalty tag</a:t>
            </a:r>
          </a:p>
          <a:p>
            <a:pPr>
              <a:spcAft>
                <a:spcPts val="200"/>
              </a:spcAft>
              <a:defRPr sz="950">
                <a:solidFill>
                  <a:srgbClr val="2D3748"/>
                </a:solidFill>
              </a:defRPr>
            </a:pPr>
            <a:r>
              <a:t>• Processing Engine: Containerized LDA classifier running on local POS</a:t>
            </a:r>
          </a:p>
          <a:p>
            <a:pPr>
              <a:spcAft>
                <a:spcPts val="200"/>
              </a:spcAft>
              <a:defRPr sz="950">
                <a:solidFill>
                  <a:srgbClr val="2D3748"/>
                </a:solidFill>
              </a:defRPr>
            </a:pPr>
            <a:r>
              <a:t>• Output Layer: 2 instant recommended pairing prompts on screen</a:t>
            </a:r>
          </a:p>
          <a:p>
            <a:pPr>
              <a:spcAft>
                <a:spcPts val="200"/>
              </a:spcAft>
              <a:defRPr sz="950">
                <a:solidFill>
                  <a:srgbClr val="2D3748"/>
                </a:solidFill>
              </a:defRPr>
            </a:pPr>
            <a:r>
              <a:t>• Inference Latency: &lt; 20 milliseconds (Zero checkout queue delay)</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Dynamic Rules Engine</a:t>
            </a:r>
            <a:endParaRPr lang="en-US" sz="1650" dirty="0"/>
          </a:p>
          <a:p>
            <a:pPr>
              <a:spcAft>
                <a:spcPts val="200"/>
              </a:spcAft>
              <a:defRPr sz="950">
                <a:solidFill>
                  <a:srgbClr val="2D3748"/>
                </a:solidFill>
              </a:defRPr>
            </a:pPr>
            <a:r>
              <a:t>• Morning Rush Mode: Suppress food combos; trigger single-serve pastries</a:t>
            </a:r>
          </a:p>
          <a:p>
            <a:pPr>
              <a:spcAft>
                <a:spcPts val="200"/>
              </a:spcAft>
              <a:defRPr sz="950">
                <a:solidFill>
                  <a:srgbClr val="2D3748"/>
                </a:solidFill>
              </a:defRPr>
            </a:pPr>
            <a:r>
              <a:t>• Afternoon/Evening: Trigger high-margin food and promotional bundles</a:t>
            </a:r>
          </a:p>
          <a:p>
            <a:pPr>
              <a:spcAft>
                <a:spcPts val="200"/>
              </a:spcAft>
              <a:defRPr sz="950">
                <a:solidFill>
                  <a:srgbClr val="2D3748"/>
                </a:solidFill>
              </a:defRPr>
            </a:pPr>
            <a:r>
              <a:t>• Cold-Start Fallback: Uses empirical category priors when data is sparse</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Central Cloud Feedback</a:t>
            </a:r>
            <a:endParaRPr lang="en-US" sz="1650" dirty="0"/>
          </a:p>
          <a:p>
            <a:pPr>
              <a:spcAft>
                <a:spcPts val="200"/>
              </a:spcAft>
              <a:defRPr sz="950">
                <a:solidFill>
                  <a:srgbClr val="2D3748"/>
                </a:solidFill>
              </a:defRPr>
            </a:pPr>
            <a:r>
              <a:t>• Nightly sync: POS logs sync to central cloud for ARIMA demand modeling</a:t>
            </a:r>
          </a:p>
          <a:p>
            <a:pPr>
              <a:spcAft>
                <a:spcPts val="200"/>
              </a:spcAft>
              <a:defRPr sz="950">
                <a:solidFill>
                  <a:srgbClr val="2D3748"/>
                </a:solidFill>
              </a:defRPr>
            </a:pPr>
            <a:r>
              <a:t>• Model weights updated bi-weekly via automated CI/CD pipeline</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Operational Impact</a:t>
            </a:r>
            <a:endParaRPr lang="en-US" sz="1650" dirty="0"/>
          </a:p>
          <a:p>
            <a:pPr>
              <a:spcAft>
                <a:spcPts val="200"/>
              </a:spcAft>
              <a:defRPr sz="950">
                <a:solidFill>
                  <a:srgbClr val="2D3748"/>
                </a:solidFill>
              </a:defRPr>
            </a:pPr>
            <a:r>
              <a:t>• Lifts register cross-selling conversion from 4.8% to projected 14.5%</a:t>
            </a:r>
          </a:p>
          <a:p>
            <a:pPr>
              <a:spcAft>
                <a:spcPts val="200"/>
              </a:spcAft>
              <a:defRPr sz="950">
                <a:solidFill>
                  <a:srgbClr val="2D3748"/>
                </a:solidFill>
              </a:defRPr>
            </a:pPr>
            <a:r>
              <a:t>• Reduces cashier cognitive load during high-density rush hours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11</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24</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11: Industry Expert Consultation &amp; Validation</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Consultation with Head of Retail Analytics and architectural modifications made</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Expert Consultation Profile</a:t>
            </a:r>
            <a:endParaRPr lang="en-US" sz="1650" dirty="0"/>
          </a:p>
          <a:p>
            <a:pPr>
              <a:spcAft>
                <a:spcPts val="200"/>
              </a:spcAft>
              <a:defRPr sz="950">
                <a:solidFill>
                  <a:srgbClr val="2D3748"/>
                </a:solidFill>
              </a:defRPr>
            </a:pPr>
            <a:r>
              <a:t>• Expert: Dr. Kasun Dissanayake | PhD in Retail Supply Chain Analytics</a:t>
            </a:r>
          </a:p>
          <a:p>
            <a:pPr>
              <a:spcAft>
                <a:spcPts val="200"/>
              </a:spcAft>
              <a:defRPr sz="950">
                <a:solidFill>
                  <a:srgbClr val="2D3748"/>
                </a:solidFill>
              </a:defRPr>
            </a:pPr>
            <a:r>
              <a:t>• Role: Head of Business Intelligence, QSR Retail Chain</a:t>
            </a:r>
          </a:p>
          <a:p>
            <a:pPr>
              <a:spcAft>
                <a:spcPts val="200"/>
              </a:spcAft>
              <a:defRPr sz="950">
                <a:solidFill>
                  <a:srgbClr val="2D3748"/>
                </a:solidFill>
              </a:defRPr>
            </a:pPr>
            <a:r>
              <a:t>• Method: Structured Video Consultation &amp; Review (Sept 20, 2026)</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Expert Feedback Received</a:t>
            </a:r>
            <a:endParaRPr lang="en-US" sz="1650" dirty="0"/>
          </a:p>
          <a:p>
            <a:pPr>
              <a:spcAft>
                <a:spcPts val="200"/>
              </a:spcAft>
              <a:defRPr sz="950">
                <a:solidFill>
                  <a:srgbClr val="2D3748"/>
                </a:solidFill>
              </a:defRPr>
            </a:pPr>
            <a:r>
              <a:t>• 1. Validated predictive category approach over complex item-level graphs</a:t>
            </a:r>
          </a:p>
          <a:p>
            <a:pPr>
              <a:spcAft>
                <a:spcPts val="200"/>
              </a:spcAft>
              <a:defRPr sz="950">
                <a:solidFill>
                  <a:srgbClr val="2D3748"/>
                </a:solidFill>
              </a:defRPr>
            </a:pPr>
            <a:r>
              <a:t>• 2. Warned that register prompts must never add &gt;1 second to checkout</a:t>
            </a:r>
          </a:p>
          <a:p>
            <a:pPr>
              <a:spcAft>
                <a:spcPts val="200"/>
              </a:spcAft>
              <a:defRPr sz="950">
                <a:solidFill>
                  <a:srgbClr val="2D3748"/>
                </a:solidFill>
              </a:defRPr>
            </a:pPr>
            <a:r>
              <a:t>• 3. Highlighted inventory stockout risks if recommendations push sold-out items</a:t>
            </a:r>
          </a:p>
          <a:p>
            <a:pPr>
              <a:spcAft>
                <a:spcPts val="200"/>
              </a:spcAft>
              <a:defRPr sz="950">
                <a:solidFill>
                  <a:srgbClr val="2D3748"/>
                </a:solidFill>
              </a:defRPr>
            </a:pPr>
            <a:r>
              <a:t>• 4. Endorsed RCBD store blocking as mandatory for corporate sign-off</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Strategic Adjustments Made</a:t>
            </a:r>
            <a:endParaRPr lang="en-US" sz="1650" dirty="0"/>
          </a:p>
          <a:p>
            <a:pPr>
              <a:spcAft>
                <a:spcPts val="200"/>
              </a:spcAft>
              <a:defRPr sz="950">
                <a:solidFill>
                  <a:srgbClr val="2D3748"/>
                </a:solidFill>
              </a:defRPr>
            </a:pPr>
            <a:r>
              <a:t>• Added 'Express Mode' toggle: Disables prompts during peak queuing</a:t>
            </a:r>
          </a:p>
          <a:p>
            <a:pPr>
              <a:spcAft>
                <a:spcPts val="200"/>
              </a:spcAft>
              <a:defRPr sz="950">
                <a:solidFill>
                  <a:srgbClr val="2D3748"/>
                </a:solidFill>
              </a:defRPr>
            </a:pPr>
            <a:r>
              <a:t>• Inventory Sync: Connected POS prompts to real-time back-room stock counts</a:t>
            </a:r>
          </a:p>
          <a:p>
            <a:pPr>
              <a:spcAft>
                <a:spcPts val="200"/>
              </a:spcAft>
              <a:defRPr sz="950">
                <a:solidFill>
                  <a:srgbClr val="2D3748"/>
                </a:solidFill>
              </a:defRPr>
            </a:pPr>
            <a:r>
              <a:t>• Adopted LDA over complex ensembles due to sub-second edge latency</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Validation Significance</a:t>
            </a:r>
            <a:endParaRPr lang="en-US" sz="1650" dirty="0"/>
          </a:p>
          <a:p>
            <a:pPr>
              <a:spcAft>
                <a:spcPts val="200"/>
              </a:spcAft>
              <a:defRPr sz="950">
                <a:solidFill>
                  <a:srgbClr val="2D3748"/>
                </a:solidFill>
              </a:defRPr>
            </a:pPr>
            <a:r>
              <a:t>• Confirms consultancy recommendations are operationally viable</a:t>
            </a:r>
          </a:p>
          <a:p>
            <a:pPr>
              <a:spcAft>
                <a:spcPts val="200"/>
              </a:spcAft>
              <a:defRPr sz="950">
                <a:solidFill>
                  <a:srgbClr val="2D3748"/>
                </a:solidFill>
              </a:defRPr>
            </a:pPr>
            <a:r>
              <a:t>• Bridges mathematical models with physical store reality</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Task 12</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25</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Task 12: Final Strategic &amp; Operational Roadmap</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Structured phased implementation plan balancing revenue lift and risk management</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Phase 1: Immediate Rollout (Weeks 1–4)</a:t>
            </a:r>
            <a:endParaRPr lang="en-US" sz="1650" dirty="0"/>
          </a:p>
          <a:p>
            <a:pPr>
              <a:spcAft>
                <a:spcPts val="200"/>
              </a:spcAft>
              <a:defRPr sz="950">
                <a:solidFill>
                  <a:srgbClr val="2D3748"/>
                </a:solidFill>
              </a:defRPr>
            </a:pPr>
            <a:r>
              <a:t>• Deploy Champion LDA model across top 8 flagship store registers</a:t>
            </a:r>
          </a:p>
          <a:p>
            <a:pPr>
              <a:spcAft>
                <a:spcPts val="200"/>
              </a:spcAft>
              <a:defRPr sz="950">
                <a:solidFill>
                  <a:srgbClr val="2D3748"/>
                </a:solidFill>
              </a:defRPr>
            </a:pPr>
            <a:r>
              <a:t>• Establish automated nightly sales sync and ARIMA procurement forecasts</a:t>
            </a:r>
          </a:p>
          <a:p>
            <a:pPr>
              <a:spcAft>
                <a:spcPts val="200"/>
              </a:spcAft>
              <a:defRPr sz="950">
                <a:solidFill>
                  <a:srgbClr val="2D3748"/>
                </a:solidFill>
              </a:defRPr>
            </a:pPr>
            <a:r>
              <a:t>• Train cashiers on 1-click suggested pairing prompts</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Phase 2: RCBD Marketing Trial (Weeks 5–8)</a:t>
            </a:r>
            <a:endParaRPr lang="en-US" sz="1650" dirty="0"/>
          </a:p>
          <a:p>
            <a:pPr>
              <a:spcAft>
                <a:spcPts val="200"/>
              </a:spcAft>
              <a:defRPr sz="950">
                <a:solidFill>
                  <a:srgbClr val="2D3748"/>
                </a:solidFill>
              </a:defRPr>
            </a:pPr>
            <a:r>
              <a:t>• Execute 4-week RCBD trial across 24 blocked retail outlets</a:t>
            </a:r>
          </a:p>
          <a:p>
            <a:pPr>
              <a:spcAft>
                <a:spcPts val="200"/>
              </a:spcAft>
              <a:defRPr sz="950">
                <a:solidFill>
                  <a:srgbClr val="2D3748"/>
                </a:solidFill>
              </a:defRPr>
            </a:pPr>
            <a:r>
              <a:t>• Test 10% vs. 20% promotional discounts on food pairing conversions</a:t>
            </a:r>
          </a:p>
          <a:p>
            <a:pPr>
              <a:spcAft>
                <a:spcPts val="200"/>
              </a:spcAft>
              <a:defRPr sz="950">
                <a:solidFill>
                  <a:srgbClr val="2D3748"/>
                </a:solidFill>
              </a:defRPr>
            </a:pPr>
            <a:r>
              <a:t>• Monitor lift in average transaction value and gross margin impact</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Phase 3: Chain-Wide Scaling (Weeks 9–16)</a:t>
            </a:r>
            <a:endParaRPr lang="en-US" sz="1650" dirty="0"/>
          </a:p>
          <a:p>
            <a:pPr>
              <a:spcAft>
                <a:spcPts val="200"/>
              </a:spcAft>
              <a:defRPr sz="950">
                <a:solidFill>
                  <a:srgbClr val="2D3748"/>
                </a:solidFill>
              </a:defRPr>
            </a:pPr>
            <a:r>
              <a:t>• Roll out CIF framework across all 80 retail outlets</a:t>
            </a:r>
          </a:p>
          <a:p>
            <a:pPr>
              <a:spcAft>
                <a:spcPts val="200"/>
              </a:spcAft>
              <a:defRPr sz="950">
                <a:solidFill>
                  <a:srgbClr val="2D3748"/>
                </a:solidFill>
              </a:defRPr>
            </a:pPr>
            <a:r>
              <a:t>• Integrate ARIMA forecasts directly into ERP dairy purchasing</a:t>
            </a:r>
          </a:p>
          <a:p>
            <a:pPr>
              <a:spcAft>
                <a:spcPts val="200"/>
              </a:spcAft>
              <a:defRPr sz="950">
                <a:solidFill>
                  <a:srgbClr val="2D3748"/>
                </a:solidFill>
              </a:defRPr>
            </a:pPr>
            <a:r>
              <a:t>• Target: 18% reduction in bakery discard waste &amp; +8% revenue lift</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Risk &amp; Ethical Governance</a:t>
            </a:r>
            <a:endParaRPr lang="en-US" sz="1650" dirty="0"/>
          </a:p>
          <a:p>
            <a:pPr>
              <a:spcAft>
                <a:spcPts val="200"/>
              </a:spcAft>
              <a:defRPr sz="950">
                <a:solidFill>
                  <a:srgbClr val="2D3748"/>
                </a:solidFill>
              </a:defRPr>
            </a:pPr>
            <a:r>
              <a:t>• Customer privacy: Zero personal contact details stored in POS logs</a:t>
            </a:r>
          </a:p>
          <a:p>
            <a:pPr>
              <a:spcAft>
                <a:spcPts val="200"/>
              </a:spcAft>
              <a:defRPr sz="950">
                <a:solidFill>
                  <a:srgbClr val="2D3748"/>
                </a:solidFill>
              </a:defRPr>
            </a:pPr>
            <a:r>
              <a:t>• Algorithmic auditing: Monthly monitoring for demographic bias</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0" y="0"/>
            <a:ext cx="12191695" cy="310896"/>
          </a:xfrm>
          <a:prstGeom prst="rect">
            <a:avLst/>
          </a:prstGeom>
          <a:solidFill>
            <a:srgbClr val="17324D"/>
          </a:solidFill>
          <a:ln w="12700">
            <a:solidFill>
              <a:srgbClr val="333333">
                <a:alpha val="0"/>
              </a:srgbClr>
            </a:solidFill>
            <a:prstDash val="solid"/>
          </a:ln>
        </p:spPr>
        <p:txBody>
          <a:bodyPr/>
          <a:lstStyle/>
          <a:p>
            <a:endParaRPr lang="en-US"/>
          </a:p>
        </p:txBody>
      </p:sp>
      <p:sp>
        <p:nvSpPr>
          <p:cNvPr id="3" name="Text 1"/>
          <p:cNvSpPr/>
          <p:nvPr/>
        </p:nvSpPr>
        <p:spPr>
          <a:xfrm>
            <a:off x="502920" y="82296"/>
            <a:ext cx="8046720" cy="146304"/>
          </a:xfrm>
          <a:prstGeom prst="rect">
            <a:avLst/>
          </a:prstGeom>
          <a:noFill/>
          <a:ln/>
        </p:spPr>
        <p:txBody>
          <a:bodyPr wrap="square" lIns="0" tIns="0" rIns="0" bIns="0" rtlCol="0" anchor="ctr"/>
          <a:lstStyle/>
          <a:p>
            <a:r>
              <a:t>Conclusion</a:t>
            </a:r>
          </a:p>
        </p:txBody>
      </p:sp>
      <p:sp>
        <p:nvSpPr>
          <p:cNvPr id="4" name="Text 2"/>
          <p:cNvSpPr/>
          <p:nvPr/>
        </p:nvSpPr>
        <p:spPr>
          <a:xfrm>
            <a:off x="11292840" y="64008"/>
            <a:ext cx="411480" cy="164592"/>
          </a:xfrm>
          <a:prstGeom prst="rect">
            <a:avLst/>
          </a:prstGeom>
          <a:noFill/>
          <a:ln/>
        </p:spPr>
        <p:txBody>
          <a:bodyPr wrap="square" lIns="0" tIns="0" rIns="0" bIns="0" rtlCol="0" anchor="ctr"/>
          <a:lstStyle/>
          <a:p>
            <a:r>
              <a:t>26</a:t>
            </a:r>
          </a:p>
        </p:txBody>
      </p:sp>
      <p:sp>
        <p:nvSpPr>
          <p:cNvPr id="5" name="Shape 3"/>
          <p:cNvSpPr/>
          <p:nvPr/>
        </p:nvSpPr>
        <p:spPr>
          <a:xfrm>
            <a:off x="502920" y="6419088"/>
            <a:ext cx="11201400" cy="18288"/>
          </a:xfrm>
          <a:prstGeom prst="rect">
            <a:avLst/>
          </a:prstGeom>
          <a:solidFill>
            <a:srgbClr val="F4A261"/>
          </a:solidFill>
          <a:ln w="12700">
            <a:solidFill>
              <a:srgbClr val="333333">
                <a:alpha val="0"/>
              </a:srgbClr>
            </a:solidFill>
            <a:prstDash val="solid"/>
          </a:ln>
        </p:spPr>
        <p:txBody>
          <a:bodyPr/>
          <a:lstStyle/>
          <a:p>
            <a:endParaRPr lang="en-US"/>
          </a:p>
        </p:txBody>
      </p:sp>
      <p:sp>
        <p:nvSpPr>
          <p:cNvPr id="6" name="Text 4"/>
          <p:cNvSpPr/>
          <p:nvPr/>
        </p:nvSpPr>
        <p:spPr>
          <a:xfrm>
            <a:off x="502920" y="6510528"/>
            <a:ext cx="7772400" cy="146304"/>
          </a:xfrm>
          <a:prstGeom prst="rect">
            <a:avLst/>
          </a:prstGeom>
          <a:noFill/>
          <a:ln/>
        </p:spPr>
        <p:txBody>
          <a:bodyPr wrap="square" lIns="0" tIns="0" rIns="0" bIns="0" rtlCol="0" anchor="ctr"/>
          <a:lstStyle/>
          <a:p>
            <a:pPr marL="0" indent="0">
              <a:buNone/>
            </a:pPr>
            <a:r>
              <a:rPr lang="en-US" sz="800" dirty="0">
                <a:solidFill>
                  <a:srgbClr val="4B5563"/>
                </a:solidFill>
                <a:latin typeface="Aptos" pitchFamily="34" charset="0"/>
                <a:ea typeface="Aptos" pitchFamily="34" charset="-122"/>
                <a:cs typeface="Aptos" pitchFamily="34" charset="-120"/>
              </a:rPr>
              <a:t>IT3081 Statistical Modelling · Consultancy Presentation</a:t>
            </a:r>
            <a:endParaRPr lang="en-US" sz="800" dirty="0"/>
          </a:p>
        </p:txBody>
      </p:sp>
      <p:sp>
        <p:nvSpPr>
          <p:cNvPr id="7" name="Text 5"/>
          <p:cNvSpPr/>
          <p:nvPr/>
        </p:nvSpPr>
        <p:spPr>
          <a:xfrm>
            <a:off x="713232" y="868680"/>
            <a:ext cx="10789920" cy="566928"/>
          </a:xfrm>
          <a:prstGeom prst="rect">
            <a:avLst/>
          </a:prstGeom>
          <a:noFill/>
          <a:ln/>
        </p:spPr>
        <p:txBody>
          <a:bodyPr wrap="square" lIns="0" tIns="0" rIns="0" bIns="0" rtlCol="0" anchor="ctr">
            <a:normAutofit/>
          </a:bodyPr>
          <a:lstStyle/>
          <a:p>
            <a:r>
              <a:t>Conclusion &amp; Individual Viva Defense</a:t>
            </a:r>
          </a:p>
        </p:txBody>
      </p:sp>
      <p:sp>
        <p:nvSpPr>
          <p:cNvPr id="8" name="Text 6"/>
          <p:cNvSpPr/>
          <p:nvPr/>
        </p:nvSpPr>
        <p:spPr>
          <a:xfrm>
            <a:off x="749808" y="1554480"/>
            <a:ext cx="9875520" cy="256032"/>
          </a:xfrm>
          <a:prstGeom prst="rect">
            <a:avLst/>
          </a:prstGeom>
          <a:noFill/>
          <a:ln/>
        </p:spPr>
        <p:txBody>
          <a:bodyPr wrap="square" lIns="0" tIns="0" rIns="0" bIns="0" rtlCol="0" anchor="ctr">
            <a:normAutofit/>
          </a:bodyPr>
          <a:lstStyle/>
          <a:p>
            <a:r>
              <a:t>Summary of deliverables and transition to 10-minute individual viva examination</a:t>
            </a:r>
          </a:p>
        </p:txBody>
      </p:sp>
      <p:sp>
        <p:nvSpPr>
          <p:cNvPr id="9" name="Shape 7"/>
          <p:cNvSpPr/>
          <p:nvPr/>
        </p:nvSpPr>
        <p:spPr>
          <a:xfrm>
            <a:off x="850392" y="2295144"/>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0" name="Text 8"/>
          <p:cNvSpPr/>
          <p:nvPr/>
        </p:nvSpPr>
        <p:spPr>
          <a:xfrm>
            <a:off x="1170432" y="2240280"/>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Analytical Deliverables Summary</a:t>
            </a:r>
            <a:endParaRPr lang="en-US" sz="1650" dirty="0"/>
          </a:p>
          <a:p>
            <a:pPr>
              <a:spcAft>
                <a:spcPts val="200"/>
              </a:spcAft>
              <a:defRPr sz="950">
                <a:solidFill>
                  <a:srgbClr val="2D3748"/>
                </a:solidFill>
              </a:defRPr>
            </a:pPr>
            <a:r>
              <a:t>• 100% Syllabus-Aligned R Pipeline (Tasks 1–12 executed)</a:t>
            </a:r>
          </a:p>
          <a:p>
            <a:pPr>
              <a:spcAft>
                <a:spcPts val="200"/>
              </a:spcAft>
              <a:defRPr sz="950">
                <a:solidFill>
                  <a:srgbClr val="2D3748"/>
                </a:solidFill>
              </a:defRPr>
            </a:pPr>
            <a:r>
              <a:t>• 6 Classical Hypothesis Tests validated (Note 01)</a:t>
            </a:r>
          </a:p>
          <a:p>
            <a:pPr>
              <a:spcAft>
                <a:spcPts val="200"/>
              </a:spcAft>
              <a:defRPr sz="950">
                <a:solidFill>
                  <a:srgbClr val="2D3748"/>
                </a:solidFill>
              </a:defRPr>
            </a:pPr>
            <a:r>
              <a:t>• 4 Distinct Statistical Models benchmarked across 4 members</a:t>
            </a:r>
          </a:p>
          <a:p>
            <a:pPr>
              <a:spcAft>
                <a:spcPts val="200"/>
              </a:spcAft>
              <a:defRPr sz="950">
                <a:solidFill>
                  <a:srgbClr val="2D3748"/>
                </a:solidFill>
              </a:defRPr>
            </a:pPr>
            <a:r>
              <a:t>• Validated Seasonal ARIMA(0,0,0)(0,1,1)[7] Demand Forecast</a:t>
            </a:r>
          </a:p>
        </p:txBody>
      </p:sp>
      <p:sp>
        <p:nvSpPr>
          <p:cNvPr id="11" name="Shape 9"/>
          <p:cNvSpPr/>
          <p:nvPr/>
        </p:nvSpPr>
        <p:spPr>
          <a:xfrm>
            <a:off x="850392" y="2971800"/>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2" name="Text 10"/>
          <p:cNvSpPr/>
          <p:nvPr/>
        </p:nvSpPr>
        <p:spPr>
          <a:xfrm>
            <a:off x="1170432" y="2916936"/>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Commercial Business Impact</a:t>
            </a:r>
            <a:endParaRPr lang="en-US" sz="1650" dirty="0"/>
          </a:p>
          <a:p>
            <a:pPr>
              <a:spcAft>
                <a:spcPts val="200"/>
              </a:spcAft>
              <a:defRPr sz="950">
                <a:solidFill>
                  <a:srgbClr val="2D3748"/>
                </a:solidFill>
              </a:defRPr>
            </a:pPr>
            <a:r>
              <a:t>• Champion Recommendation Engine achieves 93.36% Top-2 Hit Rate &amp; LASSO explains 99.86% spend variance</a:t>
            </a:r>
          </a:p>
          <a:p>
            <a:pPr>
              <a:spcAft>
                <a:spcPts val="200"/>
              </a:spcAft>
              <a:defRPr sz="950">
                <a:solidFill>
                  <a:srgbClr val="2D3748"/>
                </a:solidFill>
              </a:defRPr>
            </a:pPr>
            <a:r>
              <a:t>• Projected 18% reduction in perishable food waste write-offs</a:t>
            </a:r>
          </a:p>
          <a:p>
            <a:pPr>
              <a:spcAft>
                <a:spcPts val="200"/>
              </a:spcAft>
              <a:defRPr sz="950">
                <a:solidFill>
                  <a:srgbClr val="2D3748"/>
                </a:solidFill>
              </a:defRPr>
            </a:pPr>
            <a:r>
              <a:t>• Automated POS upsell prompts raise conversion from 4.8% to 14.5%</a:t>
            </a:r>
          </a:p>
        </p:txBody>
      </p:sp>
      <p:sp>
        <p:nvSpPr>
          <p:cNvPr id="13" name="Shape 11"/>
          <p:cNvSpPr/>
          <p:nvPr/>
        </p:nvSpPr>
        <p:spPr>
          <a:xfrm>
            <a:off x="850392" y="3648456"/>
            <a:ext cx="173736" cy="173736"/>
          </a:xfrm>
          <a:prstGeom prst="ellipse">
            <a:avLst/>
          </a:prstGeom>
          <a:solidFill>
            <a:srgbClr val="2A9D8F"/>
          </a:solidFill>
          <a:ln w="12700">
            <a:solidFill>
              <a:srgbClr val="333333">
                <a:alpha val="0"/>
              </a:srgbClr>
            </a:solidFill>
            <a:prstDash val="solid"/>
          </a:ln>
        </p:spPr>
        <p:txBody>
          <a:bodyPr/>
          <a:lstStyle/>
          <a:p>
            <a:endParaRPr lang="en-US"/>
          </a:p>
        </p:txBody>
      </p:sp>
      <p:sp>
        <p:nvSpPr>
          <p:cNvPr id="14" name="Text 12"/>
          <p:cNvSpPr/>
          <p:nvPr/>
        </p:nvSpPr>
        <p:spPr>
          <a:xfrm>
            <a:off x="1170432" y="3593592"/>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Viva Examination Readiness</a:t>
            </a:r>
            <a:endParaRPr lang="en-US" sz="1650" dirty="0"/>
          </a:p>
          <a:p>
            <a:pPr>
              <a:spcAft>
                <a:spcPts val="200"/>
              </a:spcAft>
              <a:defRPr sz="950">
                <a:solidFill>
                  <a:srgbClr val="2D3748"/>
                </a:solidFill>
              </a:defRPr>
            </a:pPr>
            <a:r>
              <a:t>• Member 1: Industry Problem, Literature Review &amp; Multinomial Logit</a:t>
            </a:r>
          </a:p>
          <a:p>
            <a:pPr>
              <a:spcAft>
                <a:spcPts val="200"/>
              </a:spcAft>
              <a:defRPr sz="950">
                <a:solidFill>
                  <a:srgbClr val="2D3748"/>
                </a:solidFill>
              </a:defRPr>
            </a:pPr>
            <a:r>
              <a:t>• Member 2: Data Integrity Audit, Visual EDA &amp; Hypothesis Tests</a:t>
            </a:r>
          </a:p>
          <a:p>
            <a:pPr>
              <a:spcAft>
                <a:spcPts val="200"/>
              </a:spcAft>
              <a:defRPr sz="950">
                <a:solidFill>
                  <a:srgbClr val="2D3748"/>
                </a:solidFill>
              </a:defRPr>
            </a:pPr>
            <a:r>
              <a:t>• Member 3: Discriminant Analysis (LDA/QDA) &amp; Experimental Design</a:t>
            </a:r>
          </a:p>
          <a:p>
            <a:pPr>
              <a:spcAft>
                <a:spcPts val="200"/>
              </a:spcAft>
              <a:defRPr sz="950">
                <a:solidFill>
                  <a:srgbClr val="2D3748"/>
                </a:solidFill>
              </a:defRPr>
            </a:pPr>
            <a:r>
              <a:t>• Member 4: PCA, Bayesian Methods, Time Series &amp; Innovation</a:t>
            </a:r>
          </a:p>
        </p:txBody>
      </p:sp>
      <p:sp>
        <p:nvSpPr>
          <p:cNvPr id="15" name="Shape 13"/>
          <p:cNvSpPr/>
          <p:nvPr/>
        </p:nvSpPr>
        <p:spPr>
          <a:xfrm>
            <a:off x="850392" y="4325112"/>
            <a:ext cx="173736" cy="173736"/>
          </a:xfrm>
          <a:prstGeom prst="ellipse">
            <a:avLst/>
          </a:prstGeom>
          <a:solidFill>
            <a:srgbClr val="F4A261"/>
          </a:solidFill>
          <a:ln w="12700">
            <a:solidFill>
              <a:srgbClr val="333333">
                <a:alpha val="0"/>
              </a:srgbClr>
            </a:solidFill>
            <a:prstDash val="solid"/>
          </a:ln>
        </p:spPr>
        <p:txBody>
          <a:bodyPr/>
          <a:lstStyle/>
          <a:p>
            <a:endParaRPr lang="en-US"/>
          </a:p>
        </p:txBody>
      </p:sp>
      <p:sp>
        <p:nvSpPr>
          <p:cNvPr id="16" name="Text 14"/>
          <p:cNvSpPr/>
          <p:nvPr/>
        </p:nvSpPr>
        <p:spPr>
          <a:xfrm>
            <a:off x="1170432" y="4270248"/>
            <a:ext cx="7818120" cy="320040"/>
          </a:xfrm>
          <a:prstGeom prst="rect">
            <a:avLst/>
          </a:prstGeom>
          <a:noFill/>
          <a:ln/>
        </p:spPr>
        <p:txBody>
          <a:bodyPr wrap="square" lIns="0" tIns="0" rIns="0" bIns="0" rtlCol="0" anchor="ctr">
            <a:normAutofit/>
          </a:bodyPr>
          <a:lstStyle/>
          <a:p>
            <a:pPr marL="0" indent="0">
              <a:buNone/>
              <a:defRPr b="1" sz="1100">
                <a:solidFill>
                  <a:srgbClr val="1A202C"/>
                </a:solidFill>
              </a:defRPr>
            </a:pPr>
            <a:r>
              <a:t>Open for Questions</a:t>
            </a:r>
            <a:endParaRPr lang="en-US" sz="1650" dirty="0"/>
          </a:p>
          <a:p>
            <a:pPr>
              <a:spcAft>
                <a:spcPts val="200"/>
              </a:spcAft>
              <a:defRPr sz="950">
                <a:solidFill>
                  <a:srgbClr val="2D3748"/>
                </a:solidFill>
              </a:defRPr>
            </a:pPr>
            <a:r>
              <a:t>• All analytical scripts, data tables, and figures fully reproducible</a:t>
            </a:r>
          </a:p>
          <a:p>
            <a:pPr>
              <a:spcAft>
                <a:spcPts val="200"/>
              </a:spcAft>
              <a:defRPr sz="950">
                <a:solidFill>
                  <a:srgbClr val="2D3748"/>
                </a:solidFill>
              </a:defRPr>
            </a:pPr>
            <a:r>
              <a:t>• Thank you for your time and consideration!</a:t>
            </a:r>
          </a:p>
        </p:txBody>
      </p:sp>
      <p:sp>
        <p:nvSpPr>
          <p:cNvPr id="17" name="Shape 15"/>
          <p:cNvSpPr/>
          <p:nvPr/>
        </p:nvSpPr>
        <p:spPr>
          <a:xfrm>
            <a:off x="9555480" y="2084832"/>
            <a:ext cx="1920240" cy="1920240"/>
          </a:xfrm>
          <a:prstGeom prst="rect">
            <a:avLst/>
          </a:prstGeom>
          <a:solidFill>
            <a:srgbClr val="E8F6F3"/>
          </a:solidFill>
          <a:ln w="12700">
            <a:solidFill>
              <a:srgbClr val="2A9D8F">
                <a:alpha val="75000"/>
              </a:srgbClr>
            </a:solidFill>
            <a:prstDash val="solid"/>
          </a:ln>
        </p:spPr>
        <p:txBody>
          <a:bodyPr/>
          <a:lstStyle/>
          <a:p>
            <a:endParaRPr lang="en-US"/>
          </a:p>
        </p:txBody>
      </p:sp>
      <p:sp>
        <p:nvSpPr>
          <p:cNvPr id="18" name="Text 16"/>
          <p:cNvSpPr/>
          <p:nvPr/>
        </p:nvSpPr>
        <p:spPr>
          <a:xfrm>
            <a:off x="9802368" y="2514600"/>
            <a:ext cx="1417320" cy="777240"/>
          </a:xfrm>
          <a:prstGeom prst="rect">
            <a:avLst/>
          </a:prstGeom>
          <a:noFill/>
          <a:ln/>
        </p:spPr>
        <p:txBody>
          <a:bodyPr wrap="square" lIns="0" tIns="0" rIns="0" bIns="0" rtlCol="0" anchor="ctr">
            <a:normAutofit/>
          </a:bodyPr>
          <a:lstStyle/>
          <a:p>
            <a:pPr marL="0" indent="0" algn="ctr">
              <a:buNone/>
            </a:pPr>
            <a:r>
              <a:rPr lang="en-US" sz="1800" b="1" dirty="0">
                <a:solidFill>
                  <a:srgbClr val="2A9D8F"/>
                </a:solidFill>
                <a:latin typeface="Aptos Display" pitchFamily="34" charset="0"/>
                <a:ea typeface="Aptos Display" pitchFamily="34" charset="-122"/>
                <a:cs typeface="Aptos Display" pitchFamily="34" charset="-120"/>
              </a:rPr>
              <a:t>Problem</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0</TotalTime>
  <Words>646</Words>
  <Application>Microsoft Office PowerPoint</Application>
  <PresentationFormat>Widescreen</PresentationFormat>
  <Paragraphs>159</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SLIIT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Consultancy Presentation Template</dc:title>
  <dc:subject>IT3081 Statistical Modelling Group Assignment Presentation Template</dc:subject>
  <dc:creator>OpenAI</dc:creator>
  <cp:lastModifiedBy>Samadhi Rathnayake</cp:lastModifiedBy>
  <cp:revision>2</cp:revision>
  <dcterms:created xsi:type="dcterms:W3CDTF">2026-09-18T08:28:20Z</dcterms:created>
  <dcterms:modified xsi:type="dcterms:W3CDTF">2026-09-18T09:03:21Z</dcterms:modified>
</cp:coreProperties>
</file>