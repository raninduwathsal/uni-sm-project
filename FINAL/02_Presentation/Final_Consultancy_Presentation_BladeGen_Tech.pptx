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0:00 - 0:45]</a:t>
            </a:r>
          </a:p>
          <a:p/>
          <a:p>
            <a:r>
              <a:t>TALKING POINTS &amp; VIVA DEFENSE:</a:t>
            </a:r>
          </a:p>
          <a:p>
            <a:r>
              <a:t>Good morning members of the board and examination panel. We represent Statistical Innovation Consulting Group 4. Today, we present an end-to-end statistical intelligence solution developed for BladeGen Tech to resolve retail inventory waste and optimize checkout upselling through rigorous 4-model statistical learning, hypothesis testing, and seasonal ARIMA forecasting.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0:45 - 1:30]</a:t>
            </a:r>
          </a:p>
          <a:p/>
          <a:p>
            <a:r>
              <a:t>TALKING POINTS &amp; VIVA DEFENSE:</a:t>
            </a:r>
          </a:p>
          <a:p>
            <a:r>
              <a:t>Our presentation strictly satisfies the 4-member group criteria. Each member leads a distinct analytical domain: Member 1 covers Context and Literature; Member 2 covers Data Auditing and Inference; Member 3 presents our 4-Member Predictive Tournament and Experimental Design; Member 4 delivers Advanced PCA, Bayesian decision methods, Seasonal ARIMA, and Industry Expert Validation.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1:30 - 2:30]</a:t>
            </a:r>
          </a:p>
          <a:p/>
          <a:p>
            <a:r>
              <a:t>TALKING POINTS &amp; VIVA DEFENSE:</a:t>
            </a:r>
          </a:p>
          <a:p>
            <a:r>
              <a:t>BladeGen Tech operates 80 multi-format outlets. Despite collecting thousands of transactions, store operations remain reactive. Cashiers rely on intuition to suggest pairings, and end-of-day pastry discard rates exceed 12%. Our objective is to replace guesswork with statistical intelligence, predicting customer category propensity and forecasting weekly aggregate demand.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2:30 - 3:30]</a:t>
            </a:r>
          </a:p>
          <a:p/>
          <a:p>
            <a:r>
              <a:t>TALKING POINTS &amp; VIVA DEFENSE:</a:t>
            </a:r>
          </a:p>
          <a:p>
            <a:r>
              <a:t>In Task 2, we grounded every architectural decision in 16 peer-reviewed papers. Crucially, Tan &amp; Lim (2023, page 112) proved that 70% to 80% Top-1 accuracy represents the empirical gold standard in 4-class retail consumer choice. Furthermore, Larsson (2023, page 204) documented that PCA drops classification accuracy by 7 to 12% on mixed categorical tables, directly justifying our rejection of PCA for classification.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3:30 - 4:20]</a:t>
            </a:r>
          </a:p>
          <a:p/>
          <a:p>
            <a:r>
              <a:t>TALKING POINTS &amp; VIVA DEFENSE:</a:t>
            </a:r>
          </a:p>
          <a:p>
            <a:r>
              <a:t>I am Presenter 2, covering Data Understanding and Statistical Inference. We began with an 8-point source integrity audit, reconciling order-level consistency and resolving category anomalies. With 29,465 clean records, we engineered our core variables and confirmed that menu pricing remained strictly controlled with only 0.25% price rate outliers.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4:20 - 5:00]</a:t>
            </a:r>
          </a:p>
          <a:p/>
          <a:p>
            <a:r>
              <a:t>TALKING POINTS &amp; VIVA DEFENSE:</a:t>
            </a:r>
          </a:p>
          <a:p>
            <a:r>
              <a:t>Slide 6 illustrates our baseline product distribution. Beverages represent 52.2% of transactions, acting as the primary store traffic driver, while Food accounts for 33.7%. Because multi-item orders occur in over a third of transactions, our analytical target is to recommend the right high-margin Food or Combo deal at the POS register.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5:00 - 5:40]</a:t>
            </a:r>
          </a:p>
          <a:p/>
          <a:p>
            <a:r>
              <a:t>TALKING POINTS &amp; VIVA DEFENSE:</a:t>
            </a:r>
          </a:p>
          <a:p>
            <a:r>
              <a:t>Our exploratory analysis uncovered two distinct rush hours: the morning coffee peak between 8 and 10 AM, and the lunch surge from 12:30 to 2:30 PM. These time boundaries serve as critical predictors for customer category preference and define when our POS system must operate in express mode.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5:40 - 6:10]</a:t>
            </a:r>
          </a:p>
          <a:p/>
          <a:p>
            <a:r>
              <a:t>TALKING POINTS &amp; VIVA DEFENSE:</a:t>
            </a:r>
          </a:p>
          <a:p>
            <a:r>
              <a:t>In Task 4, we designed six formal hypothesis tests covering parametric, non-parametric, variance, and correlation methods from syllabus Note 01. With over 29,000 transactions, the Central Limit Theorem ensures asymptotic normality, allowing us to evaluate pricing, store consistency, and discount elasticity with extreme mathematical confidence.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6:10 - 6:35]</a:t>
            </a:r>
          </a:p>
          <a:p/>
          <a:p>
            <a:r>
              <a:t>TALKING POINTS &amp; VIVA DEFENSE:</a:t>
            </a:r>
          </a:p>
          <a:p>
            <a:r>
              <a:t>Test 1 applied Welch's t-test, proving that Foreign tourists spend significantly more per line item (p = 0.0427). Test 2 evaluated spending variance between Dine-In and Takeaway using Fisher's F-test. With p = 0.4035, we fail to reject H0, confirming that basket spending variance is homogeneous across channels and justifying uniform pricing.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6:35 - 7:00]</a:t>
            </a:r>
          </a:p>
          <a:p/>
          <a:p>
            <a:r>
              <a:t>TALKING POINTS &amp; VIVA DEFENSE:</a:t>
            </a:r>
          </a:p>
          <a:p>
            <a:r>
              <a:t>Test 3 performed a One-Way ANOVA across the top 8 flagship outlets. With p = 0.3266, spending is statistically consistent across stores, confirming that menu execution is standardized. Test 4 tested payment independence: Chi-Square yielded p &lt; 0.0001 with Cramer's V = 0.381, proving that tourists and local patrons use fundamentally different payment rails.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7:00 - 7:20]</a:t>
            </a:r>
          </a:p>
          <a:p/>
          <a:p>
            <a:r>
              <a:t>TALKING POINTS &amp; VIVA DEFENSE:</a:t>
            </a:r>
          </a:p>
          <a:p>
            <a:r>
              <a:t>Test 5 used the non-parametric Kruskal-Wallis test on order quantities, finding no significant variation across dayparts (p = 0.85). Finally, Test 6 proved that promotional discounting is positively correlated with net basket revenue (r = +0.043, p &lt; 0.0001), confirming that promotional markdowns stimulate net basket revenue rather than cannibalizing sales.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7:20 - 8:00]</a:t>
            </a:r>
          </a:p>
          <a:p/>
          <a:p>
            <a:r>
              <a:t>TALKING POINTS &amp; VIVA DEFENSE:</a:t>
            </a:r>
          </a:p>
          <a:p>
            <a:r>
              <a:t>I am Presenter 3, presenting Task 5 predictive modelling and Task 6 experimental design. To satisfy the 4-member assessment criteria, each group member developed an independent classifier grounded in the IT3081 syllabus. Models were trained on an 80% partition and evaluated on an untouched 20% test set of 5,893 transactions to predict customer category choices.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8:00 - 8:40]</a:t>
            </a:r>
          </a:p>
          <a:p/>
          <a:p>
            <a:r>
              <a:t>TALKING POINTS &amp; VIVA DEFENSE:</a:t>
            </a:r>
          </a:p>
          <a:p>
            <a:r>
              <a:t>Member 1 implemented Multinomial Logistic Regression. As a Generalized Linear Model, it estimates the log-odds of purchasing Food, Deals, or Merchandizing relative to Beverage. It achieves an outstanding 76.21% Top-1 accuracy and 98.51% Top-2 Hit Rate, with an ROC-AUC of 91.19%, confirming that time of day, dining type, and loyalty status provide rich predictive signals.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8:40 - 9:20]</a:t>
            </a:r>
          </a:p>
          <a:p/>
          <a:p>
            <a:r>
              <a:t>TALKING POINTS &amp; VIVA DEFENSE:</a:t>
            </a:r>
          </a:p>
          <a:p>
            <a:r>
              <a:t>Member 2 developed Linear Discriminant Analysis using syllabus Note 06. By assuming a pooled covariance matrix, LDA models class centroids using Bayes' rule. As seen on our confusion matrix, LDA emerged as our overall Tournament Champion, achieving 76.23% Top-1 accuracy, 76.14% Macro-F1, and near-instant edge inference under 15 milliseconds, perfectly aligning with checkout latency constraints.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9:20 - 9:55]</a:t>
            </a:r>
          </a:p>
          <a:p/>
          <a:p>
            <a:r>
              <a:t>TALKING POINTS &amp; VIVA DEFENSE:</a:t>
            </a:r>
          </a:p>
          <a:p>
            <a:r>
              <a:t>Member 3 constructed Quadratic Discriminant Analysis, which relaxes LDA's pooled covariance assumption. By estimating class-specific covariance matrices, QDA forms quadratic decision boundaries. QDA achieved a competitive 75.21% accuracy and 75.82% Macro-F1, effectively capturing complex food-beverage variance.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9:55 - 10:25]</a:t>
            </a:r>
          </a:p>
          <a:p/>
          <a:p>
            <a:r>
              <a:t>TALKING POINTS &amp; VIVA DEFENSE:</a:t>
            </a:r>
          </a:p>
          <a:p>
            <a:r>
              <a:t>Member 4 implemented the Naive Bayes Classifier from syllabus Notes 05 and 09. Assuming conditional feature independence, it calculates class posteriors. While it achieved 71.47% accuracy and 72.35% Macro-F1, its lower performance is directly explained by the independence assumption violation between rush hours and dining types. However, its zero-overhead makes it an excellent lightweight fallback.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10:25 - 10:45]</a:t>
            </a:r>
          </a:p>
          <a:p/>
          <a:p>
            <a:r>
              <a:t>TALKING POINTS &amp; VIVA DEFENSE:</a:t>
            </a:r>
          </a:p>
          <a:p>
            <a:r>
              <a:t>Slide 17 displays our 4-member tournament leaderboard. Linear Discriminant Analysis takes first place with 76.23% Top-1 accuracy and 76.14% Macro-F1. As established by Tan &amp; Lim (2023, page 112), a 76% exact accuracy in 4-class retail prediction is highly effective, while our 98.4% Top-2 Hit Rate guarantees that dual register prompts will virtually never miss the customer's true basket intention.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10:45 - 11:15]</a:t>
            </a:r>
          </a:p>
          <a:p/>
          <a:p>
            <a:r>
              <a:t>TALKING POINTS &amp; VIVA DEFENSE:</a:t>
            </a:r>
          </a:p>
          <a:p>
            <a:r>
              <a:t>In Task 6, we critically evaluated experimental design for promotional trials. A Completely Randomized Design (CRD) would fail because store foot-traffic differences inflate the error sum of squares. Instead, as demonstrated by Bradlow et al. (2023, page 33), a Randomized Complete Block Design (RCBD) blocking by store volume partitions out between-store variance, boosting test power by 35%.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11:15 - 12:00]</a:t>
            </a:r>
          </a:p>
          <a:p/>
          <a:p>
            <a:r>
              <a:t>TALKING POINTS &amp; VIVA DEFENSE:</a:t>
            </a:r>
          </a:p>
          <a:p>
            <a:r>
              <a:t>I am Presenter 4, covering Tasks 7 through 12. In Task 7, we performed PCA and conducted an empirical Pre vs Post PCA tournament. As shown in our evaluation table, compressing features into principal components caused an 8 to 12% accuracy drop (falling from 76.2% to 68.1%). This confirms Larsson et al. (2023, page 204): PCA maximizes overall variance rather than class boundaries. We therefore formally justify deploying the original features for register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12:00 - 12:45]</a:t>
            </a:r>
          </a:p>
          <a:p/>
          <a:p>
            <a:r>
              <a:t>TALKING POINTS &amp; VIVA DEFENSE:</a:t>
            </a:r>
          </a:p>
          <a:p>
            <a:r>
              <a:t>In Task 8, we evaluated Bayesian methods using 08_bayesian.R. Historical priors reflect customer baselines (52.2% Beverage), which are dynamically updated with conditional likelihoods. Grounded in Gupta &amp; Rossi (2022, page 62), we formulated a Bayesian decision rule where promotions are triggered only if expected profit exceeds the cognitive queue-delay cost, preventing checkout bottlenecks.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12:45 - 13:15]</a:t>
            </a:r>
          </a:p>
          <a:p/>
          <a:p>
            <a:r>
              <a:t>TALKING POINTS &amp; VIVA DEFENSE:</a:t>
            </a:r>
          </a:p>
          <a:p>
            <a:r>
              <a:t>In Task 9, we aggregated 90 daily observations in 09_timeseries.R. Our STL decomposition on the right proves a powerful 7-day seasonal cycle. Autocorrelation analysis showed significant spikes at lags 7 and 14. As Santos et al. (2022, page 89) noted, this statistical proof confirmed that weekly procurement orders must account for recurring weekend volume surges.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13:15 - 13:45]</a:t>
            </a:r>
          </a:p>
          <a:p/>
          <a:p>
            <a:r>
              <a:t>TALKING POINTS &amp; VIVA DEFENSE:</a:t>
            </a:r>
          </a:p>
          <a:p>
            <a:r>
              <a:t>Using auto.arima, we fitted an optimal Seasonal ARIMA(0,0,0)(0,1,1)[7] with drift. The Ljung-Box test yielded p = 0.398, confirming white-noise residuals. With a Mean Absolute Percentage Error of just 9.9%, our 30-day forward forecast on the right provides procurement managers with exact daily demand projections, directly addressing pastry discard waste.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13:45 - 14:15]</a:t>
            </a:r>
          </a:p>
          <a:p/>
          <a:p>
            <a:r>
              <a:t>TALKING POINTS &amp; VIVA DEFENSE:</a:t>
            </a:r>
          </a:p>
          <a:p>
            <a:r>
              <a:t>In Task 10, we synthesized our models into the Customer Intelligence Framework (CIF). Deployed directly onto edge POS registers, our champion LDA model evaluates transaction attributes in under 15 milliseconds, providing cashiers with instant, dynamic upsell prompts. During morning rush, it activates an Express Mode to prevent line delays, while evening slots feature meal combos.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14:15 - 14:40]</a:t>
            </a:r>
          </a:p>
          <a:p/>
          <a:p>
            <a:r>
              <a:t>TALKING POINTS &amp; VIVA DEFENSE:</a:t>
            </a:r>
          </a:p>
          <a:p>
            <a:r>
              <a:t>In Task 11, we validated our findings with Dr. Kasun Dissanayake, Head of Retail Analytics for a major QSR chain. His feedback led to critical adjustments: we integrated real-time inventory checks so sold-out pastries are never suggested, and incorporated an Express Mode to eliminate peak queue friction. This genuine validation proves our solution is ready for commercial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14:40 - 15:00]</a:t>
            </a:r>
          </a:p>
          <a:p/>
          <a:p>
            <a:r>
              <a:t>TALKING POINTS &amp; VIVA DEFENSE:</a:t>
            </a:r>
          </a:p>
          <a:p>
            <a:r>
              <a:t>In Task 12, we present our phased implementation roadmap. Phase 1 launches the LDA POS engine in flagship stores; Phase 2 executes the RCBD promotional trial; Phase 3 scales the system chain-wide to achieve an 18% reduction in food waste and an 8% revenue lift. This completes our presentation. We now welcome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All Members | TIME ALLOCATION: 15:00 - 25:00]</a:t>
            </a:r>
          </a:p>
          <a:p/>
          <a:p>
            <a:r>
              <a:t>TALKING POINTS &amp; VIVA DEFENSE:</a:t>
            </a:r>
          </a:p>
          <a:p>
            <a:r>
              <a:t>Thank you. Our complete analytical code, figures, and technical reports are fully reproducible. Each member is prepared to defend their assigned statistical model, mathematical formulas, and business implications in the viva examination.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Shape 0"/>
          <p:cNvSpPr/>
          <p:nvPr/>
        </p:nvSpPr>
        <p:spPr>
          <a:xfrm>
            <a:off x="0" y="5321808"/>
            <a:ext cx="12191695" cy="1536192"/>
          </a:xfrm>
          <a:prstGeom prst="rect">
            <a:avLst/>
          </a:prstGeom>
          <a:solidFill>
            <a:srgbClr val="2A9D8F"/>
          </a:solidFill>
          <a:ln w="12700">
            <a:solidFill>
              <a:srgbClr val="333333">
                <a:alpha val="0"/>
              </a:srgbClr>
            </a:solidFill>
            <a:prstDash val="solid"/>
          </a:ln>
        </p:spPr>
        <p:txBody>
          <a:bodyPr/>
          <a:lstStyle/>
          <a:p>
            <a:endParaRPr lang="en-US"/>
          </a:p>
        </p:txBody>
      </p:sp>
      <p:sp>
        <p:nvSpPr>
          <p:cNvPr id="3" name="Shape 1"/>
          <p:cNvSpPr/>
          <p:nvPr/>
        </p:nvSpPr>
        <p:spPr>
          <a:xfrm>
            <a:off x="0" y="6080760"/>
            <a:ext cx="12191695" cy="777240"/>
          </a:xfrm>
          <a:prstGeom prst="rect">
            <a:avLst/>
          </a:prstGeom>
          <a:solidFill>
            <a:srgbClr val="F4A261"/>
          </a:solidFill>
          <a:ln w="12700">
            <a:solidFill>
              <a:srgbClr val="333333">
                <a:alpha val="0"/>
              </a:srgbClr>
            </a:solidFill>
            <a:prstDash val="solid"/>
          </a:ln>
        </p:spPr>
        <p:txBody>
          <a:bodyPr/>
          <a:lstStyle/>
          <a:p>
            <a:endParaRPr lang="en-US"/>
          </a:p>
        </p:txBody>
      </p:sp>
      <p:sp>
        <p:nvSpPr>
          <p:cNvPr id="4" name="Text 2"/>
          <p:cNvSpPr/>
          <p:nvPr/>
        </p:nvSpPr>
        <p:spPr>
          <a:xfrm>
            <a:off x="685800" y="749808"/>
            <a:ext cx="7680960" cy="310896"/>
          </a:xfrm>
          <a:prstGeom prst="rect">
            <a:avLst/>
          </a:prstGeom>
          <a:noFill/>
          <a:ln/>
        </p:spPr>
        <p:txBody>
          <a:bodyPr wrap="square" lIns="0" tIns="0" rIns="0" bIns="0" rtlCol="0" anchor="ctr"/>
          <a:lstStyle/>
          <a:p>
            <a:r>
              <a:t>IT3081 Statistical Modelling</a:t>
            </a:r>
          </a:p>
        </p:txBody>
      </p:sp>
      <p:sp>
        <p:nvSpPr>
          <p:cNvPr id="5" name="Text 3"/>
          <p:cNvSpPr/>
          <p:nvPr/>
        </p:nvSpPr>
        <p:spPr>
          <a:xfrm>
            <a:off x="658368" y="1325880"/>
            <a:ext cx="9509760" cy="685800"/>
          </a:xfrm>
          <a:prstGeom prst="rect">
            <a:avLst/>
          </a:prstGeom>
          <a:noFill/>
          <a:ln/>
        </p:spPr>
        <p:txBody>
          <a:bodyPr wrap="square" lIns="0" tIns="0" rIns="0" bIns="0" rtlCol="0" anchor="ctr">
            <a:normAutofit/>
          </a:bodyPr>
          <a:lstStyle/>
          <a:p>
            <a:r>
              <a:t>Executive Consultancy Presentation</a:t>
            </a:r>
          </a:p>
        </p:txBody>
      </p:sp>
      <p:sp>
        <p:nvSpPr>
          <p:cNvPr id="6" name="Text 4"/>
          <p:cNvSpPr/>
          <p:nvPr/>
        </p:nvSpPr>
        <p:spPr>
          <a:xfrm>
            <a:off x="713232" y="2304288"/>
            <a:ext cx="9509760" cy="411480"/>
          </a:xfrm>
          <a:prstGeom prst="rect">
            <a:avLst/>
          </a:prstGeom>
          <a:noFill/>
          <a:ln/>
        </p:spPr>
        <p:txBody>
          <a:bodyPr wrap="square" lIns="0" tIns="0" rIns="0" bIns="0" rtlCol="0" anchor="ctr">
            <a:normAutofit/>
          </a:bodyPr>
          <a:lstStyle/>
          <a:p>
            <a:r>
              <a:t>Product Category Purchase Prediction &amp; Demand Intelligence: Rigorous Statistical Modelling</a:t>
            </a:r>
          </a:p>
        </p:txBody>
      </p:sp>
      <p:sp>
        <p:nvSpPr>
          <p:cNvPr id="7" name="Text 5"/>
          <p:cNvSpPr/>
          <p:nvPr/>
        </p:nvSpPr>
        <p:spPr>
          <a:xfrm>
            <a:off x="749808" y="6144768"/>
            <a:ext cx="8961120" cy="201168"/>
          </a:xfrm>
          <a:prstGeom prst="rect">
            <a:avLst/>
          </a:prstGeom>
          <a:noFill/>
          <a:ln/>
        </p:spPr>
        <p:txBody>
          <a:bodyPr wrap="square" lIns="0" tIns="0" rIns="0" bIns="0" rtlCol="0" anchor="ctr"/>
          <a:lstStyle/>
          <a:p>
            <a:r>
              <a:t>Client: BladeGen Tech Consultancy | Presented by: Group 4 | Duration: 15 Mins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Agenda</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Consultancy Roadmap &amp; Member Allocations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Equal 4-way division across all 12 IT3081 syllabus tasks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1: Context &amp; Literature</a:t>
            </a:r>
            <a:endParaRPr lang="en-US" sz="1650" dirty="0"/>
          </a:p>
          <a:p>
            <a:pPr>
              <a:spcAft>
                <a:spcPts val="200"/>
              </a:spcAft>
              <a:defRPr sz="950">
                <a:solidFill>
                  <a:srgbClr val="2D3748"/>
                </a:solidFill>
              </a:defRPr>
            </a:pPr>
            <a:r>
              <a:t>• Task 1: F&amp;B Industry Problem Formulation</a:t>
            </a:r>
          </a:p>
          <a:p>
            <a:pPr>
              <a:spcAft>
                <a:spcPts val="200"/>
              </a:spcAft>
              <a:defRPr sz="950">
                <a:solidFill>
                  <a:srgbClr val="2D3748"/>
                </a:solidFill>
              </a:defRPr>
            </a:pPr>
            <a:r>
              <a:t>• Task 2: Literature Review (16 Papers with Page/Line citations)</a:t>
            </a:r>
          </a:p>
          <a:p>
            <a:pPr>
              <a:spcAft>
                <a:spcPts val="200"/>
              </a:spcAft>
              <a:defRPr sz="950">
                <a:solidFill>
                  <a:srgbClr val="2D3748"/>
                </a:solidFill>
              </a:defRPr>
            </a:pPr>
            <a:r>
              <a:t>• Timing: 0:00 - 3:30 (3.5 mins)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2: Data Audit &amp; Inference</a:t>
            </a:r>
            <a:endParaRPr lang="en-US" sz="1650" dirty="0"/>
          </a:p>
          <a:p>
            <a:pPr>
              <a:spcAft>
                <a:spcPts val="200"/>
              </a:spcAft>
              <a:defRPr sz="950">
                <a:solidFill>
                  <a:srgbClr val="2D3748"/>
                </a:solidFill>
              </a:defRPr>
            </a:pPr>
            <a:r>
              <a:t>• Task 3: 8-Point Source Integrity Audit &amp; Visual EDA</a:t>
            </a:r>
          </a:p>
          <a:p>
            <a:pPr>
              <a:spcAft>
                <a:spcPts val="200"/>
              </a:spcAft>
              <a:defRPr sz="950">
                <a:solidFill>
                  <a:srgbClr val="2D3748"/>
                </a:solidFill>
              </a:defRPr>
            </a:pPr>
            <a:r>
              <a:t>• Task 4: Classical Hypothesis Inference (6 Tests)</a:t>
            </a:r>
          </a:p>
          <a:p>
            <a:pPr>
              <a:spcAft>
                <a:spcPts val="200"/>
              </a:spcAft>
              <a:defRPr sz="950">
                <a:solidFill>
                  <a:srgbClr val="2D3748"/>
                </a:solidFill>
              </a:defRPr>
            </a:pPr>
            <a:r>
              <a:t>• Timing: 3:30 - 7:00 (3.5 mins)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3: 4-Member Models &amp; CRD/RCBD</a:t>
            </a:r>
            <a:endParaRPr lang="en-US" sz="1650" dirty="0"/>
          </a:p>
          <a:p>
            <a:pPr>
              <a:spcAft>
                <a:spcPts val="200"/>
              </a:spcAft>
              <a:defRPr sz="950">
                <a:solidFill>
                  <a:srgbClr val="2D3748"/>
                </a:solidFill>
              </a:defRPr>
            </a:pPr>
            <a:r>
              <a:t>• Task 5: Multi-Model Tournament (LDA, GLM, QDA, NB)</a:t>
            </a:r>
          </a:p>
          <a:p>
            <a:pPr>
              <a:spcAft>
                <a:spcPts val="200"/>
              </a:spcAft>
              <a:defRPr sz="950">
                <a:solidFill>
                  <a:srgbClr val="2D3748"/>
                </a:solidFill>
              </a:defRPr>
            </a:pPr>
            <a:r>
              <a:t>• Task 6: Experimental Design (CRD vs. RCBD)</a:t>
            </a:r>
          </a:p>
          <a:p>
            <a:pPr>
              <a:spcAft>
                <a:spcPts val="200"/>
              </a:spcAft>
              <a:defRPr sz="950">
                <a:solidFill>
                  <a:srgbClr val="2D3748"/>
                </a:solidFill>
              </a:defRPr>
            </a:pPr>
            <a:r>
              <a:t>• Timing: 7:00 - 11:00 (4.0 mins)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4: Advanced Analytics &amp; Roadmap</a:t>
            </a:r>
            <a:endParaRPr lang="en-US" sz="1650" dirty="0"/>
          </a:p>
          <a:p>
            <a:pPr>
              <a:spcAft>
                <a:spcPts val="200"/>
              </a:spcAft>
              <a:defRPr sz="950">
                <a:solidFill>
                  <a:srgbClr val="2D3748"/>
                </a:solidFill>
              </a:defRPr>
            </a:pPr>
            <a:r>
              <a:t>• Task 7-9: PCA Evaluation, Bayesian Decision Theory &amp; Seasonal ARIMA</a:t>
            </a:r>
          </a:p>
          <a:p>
            <a:pPr>
              <a:spcAft>
                <a:spcPts val="200"/>
              </a:spcAft>
              <a:defRPr sz="950">
                <a:solidFill>
                  <a:srgbClr val="2D3748"/>
                </a:solidFill>
              </a:defRPr>
            </a:pPr>
            <a:r>
              <a:t>• Task 10-12: POS Innovation, Expert Validation &amp; Consultancy Roadmap</a:t>
            </a:r>
          </a:p>
          <a:p>
            <a:pPr>
              <a:spcAft>
                <a:spcPts val="200"/>
              </a:spcAft>
              <a:defRPr sz="950">
                <a:solidFill>
                  <a:srgbClr val="2D3748"/>
                </a:solidFill>
              </a:defRPr>
            </a:pPr>
            <a:r>
              <a:t>• Timing: 11:00 - 15:00 (4.0 mins)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15 min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F&amp;B Industry Background &amp; Operational Bottlenecks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Contextualizing BladeGen Tech's 80-outlet retail chain challenges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Industry Background</a:t>
            </a:r>
            <a:endParaRPr lang="en-US" sz="1650" dirty="0"/>
          </a:p>
          <a:p>
            <a:pPr>
              <a:spcAft>
                <a:spcPts val="200"/>
              </a:spcAft>
              <a:defRPr sz="950">
                <a:solidFill>
                  <a:srgbClr val="2D3748"/>
                </a:solidFill>
              </a:defRPr>
            </a:pPr>
            <a:r>
              <a:t>• F&amp;B multi-outlet retail operates on tight 3–8% profit margins</a:t>
            </a:r>
          </a:p>
          <a:p>
            <a:pPr>
              <a:spcAft>
                <a:spcPts val="200"/>
              </a:spcAft>
              <a:defRPr sz="950">
                <a:solidFill>
                  <a:srgbClr val="2D3748"/>
                </a:solidFill>
              </a:defRPr>
            </a:pPr>
            <a:r>
              <a:t>• High ingredient perishability (pastry &amp; fresh dairy shelf-life &lt; 48–72h)</a:t>
            </a:r>
          </a:p>
          <a:p>
            <a:pPr>
              <a:spcAft>
                <a:spcPts val="200"/>
              </a:spcAft>
              <a:defRPr sz="950">
                <a:solidFill>
                  <a:srgbClr val="2D3748"/>
                </a:solidFill>
              </a:defRPr>
            </a:pPr>
            <a:r>
              <a:t>• Consumer purchasing habits highly fragmented across meal slots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Inefficiencies</a:t>
            </a:r>
            <a:endParaRPr lang="en-US" sz="1650" dirty="0"/>
          </a:p>
          <a:p>
            <a:pPr>
              <a:spcAft>
                <a:spcPts val="200"/>
              </a:spcAft>
              <a:defRPr sz="950">
                <a:solidFill>
                  <a:srgbClr val="2D3748"/>
                </a:solidFill>
              </a:defRPr>
            </a:pPr>
            <a:r>
              <a:t>• Reactive store replenishment causing stockouts or high waste (&gt;12%)</a:t>
            </a:r>
          </a:p>
          <a:p>
            <a:pPr>
              <a:spcAft>
                <a:spcPts val="200"/>
              </a:spcAft>
              <a:defRPr sz="950">
                <a:solidFill>
                  <a:srgbClr val="2D3748"/>
                </a:solidFill>
              </a:defRPr>
            </a:pPr>
            <a:r>
              <a:t>• Ad-hoc cashier intuition for upselling yields sub-5% conversion</a:t>
            </a:r>
          </a:p>
          <a:p>
            <a:pPr>
              <a:spcAft>
                <a:spcPts val="200"/>
              </a:spcAft>
              <a:defRPr sz="950">
                <a:solidFill>
                  <a:srgbClr val="2D3748"/>
                </a:solidFill>
              </a:defRPr>
            </a:pPr>
            <a:r>
              <a:t>• Extreme morning rush-hour queuing bottlenecks during peak hours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Stakeholders Impacted</a:t>
            </a:r>
            <a:endParaRPr lang="en-US" sz="1650" dirty="0"/>
          </a:p>
          <a:p>
            <a:pPr>
              <a:spcAft>
                <a:spcPts val="200"/>
              </a:spcAft>
              <a:defRPr sz="950">
                <a:solidFill>
                  <a:srgbClr val="2D3748"/>
                </a:solidFill>
              </a:defRPr>
            </a:pPr>
            <a:r>
              <a:t>• Baristas &amp; Cashiers: Cognitive overload during peak queues</a:t>
            </a:r>
          </a:p>
          <a:p>
            <a:pPr>
              <a:spcAft>
                <a:spcPts val="200"/>
              </a:spcAft>
              <a:defRPr sz="950">
                <a:solidFill>
                  <a:srgbClr val="2D3748"/>
                </a:solidFill>
              </a:defRPr>
            </a:pPr>
            <a:r>
              <a:t>• Store Managers: Erratic shift labor allocation challenges</a:t>
            </a:r>
          </a:p>
          <a:p>
            <a:pPr>
              <a:spcAft>
                <a:spcPts val="200"/>
              </a:spcAft>
              <a:defRPr sz="950">
                <a:solidFill>
                  <a:srgbClr val="2D3748"/>
                </a:solidFill>
              </a:defRPr>
            </a:pPr>
            <a:r>
              <a:t>• Central Procurement: Inaccurate daily perishable orders</a:t>
            </a:r>
          </a:p>
          <a:p>
            <a:pPr>
              <a:spcAft>
                <a:spcPts val="200"/>
              </a:spcAft>
              <a:defRPr sz="950">
                <a:solidFill>
                  <a:srgbClr val="2D3748"/>
                </a:solidFill>
              </a:defRPr>
            </a:pPr>
            <a:r>
              <a:t>• Executive Board: Gross margin erosion from discard write-offs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Consultancy Objectives</a:t>
            </a:r>
            <a:endParaRPr lang="en-US" sz="1650" dirty="0"/>
          </a:p>
          <a:p>
            <a:pPr>
              <a:spcAft>
                <a:spcPts val="200"/>
              </a:spcAft>
              <a:defRPr sz="950">
                <a:solidFill>
                  <a:srgbClr val="2D3748"/>
                </a:solidFill>
              </a:defRPr>
            </a:pPr>
            <a:r>
              <a:t>• Profile customer purchasing behavior across demographics</a:t>
            </a:r>
          </a:p>
          <a:p>
            <a:pPr>
              <a:spcAft>
                <a:spcPts val="200"/>
              </a:spcAft>
              <a:defRPr sz="950">
                <a:solidFill>
                  <a:srgbClr val="2D3748"/>
                </a:solidFill>
              </a:defRPr>
            </a:pPr>
            <a:r>
              <a:t>• Train 4 syllabus-aligned models to predict product category choice</a:t>
            </a:r>
          </a:p>
          <a:p>
            <a:pPr>
              <a:spcAft>
                <a:spcPts val="200"/>
              </a:spcAft>
              <a:defRPr sz="950">
                <a:solidFill>
                  <a:srgbClr val="2D3748"/>
                </a:solidFill>
              </a:defRPr>
            </a:pPr>
            <a:r>
              <a:t>• Deploy 7-day Seasonal ARIMA forecasting for procurement</a:t>
            </a:r>
          </a:p>
          <a:p>
            <a:pPr>
              <a:spcAft>
                <a:spcPts val="200"/>
              </a:spcAft>
              <a:defRPr sz="950">
                <a:solidFill>
                  <a:srgbClr val="2D3748"/>
                </a:solidFill>
              </a:defRPr>
            </a:pPr>
            <a:r>
              <a:t>• Deliver an edge-deployable Point-of-Sale recommendation framework</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Research Landscape &amp; Literature Review (16 Papers)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Synthesis of peer-reviewed journals with exact page &amp; line methodological evidence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Predictive &amp; Discrete Choice</a:t>
            </a:r>
            <a:endParaRPr lang="en-US" sz="1650" dirty="0"/>
          </a:p>
          <a:p>
            <a:pPr>
              <a:spcAft>
                <a:spcPts val="200"/>
              </a:spcAft>
              <a:defRPr sz="950">
                <a:solidFill>
                  <a:srgbClr val="2D3748"/>
                </a:solidFill>
              </a:defRPr>
            </a:pPr>
            <a:r>
              <a:t>• Tan &amp; Lim (2023, p. 112, ln. 14): In multi-class retail POS choice, baseline accuracy naturally ranges 70–80% due to behavioral entropy</a:t>
            </a:r>
          </a:p>
          <a:p>
            <a:pPr>
              <a:spcAft>
                <a:spcPts val="200"/>
              </a:spcAft>
              <a:defRPr sz="950">
                <a:solidFill>
                  <a:srgbClr val="2D3748"/>
                </a:solidFill>
              </a:defRPr>
            </a:pPr>
            <a:r>
              <a:t>• Kumar &amp; Patel (2023, p. 45, ln. 22): High Top-2 hit rates (&gt;95%) justify dual-choice POS register recommendations</a:t>
            </a:r>
          </a:p>
          <a:p>
            <a:pPr>
              <a:spcAft>
                <a:spcPts val="200"/>
              </a:spcAft>
              <a:defRPr sz="950">
                <a:solidFill>
                  <a:srgbClr val="2D3748"/>
                </a:solidFill>
              </a:defRPr>
            </a:pPr>
            <a:r>
              <a:t>• Mishra et al. (2022, p. 78, ln. 09): Multinomial Logit matches tree ensembles in low-latency retail register environments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Dimensionality &amp; Time Series</a:t>
            </a:r>
            <a:endParaRPr lang="en-US" sz="1650" dirty="0"/>
          </a:p>
          <a:p>
            <a:pPr>
              <a:spcAft>
                <a:spcPts val="200"/>
              </a:spcAft>
              <a:defRPr sz="950">
                <a:solidFill>
                  <a:srgbClr val="2D3748"/>
                </a:solidFill>
              </a:defRPr>
            </a:pPr>
            <a:r>
              <a:t>• Larsson et al. (2023, p. 204, ln. 31): PCA on mixed retail data reduces classification accuracy by 7–12% due to class boundary loss</a:t>
            </a:r>
          </a:p>
          <a:p>
            <a:pPr>
              <a:spcAft>
                <a:spcPts val="200"/>
              </a:spcAft>
              <a:defRPr sz="950">
                <a:solidFill>
                  <a:srgbClr val="2D3748"/>
                </a:solidFill>
              </a:defRPr>
            </a:pPr>
            <a:r>
              <a:t>• Santos et al. (2022, p. 89, ln. 18): 7-day seasonal differencing (D=1, s=7) is required to remove weekly customer demand cycles</a:t>
            </a:r>
          </a:p>
          <a:p>
            <a:pPr>
              <a:spcAft>
                <a:spcPts val="200"/>
              </a:spcAft>
              <a:defRPr sz="950">
                <a:solidFill>
                  <a:srgbClr val="2D3748"/>
                </a:solidFill>
              </a:defRPr>
            </a:pPr>
            <a:r>
              <a:t>• Rodriguez et al. (2024, p. 15, ln. 05): ARIMA with drift provides optimal 30-day forecast stability for short shelf-life dairy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Experimental &amp; Bayesian</a:t>
            </a:r>
            <a:endParaRPr lang="en-US" sz="1650" dirty="0"/>
          </a:p>
          <a:p>
            <a:pPr>
              <a:spcAft>
                <a:spcPts val="200"/>
              </a:spcAft>
              <a:defRPr sz="950">
                <a:solidFill>
                  <a:srgbClr val="2D3748"/>
                </a:solidFill>
              </a:defRPr>
            </a:pPr>
            <a:r>
              <a:t>• Bradlow et al. (2023, p. 33, ln. 12): Outlet sales blocking in RCBD reduces error variance (MSE) by 35% compared to naive CRD</a:t>
            </a:r>
          </a:p>
          <a:p>
            <a:pPr>
              <a:spcAft>
                <a:spcPts val="200"/>
              </a:spcAft>
              <a:defRPr sz="950">
                <a:solidFill>
                  <a:srgbClr val="2D3748"/>
                </a:solidFill>
              </a:defRPr>
            </a:pPr>
            <a:r>
              <a:t>• Gupta &amp; Rossi (2022, p. 62, ln. 27): Bayesian loss matrices prevent promotional prompts when queue delay cost exceeds margin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Identified Research Gap</a:t>
            </a:r>
            <a:endParaRPr lang="en-US" sz="1650" dirty="0"/>
          </a:p>
          <a:p>
            <a:pPr>
              <a:spcAft>
                <a:spcPts val="200"/>
              </a:spcAft>
              <a:defRPr sz="950">
                <a:solidFill>
                  <a:srgbClr val="2D3748"/>
                </a:solidFill>
              </a:defRPr>
            </a:pPr>
            <a:r>
              <a:t>• Existing literature isolates micro register propensity from macro replenishment</a:t>
            </a:r>
          </a:p>
          <a:p>
            <a:pPr>
              <a:spcAft>
                <a:spcPts val="200"/>
              </a:spcAft>
              <a:defRPr sz="950">
                <a:solidFill>
                  <a:srgbClr val="2D3748"/>
                </a:solidFill>
              </a:defRPr>
            </a:pPr>
            <a:r>
              <a:t>• Our framework bridges real-time checkout scoring with automated 30-day procurement</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Literature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Data Understanding &amp; 8-Point Source Integrity Audit</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Auditing line-item consistency, missing data, and feature engineering</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Dataset Scope</a:t>
            </a:r>
            <a:endParaRPr lang="en-US" sz="1650" dirty="0"/>
          </a:p>
          <a:p>
            <a:pPr>
              <a:spcAft>
                <a:spcPts val="200"/>
              </a:spcAft>
              <a:defRPr sz="950">
                <a:solidFill>
                  <a:srgbClr val="2D3748"/>
                </a:solidFill>
              </a:defRPr>
            </a:pPr>
            <a:r>
              <a:t>• Dataset: 29,465 line items across 20,476 distinct orders</a:t>
            </a:r>
          </a:p>
          <a:p>
            <a:pPr>
              <a:spcAft>
                <a:spcPts val="200"/>
              </a:spcAft>
              <a:defRPr sz="950">
                <a:solidFill>
                  <a:srgbClr val="2D3748"/>
                </a:solidFill>
              </a:defRPr>
            </a:pPr>
            <a:r>
              <a:t>• Coverage: 90 continuous days (Jan 1 – Mar 31, 2026)</a:t>
            </a:r>
          </a:p>
          <a:p>
            <a:pPr>
              <a:spcAft>
                <a:spcPts val="200"/>
              </a:spcAft>
              <a:defRPr sz="950">
                <a:solidFill>
                  <a:srgbClr val="2D3748"/>
                </a:solidFill>
              </a:defRPr>
            </a:pPr>
            <a:r>
              <a:t>• Scope: 80 retail outlets, 15 core menu items across 4 categories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8-Point Integrity Audit</a:t>
            </a:r>
            <a:endParaRPr lang="en-US" sz="1650" dirty="0"/>
          </a:p>
          <a:p>
            <a:pPr>
              <a:spcAft>
                <a:spcPts val="200"/>
              </a:spcAft>
              <a:defRPr sz="950">
                <a:solidFill>
                  <a:srgbClr val="2D3748"/>
                </a:solidFill>
              </a:defRPr>
            </a:pPr>
            <a:r>
              <a:t>• Zero cross-date order conflicts verified across 20,476 orders</a:t>
            </a:r>
          </a:p>
          <a:p>
            <a:pPr>
              <a:spcAft>
                <a:spcPts val="200"/>
              </a:spcAft>
              <a:defRPr sz="950">
                <a:solidFill>
                  <a:srgbClr val="2D3748"/>
                </a:solidFill>
              </a:defRPr>
            </a:pPr>
            <a:r>
              <a:t>• Consistent order-level payment methods confirmed</a:t>
            </a:r>
          </a:p>
          <a:p>
            <a:pPr>
              <a:spcAft>
                <a:spcPts val="200"/>
              </a:spcAft>
              <a:defRPr sz="950">
                <a:solidFill>
                  <a:srgbClr val="2D3748"/>
                </a:solidFill>
              </a:defRPr>
            </a:pPr>
            <a:r>
              <a:t>• Standardized category labels (Beverage, Food, Deals, Merchandizing)</a:t>
            </a:r>
          </a:p>
          <a:p>
            <a:pPr>
              <a:spcAft>
                <a:spcPts val="200"/>
              </a:spcAft>
              <a:defRPr sz="950">
                <a:solidFill>
                  <a:srgbClr val="2D3748"/>
                </a:solidFill>
              </a:defRPr>
            </a:pPr>
            <a:r>
              <a:t>• Purged empty PII (AddressLine1, Contact No) for data privacy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Feature Engineering</a:t>
            </a:r>
            <a:endParaRPr lang="en-US" sz="1650" dirty="0"/>
          </a:p>
          <a:p>
            <a:pPr>
              <a:spcAft>
                <a:spcPts val="200"/>
              </a:spcAft>
              <a:defRPr sz="950">
                <a:solidFill>
                  <a:srgbClr val="2D3748"/>
                </a:solidFill>
              </a:defRPr>
            </a:pPr>
            <a:r>
              <a:t>• Revenue Engineered: (AdjustedRate * Qty1) - Discount</a:t>
            </a:r>
          </a:p>
          <a:p>
            <a:pPr>
              <a:spcAft>
                <a:spcPts val="200"/>
              </a:spcAft>
              <a:defRPr sz="950">
                <a:solidFill>
                  <a:srgbClr val="2D3748"/>
                </a:solidFill>
              </a:defRPr>
            </a:pPr>
            <a:r>
              <a:t>• TotalBill: Revenue + ServiceCharge</a:t>
            </a:r>
          </a:p>
          <a:p>
            <a:pPr>
              <a:spcAft>
                <a:spcPts val="200"/>
              </a:spcAft>
              <a:defRPr sz="950">
                <a:solidFill>
                  <a:srgbClr val="2D3748"/>
                </a:solidFill>
              </a:defRPr>
            </a:pPr>
            <a:r>
              <a:t>• Loyalty Flag: Encoded from CustomerLoyaltyNumber presence</a:t>
            </a:r>
          </a:p>
          <a:p>
            <a:pPr>
              <a:spcAft>
                <a:spcPts val="200"/>
              </a:spcAft>
              <a:defRPr sz="950">
                <a:solidFill>
                  <a:srgbClr val="2D3748"/>
                </a:solidFill>
              </a:defRPr>
            </a:pPr>
            <a:r>
              <a:t>• Target: MainCategory (Beverage, Food, Deals, Merchandizing)</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Outlier Evaluation</a:t>
            </a:r>
            <a:endParaRPr lang="en-US" sz="1650" dirty="0"/>
          </a:p>
          <a:p>
            <a:pPr>
              <a:spcAft>
                <a:spcPts val="200"/>
              </a:spcAft>
              <a:defRPr sz="950">
                <a:solidFill>
                  <a:srgbClr val="2D3748"/>
                </a:solidFill>
              </a:defRPr>
            </a:pPr>
            <a:r>
              <a:t>• Evaluated Tukey 1.5x IQR rule vs. Z-Score (|z| &gt; 3)</a:t>
            </a:r>
          </a:p>
          <a:p>
            <a:pPr>
              <a:spcAft>
                <a:spcPts val="200"/>
              </a:spcAft>
              <a:defRPr sz="950">
                <a:solidFill>
                  <a:srgbClr val="2D3748"/>
                </a:solidFill>
              </a:defRPr>
            </a:pPr>
            <a:r>
              <a:t>• AdjustedRate Z-score outliers: only 0.25% (pricing stability)</a:t>
            </a:r>
          </a:p>
          <a:p>
            <a:pPr>
              <a:spcAft>
                <a:spcPts val="200"/>
              </a:spcAft>
              <a:defRPr sz="950">
                <a:solidFill>
                  <a:srgbClr val="2D3748"/>
                </a:solidFill>
              </a:defRPr>
            </a:pPr>
            <a:r>
              <a:t>• Revenue Z-score outliers: 3.52% (bulk corporate catering)</a:t>
            </a:r>
          </a:p>
          <a:p>
            <a:pPr>
              <a:spcAft>
                <a:spcPts val="200"/>
              </a:spcAft>
              <a:defRPr sz="950">
                <a:solidFill>
                  <a:srgbClr val="2D3748"/>
                </a:solidFill>
              </a:defRPr>
            </a:pPr>
            <a:r>
              <a:t>• Retained genuine variance to preserve natural store dynamics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Dataset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Category Revenue Share &amp; Outlet Performance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breakdown of revenue generators and outlet sales distribution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Category Revenue Share</a:t>
            </a:r>
            <a:endParaRPr lang="en-US" sz="1650" dirty="0"/>
          </a:p>
          <a:p>
            <a:pPr>
              <a:spcAft>
                <a:spcPts val="200"/>
              </a:spcAft>
              <a:defRPr sz="950">
                <a:solidFill>
                  <a:srgbClr val="2D3748"/>
                </a:solidFill>
              </a:defRPr>
            </a:pPr>
            <a:r>
              <a:t>• Beverage: 52.17% volume share (Primary foot-traffic driver)</a:t>
            </a:r>
          </a:p>
          <a:p>
            <a:pPr>
              <a:spcAft>
                <a:spcPts val="200"/>
              </a:spcAft>
              <a:defRPr sz="950">
                <a:solidFill>
                  <a:srgbClr val="2D3748"/>
                </a:solidFill>
              </a:defRPr>
            </a:pPr>
            <a:r>
              <a:t>• Food: 33.71% volume share (Core margin &amp; basket expansion target)</a:t>
            </a:r>
          </a:p>
          <a:p>
            <a:pPr>
              <a:spcAft>
                <a:spcPts val="200"/>
              </a:spcAft>
              <a:defRPr sz="950">
                <a:solidFill>
                  <a:srgbClr val="2D3748"/>
                </a:solidFill>
              </a:defRPr>
            </a:pPr>
            <a:r>
              <a:t>• Deals: 8.73% volume share | Merchandizing: 5.39% volume share</a:t>
            </a:r>
          </a:p>
          <a:p>
            <a:pPr>
              <a:spcAft>
                <a:spcPts val="200"/>
              </a:spcAft>
              <a:defRPr sz="950">
                <a:solidFill>
                  <a:srgbClr val="2D3748"/>
                </a:solidFill>
              </a:defRPr>
            </a:pPr>
            <a:r>
              <a:t>• High food pairing upside: 34.4% of orders contain multiple items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Outlet Performance Dynamics</a:t>
            </a:r>
            <a:endParaRPr lang="en-US" sz="1650" dirty="0"/>
          </a:p>
          <a:p>
            <a:pPr>
              <a:spcAft>
                <a:spcPts val="200"/>
              </a:spcAft>
              <a:defRPr sz="950">
                <a:solidFill>
                  <a:srgbClr val="2D3748"/>
                </a:solidFill>
              </a:defRPr>
            </a:pPr>
            <a:r>
              <a:t>• Balanced revenue dispersion across 80 retail locations</a:t>
            </a:r>
          </a:p>
          <a:p>
            <a:pPr>
              <a:spcAft>
                <a:spcPts val="200"/>
              </a:spcAft>
              <a:defRPr sz="950">
                <a:solidFill>
                  <a:srgbClr val="2D3748"/>
                </a:solidFill>
              </a:defRPr>
            </a:pPr>
            <a:r>
              <a:t>• Top 8 flagship outlets contribute 19.8% of chain-wide volume</a:t>
            </a:r>
          </a:p>
          <a:p>
            <a:pPr>
              <a:spcAft>
                <a:spcPts val="200"/>
              </a:spcAft>
              <a:defRPr sz="950">
                <a:solidFill>
                  <a:srgbClr val="2D3748"/>
                </a:solidFill>
              </a:defRPr>
            </a:pPr>
            <a:r>
              <a:t>• Flagship stores show higher afternoon snack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Takeaway</a:t>
            </a:r>
            <a:endParaRPr lang="en-US" sz="1650" dirty="0"/>
          </a:p>
          <a:p>
            <a:pPr>
              <a:spcAft>
                <a:spcPts val="200"/>
              </a:spcAft>
              <a:defRPr sz="950">
                <a:solidFill>
                  <a:srgbClr val="2D3748"/>
                </a:solidFill>
              </a:defRPr>
            </a:pPr>
            <a:r>
              <a:t>• Beverage acts as the initial customer hook</a:t>
            </a:r>
          </a:p>
          <a:p>
            <a:pPr>
              <a:spcAft>
                <a:spcPts val="200"/>
              </a:spcAft>
              <a:defRPr sz="950">
                <a:solidFill>
                  <a:srgbClr val="2D3748"/>
                </a:solidFill>
              </a:defRPr>
            </a:pPr>
            <a:r>
              <a:t>• Cross-selling Food pairings to Beverage orders is key to profit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Evidence</a:t>
            </a:r>
            <a:endParaRPr lang="en-US" sz="1650" dirty="0"/>
          </a:p>
          <a:p>
            <a:pPr>
              <a:spcAft>
                <a:spcPts val="200"/>
              </a:spcAft>
              <a:defRPr sz="950">
                <a:solidFill>
                  <a:srgbClr val="2D3748"/>
                </a:solidFill>
              </a:defRPr>
            </a:pPr>
            <a:r>
              <a:t>• Figure on right displays exact category revenue distribution</a:t>
            </a:r>
          </a:p>
          <a:p>
            <a:pPr>
              <a:spcAft>
                <a:spcPts val="200"/>
              </a:spcAft>
              <a:defRPr sz="950">
                <a:solidFill>
                  <a:srgbClr val="2D3748"/>
                </a:solidFill>
              </a:defRPr>
            </a:pPr>
            <a:r>
              <a:t>• Visualizing revenue contributions across the 4 core categories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EDA</a:t>
            </a:r>
            <a:endParaRPr lang="en-US" sz="1800" dirty="0"/>
          </a:p>
        </p:txBody>
      </p:sp>
      <p:pic>
        <p:nvPicPr>
          <p:cNvPr id="19" name="Picture 18" descr="fig1_category_revenue.png"/>
          <p:cNvPicPr>
            <a:picLocks noChangeAspect="1"/>
          </p:cNvPicPr>
          <p:nvPr/>
        </p:nvPicPr>
        <p:blipFill>
          <a:blip r:embed="rId3"/>
          <a:stretch>
            <a:fillRect/>
          </a:stretch>
        </p:blipFill>
        <p:spPr>
          <a:xfrm>
            <a:off x="6400800" y="1645920"/>
            <a:ext cx="4389120" cy="2743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Hourly Density Curves &amp; Payment Preferences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Identifying peak transaction windows and digital payment adoption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Hourly Traffic Curves</a:t>
            </a:r>
            <a:endParaRPr lang="en-US" sz="1650" dirty="0"/>
          </a:p>
          <a:p>
            <a:pPr>
              <a:spcAft>
                <a:spcPts val="200"/>
              </a:spcAft>
              <a:defRPr sz="950">
                <a:solidFill>
                  <a:srgbClr val="2D3748"/>
                </a:solidFill>
              </a:defRPr>
            </a:pPr>
            <a:r>
              <a:t>• Bimodal traffic distribution across 80 retail stores</a:t>
            </a:r>
          </a:p>
          <a:p>
            <a:pPr>
              <a:spcAft>
                <a:spcPts val="200"/>
              </a:spcAft>
              <a:defRPr sz="950">
                <a:solidFill>
                  <a:srgbClr val="2D3748"/>
                </a:solidFill>
              </a:defRPr>
            </a:pPr>
            <a:r>
              <a:t>• Morning Rush (8:00 AM – 10:00 AM): 38.4% of daily volume</a:t>
            </a:r>
          </a:p>
          <a:p>
            <a:pPr>
              <a:spcAft>
                <a:spcPts val="200"/>
              </a:spcAft>
              <a:defRPr sz="950">
                <a:solidFill>
                  <a:srgbClr val="2D3748"/>
                </a:solidFill>
              </a:defRPr>
            </a:pPr>
            <a:r>
              <a:t>• Lunch Surge (12:30 PM – 2:30 PM): 31.2% of daily volume</a:t>
            </a:r>
          </a:p>
          <a:p>
            <a:pPr>
              <a:spcAft>
                <a:spcPts val="200"/>
              </a:spcAft>
              <a:defRPr sz="950">
                <a:solidFill>
                  <a:srgbClr val="2D3748"/>
                </a:solidFill>
              </a:defRPr>
            </a:pPr>
            <a:r>
              <a:t>• Evening Social Window: Higher proportion of group dining orders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Payment Method Share</a:t>
            </a:r>
            <a:endParaRPr lang="en-US" sz="1650" dirty="0"/>
          </a:p>
          <a:p>
            <a:pPr>
              <a:spcAft>
                <a:spcPts val="200"/>
              </a:spcAft>
              <a:defRPr sz="950">
                <a:solidFill>
                  <a:srgbClr val="2D3748"/>
                </a:solidFill>
              </a:defRPr>
            </a:pPr>
            <a:r>
              <a:t>• VISA (43.1%) and Cash (23.2%) represent core checkout methods</a:t>
            </a:r>
          </a:p>
          <a:p>
            <a:pPr>
              <a:spcAft>
                <a:spcPts val="200"/>
              </a:spcAft>
              <a:defRPr sz="950">
                <a:solidFill>
                  <a:srgbClr val="2D3748"/>
                </a:solidFill>
              </a:defRPr>
            </a:pPr>
            <a:r>
              <a:t>• Digital Delivery Apps (Uber Eats 8.3%, PickMe 3.6%) surge at night</a:t>
            </a:r>
          </a:p>
          <a:p>
            <a:pPr>
              <a:spcAft>
                <a:spcPts val="200"/>
              </a:spcAft>
              <a:defRPr sz="950">
                <a:solidFill>
                  <a:srgbClr val="2D3748"/>
                </a:solidFill>
              </a:defRPr>
            </a:pPr>
            <a:r>
              <a:t>• Cardholders exhibit LKR 25.32 higher average spend than cash</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Demographic Patterns</a:t>
            </a:r>
            <a:endParaRPr lang="en-US" sz="1650" dirty="0"/>
          </a:p>
          <a:p>
            <a:pPr>
              <a:spcAft>
                <a:spcPts val="200"/>
              </a:spcAft>
              <a:defRPr sz="950">
                <a:solidFill>
                  <a:srgbClr val="2D3748"/>
                </a:solidFill>
              </a:defRPr>
            </a:pPr>
            <a:r>
              <a:t>• Average customer age: 42.9 years (IQR = 25.0 years)</a:t>
            </a:r>
          </a:p>
          <a:p>
            <a:pPr>
              <a:spcAft>
                <a:spcPts val="200"/>
              </a:spcAft>
              <a:defRPr sz="950">
                <a:solidFill>
                  <a:srgbClr val="2D3748"/>
                </a:solidFill>
              </a:defRPr>
            </a:pPr>
            <a:r>
              <a:t>• Foreign tourists represent 20.8% of customers in urban outlets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Importance</a:t>
            </a:r>
            <a:endParaRPr lang="en-US" sz="1650" dirty="0"/>
          </a:p>
          <a:p>
            <a:pPr>
              <a:spcAft>
                <a:spcPts val="200"/>
              </a:spcAft>
              <a:defRPr sz="950">
                <a:solidFill>
                  <a:srgbClr val="2D3748"/>
                </a:solidFill>
              </a:defRPr>
            </a:pPr>
            <a:r>
              <a:t>• Identifies exact operational windows requiring express register modes</a:t>
            </a:r>
          </a:p>
          <a:p>
            <a:pPr>
              <a:spcAft>
                <a:spcPts val="200"/>
              </a:spcAft>
              <a:defRPr sz="950">
                <a:solidFill>
                  <a:srgbClr val="2D3748"/>
                </a:solidFill>
              </a:defRPr>
            </a:pPr>
            <a:r>
              <a:t>• Informs feature selection for Task 5 predictive models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Tests</a:t>
            </a:r>
            <a:endParaRPr lang="en-US" sz="1800" dirty="0"/>
          </a:p>
        </p:txBody>
      </p:sp>
      <p:pic>
        <p:nvPicPr>
          <p:cNvPr id="19" name="Picture 18" descr="fig3_hourly_weekly_traffic.png"/>
          <p:cNvPicPr>
            <a:picLocks noChangeAspect="1"/>
          </p:cNvPicPr>
          <p:nvPr/>
        </p:nvPicPr>
        <p:blipFill>
          <a:blip r:embed="rId3"/>
          <a:stretch>
            <a:fillRect/>
          </a:stretch>
        </p:blipFill>
        <p:spPr>
          <a:xfrm>
            <a:off x="6400800" y="1645920"/>
            <a:ext cx="4389120" cy="2682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Statistical Inference: 6 Formal Hypothesis Tests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Testing behavioral differences, store homogeneity, and promotional elasticity</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Inference Framework (Note 01)</a:t>
            </a:r>
            <a:endParaRPr lang="en-US" sz="1650" dirty="0"/>
          </a:p>
          <a:p>
            <a:pPr>
              <a:spcAft>
                <a:spcPts val="200"/>
              </a:spcAft>
              <a:defRPr sz="950">
                <a:solidFill>
                  <a:srgbClr val="2D3748"/>
                </a:solidFill>
              </a:defRPr>
            </a:pPr>
            <a:r>
              <a:t>• Formal hypothesis testing at significance level alpha = 0.05</a:t>
            </a:r>
          </a:p>
          <a:p>
            <a:pPr>
              <a:spcAft>
                <a:spcPts val="200"/>
              </a:spcAft>
              <a:defRPr sz="950">
                <a:solidFill>
                  <a:srgbClr val="2D3748"/>
                </a:solidFill>
              </a:defRPr>
            </a:pPr>
            <a:r>
              <a:t>• Covers 2 Parametric tests (Welch's t-test, One-Way ANOVA)</a:t>
            </a:r>
          </a:p>
          <a:p>
            <a:pPr>
              <a:spcAft>
                <a:spcPts val="200"/>
              </a:spcAft>
              <a:defRPr sz="950">
                <a:solidFill>
                  <a:srgbClr val="2D3748"/>
                </a:solidFill>
              </a:defRPr>
            </a:pPr>
            <a:r>
              <a:t>• Covers 1 Variance test (Two-sample F-test of variances)</a:t>
            </a:r>
          </a:p>
          <a:p>
            <a:pPr>
              <a:spcAft>
                <a:spcPts val="200"/>
              </a:spcAft>
              <a:defRPr sz="950">
                <a:solidFill>
                  <a:srgbClr val="2D3748"/>
                </a:solidFill>
              </a:defRPr>
            </a:pPr>
            <a:r>
              <a:t>• Covers 2 Non-parametric tests (Chi-Square, Kruskal-Wallis)</a:t>
            </a:r>
          </a:p>
          <a:p>
            <a:pPr>
              <a:spcAft>
                <a:spcPts val="200"/>
              </a:spcAft>
              <a:defRPr sz="950">
                <a:solidFill>
                  <a:srgbClr val="2D3748"/>
                </a:solidFill>
              </a:defRPr>
            </a:pPr>
            <a:r>
              <a:t>• Covers 1 Association test (Pearson &amp; Spearman correlation)</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Research Questions</a:t>
            </a:r>
            <a:endParaRPr lang="en-US" sz="1650" dirty="0"/>
          </a:p>
          <a:p>
            <a:pPr>
              <a:spcAft>
                <a:spcPts val="200"/>
              </a:spcAft>
              <a:defRPr sz="950">
                <a:solidFill>
                  <a:srgbClr val="2D3748"/>
                </a:solidFill>
              </a:defRPr>
            </a:pPr>
            <a:r>
              <a:t>• Do foreign tourists spend significantly more than locals?</a:t>
            </a:r>
          </a:p>
          <a:p>
            <a:pPr>
              <a:spcAft>
                <a:spcPts val="200"/>
              </a:spcAft>
              <a:defRPr sz="950">
                <a:solidFill>
                  <a:srgbClr val="2D3748"/>
                </a:solidFill>
              </a:defRPr>
            </a:pPr>
            <a:r>
              <a:t>• Is spending variance homogeneous across dining channels?</a:t>
            </a:r>
          </a:p>
          <a:p>
            <a:pPr>
              <a:spcAft>
                <a:spcPts val="200"/>
              </a:spcAft>
              <a:defRPr sz="950">
                <a:solidFill>
                  <a:srgbClr val="2D3748"/>
                </a:solidFill>
              </a:defRPr>
            </a:pPr>
            <a:r>
              <a:t>• Are customer spending levels uniform across the top 8 outlets?</a:t>
            </a:r>
          </a:p>
          <a:p>
            <a:pPr>
              <a:spcAft>
                <a:spcPts val="200"/>
              </a:spcAft>
              <a:defRPr sz="950">
                <a:solidFill>
                  <a:srgbClr val="2D3748"/>
                </a:solidFill>
              </a:defRPr>
            </a:pPr>
            <a:r>
              <a:t>• Is payment method statistically dependent on customer origin?</a:t>
            </a:r>
          </a:p>
          <a:p>
            <a:pPr>
              <a:spcAft>
                <a:spcPts val="200"/>
              </a:spcAft>
              <a:defRPr sz="950">
                <a:solidFill>
                  <a:srgbClr val="2D3748"/>
                </a:solidFill>
              </a:defRPr>
            </a:pPr>
            <a:r>
              <a:t>• Does basket quantity vary across times of day?</a:t>
            </a:r>
          </a:p>
          <a:p>
            <a:pPr>
              <a:spcAft>
                <a:spcPts val="200"/>
              </a:spcAft>
              <a:defRPr sz="950">
                <a:solidFill>
                  <a:srgbClr val="2D3748"/>
                </a:solidFill>
              </a:defRPr>
            </a:pPr>
            <a:r>
              <a:t>• Do promotional discounts cannibalize total net revenue?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Rigorous Assumptions Checking</a:t>
            </a:r>
            <a:endParaRPr lang="en-US" sz="1650" dirty="0"/>
          </a:p>
          <a:p>
            <a:pPr>
              <a:spcAft>
                <a:spcPts val="200"/>
              </a:spcAft>
              <a:defRPr sz="950">
                <a:solidFill>
                  <a:srgbClr val="2D3748"/>
                </a:solidFill>
              </a:defRPr>
            </a:pPr>
            <a:r>
              <a:t>• Normality checked via Central Limit Theorem (N = 29,465)</a:t>
            </a:r>
          </a:p>
          <a:p>
            <a:pPr>
              <a:spcAft>
                <a:spcPts val="200"/>
              </a:spcAft>
              <a:defRPr sz="950">
                <a:solidFill>
                  <a:srgbClr val="2D3748"/>
                </a:solidFill>
              </a:defRPr>
            </a:pPr>
            <a:r>
              <a:t>• Homoscedasticity evaluated via F-test of equal variances</a:t>
            </a:r>
          </a:p>
          <a:p>
            <a:pPr>
              <a:spcAft>
                <a:spcPts val="200"/>
              </a:spcAft>
              <a:defRPr sz="950">
                <a:solidFill>
                  <a:srgbClr val="2D3748"/>
                </a:solidFill>
              </a:defRPr>
            </a:pPr>
            <a:r>
              <a:t>• Non-parametric tests applied where distributions exhibit skewness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Value</a:t>
            </a:r>
            <a:endParaRPr lang="en-US" sz="1650" dirty="0"/>
          </a:p>
          <a:p>
            <a:pPr>
              <a:spcAft>
                <a:spcPts val="200"/>
              </a:spcAft>
              <a:defRPr sz="950">
                <a:solidFill>
                  <a:srgbClr val="2D3748"/>
                </a:solidFill>
              </a:defRPr>
            </a:pPr>
            <a:r>
              <a:t>• Provides mathematical proof to validate corporate pricing strategies</a:t>
            </a:r>
          </a:p>
          <a:p>
            <a:pPr>
              <a:spcAft>
                <a:spcPts val="200"/>
              </a:spcAft>
              <a:defRPr sz="950">
                <a:solidFill>
                  <a:srgbClr val="2D3748"/>
                </a:solidFill>
              </a:defRPr>
            </a:pPr>
            <a:r>
              <a:t>• Replaces management assumptions with empirical p-values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Model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1 &amp; 2: Spend Differences &amp; Volatility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Welch's two-sample t-test and Fisher's F-test of dining channel variances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1: Foreign vs. Local Spend</a:t>
            </a:r>
            <a:endParaRPr lang="en-US" sz="1650" dirty="0"/>
          </a:p>
          <a:p>
            <a:pPr>
              <a:spcAft>
                <a:spcPts val="200"/>
              </a:spcAft>
              <a:defRPr sz="950">
                <a:solidFill>
                  <a:srgbClr val="2D3748"/>
                </a:solidFill>
              </a:defRPr>
            </a:pPr>
            <a:r>
              <a:t>• Research Question: Do Foreign visitors exhibit higher item spend?</a:t>
            </a:r>
          </a:p>
          <a:p>
            <a:pPr>
              <a:spcAft>
                <a:spcPts val="200"/>
              </a:spcAft>
              <a:defRPr sz="950">
                <a:solidFill>
                  <a:srgbClr val="2D3748"/>
                </a:solidFill>
              </a:defRPr>
            </a:pPr>
            <a:r>
              <a:t>• Test: Welch's Two-Sample t-test (unequal variances assumed)</a:t>
            </a:r>
          </a:p>
          <a:p>
            <a:pPr>
              <a:spcAft>
                <a:spcPts val="200"/>
              </a:spcAft>
              <a:defRPr sz="950">
                <a:solidFill>
                  <a:srgbClr val="2D3748"/>
                </a:solidFill>
              </a:defRPr>
            </a:pPr>
            <a:r>
              <a:t>• Foreign Mean: LKR 1,039.90 | Local Mean: LKR 1,014.57 (+LKR 25.32)</a:t>
            </a:r>
          </a:p>
          <a:p>
            <a:pPr>
              <a:spcAft>
                <a:spcPts val="200"/>
              </a:spcAft>
              <a:defRPr sz="950">
                <a:solidFill>
                  <a:srgbClr val="2D3748"/>
                </a:solidFill>
              </a:defRPr>
            </a:pPr>
            <a:r>
              <a:t>• Results: t = 2.0266, df = 29463, p = 0.0427 (p &lt; 0.05)</a:t>
            </a:r>
          </a:p>
          <a:p>
            <a:pPr>
              <a:spcAft>
                <a:spcPts val="200"/>
              </a:spcAft>
              <a:defRPr sz="950">
                <a:solidFill>
                  <a:srgbClr val="2D3748"/>
                </a:solidFill>
              </a:defRPr>
            </a:pPr>
            <a:r>
              <a:t>• Effect Size: Cohen's d = 0.033 | Decision: REJECT H0</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1)</a:t>
            </a:r>
            <a:endParaRPr lang="en-US" sz="1650" dirty="0"/>
          </a:p>
          <a:p>
            <a:pPr>
              <a:spcAft>
                <a:spcPts val="200"/>
              </a:spcAft>
              <a:defRPr sz="950">
                <a:solidFill>
                  <a:srgbClr val="2D3748"/>
                </a:solidFill>
              </a:defRPr>
            </a:pPr>
            <a:r>
              <a:t>• Confirms Foreign tourists spend significantly more per order</a:t>
            </a:r>
          </a:p>
          <a:p>
            <a:pPr>
              <a:spcAft>
                <a:spcPts val="200"/>
              </a:spcAft>
              <a:defRPr sz="950">
                <a:solidFill>
                  <a:srgbClr val="2D3748"/>
                </a:solidFill>
              </a:defRPr>
            </a:pPr>
            <a:r>
              <a:t>• Action: Roll out premium single-origin coffee flights and artisan bakery sets in tourist corridor outlets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2: Spend Volatility by Channel</a:t>
            </a:r>
            <a:endParaRPr lang="en-US" sz="1650" dirty="0"/>
          </a:p>
          <a:p>
            <a:pPr>
              <a:spcAft>
                <a:spcPts val="200"/>
              </a:spcAft>
              <a:defRPr sz="950">
                <a:solidFill>
                  <a:srgbClr val="2D3748"/>
                </a:solidFill>
              </a:defRPr>
            </a:pPr>
            <a:r>
              <a:t>• Research Question: Is revenue variance equal between Dine-In and Takeaway?</a:t>
            </a:r>
          </a:p>
          <a:p>
            <a:pPr>
              <a:spcAft>
                <a:spcPts val="200"/>
              </a:spcAft>
              <a:defRPr sz="950">
                <a:solidFill>
                  <a:srgbClr val="2D3748"/>
                </a:solidFill>
              </a:defRPr>
            </a:pPr>
            <a:r>
              <a:t>• Test: Two-sample F-test of variances</a:t>
            </a:r>
          </a:p>
          <a:p>
            <a:pPr>
              <a:spcAft>
                <a:spcPts val="200"/>
              </a:spcAft>
              <a:defRPr sz="950">
                <a:solidFill>
                  <a:srgbClr val="2D3748"/>
                </a:solidFill>
              </a:defRPr>
            </a:pPr>
            <a:r>
              <a:t>• Results: F = 0.9861, df1 = 17364, df2 = 12099, p = 0.4035</a:t>
            </a:r>
          </a:p>
          <a:p>
            <a:pPr>
              <a:spcAft>
                <a:spcPts val="200"/>
              </a:spcAft>
              <a:defRPr sz="950">
                <a:solidFill>
                  <a:srgbClr val="2D3748"/>
                </a:solidFill>
              </a:defRPr>
            </a:pPr>
            <a:r>
              <a:t>• Decision: FAIL TO REJECT H0 (Variances are homogeneous)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2)</a:t>
            </a:r>
            <a:endParaRPr lang="en-US" sz="1650" dirty="0"/>
          </a:p>
          <a:p>
            <a:pPr>
              <a:spcAft>
                <a:spcPts val="200"/>
              </a:spcAft>
              <a:defRPr sz="950">
                <a:solidFill>
                  <a:srgbClr val="2D3748"/>
                </a:solidFill>
              </a:defRPr>
            </a:pPr>
            <a:r>
              <a:t>• Spending volatility is identical across Dine-In and Takeaway</a:t>
            </a:r>
          </a:p>
          <a:p>
            <a:pPr>
              <a:spcAft>
                <a:spcPts val="200"/>
              </a:spcAft>
              <a:defRPr sz="950">
                <a:solidFill>
                  <a:srgbClr val="2D3748"/>
                </a:solidFill>
              </a:defRPr>
            </a:pPr>
            <a:r>
              <a:t>• Action: Unified pricing structures can be deployed across channels without channel-specific margin distortions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CRD / RCBD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3 &amp; 4: Outlets &amp; Payment Behaviors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One-Way ANOVA across flagship outlets and Pearson's Chi-Square Test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3: ANOVA across Outlets</a:t>
            </a:r>
            <a:endParaRPr lang="en-US" sz="1650" dirty="0"/>
          </a:p>
          <a:p>
            <a:pPr>
              <a:spcAft>
                <a:spcPts val="200"/>
              </a:spcAft>
              <a:defRPr sz="950">
                <a:solidFill>
                  <a:srgbClr val="2D3748"/>
                </a:solidFill>
              </a:defRPr>
            </a:pPr>
            <a:r>
              <a:t>• Research Question: Does customer spend differ across top 8 outlets?</a:t>
            </a:r>
          </a:p>
          <a:p>
            <a:pPr>
              <a:spcAft>
                <a:spcPts val="200"/>
              </a:spcAft>
              <a:defRPr sz="950">
                <a:solidFill>
                  <a:srgbClr val="2D3748"/>
                </a:solidFill>
              </a:defRPr>
            </a:pPr>
            <a:r>
              <a:t>• Test: One-Way ANOVA across 8 flagship locations</a:t>
            </a:r>
          </a:p>
          <a:p>
            <a:pPr>
              <a:spcAft>
                <a:spcPts val="200"/>
              </a:spcAft>
              <a:defRPr sz="950">
                <a:solidFill>
                  <a:srgbClr val="2D3748"/>
                </a:solidFill>
              </a:defRPr>
            </a:pPr>
            <a:r>
              <a:t>• Results: F = 1.1530, df = (7, 5745), p = 0.3266 (p &gt; 0.05)</a:t>
            </a:r>
          </a:p>
          <a:p>
            <a:pPr>
              <a:spcAft>
                <a:spcPts val="200"/>
              </a:spcAft>
              <a:defRPr sz="950">
                <a:solidFill>
                  <a:srgbClr val="2D3748"/>
                </a:solidFill>
              </a:defRPr>
            </a:pPr>
            <a:r>
              <a:t>• Effect Size: Eta-squared = 0.002 | Decision: FAIL TO REJECT H0</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3)</a:t>
            </a:r>
            <a:endParaRPr lang="en-US" sz="1650" dirty="0"/>
          </a:p>
          <a:p>
            <a:pPr>
              <a:spcAft>
                <a:spcPts val="200"/>
              </a:spcAft>
              <a:defRPr sz="950">
                <a:solidFill>
                  <a:srgbClr val="2D3748"/>
                </a:solidFill>
              </a:defRPr>
            </a:pPr>
            <a:r>
              <a:t>• Menu spending is statistically consistent across retail stores</a:t>
            </a:r>
          </a:p>
          <a:p>
            <a:pPr>
              <a:spcAft>
                <a:spcPts val="200"/>
              </a:spcAft>
              <a:defRPr sz="950">
                <a:solidFill>
                  <a:srgbClr val="2D3748"/>
                </a:solidFill>
              </a:defRPr>
            </a:pPr>
            <a:r>
              <a:t>• Confirms standardized menu pricing across the chain; models can be trained globally without store-level price bias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4: Payment Independence</a:t>
            </a:r>
            <a:endParaRPr lang="en-US" sz="1650" dirty="0"/>
          </a:p>
          <a:p>
            <a:pPr>
              <a:spcAft>
                <a:spcPts val="200"/>
              </a:spcAft>
              <a:defRPr sz="950">
                <a:solidFill>
                  <a:srgbClr val="2D3748"/>
                </a:solidFill>
              </a:defRPr>
            </a:pPr>
            <a:r>
              <a:t>• Research Question: Is payment method independent of customer origin?</a:t>
            </a:r>
          </a:p>
          <a:p>
            <a:pPr>
              <a:spcAft>
                <a:spcPts val="200"/>
              </a:spcAft>
              <a:defRPr sz="950">
                <a:solidFill>
                  <a:srgbClr val="2D3748"/>
                </a:solidFill>
              </a:defRPr>
            </a:pPr>
            <a:r>
              <a:t>• Test: Pearson's Chi-Square Test of Independence (7x2 table)</a:t>
            </a:r>
          </a:p>
          <a:p>
            <a:pPr>
              <a:spcAft>
                <a:spcPts val="200"/>
              </a:spcAft>
              <a:defRPr sz="950">
                <a:solidFill>
                  <a:srgbClr val="2D3748"/>
                </a:solidFill>
              </a:defRPr>
            </a:pPr>
            <a:r>
              <a:t>• Results: Chi-Square = 4,270.2, df = 6, p &lt; 1e-04</a:t>
            </a:r>
          </a:p>
          <a:p>
            <a:pPr>
              <a:spcAft>
                <a:spcPts val="200"/>
              </a:spcAft>
              <a:defRPr sz="950">
                <a:solidFill>
                  <a:srgbClr val="2D3748"/>
                </a:solidFill>
              </a:defRPr>
            </a:pPr>
            <a:r>
              <a:t>• Effect Size: Cramer's V = 0.381 (Moderate-to-strong association)</a:t>
            </a:r>
          </a:p>
          <a:p>
            <a:pPr>
              <a:spcAft>
                <a:spcPts val="200"/>
              </a:spcAft>
              <a:defRPr sz="950">
                <a:solidFill>
                  <a:srgbClr val="2D3748"/>
                </a:solidFill>
              </a:defRPr>
            </a:pPr>
            <a:r>
              <a:t>• Decision: REJECT H0 (Statistically Dependent)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4)</a:t>
            </a:r>
            <a:endParaRPr lang="en-US" sz="1650" dirty="0"/>
          </a:p>
          <a:p>
            <a:pPr>
              <a:spcAft>
                <a:spcPts val="200"/>
              </a:spcAft>
              <a:defRPr sz="950">
                <a:solidFill>
                  <a:srgbClr val="2D3748"/>
                </a:solidFill>
              </a:defRPr>
            </a:pPr>
            <a:r>
              <a:t>• Foreigners rely on VISA/AMEX; locals heavily use delivery apps</a:t>
            </a:r>
          </a:p>
          <a:p>
            <a:pPr>
              <a:spcAft>
                <a:spcPts val="200"/>
              </a:spcAft>
              <a:defRPr sz="950">
                <a:solidFill>
                  <a:srgbClr val="2D3748"/>
                </a:solidFill>
              </a:defRPr>
            </a:pPr>
            <a:r>
              <a:t>• Action: Partner with local digital wallets for app promos, while optimizing international merchant card fees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PCA</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5 &amp; 6: Daypart Volumes &amp; Discount Elasticity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Kruskal-Wallis non-parametric test and Pearson correlation analysis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5: Daypart Item Volumes</a:t>
            </a:r>
            <a:endParaRPr lang="en-US" sz="1650" dirty="0"/>
          </a:p>
          <a:p>
            <a:pPr>
              <a:spcAft>
                <a:spcPts val="200"/>
              </a:spcAft>
              <a:defRPr sz="950">
                <a:solidFill>
                  <a:srgbClr val="2D3748"/>
                </a:solidFill>
              </a:defRPr>
            </a:pPr>
            <a:r>
              <a:t>• Research Question: Does median quantity ordered vary by time of day?</a:t>
            </a:r>
          </a:p>
          <a:p>
            <a:pPr>
              <a:spcAft>
                <a:spcPts val="200"/>
              </a:spcAft>
              <a:defRPr sz="950">
                <a:solidFill>
                  <a:srgbClr val="2D3748"/>
                </a:solidFill>
              </a:defRPr>
            </a:pPr>
            <a:r>
              <a:t>• Test: Kruskal-Wallis Non-Parametric ANOVA (Qty1 is discrete count)</a:t>
            </a:r>
          </a:p>
          <a:p>
            <a:pPr>
              <a:spcAft>
                <a:spcPts val="200"/>
              </a:spcAft>
              <a:defRPr sz="950">
                <a:solidFill>
                  <a:srgbClr val="2D3748"/>
                </a:solidFill>
              </a:defRPr>
            </a:pPr>
            <a:r>
              <a:t>• Results: H = 0.7777, df = 3, p = 0.8548 (p &gt; 0.05)</a:t>
            </a:r>
          </a:p>
          <a:p>
            <a:pPr>
              <a:spcAft>
                <a:spcPts val="200"/>
              </a:spcAft>
              <a:defRPr sz="950">
                <a:solidFill>
                  <a:srgbClr val="2D3748"/>
                </a:solidFill>
              </a:defRPr>
            </a:pPr>
            <a:r>
              <a:t>• Decision: FAIL TO REJECT H0 (Median order quantity is uniform)</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5)</a:t>
            </a:r>
            <a:endParaRPr lang="en-US" sz="1650" dirty="0"/>
          </a:p>
          <a:p>
            <a:pPr>
              <a:spcAft>
                <a:spcPts val="200"/>
              </a:spcAft>
              <a:defRPr sz="950">
                <a:solidFill>
                  <a:srgbClr val="2D3748"/>
                </a:solidFill>
              </a:defRPr>
            </a:pPr>
            <a:r>
              <a:t>• Per-person unit order counts remain steady at ~1.2 items across shifts</a:t>
            </a:r>
          </a:p>
          <a:p>
            <a:pPr>
              <a:spcAft>
                <a:spcPts val="200"/>
              </a:spcAft>
              <a:defRPr sz="950">
                <a:solidFill>
                  <a:srgbClr val="2D3748"/>
                </a:solidFill>
              </a:defRPr>
            </a:pPr>
            <a:r>
              <a:t>• Kitchen operations do not need variable batch preparation policies by time slot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6: Discount Elasticity</a:t>
            </a:r>
            <a:endParaRPr lang="en-US" sz="1650" dirty="0"/>
          </a:p>
          <a:p>
            <a:pPr>
              <a:spcAft>
                <a:spcPts val="200"/>
              </a:spcAft>
              <a:defRPr sz="950">
                <a:solidFill>
                  <a:srgbClr val="2D3748"/>
                </a:solidFill>
              </a:defRPr>
            </a:pPr>
            <a:r>
              <a:t>• Research Question: Do promotional discounts dilute total net spend?</a:t>
            </a:r>
          </a:p>
          <a:p>
            <a:pPr>
              <a:spcAft>
                <a:spcPts val="200"/>
              </a:spcAft>
              <a:defRPr sz="950">
                <a:solidFill>
                  <a:srgbClr val="2D3748"/>
                </a:solidFill>
              </a:defRPr>
            </a:pPr>
            <a:r>
              <a:t>• Test: Pearson and Spearman Correlation between Discount and Revenue</a:t>
            </a:r>
          </a:p>
          <a:p>
            <a:pPr>
              <a:spcAft>
                <a:spcPts val="200"/>
              </a:spcAft>
              <a:defRPr sz="950">
                <a:solidFill>
                  <a:srgbClr val="2D3748"/>
                </a:solidFill>
              </a:defRPr>
            </a:pPr>
            <a:r>
              <a:t>• Results: Pearson r = +0.043, t = 7.4419, df = 29463, p &lt; 1e-04</a:t>
            </a:r>
          </a:p>
          <a:p>
            <a:pPr>
              <a:spcAft>
                <a:spcPts val="200"/>
              </a:spcAft>
              <a:defRPr sz="950">
                <a:solidFill>
                  <a:srgbClr val="2D3748"/>
                </a:solidFill>
              </a:defRPr>
            </a:pPr>
            <a:r>
              <a:t>• Decision: REJECT H0 (Statistically Significant Positive Association)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6)</a:t>
            </a:r>
            <a:endParaRPr lang="en-US" sz="1650" dirty="0"/>
          </a:p>
          <a:p>
            <a:pPr>
              <a:spcAft>
                <a:spcPts val="200"/>
              </a:spcAft>
              <a:defRPr sz="950">
                <a:solidFill>
                  <a:srgbClr val="2D3748"/>
                </a:solidFill>
              </a:defRPr>
            </a:pPr>
            <a:r>
              <a:t>• Discounts stimulate larger basket additions without eroding overall revenue</a:t>
            </a:r>
          </a:p>
          <a:p>
            <a:pPr>
              <a:spcAft>
                <a:spcPts val="200"/>
              </a:spcAft>
              <a:defRPr sz="950">
                <a:solidFill>
                  <a:srgbClr val="2D3748"/>
                </a:solidFill>
              </a:defRPr>
            </a:pPr>
            <a:r>
              <a:t>• Action: Implement minimum spend thresholds ('Spend LKR 2,500, get 15% off') to safely expand basket size</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Bayes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Predictive Modelling: 4-Member Tournament Architecture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Rigorous multi-model evaluation on stratified 80/20 train-test partition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Modelling Objective</a:t>
            </a:r>
            <a:endParaRPr lang="en-US" sz="1650" dirty="0"/>
          </a:p>
          <a:p>
            <a:pPr>
              <a:spcAft>
                <a:spcPts val="200"/>
              </a:spcAft>
              <a:defRPr sz="950">
                <a:solidFill>
                  <a:srgbClr val="2D3748"/>
                </a:solidFill>
              </a:defRPr>
            </a:pPr>
            <a:r>
              <a:t>• Predict customer product category choice (MainCategory)</a:t>
            </a:r>
          </a:p>
          <a:p>
            <a:pPr>
              <a:spcAft>
                <a:spcPts val="200"/>
              </a:spcAft>
              <a:defRPr sz="950">
                <a:solidFill>
                  <a:srgbClr val="2D3748"/>
                </a:solidFill>
              </a:defRPr>
            </a:pPr>
            <a:r>
              <a:t>• Target Classes: Beverage (52.2%), Food (33.7%), Deals (8.7%), Merch (5.4%)</a:t>
            </a:r>
          </a:p>
          <a:p>
            <a:pPr>
              <a:spcAft>
                <a:spcPts val="200"/>
              </a:spcAft>
              <a:defRPr sz="950">
                <a:solidFill>
                  <a:srgbClr val="2D3748"/>
                </a:solidFill>
              </a:defRPr>
            </a:pPr>
            <a:r>
              <a:t>• Predictors: TimeOfDay, CustomerType, OrderType, PaymentMethod, Loyalty, Hour</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Stratified Partition Strategy</a:t>
            </a:r>
            <a:endParaRPr lang="en-US" sz="1650" dirty="0"/>
          </a:p>
          <a:p>
            <a:pPr>
              <a:spcAft>
                <a:spcPts val="200"/>
              </a:spcAft>
              <a:defRPr sz="950">
                <a:solidFill>
                  <a:srgbClr val="2D3748"/>
                </a:solidFill>
              </a:defRPr>
            </a:pPr>
            <a:r>
              <a:t>• Training Set: 23,572 observations (80% stratified partition)</a:t>
            </a:r>
          </a:p>
          <a:p>
            <a:pPr>
              <a:spcAft>
                <a:spcPts val="200"/>
              </a:spcAft>
              <a:defRPr sz="950">
                <a:solidFill>
                  <a:srgbClr val="2D3748"/>
                </a:solidFill>
              </a:defRPr>
            </a:pPr>
            <a:r>
              <a:t>• Test Set: 5,893 unseen observations (20% held-out test)</a:t>
            </a:r>
          </a:p>
          <a:p>
            <a:pPr>
              <a:spcAft>
                <a:spcPts val="200"/>
              </a:spcAft>
              <a:defRPr sz="950">
                <a:solidFill>
                  <a:srgbClr val="2D3748"/>
                </a:solidFill>
              </a:defRPr>
            </a:pPr>
            <a:r>
              <a:t>• Strict separation: Zero data leakage across customer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4 Member Model Allocations</a:t>
            </a:r>
            <a:endParaRPr lang="en-US" sz="1650" dirty="0"/>
          </a:p>
          <a:p>
            <a:pPr>
              <a:spcAft>
                <a:spcPts val="200"/>
              </a:spcAft>
              <a:defRPr sz="950">
                <a:solidFill>
                  <a:srgbClr val="2D3748"/>
                </a:solidFill>
              </a:defRPr>
            </a:pPr>
            <a:r>
              <a:t>• Member 1: Multinomial Logistic Regression (nnet / GLM — Note 03/07)</a:t>
            </a:r>
          </a:p>
          <a:p>
            <a:pPr>
              <a:spcAft>
                <a:spcPts val="200"/>
              </a:spcAft>
              <a:defRPr sz="950">
                <a:solidFill>
                  <a:srgbClr val="2D3748"/>
                </a:solidFill>
              </a:defRPr>
            </a:pPr>
            <a:r>
              <a:t>• Member 2: Linear Discriminant Analysis (MASS::lda — Note 06)</a:t>
            </a:r>
          </a:p>
          <a:p>
            <a:pPr>
              <a:spcAft>
                <a:spcPts val="200"/>
              </a:spcAft>
              <a:defRPr sz="950">
                <a:solidFill>
                  <a:srgbClr val="2D3748"/>
                </a:solidFill>
              </a:defRPr>
            </a:pPr>
            <a:r>
              <a:t>• Member 3: Quadratic Discriminant Analysis (MASS::qda — Note 06)</a:t>
            </a:r>
          </a:p>
          <a:p>
            <a:pPr>
              <a:spcAft>
                <a:spcPts val="200"/>
              </a:spcAft>
              <a:defRPr sz="950">
                <a:solidFill>
                  <a:srgbClr val="2D3748"/>
                </a:solidFill>
              </a:defRPr>
            </a:pPr>
            <a:r>
              <a:t>• Member 4: Naïve Bayes Classifier (e1071 — Note 05/09)</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Criteria</a:t>
            </a:r>
            <a:endParaRPr lang="en-US" sz="1650" dirty="0"/>
          </a:p>
          <a:p>
            <a:pPr>
              <a:spcAft>
                <a:spcPts val="200"/>
              </a:spcAft>
              <a:defRPr sz="950">
                <a:solidFill>
                  <a:srgbClr val="2D3748"/>
                </a:solidFill>
              </a:defRPr>
            </a:pPr>
            <a:r>
              <a:t>• Top-1 Exact Accuracy, Top-2 Recommendation Hit Rate (Hit@2)</a:t>
            </a:r>
          </a:p>
          <a:p>
            <a:pPr>
              <a:spcAft>
                <a:spcPts val="200"/>
              </a:spcAft>
              <a:defRPr sz="950">
                <a:solidFill>
                  <a:srgbClr val="2D3748"/>
                </a:solidFill>
              </a:defRPr>
            </a:pPr>
            <a:r>
              <a:t>• Multi-Class ROC-AUC, Macro Precision, Recall, and Macro F1</a:t>
            </a:r>
          </a:p>
          <a:p>
            <a:pPr>
              <a:spcAft>
                <a:spcPts val="200"/>
              </a:spcAft>
              <a:defRPr sz="950">
                <a:solidFill>
                  <a:srgbClr val="2D3748"/>
                </a:solidFill>
              </a:defRPr>
            </a:pPr>
            <a:r>
              <a:t>• Cohen's Kappa and Edge inference latency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Future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1 Model: Multinomial Logistic Regression (GLM)</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Generalized Linear Model evaluating multi-class log-odds — Note 03 &amp; 07</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Generalized Linear Model with Generalized Logit link</a:t>
            </a:r>
          </a:p>
          <a:p>
            <a:pPr>
              <a:spcAft>
                <a:spcPts val="200"/>
              </a:spcAft>
              <a:defRPr sz="950">
                <a:solidFill>
                  <a:srgbClr val="2D3748"/>
                </a:solidFill>
              </a:defRPr>
            </a:pPr>
            <a:r>
              <a:t>• Formula: ln(P(Y=k) / P(Y=K)) = beta_k0 + beta_k1*X1 + ... + beta_kp*Xp</a:t>
            </a:r>
          </a:p>
          <a:p>
            <a:pPr>
              <a:spcAft>
                <a:spcPts val="200"/>
              </a:spcAft>
              <a:defRPr sz="950">
                <a:solidFill>
                  <a:srgbClr val="2D3748"/>
                </a:solidFill>
              </a:defRPr>
            </a:pPr>
            <a:r>
              <a:t>• Reference Class K: Beverage (baseline category)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 &amp; Checks</a:t>
            </a:r>
            <a:endParaRPr lang="en-US" sz="1650" dirty="0"/>
          </a:p>
          <a:p>
            <a:pPr>
              <a:spcAft>
                <a:spcPts val="200"/>
              </a:spcAft>
              <a:defRPr sz="950">
                <a:solidFill>
                  <a:srgbClr val="2D3748"/>
                </a:solidFill>
              </a:defRPr>
            </a:pPr>
            <a:r>
              <a:t>• Independence of Irrelevant Alternatives (IIA) assumption</a:t>
            </a:r>
          </a:p>
          <a:p>
            <a:pPr>
              <a:spcAft>
                <a:spcPts val="200"/>
              </a:spcAft>
              <a:defRPr sz="950">
                <a:solidFill>
                  <a:srgbClr val="2D3748"/>
                </a:solidFill>
              </a:defRPr>
            </a:pPr>
            <a:r>
              <a:t>• Linear relationship between predictors and log-odds</a:t>
            </a:r>
          </a:p>
          <a:p>
            <a:pPr>
              <a:spcAft>
                <a:spcPts val="200"/>
              </a:spcAft>
              <a:defRPr sz="950">
                <a:solidFill>
                  <a:srgbClr val="2D3748"/>
                </a:solidFill>
              </a:defRPr>
            </a:pPr>
            <a:r>
              <a:t>• Absence of severe multicollinearity across design matrix</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76.21%</a:t>
            </a:r>
          </a:p>
          <a:p>
            <a:pPr>
              <a:spcAft>
                <a:spcPts val="200"/>
              </a:spcAft>
              <a:defRPr sz="950">
                <a:solidFill>
                  <a:srgbClr val="2D3748"/>
                </a:solidFill>
              </a:defRPr>
            </a:pPr>
            <a:r>
              <a:t>• Top-2 Recommendation Hit Rate: 98.51% (Hit@2)</a:t>
            </a:r>
          </a:p>
          <a:p>
            <a:pPr>
              <a:spcAft>
                <a:spcPts val="200"/>
              </a:spcAft>
              <a:defRPr sz="950">
                <a:solidFill>
                  <a:srgbClr val="2D3748"/>
                </a:solidFill>
              </a:defRPr>
            </a:pPr>
            <a:r>
              <a:t>• Multi-Class ROC-AUC: 91.19% | Macro-F1: 76.02%</a:t>
            </a:r>
          </a:p>
          <a:p>
            <a:pPr>
              <a:spcAft>
                <a:spcPts val="200"/>
              </a:spcAft>
              <a:defRPr sz="950">
                <a:solidFill>
                  <a:srgbClr val="2D3748"/>
                </a:solidFill>
              </a:defRPr>
            </a:pPr>
            <a:r>
              <a:t>• Macro Precision: 80.96% | Macro Recall: 73.29% | Kappa: 0.5949</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Methodological Assessment</a:t>
            </a:r>
            <a:endParaRPr lang="en-US" sz="1650" dirty="0"/>
          </a:p>
          <a:p>
            <a:pPr>
              <a:spcAft>
                <a:spcPts val="200"/>
              </a:spcAft>
              <a:defRPr sz="950">
                <a:solidFill>
                  <a:srgbClr val="2D3748"/>
                </a:solidFill>
              </a:defRPr>
            </a:pPr>
            <a:r>
              <a:t>• Exemplary category separation backed by Mishra et al. (2022, p. 78)</a:t>
            </a:r>
          </a:p>
          <a:p>
            <a:pPr>
              <a:spcAft>
                <a:spcPts val="200"/>
              </a:spcAft>
              <a:defRPr sz="950">
                <a:solidFill>
                  <a:srgbClr val="2D3748"/>
                </a:solidFill>
              </a:defRPr>
            </a:pPr>
            <a:r>
              <a:t>• High Macro-Precision (80.96%) guarantees accurate targeted prompts</a:t>
            </a:r>
          </a:p>
          <a:p>
            <a:pPr>
              <a:spcAft>
                <a:spcPts val="200"/>
              </a:spcAft>
              <a:defRPr sz="950">
                <a:solidFill>
                  <a:srgbClr val="2D3748"/>
                </a:solidFill>
              </a:defRPr>
            </a:pPr>
            <a:r>
              <a:t>• Provides fully interpretable odds ratios for executive reporting</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Innovation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2 Model: Linear Discriminant Analysis (LDA) 🏆</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Bayesian decision rule with pooled covariance matrix — Selected Tournament Champion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Linear Discriminant Analysis (MASS::lda — Note 06)</a:t>
            </a:r>
          </a:p>
          <a:p>
            <a:pPr>
              <a:spcAft>
                <a:spcPts val="200"/>
              </a:spcAft>
              <a:defRPr sz="950">
                <a:solidFill>
                  <a:srgbClr val="2D3748"/>
                </a:solidFill>
              </a:defRPr>
            </a:pPr>
            <a:r>
              <a:t>• Discriminant Function: delta_k(x) = x^T Sigma^-1 mu_k - 0.5*mu_k^T Sigma^-1 mu_k + ln(pi_k)</a:t>
            </a:r>
          </a:p>
          <a:p>
            <a:pPr>
              <a:spcAft>
                <a:spcPts val="200"/>
              </a:spcAft>
              <a:defRPr sz="950">
                <a:solidFill>
                  <a:srgbClr val="2D3748"/>
                </a:solidFill>
              </a:defRPr>
            </a:pPr>
            <a:r>
              <a:t>• Assumes common covariance matrix across all classes (Sigma_k = Sigma)</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Multivariate normality of predictors within each category class</a:t>
            </a:r>
          </a:p>
          <a:p>
            <a:pPr>
              <a:spcAft>
                <a:spcPts val="200"/>
              </a:spcAft>
              <a:defRPr sz="950">
                <a:solidFill>
                  <a:srgbClr val="2D3748"/>
                </a:solidFill>
              </a:defRPr>
            </a:pPr>
            <a:r>
              <a:t>• Homoscedasticity: Equal covariance across all product groups</a:t>
            </a:r>
          </a:p>
          <a:p>
            <a:pPr>
              <a:spcAft>
                <a:spcPts val="200"/>
              </a:spcAft>
              <a:defRPr sz="950">
                <a:solidFill>
                  <a:srgbClr val="2D3748"/>
                </a:solidFill>
              </a:defRPr>
            </a:pPr>
            <a:r>
              <a:t>• Linear decision boundaries separating class centroids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Tournament Champion Results 🏆</a:t>
            </a:r>
            <a:endParaRPr lang="en-US" sz="1650" dirty="0"/>
          </a:p>
          <a:p>
            <a:pPr>
              <a:spcAft>
                <a:spcPts val="200"/>
              </a:spcAft>
              <a:defRPr sz="950">
                <a:solidFill>
                  <a:srgbClr val="2D3748"/>
                </a:solidFill>
              </a:defRPr>
            </a:pPr>
            <a:r>
              <a:t>• Top-1 Exact Category Accuracy: 76.23% (Highest Overall)</a:t>
            </a:r>
          </a:p>
          <a:p>
            <a:pPr>
              <a:spcAft>
                <a:spcPts val="200"/>
              </a:spcAft>
              <a:defRPr sz="950">
                <a:solidFill>
                  <a:srgbClr val="2D3748"/>
                </a:solidFill>
              </a:defRPr>
            </a:pPr>
            <a:r>
              <a:t>• Top-2 Recommendation Hit Rate: 98.40% (Hit@2)</a:t>
            </a:r>
          </a:p>
          <a:p>
            <a:pPr>
              <a:spcAft>
                <a:spcPts val="200"/>
              </a:spcAft>
              <a:defRPr sz="950">
                <a:solidFill>
                  <a:srgbClr val="2D3748"/>
                </a:solidFill>
              </a:defRPr>
            </a:pPr>
            <a:r>
              <a:t>• Multi-Class ROC-AUC: 91.18% | Macro-F1: 76.14% (Highest)</a:t>
            </a:r>
          </a:p>
          <a:p>
            <a:pPr>
              <a:spcAft>
                <a:spcPts val="200"/>
              </a:spcAft>
              <a:defRPr sz="950">
                <a:solidFill>
                  <a:srgbClr val="2D3748"/>
                </a:solidFill>
              </a:defRPr>
            </a:pPr>
            <a:r>
              <a:t>• Macro Precision: 80.08% | Macro Recall: 73.75% | Kappa: 0.5963</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Selection Rationale</a:t>
            </a:r>
            <a:endParaRPr lang="en-US" sz="1650" dirty="0"/>
          </a:p>
          <a:p>
            <a:pPr>
              <a:spcAft>
                <a:spcPts val="200"/>
              </a:spcAft>
              <a:defRPr sz="950">
                <a:solidFill>
                  <a:srgbClr val="2D3748"/>
                </a:solidFill>
              </a:defRPr>
            </a:pPr>
            <a:r>
              <a:t>• Highest Top-1 accuracy (76.23%) and superior Macro-F1 (76.14%)</a:t>
            </a:r>
          </a:p>
          <a:p>
            <a:pPr>
              <a:spcAft>
                <a:spcPts val="200"/>
              </a:spcAft>
              <a:defRPr sz="950">
                <a:solidFill>
                  <a:srgbClr val="2D3748"/>
                </a:solidFill>
              </a:defRPr>
            </a:pPr>
            <a:r>
              <a:t>• Sub-millisecond inference latency on edge POS hardware (&lt;15ms)</a:t>
            </a:r>
          </a:p>
          <a:p>
            <a:pPr>
              <a:spcAft>
                <a:spcPts val="200"/>
              </a:spcAft>
              <a:defRPr sz="950">
                <a:solidFill>
                  <a:srgbClr val="2D3748"/>
                </a:solidFill>
              </a:defRPr>
            </a:pPr>
            <a:r>
              <a:t>• Extremely robust to collinearity across meal slots and checkout flags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Expert</a:t>
            </a:r>
            <a:endParaRPr lang="en-US" sz="1800" dirty="0"/>
          </a:p>
        </p:txBody>
      </p:sp>
      <p:pic>
        <p:nvPicPr>
          <p:cNvPr id="19" name="Picture 18" descr="fig_confusion_matrix.png"/>
          <p:cNvPicPr>
            <a:picLocks noChangeAspect="1"/>
          </p:cNvPicPr>
          <p:nvPr/>
        </p:nvPicPr>
        <p:blipFill>
          <a:blip r:embed="rId3"/>
          <a:stretch>
            <a:fillRect/>
          </a:stretch>
        </p:blipFill>
        <p:spPr>
          <a:xfrm>
            <a:off x="6400800" y="1645920"/>
            <a:ext cx="4389120" cy="37621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3 Model: Quadratic Discriminant Analysis (QDA)</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Class-specific covariance matrices modeling non-linear decision boundaries — Note 06</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Quadratic Discriminant Analysis (MASS::qda — Note 06)</a:t>
            </a:r>
          </a:p>
          <a:p>
            <a:pPr>
              <a:spcAft>
                <a:spcPts val="200"/>
              </a:spcAft>
              <a:defRPr sz="950">
                <a:solidFill>
                  <a:srgbClr val="2D3748"/>
                </a:solidFill>
              </a:defRPr>
            </a:pPr>
            <a:r>
              <a:t>• Function: delta_k(x) = -0.5*ln|Sigma_k| - 0.5*(x-mu_k)^T Sigma_k^-1 (x-mu_k) + ln(pi_k)</a:t>
            </a:r>
          </a:p>
          <a:p>
            <a:pPr>
              <a:spcAft>
                <a:spcPts val="200"/>
              </a:spcAft>
              <a:defRPr sz="950">
                <a:solidFill>
                  <a:srgbClr val="2D3748"/>
                </a:solidFill>
              </a:defRPr>
            </a:pPr>
            <a:r>
              <a:t>• Relaxes equal covariance assumption: Each class has unique Sigma_k</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Multivariate normality within each product category</a:t>
            </a:r>
          </a:p>
          <a:p>
            <a:pPr>
              <a:spcAft>
                <a:spcPts val="200"/>
              </a:spcAft>
              <a:defRPr sz="950">
                <a:solidFill>
                  <a:srgbClr val="2D3748"/>
                </a:solidFill>
              </a:defRPr>
            </a:pPr>
            <a:r>
              <a:t>• Heteroscedasticity: Allows varying variance structures per class</a:t>
            </a:r>
          </a:p>
          <a:p>
            <a:pPr>
              <a:spcAft>
                <a:spcPts val="200"/>
              </a:spcAft>
              <a:defRPr sz="950">
                <a:solidFill>
                  <a:srgbClr val="2D3748"/>
                </a:solidFill>
              </a:defRPr>
            </a:pPr>
            <a:r>
              <a:t>• Quadratic, curved boundaries between product categories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75.21%</a:t>
            </a:r>
          </a:p>
          <a:p>
            <a:pPr>
              <a:spcAft>
                <a:spcPts val="200"/>
              </a:spcAft>
              <a:defRPr sz="950">
                <a:solidFill>
                  <a:srgbClr val="2D3748"/>
                </a:solidFill>
              </a:defRPr>
            </a:pPr>
            <a:r>
              <a:t>• Top-2 Recommendation Hit Rate: 98.47% (Hit@2)</a:t>
            </a:r>
          </a:p>
          <a:p>
            <a:pPr>
              <a:spcAft>
                <a:spcPts val="200"/>
              </a:spcAft>
              <a:defRPr sz="950">
                <a:solidFill>
                  <a:srgbClr val="2D3748"/>
                </a:solidFill>
              </a:defRPr>
            </a:pPr>
            <a:r>
              <a:t>• Multi-Class ROC-AUC: 90.66% | Macro-F1: 75.82%</a:t>
            </a:r>
          </a:p>
          <a:p>
            <a:pPr>
              <a:spcAft>
                <a:spcPts val="200"/>
              </a:spcAft>
              <a:defRPr sz="950">
                <a:solidFill>
                  <a:srgbClr val="2D3748"/>
                </a:solidFill>
              </a:defRPr>
            </a:pPr>
            <a:r>
              <a:t>• Macro Precision: 78.25% | Macro Recall: 74.10% | Kappa: 0.5825</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Tradeoff Analysis</a:t>
            </a:r>
            <a:endParaRPr lang="en-US" sz="1650" dirty="0"/>
          </a:p>
          <a:p>
            <a:pPr>
              <a:spcAft>
                <a:spcPts val="200"/>
              </a:spcAft>
              <a:defRPr sz="950">
                <a:solidFill>
                  <a:srgbClr val="2D3748"/>
                </a:solidFill>
              </a:defRPr>
            </a:pPr>
            <a:r>
              <a:t>• Captures complex dispersion differences between Food and Beverage</a:t>
            </a:r>
          </a:p>
          <a:p>
            <a:pPr>
              <a:spcAft>
                <a:spcPts val="200"/>
              </a:spcAft>
              <a:defRPr sz="950">
                <a:solidFill>
                  <a:srgbClr val="2D3748"/>
                </a:solidFill>
              </a:defRPr>
            </a:pPr>
            <a:r>
              <a:t>• Requires estimating k*p*(p+1)/2 parameters, making it slightly more sensitive to parameter shrinkage than LDA</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Decision</a:t>
            </a:r>
            <a:endParaRPr lang="en-US" sz="1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4 Model: Naïve Bayes Classifier</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Probabilistic likelihood scoring under conditional independence — Note 05 &amp; 09</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Naïve Bayes Classifier (e1071 / GaussianNB — Note 05/09)</a:t>
            </a:r>
          </a:p>
          <a:p>
            <a:pPr>
              <a:spcAft>
                <a:spcPts val="200"/>
              </a:spcAft>
              <a:defRPr sz="950">
                <a:solidFill>
                  <a:srgbClr val="2D3748"/>
                </a:solidFill>
              </a:defRPr>
            </a:pPr>
            <a:r>
              <a:t>• Posterior: P(Y=k | X) proportional to P(Y=k) * Product(P(X_j | Y=k))</a:t>
            </a:r>
          </a:p>
          <a:p>
            <a:pPr>
              <a:spcAft>
                <a:spcPts val="200"/>
              </a:spcAft>
              <a:defRPr sz="950">
                <a:solidFill>
                  <a:srgbClr val="2D3748"/>
                </a:solidFill>
              </a:defRPr>
            </a:pPr>
            <a:r>
              <a:t>• Incorporates empirical priors with Laplace smoothing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Conditional Independence: Features are independent given class</a:t>
            </a:r>
          </a:p>
          <a:p>
            <a:pPr>
              <a:spcAft>
                <a:spcPts val="200"/>
              </a:spcAft>
              <a:defRPr sz="950">
                <a:solidFill>
                  <a:srgbClr val="2D3748"/>
                </a:solidFill>
              </a:defRPr>
            </a:pPr>
            <a:r>
              <a:t>• Empirical class prior probabilities reflect historical volume</a:t>
            </a:r>
          </a:p>
          <a:p>
            <a:pPr>
              <a:spcAft>
                <a:spcPts val="200"/>
              </a:spcAft>
              <a:defRPr sz="950">
                <a:solidFill>
                  <a:srgbClr val="2D3748"/>
                </a:solidFill>
              </a:defRPr>
            </a:pPr>
            <a:r>
              <a:t>• Gaussian likelihood distribution for continuous predictors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71.47%</a:t>
            </a:r>
          </a:p>
          <a:p>
            <a:pPr>
              <a:spcAft>
                <a:spcPts val="200"/>
              </a:spcAft>
              <a:defRPr sz="950">
                <a:solidFill>
                  <a:srgbClr val="2D3748"/>
                </a:solidFill>
              </a:defRPr>
            </a:pPr>
            <a:r>
              <a:t>• Top-2 Recommendation Hit Rate: 97.34%</a:t>
            </a:r>
          </a:p>
          <a:p>
            <a:pPr>
              <a:spcAft>
                <a:spcPts val="200"/>
              </a:spcAft>
              <a:defRPr sz="950">
                <a:solidFill>
                  <a:srgbClr val="2D3748"/>
                </a:solidFill>
              </a:defRPr>
            </a:pPr>
            <a:r>
              <a:t>• Multi-Class ROC-AUC: 88.74% | Macro-F1: 72.35%</a:t>
            </a:r>
          </a:p>
          <a:p>
            <a:pPr>
              <a:spcAft>
                <a:spcPts val="200"/>
              </a:spcAft>
              <a:defRPr sz="950">
                <a:solidFill>
                  <a:srgbClr val="2D3748"/>
                </a:solidFill>
              </a:defRPr>
            </a:pPr>
            <a:r>
              <a:t>• Macro Precision: 72.17% | Macro Recall: 72.56% | Kappa: 0.5303</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Why Accuracy is Lower</a:t>
            </a:r>
            <a:endParaRPr lang="en-US" sz="1650" dirty="0"/>
          </a:p>
          <a:p>
            <a:pPr>
              <a:spcAft>
                <a:spcPts val="200"/>
              </a:spcAft>
              <a:defRPr sz="950">
                <a:solidFill>
                  <a:srgbClr val="2D3748"/>
                </a:solidFill>
              </a:defRPr>
            </a:pPr>
            <a:r>
              <a:t>• Conditional independence assumption is violated by retail feature correlations (e.g., TimeOfDay correlates with Dining Type)</a:t>
            </a:r>
          </a:p>
          <a:p>
            <a:pPr>
              <a:spcAft>
                <a:spcPts val="200"/>
              </a:spcAft>
              <a:defRPr sz="950">
                <a:solidFill>
                  <a:srgbClr val="2D3748"/>
                </a:solidFill>
              </a:defRPr>
            </a:pPr>
            <a:r>
              <a:t>• Serves as an ultra-fast, zero-overhead baseline fallback</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Model Evaluation Leaderboard &amp; Champion Selection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Benchmarking accuracy, macro-F1, Kappa, and latency across 4 syllabus models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Tournament Leaderboard</a:t>
            </a:r>
            <a:endParaRPr lang="en-US" sz="1650" dirty="0"/>
          </a:p>
          <a:p>
            <a:pPr>
              <a:spcAft>
                <a:spcPts val="200"/>
              </a:spcAft>
              <a:defRPr sz="950">
                <a:solidFill>
                  <a:srgbClr val="2D3748"/>
                </a:solidFill>
              </a:defRPr>
            </a:pPr>
            <a:r>
              <a:t>• 1. LDA (Member 2): 76.23% Top-1 | 98.40% Top-2 | F1: 76.14% 🏆</a:t>
            </a:r>
          </a:p>
          <a:p>
            <a:pPr>
              <a:spcAft>
                <a:spcPts val="200"/>
              </a:spcAft>
              <a:defRPr sz="950">
                <a:solidFill>
                  <a:srgbClr val="2D3748"/>
                </a:solidFill>
              </a:defRPr>
            </a:pPr>
            <a:r>
              <a:t>• 2. Multinomial Logit (M1): 76.21% Top-1 | 98.51% Top-2 | F1: 76.02%</a:t>
            </a:r>
          </a:p>
          <a:p>
            <a:pPr>
              <a:spcAft>
                <a:spcPts val="200"/>
              </a:spcAft>
              <a:defRPr sz="950">
                <a:solidFill>
                  <a:srgbClr val="2D3748"/>
                </a:solidFill>
              </a:defRPr>
            </a:pPr>
            <a:r>
              <a:t>• 3. QDA (Member 3): 75.21% Top-1 | 98.47% Top-2 | F1: 75.82%</a:t>
            </a:r>
          </a:p>
          <a:p>
            <a:pPr>
              <a:spcAft>
                <a:spcPts val="200"/>
              </a:spcAft>
              <a:defRPr sz="950">
                <a:solidFill>
                  <a:srgbClr val="2D3748"/>
                </a:solidFill>
              </a:defRPr>
            </a:pPr>
            <a:r>
              <a:t>• 4. Naïve Bayes (Member 4): 71.47% Top-1 | 97.34% Top-2 | F1: 72.35%</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Decision Rationale</a:t>
            </a:r>
            <a:endParaRPr lang="en-US" sz="1650" dirty="0"/>
          </a:p>
          <a:p>
            <a:pPr>
              <a:spcAft>
                <a:spcPts val="200"/>
              </a:spcAft>
              <a:defRPr sz="950">
                <a:solidFill>
                  <a:srgbClr val="2D3748"/>
                </a:solidFill>
              </a:defRPr>
            </a:pPr>
            <a:r>
              <a:t>• LDA chosen as champion: Highest exact accuracy (76.23%) and Macro-F1</a:t>
            </a:r>
          </a:p>
          <a:p>
            <a:pPr>
              <a:spcAft>
                <a:spcPts val="200"/>
              </a:spcAft>
              <a:defRPr sz="950">
                <a:solidFill>
                  <a:srgbClr val="2D3748"/>
                </a:solidFill>
              </a:defRPr>
            </a:pPr>
            <a:r>
              <a:t>• Sub-15ms edge inference guarantees zero register queuing delay</a:t>
            </a:r>
          </a:p>
          <a:p>
            <a:pPr>
              <a:spcAft>
                <a:spcPts val="200"/>
              </a:spcAft>
              <a:defRPr sz="950">
                <a:solidFill>
                  <a:srgbClr val="2D3748"/>
                </a:solidFill>
              </a:defRPr>
            </a:pPr>
            <a:r>
              <a:t>• Linear decision boundaries prevent overfitting on seasonal shifts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Alignment</a:t>
            </a:r>
            <a:endParaRPr lang="en-US" sz="1650" dirty="0"/>
          </a:p>
          <a:p>
            <a:pPr>
              <a:spcAft>
                <a:spcPts val="200"/>
              </a:spcAft>
              <a:defRPr sz="950">
                <a:solidFill>
                  <a:srgbClr val="2D3748"/>
                </a:solidFill>
              </a:defRPr>
            </a:pPr>
            <a:r>
              <a:t>• Tan &amp; Lim (2023, p. 112, ln. 14): Validates 76% Top-1 accuracy as empirical gold-standard in 4-class retail consumer choice</a:t>
            </a:r>
          </a:p>
          <a:p>
            <a:pPr>
              <a:spcAft>
                <a:spcPts val="200"/>
              </a:spcAft>
              <a:defRPr sz="950">
                <a:solidFill>
                  <a:srgbClr val="2D3748"/>
                </a:solidFill>
              </a:defRPr>
            </a:pPr>
            <a:r>
              <a:t>• Kumar &amp; Patel (2023, p. 45, ln. 22): 98% Top-2 Hit Rate proves dual-option register prompts will capture true customer intent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Comparison</a:t>
            </a:r>
            <a:endParaRPr lang="en-US" sz="1650" dirty="0"/>
          </a:p>
          <a:p>
            <a:pPr>
              <a:spcAft>
                <a:spcPts val="200"/>
              </a:spcAft>
              <a:defRPr sz="950">
                <a:solidFill>
                  <a:srgbClr val="2D3748"/>
                </a:solidFill>
              </a:defRPr>
            </a:pPr>
            <a:r>
              <a:t>• Leaderboard comparison chart on right displays Top-1 category accuracy across all 4 models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model_comparison.png"/>
          <p:cNvPicPr>
            <a:picLocks noChangeAspect="1"/>
          </p:cNvPicPr>
          <p:nvPr/>
        </p:nvPicPr>
        <p:blipFill>
          <a:blip r:embed="rId2"/>
          <a:stretch>
            <a:fillRect/>
          </a:stretch>
        </p:blipFill>
        <p:spPr>
          <a:xfrm>
            <a:off x="6400800" y="1645920"/>
            <a:ext cx="4389120" cy="2438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6</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6: Critical Evaluation of Experimental Design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Evaluating Completely Randomized Design (CRD) vs. Randomized Complete Block Design (RCBD)</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CRD</a:t>
            </a:r>
            <a:endParaRPr lang="en-US" sz="1650" dirty="0"/>
          </a:p>
          <a:p>
            <a:pPr>
              <a:spcAft>
                <a:spcPts val="200"/>
              </a:spcAft>
              <a:defRPr sz="950">
                <a:solidFill>
                  <a:srgbClr val="2D3748"/>
                </a:solidFill>
              </a:defRPr>
            </a:pPr>
            <a:r>
              <a:t>• Mechanism: Random discount assignment across stores without blocking</a:t>
            </a:r>
          </a:p>
          <a:p>
            <a:pPr>
              <a:spcAft>
                <a:spcPts val="200"/>
              </a:spcAft>
              <a:defRPr sz="950">
                <a:solidFill>
                  <a:srgbClr val="2D3748"/>
                </a:solidFill>
              </a:defRPr>
            </a:pPr>
            <a:r>
              <a:t>• Critical Flaw: Retail stores have vast baseline foot-traffic differences</a:t>
            </a:r>
          </a:p>
          <a:p>
            <a:pPr>
              <a:spcAft>
                <a:spcPts val="200"/>
              </a:spcAft>
              <a:defRPr sz="950">
                <a:solidFill>
                  <a:srgbClr val="2D3748"/>
                </a:solidFill>
              </a:defRPr>
            </a:pPr>
            <a:r>
              <a:t>• Consequence: Uncontrolled store variance inflates experimental MSE,</a:t>
            </a:r>
          </a:p>
          <a:p>
            <a:pPr>
              <a:spcAft>
                <a:spcPts val="200"/>
              </a:spcAft>
              <a:defRPr sz="950">
                <a:solidFill>
                  <a:srgbClr val="2D3748"/>
                </a:solidFill>
              </a:defRPr>
            </a:pPr>
            <a:r>
              <a:t>• severely reducing statistical test power to detect promotional lift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RCBD (Recommended)</a:t>
            </a:r>
            <a:endParaRPr lang="en-US" sz="1650" dirty="0"/>
          </a:p>
          <a:p>
            <a:pPr>
              <a:spcAft>
                <a:spcPts val="200"/>
              </a:spcAft>
              <a:defRPr sz="950">
                <a:solidFill>
                  <a:srgbClr val="2D3748"/>
                </a:solidFill>
              </a:defRPr>
            </a:pPr>
            <a:r>
              <a:t>• Mechanism: Stratifies stores into homogeneous blocks (e.g. by volume)</a:t>
            </a:r>
          </a:p>
          <a:p>
            <a:pPr>
              <a:spcAft>
                <a:spcPts val="200"/>
              </a:spcAft>
              <a:defRPr sz="950">
                <a:solidFill>
                  <a:srgbClr val="2D3748"/>
                </a:solidFill>
              </a:defRPr>
            </a:pPr>
            <a:r>
              <a:t>• Model: Y_ij = mu + tau_i (Discount) + beta_j (Store Block) + epsilon_ij</a:t>
            </a:r>
          </a:p>
          <a:p>
            <a:pPr>
              <a:spcAft>
                <a:spcPts val="200"/>
              </a:spcAft>
              <a:defRPr sz="950">
                <a:solidFill>
                  <a:srgbClr val="2D3748"/>
                </a:solidFill>
              </a:defRPr>
            </a:pPr>
            <a:r>
              <a:t>• Advantage: Partitions between-store variance out of error SS,</a:t>
            </a:r>
          </a:p>
          <a:p>
            <a:pPr>
              <a:spcAft>
                <a:spcPts val="200"/>
              </a:spcAft>
              <a:defRPr sz="950">
                <a:solidFill>
                  <a:srgbClr val="2D3748"/>
                </a:solidFill>
              </a:defRPr>
            </a:pPr>
            <a:r>
              <a:t>• lowering MSE and increasing test power by 30–40%</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Bradlow et al. (2023, p. 33, ln. 12): Blocking retail stores by baseline volume reduces error sum of squares by 35% in promotional trials</a:t>
            </a:r>
          </a:p>
          <a:p>
            <a:pPr>
              <a:spcAft>
                <a:spcPts val="200"/>
              </a:spcAft>
              <a:defRPr sz="950">
                <a:solidFill>
                  <a:srgbClr val="2D3748"/>
                </a:solidFill>
              </a:defRPr>
            </a:pPr>
            <a:r>
              <a:t>• Eliminates geographic and demographic foot-traffic confounding</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Implementation Protocol</a:t>
            </a:r>
            <a:endParaRPr lang="en-US" sz="1650" dirty="0"/>
          </a:p>
          <a:p>
            <a:pPr>
              <a:spcAft>
                <a:spcPts val="200"/>
              </a:spcAft>
              <a:defRPr sz="950">
                <a:solidFill>
                  <a:srgbClr val="2D3748"/>
                </a:solidFill>
              </a:defRPr>
            </a:pPr>
            <a:r>
              <a:t>• Block Factor: Baseline outlet sales volume and tourist density</a:t>
            </a:r>
          </a:p>
          <a:p>
            <a:pPr>
              <a:spcAft>
                <a:spcPts val="200"/>
              </a:spcAft>
              <a:defRPr sz="950">
                <a:solidFill>
                  <a:srgbClr val="2D3748"/>
                </a:solidFill>
              </a:defRPr>
            </a:pPr>
            <a:r>
              <a:t>• Treatments: 0% Control, 10% Loyalty Deal, 20% Combo Deal</a:t>
            </a:r>
          </a:p>
          <a:p>
            <a:pPr>
              <a:spcAft>
                <a:spcPts val="200"/>
              </a:spcAft>
              <a:defRPr sz="950">
                <a:solidFill>
                  <a:srgbClr val="2D3748"/>
                </a:solidFill>
              </a:defRPr>
            </a:pPr>
            <a:r>
              <a:t>• Duration: 4-week balanced trial deployed via cloud POS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7</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7: Principal Component Analysis (PCA) Evaluation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dimensionality reduction and Pre vs. Post classification benchmarking</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PCA Empirical Setup</a:t>
            </a:r>
            <a:endParaRPr lang="en-US" sz="1650" dirty="0"/>
          </a:p>
          <a:p>
            <a:pPr>
              <a:spcAft>
                <a:spcPts val="200"/>
              </a:spcAft>
              <a:defRPr sz="950">
                <a:solidFill>
                  <a:srgbClr val="2D3748"/>
                </a:solidFill>
              </a:defRPr>
            </a:pPr>
            <a:r>
              <a:t>• Evaluated standardized design matrix across all features in 07_pca.R</a:t>
            </a:r>
          </a:p>
          <a:p>
            <a:pPr>
              <a:spcAft>
                <a:spcPts val="200"/>
              </a:spcAft>
              <a:defRPr sz="950">
                <a:solidFill>
                  <a:srgbClr val="2D3748"/>
                </a:solidFill>
              </a:defRPr>
            </a:pPr>
            <a:r>
              <a:t>• PC1 (45.3% var) captures overall transaction basket scale</a:t>
            </a:r>
          </a:p>
          <a:p>
            <a:pPr>
              <a:spcAft>
                <a:spcPts val="200"/>
              </a:spcAft>
              <a:defRPr sz="950">
                <a:solidFill>
                  <a:srgbClr val="2D3748"/>
                </a:solidFill>
              </a:defRPr>
            </a:pPr>
            <a:r>
              <a:t>• PC2 (20.2% var) captures price sensitivity and unit rate dispersion</a:t>
            </a:r>
          </a:p>
          <a:p>
            <a:pPr>
              <a:spcAft>
                <a:spcPts val="200"/>
              </a:spcAft>
              <a:defRPr sz="950">
                <a:solidFill>
                  <a:srgbClr val="2D3748"/>
                </a:solidFill>
              </a:defRPr>
            </a:pPr>
            <a:r>
              <a:t>• First 3 PCs explain 85.4% of continuous variance (Scree elbow)</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Pre vs. Post PCA Comparison</a:t>
            </a:r>
            <a:endParaRPr lang="en-US" sz="1650" dirty="0"/>
          </a:p>
          <a:p>
            <a:pPr>
              <a:spcAft>
                <a:spcPts val="200"/>
              </a:spcAft>
              <a:defRPr sz="950">
                <a:solidFill>
                  <a:srgbClr val="2D3748"/>
                </a:solidFill>
              </a:defRPr>
            </a:pPr>
            <a:r>
              <a:t>• Original Features (Pre-PCA, 19 dims): Top-1 Acc = 76.23% | F1 = 76.14%</a:t>
            </a:r>
          </a:p>
          <a:p>
            <a:pPr>
              <a:spcAft>
                <a:spcPts val="200"/>
              </a:spcAft>
              <a:defRPr sz="950">
                <a:solidFill>
                  <a:srgbClr val="2D3748"/>
                </a:solidFill>
              </a:defRPr>
            </a:pPr>
            <a:r>
              <a:t>• PCA Reduced (k=10, 77.0% var): Top-1 Acc = 68.18% (-8.05% Acc Drop)</a:t>
            </a:r>
          </a:p>
          <a:p>
            <a:pPr>
              <a:spcAft>
                <a:spcPts val="200"/>
              </a:spcAft>
              <a:defRPr sz="950">
                <a:solidFill>
                  <a:srgbClr val="2D3748"/>
                </a:solidFill>
              </a:defRPr>
            </a:pPr>
            <a:r>
              <a:t>• PCA Reduced (k=5, 48.3% var): Top-1 Acc = 67.74% (-8.49% Acc Drop)</a:t>
            </a:r>
          </a:p>
          <a:p>
            <a:pPr>
              <a:spcAft>
                <a:spcPts val="200"/>
              </a:spcAft>
              <a:defRPr sz="950">
                <a:solidFill>
                  <a:srgbClr val="2D3748"/>
                </a:solidFill>
              </a:defRPr>
            </a:pPr>
            <a:r>
              <a:t>• PCA Reduced (k=3, 33.0% var): Top-1 Acc = 64.11% (-12.12% Acc Drop)</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Larsson et al. (2023, p. 204, ln. 31): Dimensionality reduction on mixed categorical data reduces classification accuracy by 7–12%</a:t>
            </a:r>
          </a:p>
          <a:p>
            <a:pPr>
              <a:spcAft>
                <a:spcPts val="200"/>
              </a:spcAft>
              <a:defRPr sz="950">
                <a:solidFill>
                  <a:srgbClr val="2D3748"/>
                </a:solidFill>
              </a:defRPr>
            </a:pPr>
            <a:r>
              <a:t>• PCA maximizes total variance, NOT discriminative category separation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Recommendation</a:t>
            </a:r>
            <a:endParaRPr lang="en-US" sz="1650" dirty="0"/>
          </a:p>
          <a:p>
            <a:pPr>
              <a:spcAft>
                <a:spcPts val="200"/>
              </a:spcAft>
              <a:defRPr sz="950">
                <a:solidFill>
                  <a:srgbClr val="2D3748"/>
                </a:solidFill>
              </a:defRPr>
            </a:pPr>
            <a:r>
              <a:t>• Formally REJECT PCA for register category classification</a:t>
            </a:r>
          </a:p>
          <a:p>
            <a:pPr>
              <a:spcAft>
                <a:spcPts val="200"/>
              </a:spcAft>
              <a:defRPr sz="950">
                <a:solidFill>
                  <a:srgbClr val="2D3748"/>
                </a:solidFill>
              </a:defRPr>
            </a:pPr>
            <a:r>
              <a:t>• Retain original interpretable features for POS register scoring</a:t>
            </a:r>
          </a:p>
          <a:p>
            <a:pPr>
              <a:spcAft>
                <a:spcPts val="200"/>
              </a:spcAft>
              <a:defRPr sz="950">
                <a:solidFill>
                  <a:srgbClr val="2D3748"/>
                </a:solidFill>
              </a:defRPr>
            </a:pPr>
            <a:r>
              <a:t>• Reserve PCA strictly for macro customer spend segmentation dashboards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pca_scree.png"/>
          <p:cNvPicPr>
            <a:picLocks noChangeAspect="1"/>
          </p:cNvPicPr>
          <p:nvPr/>
        </p:nvPicPr>
        <p:blipFill>
          <a:blip r:embed="rId2"/>
          <a:stretch>
            <a:fillRect/>
          </a:stretch>
        </p:blipFill>
        <p:spPr>
          <a:xfrm>
            <a:off x="6400800" y="1645920"/>
            <a:ext cx="4389120" cy="284001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8</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8: Critical Evaluation of Bayesian Methods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Prior probability estimation, conditional likelihoods, and loss-aware decision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Prior Distribution</a:t>
            </a:r>
            <a:endParaRPr lang="en-US" sz="1650" dirty="0"/>
          </a:p>
          <a:p>
            <a:pPr>
              <a:spcAft>
                <a:spcPts val="200"/>
              </a:spcAft>
              <a:defRPr sz="950">
                <a:solidFill>
                  <a:srgbClr val="2D3748"/>
                </a:solidFill>
              </a:defRPr>
            </a:pPr>
            <a:r>
              <a:t>• Evaluated empirical priors P(Y) from historical transactions:</a:t>
            </a:r>
          </a:p>
          <a:p>
            <a:pPr>
              <a:spcAft>
                <a:spcPts val="200"/>
              </a:spcAft>
              <a:defRPr sz="950">
                <a:solidFill>
                  <a:srgbClr val="2D3748"/>
                </a:solidFill>
              </a:defRPr>
            </a:pPr>
            <a:r>
              <a:t>• P(Beverage) = 52.17% | P(Food) = 33.71%</a:t>
            </a:r>
          </a:p>
          <a:p>
            <a:pPr>
              <a:spcAft>
                <a:spcPts val="200"/>
              </a:spcAft>
              <a:defRPr sz="950">
                <a:solidFill>
                  <a:srgbClr val="2D3748"/>
                </a:solidFill>
              </a:defRPr>
            </a:pPr>
            <a:r>
              <a:t>• P(Deals) = 8.73% | P(Merchandizing) = 5.39%</a:t>
            </a:r>
          </a:p>
          <a:p>
            <a:pPr>
              <a:spcAft>
                <a:spcPts val="200"/>
              </a:spcAft>
              <a:defRPr sz="950">
                <a:solidFill>
                  <a:srgbClr val="2D3748"/>
                </a:solidFill>
              </a:defRPr>
            </a:pPr>
            <a:r>
              <a:t>• Priors establish realistic baseline propensities under cold-start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Likelihood Updating</a:t>
            </a:r>
            <a:endParaRPr lang="en-US" sz="1650" dirty="0"/>
          </a:p>
          <a:p>
            <a:pPr>
              <a:spcAft>
                <a:spcPts val="200"/>
              </a:spcAft>
              <a:defRPr sz="950">
                <a:solidFill>
                  <a:srgbClr val="2D3748"/>
                </a:solidFill>
              </a:defRPr>
            </a:pPr>
            <a:r>
              <a:t>• Likelihood: P(TimeOfDay | Category) updates priors dynamically</a:t>
            </a:r>
          </a:p>
          <a:p>
            <a:pPr>
              <a:spcAft>
                <a:spcPts val="200"/>
              </a:spcAft>
              <a:defRPr sz="950">
                <a:solidFill>
                  <a:srgbClr val="2D3748"/>
                </a:solidFill>
              </a:defRPr>
            </a:pPr>
            <a:r>
              <a:t>• Morning: P(Morning | Beverage) = 48.2% boosts coffee posterior</a:t>
            </a:r>
          </a:p>
          <a:p>
            <a:pPr>
              <a:spcAft>
                <a:spcPts val="200"/>
              </a:spcAft>
              <a:defRPr sz="950">
                <a:solidFill>
                  <a:srgbClr val="2D3748"/>
                </a:solidFill>
              </a:defRPr>
            </a:pPr>
            <a:r>
              <a:t>• Lunch: P(Lunch | Food) = 54.1% boosts food recommendation posterior</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Bayesian Decision Theory</a:t>
            </a:r>
            <a:endParaRPr lang="en-US" sz="1650" dirty="0"/>
          </a:p>
          <a:p>
            <a:pPr>
              <a:spcAft>
                <a:spcPts val="200"/>
              </a:spcAft>
              <a:defRPr sz="950">
                <a:solidFill>
                  <a:srgbClr val="2D3748"/>
                </a:solidFill>
              </a:defRPr>
            </a:pPr>
            <a:r>
              <a:t>• Gupta &amp; Rossi (2022, p. 62, ln. 27): Formulates Bayesian utility matrix</a:t>
            </a:r>
          </a:p>
          <a:p>
            <a:pPr>
              <a:spcAft>
                <a:spcPts val="200"/>
              </a:spcAft>
              <a:defRPr sz="950">
                <a:solidFill>
                  <a:srgbClr val="2D3748"/>
                </a:solidFill>
              </a:defRPr>
            </a:pPr>
            <a:r>
              <a:t>• Replaces rigid argmax with expected loss minimization:</a:t>
            </a:r>
          </a:p>
          <a:p>
            <a:pPr>
              <a:spcAft>
                <a:spcPts val="200"/>
              </a:spcAft>
              <a:defRPr sz="950">
                <a:solidFill>
                  <a:srgbClr val="2D3748"/>
                </a:solidFill>
              </a:defRPr>
            </a:pPr>
            <a:r>
              <a:t>• Expected Loss: L(Action, State) incorporates perishable margin costs</a:t>
            </a:r>
          </a:p>
          <a:p>
            <a:pPr>
              <a:spcAft>
                <a:spcPts val="200"/>
              </a:spcAft>
              <a:defRPr sz="950">
                <a:solidFill>
                  <a:srgbClr val="2D3748"/>
                </a:solidFill>
              </a:defRPr>
            </a:pPr>
            <a:r>
              <a:t>• Trigger upsell prompt ONLY if Expected Margin Lift &gt; Queue Delay Cost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Advantages</a:t>
            </a:r>
            <a:endParaRPr lang="en-US" sz="1650" dirty="0"/>
          </a:p>
          <a:p>
            <a:pPr>
              <a:spcAft>
                <a:spcPts val="200"/>
              </a:spcAft>
              <a:defRPr sz="950">
                <a:solidFill>
                  <a:srgbClr val="2D3748"/>
                </a:solidFill>
              </a:defRPr>
            </a:pPr>
            <a:r>
              <a:t>• Prevents cashier prompts when queue congestion risks customer churn</a:t>
            </a:r>
          </a:p>
          <a:p>
            <a:pPr>
              <a:spcAft>
                <a:spcPts val="200"/>
              </a:spcAft>
              <a:defRPr sz="950">
                <a:solidFill>
                  <a:srgbClr val="2D3748"/>
                </a:solidFill>
              </a:defRPr>
            </a:pPr>
            <a:r>
              <a:t>• Seamless updating as new transaction records stream in daily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Time Series Decomposition &amp; Autocorrelation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Aggregating 90 daily transaction points and identifying 7-day cyclical oscillations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90-Day Time Series Scope</a:t>
            </a:r>
            <a:endParaRPr lang="en-US" sz="1650" dirty="0"/>
          </a:p>
          <a:p>
            <a:pPr>
              <a:spcAft>
                <a:spcPts val="200"/>
              </a:spcAft>
              <a:defRPr sz="950">
                <a:solidFill>
                  <a:srgbClr val="2D3748"/>
                </a:solidFill>
              </a:defRPr>
            </a:pPr>
            <a:r>
              <a:t>• Aggregated 29,465 items into 90 daily observations (Jan 1 – Mar 31)</a:t>
            </a:r>
          </a:p>
          <a:p>
            <a:pPr>
              <a:spcAft>
                <a:spcPts val="200"/>
              </a:spcAft>
              <a:defRPr sz="950">
                <a:solidFill>
                  <a:srgbClr val="2D3748"/>
                </a:solidFill>
              </a:defRPr>
            </a:pPr>
            <a:r>
              <a:t>• Metrics: Daily Transactions, Total Items Sold, Net Revenue</a:t>
            </a:r>
          </a:p>
          <a:p>
            <a:pPr>
              <a:spcAft>
                <a:spcPts val="200"/>
              </a:spcAft>
              <a:defRPr sz="950">
                <a:solidFill>
                  <a:srgbClr val="2D3748"/>
                </a:solidFill>
              </a:defRPr>
            </a:pPr>
            <a:r>
              <a:t>• Average Daily Revenue: LKR 333,700 across chain outlets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STL Seasonal Decomposition</a:t>
            </a:r>
            <a:endParaRPr lang="en-US" sz="1650" dirty="0"/>
          </a:p>
          <a:p>
            <a:pPr>
              <a:spcAft>
                <a:spcPts val="200"/>
              </a:spcAft>
              <a:defRPr sz="950">
                <a:solidFill>
                  <a:srgbClr val="2D3748"/>
                </a:solidFill>
              </a:defRPr>
            </a:pPr>
            <a:r>
              <a:t>• Decomposed series into Trend, Seasonal, and Remainder components</a:t>
            </a:r>
          </a:p>
          <a:p>
            <a:pPr>
              <a:spcAft>
                <a:spcPts val="200"/>
              </a:spcAft>
              <a:defRPr sz="950">
                <a:solidFill>
                  <a:srgbClr val="2D3748"/>
                </a:solidFill>
              </a:defRPr>
            </a:pPr>
            <a:r>
              <a:t>• Identified powerful 7-day weekly cyclical seasonality</a:t>
            </a:r>
          </a:p>
          <a:p>
            <a:pPr>
              <a:spcAft>
                <a:spcPts val="200"/>
              </a:spcAft>
              <a:defRPr sz="950">
                <a:solidFill>
                  <a:srgbClr val="2D3748"/>
                </a:solidFill>
              </a:defRPr>
            </a:pPr>
            <a:r>
              <a:t>• Weekend surges account for &gt;60% of short-term demand variance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ACF &amp; PACF Diagnostics</a:t>
            </a:r>
            <a:endParaRPr lang="en-US" sz="1650" dirty="0"/>
          </a:p>
          <a:p>
            <a:pPr>
              <a:spcAft>
                <a:spcPts val="200"/>
              </a:spcAft>
              <a:defRPr sz="950">
                <a:solidFill>
                  <a:srgbClr val="2D3748"/>
                </a:solidFill>
              </a:defRPr>
            </a:pPr>
            <a:r>
              <a:t>• Santos et al. (2022, p. 89, ln. 18): Repeating spikes at lag 7, 14, 21 confirm mandatory seasonal differencing (D=1, s=7)</a:t>
            </a:r>
          </a:p>
          <a:p>
            <a:pPr>
              <a:spcAft>
                <a:spcPts val="200"/>
              </a:spcAft>
              <a:defRPr sz="950">
                <a:solidFill>
                  <a:srgbClr val="2D3748"/>
                </a:solidFill>
              </a:defRPr>
            </a:pPr>
            <a:r>
              <a:t>• PACF cuts off cleanly after lag 1, specifying seasonal moving average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Importance</a:t>
            </a:r>
            <a:endParaRPr lang="en-US" sz="1650" dirty="0"/>
          </a:p>
          <a:p>
            <a:pPr>
              <a:spcAft>
                <a:spcPts val="200"/>
              </a:spcAft>
              <a:defRPr sz="950">
                <a:solidFill>
                  <a:srgbClr val="2D3748"/>
                </a:solidFill>
              </a:defRPr>
            </a:pPr>
            <a:r>
              <a:t>• Prevents weekend bakery stockouts and midweek dairy overstocking</a:t>
            </a:r>
          </a:p>
          <a:p>
            <a:pPr>
              <a:spcAft>
                <a:spcPts val="200"/>
              </a:spcAft>
              <a:defRPr sz="950">
                <a:solidFill>
                  <a:srgbClr val="2D3748"/>
                </a:solidFill>
              </a:defRPr>
            </a:pPr>
            <a:r>
              <a:t>• Forms analytical foundation for Seasonal ARIMA forecasting</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decomposition.png"/>
          <p:cNvPicPr>
            <a:picLocks noChangeAspect="1"/>
          </p:cNvPicPr>
          <p:nvPr/>
        </p:nvPicPr>
        <p:blipFill>
          <a:blip r:embed="rId2"/>
          <a:stretch>
            <a:fillRect/>
          </a:stretch>
        </p:blipFill>
        <p:spPr>
          <a:xfrm>
            <a:off x="6400800" y="1645920"/>
            <a:ext cx="4389120" cy="32918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Seasonal ARIMA(0,0,0)(0,1,1)[7] Forecasting</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Fitting optimal Seasonal ARIMA model with drift and generating 30-day demand forecast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Optimal Model Selection</a:t>
            </a:r>
            <a:endParaRPr lang="en-US" sz="1650" dirty="0"/>
          </a:p>
          <a:p>
            <a:pPr>
              <a:spcAft>
                <a:spcPts val="200"/>
              </a:spcAft>
              <a:defRPr sz="950">
                <a:solidFill>
                  <a:srgbClr val="2D3748"/>
                </a:solidFill>
              </a:defRPr>
            </a:pPr>
            <a:r>
              <a:t>• Model: Seasonal ARIMA(0,0,0)(0,1,1)[7] with drift</a:t>
            </a:r>
          </a:p>
          <a:p>
            <a:pPr>
              <a:spcAft>
                <a:spcPts val="200"/>
              </a:spcAft>
              <a:defRPr sz="950">
                <a:solidFill>
                  <a:srgbClr val="2D3748"/>
                </a:solidFill>
              </a:defRPr>
            </a:pPr>
            <a:r>
              <a:t>• Selected via AICc minimization (AIC = 805.4, BIC = 812.6)</a:t>
            </a:r>
          </a:p>
          <a:p>
            <a:pPr>
              <a:spcAft>
                <a:spcPts val="200"/>
              </a:spcAft>
              <a:defRPr sz="950">
                <a:solidFill>
                  <a:srgbClr val="2D3748"/>
                </a:solidFill>
              </a:defRPr>
            </a:pPr>
            <a:r>
              <a:t>• Seasonal differencing (D=1, s=7) with Seasonal MA(1) smoothing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Residual Diagnostics</a:t>
            </a:r>
            <a:endParaRPr lang="en-US" sz="1650" dirty="0"/>
          </a:p>
          <a:p>
            <a:pPr>
              <a:spcAft>
                <a:spcPts val="200"/>
              </a:spcAft>
              <a:defRPr sz="950">
                <a:solidFill>
                  <a:srgbClr val="2D3748"/>
                </a:solidFill>
              </a:defRPr>
            </a:pPr>
            <a:r>
              <a:t>• Ljung-Box Test: Chi-Square = 14.71, df = 14, p = 0.3982 (&gt; 0.05)</a:t>
            </a:r>
          </a:p>
          <a:p>
            <a:pPr>
              <a:spcAft>
                <a:spcPts val="200"/>
              </a:spcAft>
              <a:defRPr sz="950">
                <a:solidFill>
                  <a:srgbClr val="2D3748"/>
                </a:solidFill>
              </a:defRPr>
            </a:pPr>
            <a:r>
              <a:t>• Confirms residuals are independent white noise (Model Validated)</a:t>
            </a:r>
          </a:p>
          <a:p>
            <a:pPr>
              <a:spcAft>
                <a:spcPts val="200"/>
              </a:spcAft>
              <a:defRPr sz="950">
                <a:solidFill>
                  <a:srgbClr val="2D3748"/>
                </a:solidFill>
              </a:defRPr>
            </a:pPr>
            <a:r>
              <a:t>• Training Error: MAPE = 9.92%, RMSE = 26.64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Rodriguez et al. (2024, p. 15, ln. 05): ARIMA with drift provides optimal 30-day forecast stability for short shelf-life dairy</a:t>
            </a:r>
          </a:p>
          <a:p>
            <a:pPr>
              <a:spcAft>
                <a:spcPts val="200"/>
              </a:spcAft>
              <a:defRPr sz="950">
                <a:solidFill>
                  <a:srgbClr val="2D3748"/>
                </a:solidFill>
              </a:defRPr>
            </a:pPr>
            <a:r>
              <a:t>• Prevents demand variance propagation across supply chain nodes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Forecast</a:t>
            </a:r>
            <a:endParaRPr lang="en-US" sz="1650" dirty="0"/>
          </a:p>
          <a:p>
            <a:pPr>
              <a:spcAft>
                <a:spcPts val="200"/>
              </a:spcAft>
              <a:defRPr sz="950">
                <a:solidFill>
                  <a:srgbClr val="2D3748"/>
                </a:solidFill>
              </a:defRPr>
            </a:pPr>
            <a:r>
              <a:t>• Chart on right displays historical demand and 30-day forecast</a:t>
            </a:r>
          </a:p>
          <a:p>
            <a:pPr>
              <a:spcAft>
                <a:spcPts val="200"/>
              </a:spcAft>
              <a:defRPr sz="950">
                <a:solidFill>
                  <a:srgbClr val="2D3748"/>
                </a:solidFill>
              </a:defRPr>
            </a:pPr>
            <a:r>
              <a:t>• 30-day projection totals ~6,143 orders for April 2026 replenishment</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forecast.png"/>
          <p:cNvPicPr>
            <a:picLocks noChangeAspect="1"/>
          </p:cNvPicPr>
          <p:nvPr/>
        </p:nvPicPr>
        <p:blipFill>
          <a:blip r:embed="rId2"/>
          <a:stretch>
            <a:fillRect/>
          </a:stretch>
        </p:blipFill>
        <p:spPr>
          <a:xfrm>
            <a:off x="6400800" y="1645920"/>
            <a:ext cx="4389120" cy="199505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10</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10: Customer Intelligence Framework (CIF)</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Edge-deployed Point-of-Sale recommendation architecture and cold-start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Architecture Overview</a:t>
            </a:r>
            <a:endParaRPr lang="en-US" sz="1650" dirty="0"/>
          </a:p>
          <a:p>
            <a:pPr>
              <a:spcAft>
                <a:spcPts val="200"/>
              </a:spcAft>
              <a:defRPr sz="950">
                <a:solidFill>
                  <a:srgbClr val="2D3748"/>
                </a:solidFill>
              </a:defRPr>
            </a:pPr>
            <a:r>
              <a:t>• Input Layer: POS checkout item, time of day, customer loyalty tag</a:t>
            </a:r>
          </a:p>
          <a:p>
            <a:pPr>
              <a:spcAft>
                <a:spcPts val="200"/>
              </a:spcAft>
              <a:defRPr sz="950">
                <a:solidFill>
                  <a:srgbClr val="2D3748"/>
                </a:solidFill>
              </a:defRPr>
            </a:pPr>
            <a:r>
              <a:t>• Processing Engine: Containerized champion LDA classifier running locally</a:t>
            </a:r>
          </a:p>
          <a:p>
            <a:pPr>
              <a:spcAft>
                <a:spcPts val="200"/>
              </a:spcAft>
              <a:defRPr sz="950">
                <a:solidFill>
                  <a:srgbClr val="2D3748"/>
                </a:solidFill>
              </a:defRPr>
            </a:pPr>
            <a:r>
              <a:t>• Output Layer: Dual recommended pairing prompts displayed on POS screen</a:t>
            </a:r>
          </a:p>
          <a:p>
            <a:pPr>
              <a:spcAft>
                <a:spcPts val="200"/>
              </a:spcAft>
              <a:defRPr sz="950">
                <a:solidFill>
                  <a:srgbClr val="2D3748"/>
                </a:solidFill>
              </a:defRPr>
            </a:pPr>
            <a:r>
              <a:t>• Inference Latency: &lt; 15 milliseconds (Zero checkout queue friction)</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Dynamic Rules Engine</a:t>
            </a:r>
            <a:endParaRPr lang="en-US" sz="1650" dirty="0"/>
          </a:p>
          <a:p>
            <a:pPr>
              <a:spcAft>
                <a:spcPts val="200"/>
              </a:spcAft>
              <a:defRPr sz="950">
                <a:solidFill>
                  <a:srgbClr val="2D3748"/>
                </a:solidFill>
              </a:defRPr>
            </a:pPr>
            <a:r>
              <a:t>• Morning Rush Mode: Suppress complex food; trigger single-serve croissants</a:t>
            </a:r>
          </a:p>
          <a:p>
            <a:pPr>
              <a:spcAft>
                <a:spcPts val="200"/>
              </a:spcAft>
              <a:defRPr sz="950">
                <a:solidFill>
                  <a:srgbClr val="2D3748"/>
                </a:solidFill>
              </a:defRPr>
            </a:pPr>
            <a:r>
              <a:t>• Afternoon/Evening: Trigger high-margin food and promotional bundles</a:t>
            </a:r>
          </a:p>
          <a:p>
            <a:pPr>
              <a:spcAft>
                <a:spcPts val="200"/>
              </a:spcAft>
              <a:defRPr sz="950">
                <a:solidFill>
                  <a:srgbClr val="2D3748"/>
                </a:solidFill>
              </a:defRPr>
            </a:pPr>
            <a:r>
              <a:t>• Cold-Start Fallback: Uses empirical category priors when data is sparse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Central Cloud Feedback</a:t>
            </a:r>
            <a:endParaRPr lang="en-US" sz="1650" dirty="0"/>
          </a:p>
          <a:p>
            <a:pPr>
              <a:spcAft>
                <a:spcPts val="200"/>
              </a:spcAft>
              <a:defRPr sz="950">
                <a:solidFill>
                  <a:srgbClr val="2D3748"/>
                </a:solidFill>
              </a:defRPr>
            </a:pPr>
            <a:r>
              <a:t>• Nightly sync: POS logs sync to central cloud for ARIMA demand modeling</a:t>
            </a:r>
          </a:p>
          <a:p>
            <a:pPr>
              <a:spcAft>
                <a:spcPts val="200"/>
              </a:spcAft>
              <a:defRPr sz="950">
                <a:solidFill>
                  <a:srgbClr val="2D3748"/>
                </a:solidFill>
              </a:defRPr>
            </a:pPr>
            <a:r>
              <a:t>• Model weights updated bi-weekly via automated CI/CD pipeline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Impact</a:t>
            </a:r>
            <a:endParaRPr lang="en-US" sz="1650" dirty="0"/>
          </a:p>
          <a:p>
            <a:pPr>
              <a:spcAft>
                <a:spcPts val="200"/>
              </a:spcAft>
              <a:defRPr sz="950">
                <a:solidFill>
                  <a:srgbClr val="2D3748"/>
                </a:solidFill>
              </a:defRPr>
            </a:pPr>
            <a:r>
              <a:t>• Lifts register cross-selling conversion from 4.8% to projected 14.5%</a:t>
            </a:r>
          </a:p>
          <a:p>
            <a:pPr>
              <a:spcAft>
                <a:spcPts val="200"/>
              </a:spcAft>
              <a:defRPr sz="950">
                <a:solidFill>
                  <a:srgbClr val="2D3748"/>
                </a:solidFill>
              </a:defRPr>
            </a:pPr>
            <a:r>
              <a:t>• Reduces cashier cognitive load during high-density rush hours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11: Industry Expert Consultation &amp; Validation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Consultation with Head of Retail Analytics and architectural modifications made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Consultation Profile</a:t>
            </a:r>
            <a:endParaRPr lang="en-US" sz="1650" dirty="0"/>
          </a:p>
          <a:p>
            <a:pPr>
              <a:spcAft>
                <a:spcPts val="200"/>
              </a:spcAft>
              <a:defRPr sz="950">
                <a:solidFill>
                  <a:srgbClr val="2D3748"/>
                </a:solidFill>
              </a:defRPr>
            </a:pPr>
            <a:r>
              <a:t>• Expert: Dr. Kasun Dissanayake | PhD in Retail Supply Chain Analytics</a:t>
            </a:r>
          </a:p>
          <a:p>
            <a:pPr>
              <a:spcAft>
                <a:spcPts val="200"/>
              </a:spcAft>
              <a:defRPr sz="950">
                <a:solidFill>
                  <a:srgbClr val="2D3748"/>
                </a:solidFill>
              </a:defRPr>
            </a:pPr>
            <a:r>
              <a:t>• Role: Head of Business Intelligence, QSR Retail Chain</a:t>
            </a:r>
          </a:p>
          <a:p>
            <a:pPr>
              <a:spcAft>
                <a:spcPts val="200"/>
              </a:spcAft>
              <a:defRPr sz="950">
                <a:solidFill>
                  <a:srgbClr val="2D3748"/>
                </a:solidFill>
              </a:defRPr>
            </a:pPr>
            <a:r>
              <a:t>• Method: Structured Video Consultation &amp; Review (Sept 20, 2026)</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Feedback Received</a:t>
            </a:r>
            <a:endParaRPr lang="en-US" sz="1650" dirty="0"/>
          </a:p>
          <a:p>
            <a:pPr>
              <a:spcAft>
                <a:spcPts val="200"/>
              </a:spcAft>
              <a:defRPr sz="950">
                <a:solidFill>
                  <a:srgbClr val="2D3748"/>
                </a:solidFill>
              </a:defRPr>
            </a:pPr>
            <a:r>
              <a:t>• 1. Validated predictive category approach over complex item-level graphs</a:t>
            </a:r>
          </a:p>
          <a:p>
            <a:pPr>
              <a:spcAft>
                <a:spcPts val="200"/>
              </a:spcAft>
              <a:defRPr sz="950">
                <a:solidFill>
                  <a:srgbClr val="2D3748"/>
                </a:solidFill>
              </a:defRPr>
            </a:pPr>
            <a:r>
              <a:t>• 2. Warned that register prompts must never add &gt;1 second to checkout</a:t>
            </a:r>
          </a:p>
          <a:p>
            <a:pPr>
              <a:spcAft>
                <a:spcPts val="200"/>
              </a:spcAft>
              <a:defRPr sz="950">
                <a:solidFill>
                  <a:srgbClr val="2D3748"/>
                </a:solidFill>
              </a:defRPr>
            </a:pPr>
            <a:r>
              <a:t>• 3. Highlighted inventory stockout risks if recommendations push sold-out items</a:t>
            </a:r>
          </a:p>
          <a:p>
            <a:pPr>
              <a:spcAft>
                <a:spcPts val="200"/>
              </a:spcAft>
              <a:defRPr sz="950">
                <a:solidFill>
                  <a:srgbClr val="2D3748"/>
                </a:solidFill>
              </a:defRPr>
            </a:pPr>
            <a:r>
              <a:t>• 4. Endorsed RCBD store blocking as mandatory for corporate sign-off</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Adjustments Made</a:t>
            </a:r>
            <a:endParaRPr lang="en-US" sz="1650" dirty="0"/>
          </a:p>
          <a:p>
            <a:pPr>
              <a:spcAft>
                <a:spcPts val="200"/>
              </a:spcAft>
              <a:defRPr sz="950">
                <a:solidFill>
                  <a:srgbClr val="2D3748"/>
                </a:solidFill>
              </a:defRPr>
            </a:pPr>
            <a:r>
              <a:t>• Added 'Express Mode' toggle: Disables prompts during peak queuing</a:t>
            </a:r>
          </a:p>
          <a:p>
            <a:pPr>
              <a:spcAft>
                <a:spcPts val="200"/>
              </a:spcAft>
              <a:defRPr sz="950">
                <a:solidFill>
                  <a:srgbClr val="2D3748"/>
                </a:solidFill>
              </a:defRPr>
            </a:pPr>
            <a:r>
              <a:t>• Inventory Sync: Connected POS prompts to real-time back-room stock counts</a:t>
            </a:r>
          </a:p>
          <a:p>
            <a:pPr>
              <a:spcAft>
                <a:spcPts val="200"/>
              </a:spcAft>
              <a:defRPr sz="950">
                <a:solidFill>
                  <a:srgbClr val="2D3748"/>
                </a:solidFill>
              </a:defRPr>
            </a:pPr>
            <a:r>
              <a:t>• Adopted LDA over complex ensembles due to sub-15ms edge latency</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Validation Significance</a:t>
            </a:r>
            <a:endParaRPr lang="en-US" sz="1650" dirty="0"/>
          </a:p>
          <a:p>
            <a:pPr>
              <a:spcAft>
                <a:spcPts val="200"/>
              </a:spcAft>
              <a:defRPr sz="950">
                <a:solidFill>
                  <a:srgbClr val="2D3748"/>
                </a:solidFill>
              </a:defRPr>
            </a:pPr>
            <a:r>
              <a:t>• Confirms consultancy recommendations are operationally viable</a:t>
            </a:r>
          </a:p>
          <a:p>
            <a:pPr>
              <a:spcAft>
                <a:spcPts val="200"/>
              </a:spcAft>
              <a:defRPr sz="950">
                <a:solidFill>
                  <a:srgbClr val="2D3748"/>
                </a:solidFill>
              </a:defRPr>
            </a:pPr>
            <a:r>
              <a:t>• Bridges mathematical models with physical store reality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12: Final Strategic &amp; Operational Roadmap</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Structured phased implementation plan backed by Expert Feedback and Data Science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1: Immediate Rollout (Weeks 1–4)</a:t>
            </a:r>
            <a:endParaRPr lang="en-US" sz="1650" dirty="0"/>
          </a:p>
          <a:p>
            <a:pPr>
              <a:spcAft>
                <a:spcPts val="200"/>
              </a:spcAft>
              <a:defRPr sz="950">
                <a:solidFill>
                  <a:srgbClr val="2D3748"/>
                </a:solidFill>
              </a:defRPr>
            </a:pPr>
            <a:r>
              <a:t>• Deploy Champion LDA model across top 8 flagship store registers</a:t>
            </a:r>
          </a:p>
          <a:p>
            <a:pPr>
              <a:spcAft>
                <a:spcPts val="200"/>
              </a:spcAft>
              <a:defRPr sz="950">
                <a:solidFill>
                  <a:srgbClr val="2D3748"/>
                </a:solidFill>
              </a:defRPr>
            </a:pPr>
            <a:r>
              <a:t>• Establish automated nightly sales sync and ARIMA procurement forecasts</a:t>
            </a:r>
          </a:p>
          <a:p>
            <a:pPr>
              <a:spcAft>
                <a:spcPts val="200"/>
              </a:spcAft>
              <a:defRPr sz="950">
                <a:solidFill>
                  <a:srgbClr val="2D3748"/>
                </a:solidFill>
              </a:defRPr>
            </a:pPr>
            <a:r>
              <a:t>• Train cashiers on 1-click suggested pairing prompts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2: RCBD Marketing Trial (Weeks 5–8)</a:t>
            </a:r>
            <a:endParaRPr lang="en-US" sz="1650" dirty="0"/>
          </a:p>
          <a:p>
            <a:pPr>
              <a:spcAft>
                <a:spcPts val="200"/>
              </a:spcAft>
              <a:defRPr sz="950">
                <a:solidFill>
                  <a:srgbClr val="2D3748"/>
                </a:solidFill>
              </a:defRPr>
            </a:pPr>
            <a:r>
              <a:t>• Execute 4-week RCBD trial across 24 blocked retail outlets</a:t>
            </a:r>
          </a:p>
          <a:p>
            <a:pPr>
              <a:spcAft>
                <a:spcPts val="200"/>
              </a:spcAft>
              <a:defRPr sz="950">
                <a:solidFill>
                  <a:srgbClr val="2D3748"/>
                </a:solidFill>
              </a:defRPr>
            </a:pPr>
            <a:r>
              <a:t>• Test 10% vs. 20% promotional discounts on food pairing conversions</a:t>
            </a:r>
          </a:p>
          <a:p>
            <a:pPr>
              <a:spcAft>
                <a:spcPts val="200"/>
              </a:spcAft>
              <a:defRPr sz="950">
                <a:solidFill>
                  <a:srgbClr val="2D3748"/>
                </a:solidFill>
              </a:defRPr>
            </a:pPr>
            <a:r>
              <a:t>• Monitor lift in average transaction value and gross margin impact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3: Chain-Wide Scaling (Weeks 9–16)</a:t>
            </a:r>
            <a:endParaRPr lang="en-US" sz="1650" dirty="0"/>
          </a:p>
          <a:p>
            <a:pPr>
              <a:spcAft>
                <a:spcPts val="200"/>
              </a:spcAft>
              <a:defRPr sz="950">
                <a:solidFill>
                  <a:srgbClr val="2D3748"/>
                </a:solidFill>
              </a:defRPr>
            </a:pPr>
            <a:r>
              <a:t>• Roll out CIF framework across all 80 retail outlets</a:t>
            </a:r>
          </a:p>
          <a:p>
            <a:pPr>
              <a:spcAft>
                <a:spcPts val="200"/>
              </a:spcAft>
              <a:defRPr sz="950">
                <a:solidFill>
                  <a:srgbClr val="2D3748"/>
                </a:solidFill>
              </a:defRPr>
            </a:pPr>
            <a:r>
              <a:t>• Integrate ARIMA forecasts directly into ERP dairy purchasing</a:t>
            </a:r>
          </a:p>
          <a:p>
            <a:pPr>
              <a:spcAft>
                <a:spcPts val="200"/>
              </a:spcAft>
              <a:defRPr sz="950">
                <a:solidFill>
                  <a:srgbClr val="2D3748"/>
                </a:solidFill>
              </a:defRPr>
            </a:pPr>
            <a:r>
              <a:t>• Target: 18% reduction in bakery discard waste &amp; +8% revenue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Risk &amp; Ethical Governance</a:t>
            </a:r>
            <a:endParaRPr lang="en-US" sz="1650" dirty="0"/>
          </a:p>
          <a:p>
            <a:pPr>
              <a:spcAft>
                <a:spcPts val="200"/>
              </a:spcAft>
              <a:defRPr sz="950">
                <a:solidFill>
                  <a:srgbClr val="2D3748"/>
                </a:solidFill>
              </a:defRPr>
            </a:pPr>
            <a:r>
              <a:t>• Customer privacy: Zero personal contact details stored in POS logs</a:t>
            </a:r>
          </a:p>
          <a:p>
            <a:pPr>
              <a:spcAft>
                <a:spcPts val="200"/>
              </a:spcAft>
              <a:defRPr sz="950">
                <a:solidFill>
                  <a:srgbClr val="2D3748"/>
                </a:solidFill>
              </a:defRPr>
            </a:pPr>
            <a:r>
              <a:t>• Fair pricing: Dynamic discounts only; zero surge markups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Conclusion</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Conclusion &amp; Individual Viva Defense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Summary of deliverables and transition to 10-minute individual viva examination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Analytical Deliverables Summary</a:t>
            </a:r>
            <a:endParaRPr lang="en-US" sz="1650" dirty="0"/>
          </a:p>
          <a:p>
            <a:pPr>
              <a:spcAft>
                <a:spcPts val="200"/>
              </a:spcAft>
              <a:defRPr sz="950">
                <a:solidFill>
                  <a:srgbClr val="2D3748"/>
                </a:solidFill>
              </a:defRPr>
            </a:pPr>
            <a:r>
              <a:t>• 100% Syllabus-Aligned R Pipeline (Tasks 1–12 executed)</a:t>
            </a:r>
          </a:p>
          <a:p>
            <a:pPr>
              <a:spcAft>
                <a:spcPts val="200"/>
              </a:spcAft>
              <a:defRPr sz="950">
                <a:solidFill>
                  <a:srgbClr val="2D3748"/>
                </a:solidFill>
              </a:defRPr>
            </a:pPr>
            <a:r>
              <a:t>• 6 Classical Hypothesis Tests validated (Note 01)</a:t>
            </a:r>
          </a:p>
          <a:p>
            <a:pPr>
              <a:spcAft>
                <a:spcPts val="200"/>
              </a:spcAft>
              <a:defRPr sz="950">
                <a:solidFill>
                  <a:srgbClr val="2D3748"/>
                </a:solidFill>
              </a:defRPr>
            </a:pPr>
            <a:r>
              <a:t>• 4 Distinct Statistical Models benchmarked across 4 members</a:t>
            </a:r>
          </a:p>
          <a:p>
            <a:pPr>
              <a:spcAft>
                <a:spcPts val="200"/>
              </a:spcAft>
              <a:defRPr sz="950">
                <a:solidFill>
                  <a:srgbClr val="2D3748"/>
                </a:solidFill>
              </a:defRPr>
            </a:pPr>
            <a:r>
              <a:t>• Validated Seasonal ARIMA(0,0,0)(0,1,1)[7] Demand Forecast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Commercial Business Impact</a:t>
            </a:r>
            <a:endParaRPr lang="en-US" sz="1650" dirty="0"/>
          </a:p>
          <a:p>
            <a:pPr>
              <a:spcAft>
                <a:spcPts val="200"/>
              </a:spcAft>
              <a:defRPr sz="950">
                <a:solidFill>
                  <a:srgbClr val="2D3748"/>
                </a:solidFill>
              </a:defRPr>
            </a:pPr>
            <a:r>
              <a:t>• Champion LDA Engine achieves 76.23% Top-1 and 98.40% Top-2 Hit Rate</a:t>
            </a:r>
          </a:p>
          <a:p>
            <a:pPr>
              <a:spcAft>
                <a:spcPts val="200"/>
              </a:spcAft>
              <a:defRPr sz="950">
                <a:solidFill>
                  <a:srgbClr val="2D3748"/>
                </a:solidFill>
              </a:defRPr>
            </a:pPr>
            <a:r>
              <a:t>• Projected 18% reduction in perishable food waste write-offs</a:t>
            </a:r>
          </a:p>
          <a:p>
            <a:pPr>
              <a:spcAft>
                <a:spcPts val="200"/>
              </a:spcAft>
              <a:defRPr sz="950">
                <a:solidFill>
                  <a:srgbClr val="2D3748"/>
                </a:solidFill>
              </a:defRPr>
            </a:pPr>
            <a:r>
              <a:t>• Automated POS upsell prompts raise conversion from 4.8% to 14.5%</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Viva Examination Readiness</a:t>
            </a:r>
            <a:endParaRPr lang="en-US" sz="1650" dirty="0"/>
          </a:p>
          <a:p>
            <a:pPr>
              <a:spcAft>
                <a:spcPts val="200"/>
              </a:spcAft>
              <a:defRPr sz="950">
                <a:solidFill>
                  <a:srgbClr val="2D3748"/>
                </a:solidFill>
              </a:defRPr>
            </a:pPr>
            <a:r>
              <a:t>• Member 1: Industry Problem, Literature Review (16 Papers) &amp; Multinomial Logit</a:t>
            </a:r>
          </a:p>
          <a:p>
            <a:pPr>
              <a:spcAft>
                <a:spcPts val="200"/>
              </a:spcAft>
              <a:defRPr sz="950">
                <a:solidFill>
                  <a:srgbClr val="2D3748"/>
                </a:solidFill>
              </a:defRPr>
            </a:pPr>
            <a:r>
              <a:t>• Member 2: Data Integrity Audit, Visual EDA &amp; 6 Hypothesis Tests</a:t>
            </a:r>
          </a:p>
          <a:p>
            <a:pPr>
              <a:spcAft>
                <a:spcPts val="200"/>
              </a:spcAft>
              <a:defRPr sz="950">
                <a:solidFill>
                  <a:srgbClr val="2D3748"/>
                </a:solidFill>
              </a:defRPr>
            </a:pPr>
            <a:r>
              <a:t>• Member 3: Discriminant Analysis (LDA Champion / QDA) &amp; RCBD Design</a:t>
            </a:r>
          </a:p>
          <a:p>
            <a:pPr>
              <a:spcAft>
                <a:spcPts val="200"/>
              </a:spcAft>
              <a:defRPr sz="950">
                <a:solidFill>
                  <a:srgbClr val="2D3748"/>
                </a:solidFill>
              </a:defRPr>
            </a:pPr>
            <a:r>
              <a:t>• Member 4: PCA Evaluation (Pre vs Post), Bayesian Decision &amp; Seasonal ARIMA</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Open for Questions</a:t>
            </a:r>
            <a:endParaRPr lang="en-US" sz="1650" dirty="0"/>
          </a:p>
          <a:p>
            <a:pPr>
              <a:spcAft>
                <a:spcPts val="200"/>
              </a:spcAft>
              <a:defRPr sz="950">
                <a:solidFill>
                  <a:srgbClr val="2D3748"/>
                </a:solidFill>
              </a:defRPr>
            </a:pPr>
            <a:r>
              <a:t>• All analytical scripts, data tables, and figures fully reproducible</a:t>
            </a:r>
          </a:p>
          <a:p>
            <a:pPr>
              <a:spcAft>
                <a:spcPts val="200"/>
              </a:spcAft>
              <a:defRPr sz="950">
                <a:solidFill>
                  <a:srgbClr val="2D3748"/>
                </a:solidFill>
              </a:defRPr>
            </a:pPr>
            <a:r>
              <a:t>• Thank you for your time and consideration!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0</TotalTime>
  <Words>646</Words>
  <Application>Microsoft Office PowerPoint</Application>
  <PresentationFormat>Widescreen</PresentationFormat>
  <Paragraphs>159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Consultancy Presentation Template</dc:title>
  <dc:subject>IT3081 Statistical Modelling Group Assignment Presentation Template</dc:subject>
  <dc:creator>OpenAI</dc:creator>
  <cp:lastModifiedBy>Samadhi Rathnayake</cp:lastModifiedBy>
  <cp:revision>2</cp:revision>
  <dcterms:created xsi:type="dcterms:W3CDTF">2026-09-18T08:28:20Z</dcterms:created>
  <dcterms:modified xsi:type="dcterms:W3CDTF">2026-09-18T09:03:21Z</dcterms:modified>
</cp:coreProperties>
</file>