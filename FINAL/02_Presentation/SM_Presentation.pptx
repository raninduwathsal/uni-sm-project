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fonts/font.dat" ContentType="application/x-fontdata"/>
  <Override PartName="/ppt/fonts/font2.dat" ContentType="application/x-fontdata"/>
  <Override PartName="/ppt/fonts/font3.dat" ContentType="application/x-fontdata"/>
  <Override PartName="/ppt/media/image.svg" ContentType="image/svg+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6960070ac8ff4466" Type="http://schemas.openxmlformats.org/officeDocument/2006/relationships/officeDocument" Target="ppt/presentation.xml"/><Relationship Id="Rc7fa4305e7cb4976" Type="http://schemas.openxmlformats.org/officeDocument/2006/relationships/extended-properties" Target="docProps/app.xml"/><Relationship Id="Rfe94e2e86e244e77" Type="http://schemas.openxmlformats.org/package/2006/relationships/metadata/core-properties" Target="docProps/core.xml"/></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6834d5b99e94afe"/>
  </p:sldMasterIdLst>
  <p:notesMasterIdLst>
    <p:notesMasterId xmlns:r="http://schemas.openxmlformats.org/officeDocument/2006/relationships" r:id="Rf12cfff9cedd4c54"/>
  </p:notesMasterIdLst>
  <p:sldIdLst>
    <p:sldId xmlns:r="http://schemas.openxmlformats.org/officeDocument/2006/relationships" id="256" r:id="R590c75ed395d4a27"/>
    <p:sldId xmlns:r="http://schemas.openxmlformats.org/officeDocument/2006/relationships" id="257" r:id="R52cbfac4159349bc"/>
    <p:sldId xmlns:r="http://schemas.openxmlformats.org/officeDocument/2006/relationships" id="258" r:id="R1a0984cfe13847fa"/>
    <p:sldId xmlns:r="http://schemas.openxmlformats.org/officeDocument/2006/relationships" id="259" r:id="Rcf132dc16f8a44d1"/>
    <p:sldId xmlns:r="http://schemas.openxmlformats.org/officeDocument/2006/relationships" id="260" r:id="R5d277ed5e2f44ac6"/>
    <p:sldId xmlns:r="http://schemas.openxmlformats.org/officeDocument/2006/relationships" id="261" r:id="R65d42d16e297413a"/>
    <p:sldId xmlns:r="http://schemas.openxmlformats.org/officeDocument/2006/relationships" id="262" r:id="R3d5e325f42b248d3"/>
    <p:sldId xmlns:r="http://schemas.openxmlformats.org/officeDocument/2006/relationships" id="263" r:id="R36e8d94175d0499b"/>
    <p:sldId xmlns:r="http://schemas.openxmlformats.org/officeDocument/2006/relationships" id="264" r:id="R1417834a1b6a405b"/>
    <p:sldId xmlns:r="http://schemas.openxmlformats.org/officeDocument/2006/relationships" id="265" r:id="R74b2156ad1d14f30"/>
    <p:sldId xmlns:r="http://schemas.openxmlformats.org/officeDocument/2006/relationships" id="266" r:id="R36cafaa5baac4e60"/>
    <p:sldId xmlns:r="http://schemas.openxmlformats.org/officeDocument/2006/relationships" id="267" r:id="Ra4a4629779564986"/>
    <p:sldId xmlns:r="http://schemas.openxmlformats.org/officeDocument/2006/relationships" id="268" r:id="R6a55e00355c24de2"/>
    <p:sldId xmlns:r="http://schemas.openxmlformats.org/officeDocument/2006/relationships" id="269" r:id="Rc7c3758d98384973"/>
    <p:sldId xmlns:r="http://schemas.openxmlformats.org/officeDocument/2006/relationships" id="270" r:id="R6b522400eb9a4a20"/>
    <p:sldId xmlns:r="http://schemas.openxmlformats.org/officeDocument/2006/relationships" id="271" r:id="R4e2e4a1947174e55"/>
    <p:sldId xmlns:r="http://schemas.openxmlformats.org/officeDocument/2006/relationships" id="272" r:id="Rd623c97a846e43cd"/>
    <p:sldId xmlns:r="http://schemas.openxmlformats.org/officeDocument/2006/relationships" id="273" r:id="Rd703fda163c0458a"/>
    <p:sldId xmlns:r="http://schemas.openxmlformats.org/officeDocument/2006/relationships" id="274" r:id="Rf0ce0c8c93424f8a"/>
    <p:sldId xmlns:r="http://schemas.openxmlformats.org/officeDocument/2006/relationships" id="275" r:id="Reff1d53fbc27475a"/>
    <p:sldId xmlns:r="http://schemas.openxmlformats.org/officeDocument/2006/relationships" id="276" r:id="Ra27a2f8bb21d4e62"/>
    <p:sldId xmlns:r="http://schemas.openxmlformats.org/officeDocument/2006/relationships" id="277" r:id="R5cb4b65f3a4340a6"/>
    <p:sldId xmlns:r="http://schemas.openxmlformats.org/officeDocument/2006/relationships" id="278" r:id="R130e4e8fce7c4c04"/>
    <p:sldId xmlns:r="http://schemas.openxmlformats.org/officeDocument/2006/relationships" id="279" r:id="R3d90d2bddb6c4fac"/>
    <p:sldId xmlns:r="http://schemas.openxmlformats.org/officeDocument/2006/relationships" id="280" r:id="R20fb21ae9e43489c"/>
    <p:sldId xmlns:r="http://schemas.openxmlformats.org/officeDocument/2006/relationships" id="281" r:id="R7173e2b5d16b448b"/>
    <p:sldId xmlns:r="http://schemas.openxmlformats.org/officeDocument/2006/relationships" id="282" r:id="R670f1d06a4bf46a2"/>
    <p:sldId xmlns:r="http://schemas.openxmlformats.org/officeDocument/2006/relationships" id="283" r:id="Rdf2d0e6ec46440aa"/>
    <p:sldId xmlns:r="http://schemas.openxmlformats.org/officeDocument/2006/relationships" id="284" r:id="R45751c74e98745e0"/>
    <p:sldId xmlns:r="http://schemas.openxmlformats.org/officeDocument/2006/relationships" id="285" r:id="R515cae28fc6f40ec"/>
    <p:sldId xmlns:r="http://schemas.openxmlformats.org/officeDocument/2006/relationships" id="286" r:id="R150f82ad72fa4486"/>
    <p:sldId xmlns:r="http://schemas.openxmlformats.org/officeDocument/2006/relationships" id="287" r:id="R101a76b5572e4468"/>
    <p:sldId xmlns:r="http://schemas.openxmlformats.org/officeDocument/2006/relationships" id="288" r:id="R5b59e2ad3fc74a68"/>
    <p:sldId xmlns:r="http://schemas.openxmlformats.org/officeDocument/2006/relationships" id="289" r:id="Rb948200bf1e24149"/>
  </p:sldIdLst>
  <p:sldSz cx="18288000" cy="10287000"/>
  <p:notesSz cx="6858000" cy="9144000"/>
  <p:embeddedFontLst>
    <p:embeddedFont>
      <p:font typeface="Lucidity Condensed"/>
      <p:regular xmlns:r="http://schemas.openxmlformats.org/officeDocument/2006/relationships" r:id="Raf7044ed802f4ddd"/>
    </p:embeddedFont>
    <p:embeddedFont>
      <p:font typeface="TT Fors Bold"/>
      <p:regular xmlns:r="http://schemas.openxmlformats.org/officeDocument/2006/relationships" r:id="Rf8588995f14d4a65"/>
    </p:embeddedFont>
    <p:embeddedFont>
      <p:font typeface="TT Fors"/>
      <p:regular xmlns:r="http://schemas.openxmlformats.org/officeDocument/2006/relationships" r:id="R80bf6f1f372943ac"/>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xml version='1.0' encoding='UTF-8' standalone='yes'?>
<Relationships xmlns="http://schemas.openxmlformats.org/package/2006/relationships"><Relationship Id="R101a76b5572e4468" Type="http://schemas.openxmlformats.org/officeDocument/2006/relationships/slide" Target="slides/slide32.xml"/><Relationship Id="R130e4e8fce7c4c04" Type="http://schemas.openxmlformats.org/officeDocument/2006/relationships/slide" Target="slides/slide23.xml"/><Relationship Id="R1417834a1b6a405b" Type="http://schemas.openxmlformats.org/officeDocument/2006/relationships/slide" Target="slides/slide9.xml"/><Relationship Id="R150f82ad72fa4486" Type="http://schemas.openxmlformats.org/officeDocument/2006/relationships/slide" Target="slides/slide31.xml"/><Relationship Id="R1a0984cfe13847fa" Type="http://schemas.openxmlformats.org/officeDocument/2006/relationships/slide" Target="slides/slide3.xml"/><Relationship Id="R20fb21ae9e43489c" Type="http://schemas.openxmlformats.org/officeDocument/2006/relationships/slide" Target="slides/slide25.xml"/><Relationship Id="R36cafaa5baac4e60" Type="http://schemas.openxmlformats.org/officeDocument/2006/relationships/slide" Target="slides/slide11.xml"/><Relationship Id="R36e8d94175d0499b" Type="http://schemas.openxmlformats.org/officeDocument/2006/relationships/slide" Target="slides/slide8.xml"/><Relationship Id="R3d5e325f42b248d3" Type="http://schemas.openxmlformats.org/officeDocument/2006/relationships/slide" Target="slides/slide7.xml"/><Relationship Id="R3d90d2bddb6c4fac" Type="http://schemas.openxmlformats.org/officeDocument/2006/relationships/slide" Target="slides/slide24.xml"/><Relationship Id="R45751c74e98745e0" Type="http://schemas.openxmlformats.org/officeDocument/2006/relationships/slide" Target="slides/slide29.xml"/><Relationship Id="R4e2e4a1947174e55" Type="http://schemas.openxmlformats.org/officeDocument/2006/relationships/slide" Target="slides/slide16.xml"/><Relationship Id="R515cae28fc6f40ec" Type="http://schemas.openxmlformats.org/officeDocument/2006/relationships/slide" Target="slides/slide30.xml"/><Relationship Id="R52cbfac4159349bc" Type="http://schemas.openxmlformats.org/officeDocument/2006/relationships/slide" Target="slides/slide2.xml"/><Relationship Id="R590c75ed395d4a27" Type="http://schemas.openxmlformats.org/officeDocument/2006/relationships/slide" Target="slides/slide1.xml"/><Relationship Id="R5b59e2ad3fc74a68" Type="http://schemas.openxmlformats.org/officeDocument/2006/relationships/slide" Target="slides/slide33.xml"/><Relationship Id="R5cb4b65f3a4340a6" Type="http://schemas.openxmlformats.org/officeDocument/2006/relationships/slide" Target="slides/slide22.xml"/><Relationship Id="R5d277ed5e2f44ac6" Type="http://schemas.openxmlformats.org/officeDocument/2006/relationships/slide" Target="slides/slide5.xml"/><Relationship Id="R65d42d16e297413a" Type="http://schemas.openxmlformats.org/officeDocument/2006/relationships/slide" Target="slides/slide6.xml"/><Relationship Id="R66834d5b99e94afe" Type="http://schemas.openxmlformats.org/officeDocument/2006/relationships/slideMaster" Target="slideMasters/slideMaster1.xml"/><Relationship Id="R670f1d06a4bf46a2" Type="http://schemas.openxmlformats.org/officeDocument/2006/relationships/slide" Target="slides/slide27.xml"/><Relationship Id="R6a55e00355c24de2" Type="http://schemas.openxmlformats.org/officeDocument/2006/relationships/slide" Target="slides/slide13.xml"/><Relationship Id="R6b522400eb9a4a20" Type="http://schemas.openxmlformats.org/officeDocument/2006/relationships/slide" Target="slides/slide15.xml"/><Relationship Id="R7173e2b5d16b448b" Type="http://schemas.openxmlformats.org/officeDocument/2006/relationships/slide" Target="slides/slide26.xml"/><Relationship Id="R74b2156ad1d14f30" Type="http://schemas.openxmlformats.org/officeDocument/2006/relationships/slide" Target="slides/slide10.xml"/><Relationship Id="R793758572c124186" Type="http://schemas.openxmlformats.org/officeDocument/2006/relationships/presProps" Target="presProps.xml"/><Relationship Id="R80bf6f1f372943ac" Type="http://schemas.openxmlformats.org/officeDocument/2006/relationships/font" Target="fonts/font3.dat"/><Relationship Id="R88b519f4ec844b45" Type="http://schemas.openxmlformats.org/officeDocument/2006/relationships/tableStyles" Target="tableStyles.xml"/><Relationship Id="Ra27a2f8bb21d4e62" Type="http://schemas.openxmlformats.org/officeDocument/2006/relationships/slide" Target="slides/slide21.xml"/><Relationship Id="Ra4a4629779564986" Type="http://schemas.openxmlformats.org/officeDocument/2006/relationships/slide" Target="slides/slide12.xml"/><Relationship Id="Raf7044ed802f4ddd" Type="http://schemas.openxmlformats.org/officeDocument/2006/relationships/font" Target="fonts/font.dat"/><Relationship Id="Rb948200bf1e24149" Type="http://schemas.openxmlformats.org/officeDocument/2006/relationships/slide" Target="slides/slide34.xml"/><Relationship Id="Rc7c3758d98384973" Type="http://schemas.openxmlformats.org/officeDocument/2006/relationships/slide" Target="slides/slide14.xml"/><Relationship Id="Rcf132dc16f8a44d1" Type="http://schemas.openxmlformats.org/officeDocument/2006/relationships/slide" Target="slides/slide4.xml"/><Relationship Id="Rd623c97a846e43cd" Type="http://schemas.openxmlformats.org/officeDocument/2006/relationships/slide" Target="slides/slide17.xml"/><Relationship Id="Rd703fda163c0458a" Type="http://schemas.openxmlformats.org/officeDocument/2006/relationships/slide" Target="slides/slide18.xml"/><Relationship Id="Rdf2d0e6ec46440aa" Type="http://schemas.openxmlformats.org/officeDocument/2006/relationships/slide" Target="slides/slide28.xml"/><Relationship Id="Re0f29f431f0b4522" Type="http://schemas.openxmlformats.org/officeDocument/2006/relationships/theme" Target="theme/theme1.xml"/><Relationship Id="Re6eea973370b47d8" Type="http://schemas.openxmlformats.org/officeDocument/2006/relationships/viewProps" Target="viewProps.xml"/><Relationship Id="Reff1d53fbc27475a" Type="http://schemas.openxmlformats.org/officeDocument/2006/relationships/slide" Target="slides/slide20.xml"/><Relationship Id="Rf0ce0c8c93424f8a" Type="http://schemas.openxmlformats.org/officeDocument/2006/relationships/slide" Target="slides/slide19.xml"/><Relationship Id="Rf12cfff9cedd4c54" Type="http://schemas.openxmlformats.org/officeDocument/2006/relationships/notesMaster" Target="notesMasters/notesMaster1.xml"/><Relationship Id="Rf8588995f14d4a65" Type="http://schemas.openxmlformats.org/officeDocument/2006/relationships/font" Target="fonts/font2.dat"/></Relationships>
</file>

<file path=ppt/notesMasters/_rels/notesMaster1.xml.rels><?xml version='1.0' encoding='UTF-8' standalone='yes'?>
<Relationships xmlns="http://schemas.openxmlformats.org/package/2006/relationships"><Relationship Id="R2db1d54b452a4122"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xml version='1.0' encoding='UTF-8' standalone='yes'?>
<Relationships xmlns="http://schemas.openxmlformats.org/package/2006/relationships"><Relationship Id="R3dec898232b14532" Type="http://schemas.openxmlformats.org/officeDocument/2006/relationships/notesMaster" Target="../notesMasters/notesMaster1.xml"/><Relationship Id="R6460196822dc40e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84a8ddb6ebcc43a0" Type="http://schemas.openxmlformats.org/officeDocument/2006/relationships/notesMaster" Target="../notesMasters/notesMaster1.xml"/><Relationship Id="Rc25bdb6404c84db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1607e7a7a92b49a1" Type="http://schemas.openxmlformats.org/officeDocument/2006/relationships/notesMaster" Target="../notesMasters/notesMaster1.xml"/><Relationship Id="R9795aac8e8b34bc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52a2d92332f54d4d" Type="http://schemas.openxmlformats.org/officeDocument/2006/relationships/slide" Target="../slides/slide4.xml"/><Relationship Id="R9ab78be07d70476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158f65a445ef4c74" Type="http://schemas.openxmlformats.org/officeDocument/2006/relationships/notesMaster" Target="../notesMasters/notesMaster1.xml"/><Relationship Id="Rdb3b6bef42f34f47"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b9a99a1d2dd44fb7" Type="http://schemas.openxmlformats.org/officeDocument/2006/relationships/notesMaster" Target="../notesMasters/notesMaster1.xml"/><Relationship Id="Rc8743b0aa7224f10"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1f80d92f6c034a48" Type="http://schemas.openxmlformats.org/officeDocument/2006/relationships/slide" Target="../slides/slide7.xml"/><Relationship Id="R6c0697c453b84ee3"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c91b6520055e4867" Type="http://schemas.openxmlformats.org/officeDocument/2006/relationships/slide" Target="../slides/slide8.xml"/><Relationship Id="Recf1ecfcd15a4d3d"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2e641ee40ade426b" Type="http://schemas.openxmlformats.org/officeDocument/2006/relationships/slide" Target="../slides/slide9.xml"/><Relationship Id="R9b8ae3efdf02471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a39970b3c8564973" Type="http://schemas.openxmlformats.org/officeDocument/2006/relationships/notesMaster" Target="../notesMasters/notesMaster1.xml"/><Relationship Id="Rba07159246be429e"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2f2941e3b5144e95" Type="http://schemas.openxmlformats.org/officeDocument/2006/relationships/slide" Target="../slides/slide11.xml"/><Relationship Id="R5e42e956ec8c41a9"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8f920355e1de4b85" Type="http://schemas.openxmlformats.org/officeDocument/2006/relationships/notesMaster" Target="../notesMasters/notesMaster1.xml"/><Relationship Id="Rb0d60294b8994875"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971f148624774e99" Type="http://schemas.openxmlformats.org/officeDocument/2006/relationships/notesMaster" Target="../notesMasters/notesMaster1.xml"/><Relationship Id="Rb004fda255f9481c"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10e4de573f4948fd" Type="http://schemas.openxmlformats.org/officeDocument/2006/relationships/notesMaster" Target="../notesMasters/notesMaster1.xml"/><Relationship Id="R7cdd27d12db24374"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7fabb6c3cea74fb0" Type="http://schemas.openxmlformats.org/officeDocument/2006/relationships/slide" Target="../slides/slide15.xml"/><Relationship Id="Rabea131e98064b8b"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09d1246c073d4faa" Type="http://schemas.openxmlformats.org/officeDocument/2006/relationships/slide" Target="../slides/slide16.xml"/><Relationship Id="R7d214c45257649ae"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97afb9e5d849476e" Type="http://schemas.openxmlformats.org/officeDocument/2006/relationships/notesMaster" Target="../notesMasters/notesMaster1.xml"/><Relationship Id="Rfc379ed791ae43a5"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6cc2deceda0d4284" Type="http://schemas.openxmlformats.org/officeDocument/2006/relationships/slide" Target="../slides/slide18.xml"/><Relationship Id="R86d9be26f2fd40d8"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2b4cf4be6bb94077" Type="http://schemas.openxmlformats.org/officeDocument/2006/relationships/notesMaster" Target="../notesMasters/notesMaster1.xml"/><Relationship Id="R96f3ed87c219491f"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2e7ac5a183dc4a7b" Type="http://schemas.openxmlformats.org/officeDocument/2006/relationships/notesMaster" Target="../notesMasters/notesMaster1.xml"/><Relationship Id="Rcd4d46cb663649d0"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0dd8f64e2ee64466" Type="http://schemas.openxmlformats.org/officeDocument/2006/relationships/slide" Target="../slides/slide21.xml"/><Relationship Id="Rb28ee9ef753549ec"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86725e18b47d41c9" Type="http://schemas.openxmlformats.org/officeDocument/2006/relationships/slide" Target="../slides/slide22.xml"/><Relationship Id="R95b78f027b3d421c"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419058bead944978" Type="http://schemas.openxmlformats.org/officeDocument/2006/relationships/slide" Target="../slides/slide23.xml"/><Relationship Id="R896f3cc36e79415e"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3d42291c992d4f2f" Type="http://schemas.openxmlformats.org/officeDocument/2006/relationships/slide" Target="../slides/slide24.xml"/><Relationship Id="R54ba9bf67342464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3916334334b8454d" Type="http://schemas.openxmlformats.org/officeDocument/2006/relationships/notesMaster" Target="../notesMasters/notesMaster1.xml"/><Relationship Id="R6f05926363ab4927"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dd92a0902d734c67" Type="http://schemas.openxmlformats.org/officeDocument/2006/relationships/slide" Target="../slides/slide26.xml"/><Relationship Id="Re62f7d7d42504b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0a8f21ac630f4e64" Type="http://schemas.openxmlformats.org/officeDocument/2006/relationships/slide" Target="../slides/slide27.xml"/><Relationship Id="R75cc69e4cc45413c"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e1c53e954e60430a" Type="http://schemas.openxmlformats.org/officeDocument/2006/relationships/notesMaster" Target="../notesMasters/notesMaster1.xml"/><Relationship Id="Rf5654def22e947b8"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466522e967084c23" Type="http://schemas.openxmlformats.org/officeDocument/2006/relationships/notesMaster" Target="../notesMasters/notesMaster1.xml"/><Relationship Id="Rbb525fe9df734244"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97a8ca2ea2fa4ed5" Type="http://schemas.openxmlformats.org/officeDocument/2006/relationships/slide" Target="../slides/slide30.xml"/><Relationship Id="Ree4baca5eb964af5"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78028c2b871f4764" Type="http://schemas.openxmlformats.org/officeDocument/2006/relationships/slide" Target="../slides/slide31.xml"/><Relationship Id="R8948b01ff95241c6"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203b0ec3d54f4931" Type="http://schemas.openxmlformats.org/officeDocument/2006/relationships/slide" Target="../slides/slide32.xml"/><Relationship Id="Rb1111e02b94b45ce"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32db446baa54442d" Type="http://schemas.openxmlformats.org/officeDocument/2006/relationships/slide" Target="../slides/slide33.xml"/><Relationship Id="R62df23e98cc94e94"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5ce26a4ecfb64f37" Type="http://schemas.openxmlformats.org/officeDocument/2006/relationships/notesMaster" Target="../notesMasters/notesMaster1.xml"/><Relationship Id="R838e906250a349a3" Type="http://schemas.openxmlformats.org/officeDocument/2006/relationships/slide" Target="../slides/slide34.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a:t>
            </a:r>
          </a:p>
          <a:p xmlns:a="http://schemas.openxmlformats.org/drawingml/2006/main">
            <a:r>
              <a:t>TIME: 0:00–0:30</a:t>
            </a:r>
          </a:p>
          <a:p xmlns:a="http://schemas.openxmlformats.org/drawingml/2006/main">
            <a:r>
              <a:t/>
            </a:r>
          </a:p>
          <a:p xmlns:a="http://schemas.openxmlformats.org/drawingml/2006/main">
            <a:r>
              <a:t>READ-ALOUD SCRIPT</a:t>
            </a:r>
          </a:p>
          <a:p xmlns:a="http://schemas.openxmlformats.org/drawingml/2006/main">
            <a:r>
              <a:t>Good morning. We are Group 4, presenting a statistical consultancy project for a food and beverage client through BladeGen Tech. Our focus is customer purchasing patterns and daily demand planning. We will explain the data, the evidence, the modelling choices and a practical pilot proposal. Our recommendation is to validate the analytics and test business benefits before scaling the solution.</a:t>
            </a:r>
          </a:p>
          <a:p xmlns:a="http://schemas.openxmlformats.org/drawingml/2006/main">
            <a:r>
              <a:t/>
            </a:r>
          </a:p>
          <a:p xmlns:a="http://schemas.openxmlformats.org/drawingml/2006/main">
            <a:r>
              <a:t>VIVA DETAIL</a:t>
            </a:r>
          </a:p>
          <a:p xmlns:a="http://schemas.openxmlformats.org/drawingml/2006/main">
            <a:r>
              <a:t/>
            </a:r>
          </a:p>
          <a:p xmlns:a="http://schemas.openxmlformats.org/drawingml/2006/main">
            <a:r>
              <a:t/>
            </a:r>
          </a:p>
          <a:p xmlns:a="http://schemas.openxmlformats.org/drawingml/2006/main">
            <a:r>
              <a:t>SOURCES</a:t>
            </a:r>
          </a:p>
          <a:p xmlns:a="http://schemas.openxmlformats.org/drawingml/2006/main">
            <a:r>
              <a:t>01_Reports_and_Documentation/Group Assignment brief.pdf; 01_Reports_and_Documentation/Ranindu_Project Approval_20.09.2026.docx.pdf</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 | TIME: 0:30–1:20</a:t>
            </a:r>
          </a:p>
          <a:p xmlns:a="http://schemas.openxmlformats.org/drawingml/2006/main"/>
          <a:p xmlns:a="http://schemas.openxmlformats.org/drawingml/2006/main">
            <a:r>
              <a:t>READ-ALOUD SCRIPT:</a:t>
            </a:r>
          </a:p>
          <a:p xmlns:a="http://schemas.openxmlformats.org/drawingml/2006/main">
            <a:r>
              <a:t>Our consultancy addresses two core business questions for BladeGen Tech's F&amp;B chain:</a:t>
            </a:r>
          </a:p>
          <a:p xmlns:a="http://schemas.openxmlformats.org/drawingml/2006/main">
            <a:r>
              <a:t>First, at the checkout register: Which product category will a customer order given their contextual visit attributes? Automating this replaces cashier guesswork and targets raising upsell conversion from 4.8% to 14.5%.</a:t>
            </a:r>
          </a:p>
          <a:p xmlns:a="http://schemas.openxmlformats.org/drawingml/2006/main">
            <a:r>
              <a:t>Second, in the supply chain: How many daily orders will occur over the next 30 days? Forecasting this using Seasonal ARIMA allows bakery kitchens to dynamically adjust production, curbing the 12% pastry discard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 | TIME: 1:20–2:15</a:t>
            </a:r>
          </a:p>
          <a:p xmlns:a="http://schemas.openxmlformats.org/drawingml/2006/main"/>
          <a:p xmlns:a="http://schemas.openxmlformats.org/drawingml/2006/main">
            <a:r>
              <a:t>READ-ALOUD SCRIPT:</a:t>
            </a:r>
          </a:p>
          <a:p xmlns:a="http://schemas.openxmlformats.org/drawingml/2006/main">
            <a:r>
              <a:t>In Task 2, we grounded every analytical decision in 16 peer-reviewed studies. Crucially, Tan &amp; Lim (2023, page 112) proved that 70% to 80% Top-1 accuracy is the natural empirical ceiling in 4-class retail consumer choice due to unobserved behavioral entropy. Furthermore, Mishra et al. (2022, page 78) established that LDA matches complex ensembles on transaction features while guaranteeing sub-20 millisecond latency, and Bradlow et al. (2023, page 33) proved that RCBD store blocking cuts error variance by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a:t>
            </a:r>
          </a:p>
          <a:p xmlns:a="http://schemas.openxmlformats.org/drawingml/2006/main">
            <a:r>
              <a:t>TIME: 2:15–3:05</a:t>
            </a:r>
          </a:p>
          <a:p xmlns:a="http://schemas.openxmlformats.org/drawingml/2006/main">
            <a:r>
              <a:t/>
            </a:r>
          </a:p>
          <a:p xmlns:a="http://schemas.openxmlformats.org/drawingml/2006/main">
            <a:r>
              <a:t>READ-ALOUD SCRIPT</a:t>
            </a:r>
          </a:p>
          <a:p xmlns:a="http://schemas.openxmlformats.org/drawingml/2006/main">
            <a:r>
              <a:t>The analysis uses 29,465 purchased item lines from 20,476 orders across 80 outlets during the first quarter of 2026. One order can contain several rows, so row counts and order counts mean different things. The current file contains 39 distinct product names. The approval letter says actual business insights are protected through distortion or encryption. Therefore, results refer to the supplied data and need confirmation on the client’s original data. The separate enhanced 2025 dataset is included in the package but is not loaded by this workflow.</a:t>
            </a:r>
          </a:p>
          <a:p xmlns:a="http://schemas.openxmlformats.org/drawingml/2006/main">
            <a:r>
              <a:t/>
            </a:r>
          </a:p>
          <a:p xmlns:a="http://schemas.openxmlformats.org/drawingml/2006/main">
            <a:r>
              <a:t>VIVA DETAIL</a:t>
            </a:r>
          </a:p>
          <a:p xmlns:a="http://schemas.openxmlformats.org/drawingml/2006/main">
            <a:r>
              <a:t>The brief requests publicly accessible data. Obtain lecturer acceptance of the private protected industry dataset and evidence of permission.</a:t>
            </a:r>
          </a:p>
          <a:p xmlns:a="http://schemas.openxmlformats.org/drawingml/2006/main">
            <a:r>
              <a:t/>
            </a:r>
          </a:p>
          <a:p xmlns:a="http://schemas.openxmlformats.org/drawingml/2006/main">
            <a:r>
              <a:t>SOURCES</a:t>
            </a:r>
          </a:p>
          <a:p xmlns:a="http://schemas.openxmlformats.org/drawingml/2006/main">
            <a:r>
              <a:t>04_Data/restaurant_transactions.csv; 01_Reports_and_Documentation/Ranindu_Project Approval_20.09.2026.docx.pdf</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a:t>
            </a:r>
          </a:p>
          <a:p xmlns:a="http://schemas.openxmlformats.org/drawingml/2006/main">
            <a:r>
              <a:t>TIME: 3:05–4:00</a:t>
            </a:r>
          </a:p>
          <a:p xmlns:a="http://schemas.openxmlformats.org/drawingml/2006/main">
            <a:r>
              <a:t/>
            </a:r>
          </a:p>
          <a:p xmlns:a="http://schemas.openxmlformats.org/drawingml/2006/main">
            <a:r>
              <a:t>READ-ALOUD SCRIPT</a:t>
            </a:r>
          </a:p>
          <a:p xmlns:a="http://schemas.openxmlformats.org/drawingml/2006/main">
            <a:r>
              <a:t>Data preparation protects the validity of everything that follows. We check whether item lines within an order agree on date, payment method and order type. The current base file has no conflicts in these fields. We standardise labels and create loyalty status from the presence of a loyalty identifier. We calculate item-line revenue using rate times quantity minus discount. We also inspect outliers rather than automatically deleting genuine large purchases. Before submission, the saved clean file and script output should be regenerated together because the package currently contains version differences.</a:t>
            </a:r>
          </a:p>
          <a:p xmlns:a="http://schemas.openxmlformats.org/drawingml/2006/main">
            <a:r>
              <a:t/>
            </a:r>
          </a:p>
          <a:p xmlns:a="http://schemas.openxmlformats.org/drawingml/2006/main">
            <a:r>
              <a:t>VIVA DETAIL</a:t>
            </a:r>
          </a:p>
          <a:p xmlns:a="http://schemas.openxmlformats.org/drawingml/2006/main">
            <a:r>
              <a:t>18,480 loyalty IDs are missing. Absence is encoded as No, which is a data interpretation and may also represent unrecorded membership. IQR flags on discrete variables need care.</a:t>
            </a:r>
          </a:p>
          <a:p xmlns:a="http://schemas.openxmlformats.org/drawingml/2006/main">
            <a:r>
              <a:t/>
            </a:r>
          </a:p>
          <a:p xmlns:a="http://schemas.openxmlformats.org/drawingml/2006/main">
            <a:r>
              <a:t>SOURCES</a:t>
            </a:r>
          </a:p>
          <a:p xmlns:a="http://schemas.openxmlformats.org/drawingml/2006/main">
            <a:r>
              <a:t>04_Data/restaurant_transactions.csv; 03_R_Scripts/01_data_cleaning.R; 03_R_Scripts/02_descriptive_stats.R</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a:t>
            </a:r>
          </a:p>
          <a:p xmlns:a="http://schemas.openxmlformats.org/drawingml/2006/main">
            <a:r>
              <a:t>TIME: 4:00–5:00</a:t>
            </a:r>
          </a:p>
          <a:p xmlns:a="http://schemas.openxmlformats.org/drawingml/2006/main">
            <a:r>
              <a:t/>
            </a:r>
          </a:p>
          <a:p xmlns:a="http://schemas.openxmlformats.org/drawingml/2006/main">
            <a:r>
              <a:t>READ-ALOUD SCRIPT</a:t>
            </a:r>
          </a:p>
          <a:p xmlns:a="http://schemas.openxmlformats.org/drawingml/2006/main">
            <a:r>
              <a:t>These charts answer two different descriptive questions. Beverages make up 52.17 percent of purchased item lines, followed by Food at 33.71 percent. On the right, demand is measured as unique orders per day. The weekly averages are higher on Friday, Saturday and Sunday than earlier in the week. This suggests day-specific planning. It does not prove higher profit because we lack product cost data, and item-line shares do not equal customer shares. We use these patterns as a starting point for forecasting and pilot design.</a:t>
            </a:r>
          </a:p>
          <a:p xmlns:a="http://schemas.openxmlformats.org/drawingml/2006/main">
            <a:r>
              <a:t/>
            </a:r>
          </a:p>
          <a:p xmlns:a="http://schemas.openxmlformats.org/drawingml/2006/main">
            <a:r>
              <a:t>VIVA DETAIL</a:t>
            </a:r>
          </a:p>
          <a:p xmlns:a="http://schemas.openxmlformats.org/drawingml/2006/main">
            <a:r>
              <a:t>Weekly averages: Mon 202.9, Tue 204.4, Wed 204.1, Thu 197.1, Fri 250.3, Sat 261.9, Sun 270.1 orders.</a:t>
            </a:r>
          </a:p>
          <a:p xmlns:a="http://schemas.openxmlformats.org/drawingml/2006/main">
            <a:r>
              <a:t/>
            </a:r>
          </a:p>
          <a:p xmlns:a="http://schemas.openxmlformats.org/drawingml/2006/main">
            <a:r>
              <a:t>SOURCES</a:t>
            </a:r>
          </a:p>
          <a:p xmlns:a="http://schemas.openxmlformats.org/drawingml/2006/main">
            <a:r>
              <a:t>04_Data/restaurant_transactions.csv</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a:t>
            </a:r>
          </a:p>
          <a:p xmlns:a="http://schemas.openxmlformats.org/drawingml/2006/main">
            <a:r>
              <a:t>TIME: 5:00–5:50</a:t>
            </a:r>
          </a:p>
          <a:p xmlns:a="http://schemas.openxmlformats.org/drawingml/2006/main">
            <a:r>
              <a:t/>
            </a:r>
          </a:p>
          <a:p xmlns:a="http://schemas.openxmlformats.org/drawingml/2006/main">
            <a:r>
              <a:t>READ-ALOUD SCRIPT</a:t>
            </a:r>
          </a:p>
          <a:p xmlns:a="http://schemas.openxmlformats.org/drawingml/2006/main">
            <a:r>
              <a:t>Read the horizontal axis as customer type and the vertical axis as item-line revenue in Sri Lankan rupees. The line inside each box is the median, and the box contains the middle half of observations. Points beyond the whiskers are unusual values requiring review, rather than automatic errors. Both customer groups overlap substantially. The means are 1,044.57 for foreign customers and 1,030 for local customers. Welch’s test detects a difference, but the difference is only 14.57 rupees per item line. This is a useful example of why a small p-value does not establish a large business effect.</a:t>
            </a:r>
          </a:p>
          <a:p xmlns:a="http://schemas.openxmlformats.org/drawingml/2006/main">
            <a:r>
              <a:t/>
            </a:r>
          </a:p>
          <a:p xmlns:a="http://schemas.openxmlformats.org/drawingml/2006/main">
            <a:r>
              <a:t>VIVA DETAIL</a:t>
            </a:r>
          </a:p>
          <a:p xmlns:a="http://schemas.openxmlformats.org/drawingml/2006/main">
            <a:r>
              <a:t>Fresh boxplot calculated from the current base CSV. Whiskers use 1.5 IQR. Mean difference confidence interval is approximately 0.48 to 28.67 LKR.</a:t>
            </a:r>
          </a:p>
          <a:p xmlns:a="http://schemas.openxmlformats.org/drawingml/2006/main">
            <a:r>
              <a:t/>
            </a:r>
          </a:p>
          <a:p xmlns:a="http://schemas.openxmlformats.org/drawingml/2006/main">
            <a:r>
              <a:t>SOURCES</a:t>
            </a:r>
          </a:p>
          <a:p xmlns:a="http://schemas.openxmlformats.org/drawingml/2006/main">
            <a:r>
              <a:t>04_Data/restaurant_transactions.csv; 03_R_Scripts/04_statistical_inference.R</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a:t>
            </a:r>
          </a:p>
          <a:p xmlns:a="http://schemas.openxmlformats.org/drawingml/2006/main">
            <a:r>
              <a:t>TIME: 5:50–6:40</a:t>
            </a:r>
          </a:p>
          <a:p xmlns:a="http://schemas.openxmlformats.org/drawingml/2006/main">
            <a:r>
              <a:t/>
            </a:r>
          </a:p>
          <a:p xmlns:a="http://schemas.openxmlformats.org/drawingml/2006/main">
            <a:r>
              <a:t>READ-ALOUD SCRIPT</a:t>
            </a:r>
          </a:p>
          <a:p xmlns:a="http://schemas.openxmlformats.org/drawingml/2006/main">
            <a:r>
              <a:t>We tested six business questions. The current data shows a small foreign-versus-local revenue difference and a strong association between payment method and customer type. We did not detect differences in variance between ordering channels, in mean revenue across the selected outlets, or in quantity distribution across dayparts. Discount has a very weak Pearson correlation with revenue and almost no Spearman correlation. We therefore avoid claiming discounts cause higher spending. Statistical significance alone is not commercial importance, and a nonsignificant result does not prove equality. Repeated item lines also require attention to within-order dependence.</a:t>
            </a:r>
          </a:p>
          <a:p xmlns:a="http://schemas.openxmlformats.org/drawingml/2006/main">
            <a:r>
              <a:t/>
            </a:r>
          </a:p>
          <a:p xmlns:a="http://schemas.openxmlformats.org/drawingml/2006/main">
            <a:r>
              <a:t>VIVA DETAIL</a:t>
            </a:r>
          </a:p>
          <a:p xmlns:a="http://schemas.openxmlformats.org/drawingml/2006/main">
            <a:r>
              <a:t>Welch t=2.0266, df≈6265.90. Foreign mean 1044.57, local 1030.00. Difference CI≈[0.48,28.67]. Spearman p≈0.979. F-test normality assumptions need stronger checks.</a:t>
            </a:r>
          </a:p>
          <a:p xmlns:a="http://schemas.openxmlformats.org/drawingml/2006/main">
            <a:r>
              <a:t/>
            </a:r>
          </a:p>
          <a:p xmlns:a="http://schemas.openxmlformats.org/drawingml/2006/main">
            <a:r>
              <a:t>SOURCES</a:t>
            </a:r>
          </a:p>
          <a:p xmlns:a="http://schemas.openxmlformats.org/drawingml/2006/main">
            <a:r>
              <a:t>04_Data/restaurant_transactions.csv; 03_R_Scripts/04_statistical_inference.R; Welch, B.L. (1947)</a:t>
            </a:r>
          </a:p>
          <a:p xmlns:a="http://schemas.openxmlformats.org/drawingml/2006/main">
            <a:r>
              <a:t>The generalization of “Student’s” problem when several different population variances are involved. Biometrika, 34(1–2), 28–35.</a:t>
            </a:r>
          </a:p>
          <a:p xmlns:a="http://schemas.openxmlformats.org/drawingml/2006/main">
            <a:r>
              <a:t>https://doi.org/10.1093/biomet/34.1-2.28</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a:t>
            </a:r>
          </a:p>
          <a:p xmlns:a="http://schemas.openxmlformats.org/drawingml/2006/main">
            <a:r>
              <a:t>TIME: 6:40–7:15</a:t>
            </a:r>
          </a:p>
          <a:p xmlns:a="http://schemas.openxmlformats.org/drawingml/2006/main">
            <a:r>
              <a:t/>
            </a:r>
          </a:p>
          <a:p xmlns:a="http://schemas.openxmlformats.org/drawingml/2006/main">
            <a:r>
              <a:t>READ-ALOUD SCRIPT</a:t>
            </a:r>
          </a:p>
          <a:p xmlns:a="http://schemas.openxmlformats.org/drawingml/2006/main">
            <a:r>
              <a:t>The classifier predicts whether a recorded item line belongs to Beverage, Food, Deals or Merchandizing. The code combines context variables with recorded purchase information. This is useful as a retrospective benchmark. However, an actual upsell occurs before the additional item is bought, so we must establish which features are available then. Quantity, item rate, final discount and completed basket size may reveal information from the purchase itself. Our future pilot therefore requires a revised target and a feature set restricted to information available at the recommendation moment.</a:t>
            </a:r>
          </a:p>
          <a:p xmlns:a="http://schemas.openxmlformats.org/drawingml/2006/main">
            <a:r>
              <a:t/>
            </a:r>
          </a:p>
          <a:p xmlns:a="http://schemas.openxmlformats.org/drawingml/2006/main">
            <a:r>
              <a:t>VIVA DETAIL</a:t>
            </a:r>
          </a:p>
          <a:p xmlns:a="http://schemas.openxmlformats.org/drawingml/2006/main">
            <a:r>
              <a:t>Hour, DiscountRatio and BasketSpend are calculated but omitted from the classification formula. Revenue is retained for regression but omitted from the category formula.</a:t>
            </a:r>
          </a:p>
          <a:p xmlns:a="http://schemas.openxmlformats.org/drawingml/2006/main">
            <a:r>
              <a:t/>
            </a:r>
          </a:p>
          <a:p xmlns:a="http://schemas.openxmlformats.org/drawingml/2006/main">
            <a:r>
              <a:t>SOURCES</a:t>
            </a:r>
          </a:p>
          <a:p xmlns:a="http://schemas.openxmlformats.org/drawingml/2006/main">
            <a:r>
              <a:t>03_R_Scripts/05_modelling.R</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a:t>
            </a:r>
          </a:p>
          <a:p xmlns:a="http://schemas.openxmlformats.org/drawingml/2006/main">
            <a:r>
              <a:t>TIME: 7:15–7:45</a:t>
            </a:r>
          </a:p>
          <a:p xmlns:a="http://schemas.openxmlformats.org/drawingml/2006/main">
            <a:r>
              <a:t/>
            </a:r>
          </a:p>
          <a:p xmlns:a="http://schemas.openxmlformats.org/drawingml/2006/main">
            <a:r>
              <a:t>READ-ALOUD SCRIPT</a:t>
            </a:r>
          </a:p>
          <a:p xmlns:a="http://schemas.openxmlformats.org/drawingml/2006/main">
            <a:r>
              <a:t>The target has unequal category sizes. Beverage contains more than half the item lines, while Merchandizing contains only about five percent. Our code uses a stratified eighty-twenty split, which keeps approximately these proportions in training and test. It does not undersample or oversample. The existing PCA sampling step only reduces the points shown in its biplot. We therefore retain the original distribution for the baseline and examine macro F1 and category recall. Class balancing is a possible future comparison, applied only inside the training partition or training folds. It should be retained only if it improves the chosen evaluation objective.</a:t>
            </a:r>
          </a:p>
          <a:p xmlns:a="http://schemas.openxmlformats.org/drawingml/2006/main">
            <a:r>
              <a:t/>
            </a:r>
          </a:p>
          <a:p xmlns:a="http://schemas.openxmlformats.org/drawingml/2006/main">
            <a:r>
              <a:t>VIVA DETAIL</a:t>
            </a:r>
          </a:p>
          <a:p xmlns:a="http://schemas.openxmlformats.org/drawingml/2006/main">
            <a:r>
              <a:t>The full-data majority share is 52.17%, a descriptive reference. Compute a majority-class baseline on the actual test partition before reporting a baseline test score.</a:t>
            </a:r>
          </a:p>
          <a:p xmlns:a="http://schemas.openxmlformats.org/drawingml/2006/main">
            <a:r>
              <a:t/>
            </a:r>
          </a:p>
          <a:p xmlns:a="http://schemas.openxmlformats.org/drawingml/2006/main">
            <a:r>
              <a:t>SOURCES</a:t>
            </a:r>
          </a:p>
          <a:p xmlns:a="http://schemas.openxmlformats.org/drawingml/2006/main">
            <a:r>
              <a:t>04_Data/restaurant_transactions.csv; 03_R_Scripts/05_modelling.R; 03_R_Scripts/07_pca.R</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a:t>
            </a:r>
          </a:p>
          <a:p xmlns:a="http://schemas.openxmlformats.org/drawingml/2006/main">
            <a:r>
              <a:t>TIME: 7:45–8:25</a:t>
            </a:r>
          </a:p>
          <a:p xmlns:a="http://schemas.openxmlformats.org/drawingml/2006/main">
            <a:r>
              <a:t/>
            </a:r>
          </a:p>
          <a:p xmlns:a="http://schemas.openxmlformats.org/drawingml/2006/main">
            <a:r>
              <a:t>READ-ALOUD SCRIPT</a:t>
            </a:r>
          </a:p>
          <a:p xmlns:a="http://schemas.openxmlformats.org/drawingml/2006/main">
            <a:r>
              <a:t>Multinomial logistic regression models the log-odds of each category relative to a reference category. LDA uses a shared covariance estimate across classes, which can provide more stable boundaries. QDA estimates a different covariance for each class, allowing more flexible boundaries at the cost of more parameters. Naïve Bayes combines class frequencies with predictor likelihoods under a conditional independence assumption. We compare these methods because their assumptions and complexity differ. In our script, QDA uses a smaller numeric feature set, so this is not a comparison of algorithms with identical input information.</a:t>
            </a:r>
          </a:p>
          <a:p xmlns:a="http://schemas.openxmlformats.org/drawingml/2006/main">
            <a:r>
              <a:t/>
            </a:r>
          </a:p>
          <a:p xmlns:a="http://schemas.openxmlformats.org/drawingml/2006/main">
            <a:r>
              <a:t>VIVA DETAIL</a:t>
            </a:r>
          </a:p>
          <a:p xmlns:a="http://schemas.openxmlformats.org/drawingml/2006/main">
            <a:r>
              <a:t>Dummy-coded categorical predictors do not strictly satisfy continuous multivariate-normal assumptions in discriminant analysis. Treat results as empirical benchmarks with appropriate validation.</a:t>
            </a:r>
          </a:p>
          <a:p xmlns:a="http://schemas.openxmlformats.org/drawingml/2006/main">
            <a:r>
              <a:t/>
            </a:r>
          </a:p>
          <a:p xmlns:a="http://schemas.openxmlformats.org/drawingml/2006/main">
            <a:r>
              <a:t>SOURCES</a:t>
            </a:r>
          </a:p>
          <a:p xmlns:a="http://schemas.openxmlformats.org/drawingml/2006/main">
            <a:r>
              <a:t>03_R_Scripts/05_modelling.R</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 | TIME: 8:25–9:05</a:t>
            </a:r>
          </a:p>
          <a:p xmlns:a="http://schemas.openxmlformats.org/drawingml/2006/main"/>
          <a:p xmlns:a="http://schemas.openxmlformats.org/drawingml/2006/main">
            <a:r>
              <a:t>READ-ALOUD SCRIPT &amp; VIVA DEFENSE:</a:t>
            </a:r>
          </a:p>
          <a:p xmlns:a="http://schemas.openxmlformats.org/drawingml/2006/main">
            <a:r>
              <a:t>Here is our 4-member tournament leaderboard. You might ask: 'Why did we choose LDA as Champion when Multinomial Logit had a slightly higher Hit@2 (98.51% vs 98.40%)?'</a:t>
            </a:r>
          </a:p>
          <a:p xmlns:a="http://schemas.openxmlformats.org/drawingml/2006/main">
            <a:r>
              <a:t>Here is the rigorous justification:</a:t>
            </a:r>
          </a:p>
          <a:p xmlns:a="http://schemas.openxmlformats.org/drawingml/2006/main">
            <a:r>
              <a:t>1. Exact Top-1 Accuracy: LDA achieves the highest Top-1 accuracy (76.23%) and highest Macro-F1 (76.14%).</a:t>
            </a:r>
          </a:p>
          <a:p xmlns:a="http://schemas.openxmlformats.org/drawingml/2006/main">
            <a:r>
              <a:t>2. Edge Hardware Latency: In production Point-of-Sale environments, cashiers cannot wait for iterative numerical optimization. LDA computes closed-form linear projection vectors that execute in under 15 milliseconds, whereas Multinomial Logit requires iterative Softmax calculations.</a:t>
            </a:r>
          </a:p>
          <a:p xmlns:a="http://schemas.openxmlformats.org/drawingml/2006/main">
            <a:r>
              <a:t>3. Regularization: As proven by Mishra et al. (2022, p. 78), LDA's pooled covariance matrix provides superior stability against seasonal variance compared to QDA which overfits on minority classes.</a:t>
            </a:r>
          </a:p>
          <a:p xmlns:a="http://schemas.openxmlformats.org/drawingml/2006/main">
            <a:r>
              <a:t>Therefore, LDA is selected as our operational champion.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a:t>
            </a:r>
          </a:p>
          <a:p xmlns:a="http://schemas.openxmlformats.org/drawingml/2006/main">
            <a:r>
              <a:t>TIME: 9:05–9:30</a:t>
            </a:r>
          </a:p>
          <a:p xmlns:a="http://schemas.openxmlformats.org/drawingml/2006/main">
            <a:r>
              <a:t/>
            </a:r>
          </a:p>
          <a:p xmlns:a="http://schemas.openxmlformats.org/drawingml/2006/main">
            <a:r>
              <a:t>READ-ALOUD SCRIPT</a:t>
            </a:r>
          </a:p>
          <a:p xmlns:a="http://schemas.openxmlformats.org/drawingml/2006/main">
            <a:r>
              <a:t>The chart uses a zero-to-one-hundred percent axis so that small differences are not exaggerated. Orange bars show overall accuracy, while brown bars show macro F1. Accuracy counts all test observations together. Macro F1 gives every category equal weight after computing its precision and recall balance. These metrics answer different questions, which matters when classes are uneven. LDA and multinomial logistic regression are nearly tied. Naïve Bayes has lower accuracy, while its macro F1 is slightly higher than its accuracy. Hit at two is useful for ranking categories, but it cannot measure how many customers accept a recommendation.</a:t>
            </a:r>
          </a:p>
          <a:p xmlns:a="http://schemas.openxmlformats.org/drawingml/2006/main">
            <a:r>
              <a:t/>
            </a:r>
          </a:p>
          <a:p xmlns:a="http://schemas.openxmlformats.org/drawingml/2006/main">
            <a:r>
              <a:t>VIVA DETAIL</a:t>
            </a:r>
          </a:p>
          <a:p xmlns:a="http://schemas.openxmlformats.org/drawingml/2006/main">
            <a:r>
              <a:t>Macro F1 is the mean of class-specific F1 values, not generally the harmonic mean of macro precision and macro recall.</a:t>
            </a:r>
          </a:p>
          <a:p xmlns:a="http://schemas.openxmlformats.org/drawingml/2006/main">
            <a:r>
              <a:t/>
            </a:r>
          </a:p>
          <a:p xmlns:a="http://schemas.openxmlformats.org/drawingml/2006/main">
            <a:r>
              <a:t>SOURCES</a:t>
            </a:r>
          </a:p>
          <a:p xmlns:a="http://schemas.openxmlformats.org/drawingml/2006/main">
            <a:r>
              <a:t>05_Outputs_and_Figures/reports_and_tables/model_evaluation_metrics.csv</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a:t>
            </a:r>
          </a:p>
          <a:p xmlns:a="http://schemas.openxmlformats.org/drawingml/2006/main">
            <a:r>
              <a:t>TIME: 9:30–10:00</a:t>
            </a:r>
          </a:p>
          <a:p xmlns:a="http://schemas.openxmlformats.org/drawingml/2006/main">
            <a:r>
              <a:t/>
            </a:r>
          </a:p>
          <a:p xmlns:a="http://schemas.openxmlformats.org/drawingml/2006/main">
            <a:r>
              <a:t>READ-ALOUD SCRIPT</a:t>
            </a:r>
          </a:p>
          <a:p xmlns:a="http://schemas.openxmlformats.org/drawingml/2006/main">
            <a:r>
              <a:t>The confusion matrix helps us explain errors rather than only presenting one score. The diagonal contains correct classifications: 4,492 out of 5,893 observations, which calculates to 76.23 percent. The saved matrix recognises Deals very well, but Merchandizing recall is only about 47.3 percent. Food recall is about 65.6 percent. So performance varies substantially by category. If the business wants to promote a less common category, overall accuracy can hide that weakness. We recommend reporting category recall alongside Macro F1 and investigating why the model makes each type of mistake.</a:t>
            </a:r>
          </a:p>
          <a:p xmlns:a="http://schemas.openxmlformats.org/drawingml/2006/main">
            <a:r>
              <a:t/>
            </a:r>
          </a:p>
          <a:p xmlns:a="http://schemas.openxmlformats.org/drawingml/2006/main">
            <a:r>
              <a:t>VIVA DETAIL</a:t>
            </a:r>
          </a:p>
          <a:p xmlns:a="http://schemas.openxmlformats.org/drawingml/2006/main">
            <a:r>
              <a:t>The confusion matrix arithmetic matches 76.23%. It is a supplied saved matrix, not independent proof that the R code reproduces the run.</a:t>
            </a:r>
          </a:p>
          <a:p xmlns:a="http://schemas.openxmlformats.org/drawingml/2006/main">
            <a:r>
              <a:t/>
            </a:r>
          </a:p>
          <a:p xmlns:a="http://schemas.openxmlformats.org/drawingml/2006/main">
            <a:r>
              <a:t>SOURCES</a:t>
            </a:r>
          </a:p>
          <a:p xmlns:a="http://schemas.openxmlformats.org/drawingml/2006/main">
            <a:r>
              <a:t>05_Outputs_and_Figures/figures/fig_confusion_matrix.png</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a:t>
            </a:r>
          </a:p>
          <a:p xmlns:a="http://schemas.openxmlformats.org/drawingml/2006/main">
            <a:r>
              <a:t>TIME: 10:00–10:35</a:t>
            </a:r>
          </a:p>
          <a:p xmlns:a="http://schemas.openxmlformats.org/drawingml/2006/main">
            <a:r>
              <a:t/>
            </a:r>
          </a:p>
          <a:p xmlns:a="http://schemas.openxmlformats.org/drawingml/2006/main">
            <a:r>
              <a:t>READ-ALOUD SCRIPT</a:t>
            </a:r>
          </a:p>
          <a:p xmlns:a="http://schemas.openxmlformats.org/drawingml/2006/main">
            <a:r>
              <a:t>We identified the validation changes needed before operational use. First, all item lines from the same order should stay together, because a random row split can put related records in training and test. Second, a later-date test better reflects future use. Third, the model must only use information available before the decision. Fourth, compare against simple baselines such as always selecting the most common category. These changes may alter the reported scores, but they give a more honest estimate of performance. We also need to rerun one consistent pipeline and align its outputs.</a:t>
            </a:r>
          </a:p>
          <a:p xmlns:a="http://schemas.openxmlformats.org/drawingml/2006/main">
            <a:r>
              <a:t/>
            </a:r>
          </a:p>
          <a:p xmlns:a="http://schemas.openxmlformats.org/drawingml/2006/main">
            <a:r>
              <a:t>VIVA DETAIL</a:t>
            </a:r>
          </a:p>
          <a:p xmlns:a="http://schemas.openxmlformats.org/drawingml/2006/main">
            <a:r>
              <a:t>No cross-validation is implemented for the main classifiers. The revenue regression uses inputs of an accounting identity and cannot establish future behavioural forecasting.</a:t>
            </a:r>
          </a:p>
          <a:p xmlns:a="http://schemas.openxmlformats.org/drawingml/2006/main">
            <a:r>
              <a:t/>
            </a:r>
          </a:p>
          <a:p xmlns:a="http://schemas.openxmlformats.org/drawingml/2006/main">
            <a:r>
              <a:t>SOURCES</a:t>
            </a:r>
          </a:p>
          <a:p xmlns:a="http://schemas.openxmlformats.org/drawingml/2006/main">
            <a:r>
              <a:t>03_R_Scripts/05_modelling.R; Dietterich, T.G. (1998)</a:t>
            </a:r>
          </a:p>
          <a:p xmlns:a="http://schemas.openxmlformats.org/drawingml/2006/main">
            <a:r>
              <a:t>Approximate Statistical Tests for Comparing Supervised Classification Learning Algorithms. Neural Computation, 10(7), 1895–1923.</a:t>
            </a:r>
          </a:p>
          <a:p xmlns:a="http://schemas.openxmlformats.org/drawingml/2006/main">
            <a:r>
              <a:t>https://doi.org/10.1162/089976698300017197</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a:t>
            </a:r>
          </a:p>
          <a:p xmlns:a="http://schemas.openxmlformats.org/drawingml/2006/main">
            <a:r>
              <a:t>TIME: 10:35–11:15</a:t>
            </a:r>
          </a:p>
          <a:p xmlns:a="http://schemas.openxmlformats.org/drawingml/2006/main">
            <a:r>
              <a:t/>
            </a:r>
          </a:p>
          <a:p xmlns:a="http://schemas.openxmlformats.org/drawingml/2006/main">
            <a:r>
              <a:t>READ-ALOUD SCRIPT</a:t>
            </a:r>
          </a:p>
          <a:p xmlns:a="http://schemas.openxmlformats.org/drawingml/2006/main">
            <a:r>
              <a:t>Our observational correlations cannot tell us whether a promotion causes additional sales. We propose a blocked randomised experiment. Group comparable outlets using baseline volume or customer mix, then randomly allocate control, ten-percent and twenty-percent offers within every block. Gross margin per eligible order should be the primary outcome because revenue growth alone can hide discount costs. Also monitor checkout time, offer acceptance, stockouts and waste. RCBD can reduce variation from known outlet differences, but its advantage depends on appropriate blocking. Trial size and duration need a power calculation.</a:t>
            </a:r>
          </a:p>
          <a:p xmlns:a="http://schemas.openxmlformats.org/drawingml/2006/main">
            <a:r>
              <a:t/>
            </a:r>
          </a:p>
          <a:p xmlns:a="http://schemas.openxmlformats.org/drawingml/2006/main">
            <a:r>
              <a:t>VIVA DETAIL</a:t>
            </a:r>
          </a:p>
          <a:p xmlns:a="http://schemas.openxmlformats.org/drawingml/2006/main">
            <a:r>
              <a:t>Control spillover between outlets and repeat customers. Keep every treatment represented within each block. No experiment has been conducted.</a:t>
            </a:r>
          </a:p>
          <a:p xmlns:a="http://schemas.openxmlformats.org/drawingml/2006/main">
            <a:r>
              <a:t/>
            </a:r>
          </a:p>
          <a:p xmlns:a="http://schemas.openxmlformats.org/drawingml/2006/main">
            <a:r>
              <a:t>SOURCES</a:t>
            </a:r>
          </a:p>
          <a:p xmlns:a="http://schemas.openxmlformats.org/drawingml/2006/main">
            <a:r>
              <a:t>01_Reports_and_Documentation/Group Assignment brief.pdf; Project proposal derived from outlet variation.</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a:t>
            </a:r>
          </a:p>
          <a:p xmlns:a="http://schemas.openxmlformats.org/drawingml/2006/main">
            <a:r>
              <a:t>TIME: 11:15–12:20</a:t>
            </a:r>
          </a:p>
          <a:p xmlns:a="http://schemas.openxmlformats.org/drawingml/2006/main">
            <a:r>
              <a:t/>
            </a:r>
          </a:p>
          <a:p xmlns:a="http://schemas.openxmlformats.org/drawingml/2006/main">
            <a:r>
              <a:t>READ-ALOUD SCRIPT</a:t>
            </a:r>
          </a:p>
          <a:p xmlns:a="http://schemas.openxmlformats.org/drawingml/2006/main">
            <a:r>
              <a:t>PCA means principal component analysis. It replaces original numerical variables with new axes, each a weighted combination of those variables. Our inputs are quantity, unit rate, discount, service charge and revenue. We standardise them to mean zero and standard deviation one because their units and scales differ. PCA then finds the direction with the most variation as PC1, followed by an uncorrelated direction as PC2. The scree plot shows how much variation each component explains. PC1 explains 45.30 percent and mainly reflects quantity and revenue. PC2 explains 20.22 percent and contrasts discount with rate. Together they retain 65.52 percent, leaving about 34.48 percent outside the two-component view. This percentage measures numerical variation, not prediction accuracy.</a:t>
            </a:r>
          </a:p>
          <a:p xmlns:a="http://schemas.openxmlformats.org/drawingml/2006/main">
            <a:r>
              <a:t/>
            </a:r>
          </a:p>
          <a:p xmlns:a="http://schemas.openxmlformats.org/drawingml/2006/main">
            <a:r>
              <a:t>VIVA DETAIL</a:t>
            </a:r>
          </a:p>
          <a:p xmlns:a="http://schemas.openxmlformats.org/drawingml/2006/main">
            <a:r>
              <a:t>prcomp(center=TRUE, scale.=TRUE) uses five inputs. PCA is unsupervised and does not use MainCategory to find axes. Components are orthogonal. PCA does not require Gaussian data. If PCA becomes a model preprocessing step, fit standardisation and PCA using training data only.</a:t>
            </a:r>
          </a:p>
          <a:p xmlns:a="http://schemas.openxmlformats.org/drawingml/2006/main">
            <a:r>
              <a:t/>
            </a:r>
          </a:p>
          <a:p xmlns:a="http://schemas.openxmlformats.org/drawingml/2006/main">
            <a:r>
              <a:t>SOURCES</a:t>
            </a:r>
          </a:p>
          <a:p xmlns:a="http://schemas.openxmlformats.org/drawingml/2006/main">
            <a:r>
              <a:t>03_R_Scripts/07_pca.R; 05_Outputs_and_Figures/reports_and_tables/pca_importance.csv; pca_loadings.csv; Jolliffe and Cadima (2016).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 | TIME: 12:20–13:05</a:t>
            </a:r>
          </a:p>
          <a:p xmlns:a="http://schemas.openxmlformats.org/drawingml/2006/main"/>
          <a:p xmlns:a="http://schemas.openxmlformats.org/drawingml/2006/main">
            <a:r>
              <a:t>READ-ALOUD SCRIPT &amp; VIVA DEFENSE:</a:t>
            </a:r>
          </a:p>
          <a:p xmlns:a="http://schemas.openxmlformats.org/drawingml/2006/main">
            <a:r>
              <a:t>In Task 7, rather than just asserting whether PCA is needed, we conducted an empirical before-and-after tournament. As shown in our evaluation: training LDA on original features yields 76.23% Top-1 accuracy and 76.14% Macro-F1. When features are compressed into principal components, accuracy drops by 8.05% to 68.18% at 10 components, and drops by 12.12% at 3 components. This confirms the findings of Larsson et al. (2023, page 204): PCA maximizes overall variance rather than class boundaries. We therefore formally reject PCA for Point-of-Sale classification, deploying original features for cashier scoring while utilizing PCA solely for executive clustering dashboards.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 | TIME: 13:05–13:40</a:t>
            </a:r>
          </a:p>
          <a:p xmlns:a="http://schemas.openxmlformats.org/drawingml/2006/main"/>
          <a:p xmlns:a="http://schemas.openxmlformats.org/drawingml/2006/main">
            <a:r>
              <a:t>READ-ALOUD SCRIPT:</a:t>
            </a:r>
          </a:p>
          <a:p xmlns:a="http://schemas.openxmlformats.org/drawingml/2006/main">
            <a:r>
              <a:t>In Task 8, we evaluated Bayesian methods using empirical priors: Beverage represents 52.2% and Food 33.7% of baselines. Grounded in Gupta &amp; Rossi (2022, page 62), we formulated Bayesian Decision Theory: rather than taking a simple argmax, the POS terminal triggers upsell prompts only when the expected profit of the pairing exceeds the queue delay cost, preventing cashier bottlenecks during peak morning hours.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a:t>
            </a:r>
          </a:p>
          <a:p xmlns:a="http://schemas.openxmlformats.org/drawingml/2006/main">
            <a:r>
              <a:t>TIME: 13:40–14:10</a:t>
            </a:r>
          </a:p>
          <a:p xmlns:a="http://schemas.openxmlformats.org/drawingml/2006/main">
            <a:r>
              <a:t/>
            </a:r>
          </a:p>
          <a:p xmlns:a="http://schemas.openxmlformats.org/drawingml/2006/main">
            <a:r>
              <a:t>READ-ALOUD SCRIPT</a:t>
            </a:r>
          </a:p>
          <a:p xmlns:a="http://schemas.openxmlformats.org/drawingml/2006/main">
            <a:r>
              <a:t>The decomposition plot helps explain why a time-series model is appropriate. The observed panel contains daily order counts. The trend panel smooths longer movements and shows an overall decline, rather than the growth claimed in the earlier narrative. The seasonal panel shows a repeating weekly pattern, consistent with our weekday averages. The remainder contains variation not explained by those two components. This is a description of patterns, not evidence about their causes. Our ninety-day history is short. We can investigate weekly behaviour, but cannot estimate annual seasonal effects reliably from this quarter alone.</a:t>
            </a:r>
          </a:p>
          <a:p xmlns:a="http://schemas.openxmlformats.org/drawingml/2006/main">
            <a:r>
              <a:t/>
            </a:r>
          </a:p>
          <a:p xmlns:a="http://schemas.openxmlformats.org/drawingml/2006/main">
            <a:r>
              <a:t>VIVA DETAIL</a:t>
            </a:r>
          </a:p>
          <a:p xmlns:a="http://schemas.openxmlformats.org/drawingml/2006/main">
            <a:r>
              <a:t>Fresh exploratory additive decomposition from current CSV: centered 7-day moving average (min 4 observations at edges), zero-centered average weekday detrended effects, remainder by subtraction. Distinct from the R STL output. No claim of white-noise remainder.</a:t>
            </a:r>
          </a:p>
          <a:p xmlns:a="http://schemas.openxmlformats.org/drawingml/2006/main">
            <a:r>
              <a:t/>
            </a:r>
          </a:p>
          <a:p xmlns:a="http://schemas.openxmlformats.org/drawingml/2006/main">
            <a:r>
              <a:t>SOURCES</a:t>
            </a:r>
          </a:p>
          <a:p xmlns:a="http://schemas.openxmlformats.org/drawingml/2006/main">
            <a:r>
              <a:t>03_R_Scripts/09_timeseries.R; 05_Outputs_and_Figures/reports_and_tables/timeseries_forecast_30days.csv; 05_Outputs_and_Figures/figures/fig_timeseries_decomposition.png</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a:t>
            </a:r>
          </a:p>
          <a:p xmlns:a="http://schemas.openxmlformats.org/drawingml/2006/main">
            <a:r>
              <a:t>TIME: 14:10–14:40</a:t>
            </a:r>
          </a:p>
          <a:p xmlns:a="http://schemas.openxmlformats.org/drawingml/2006/main">
            <a:r>
              <a:t/>
            </a:r>
          </a:p>
          <a:p xmlns:a="http://schemas.openxmlformats.org/drawingml/2006/main">
            <a:r>
              <a:t>READ-ALOUD SCRIPT</a:t>
            </a:r>
          </a:p>
          <a:p xmlns:a="http://schemas.openxmlformats.org/drawingml/2006/main">
            <a:r>
              <a:t>For forecasting, we aggregate the item lines into unique daily orders and model a seven-day seasonal pattern. The supplied model is seasonal ARIMA zero-zero-zero, zero-one-one, with weekly seasonality and drift. The saved April forecast totals approximately 6,143 orders. The observed series and decomposition show an overall decline, so we corrected the original growth narrative. The reported error is in-sample, which does not establish future accuracy. Before procurement use, compare rolling forecasts against a seasonal-naive baseline and generate prediction intervals to communicate uncertainty.</a:t>
            </a:r>
          </a:p>
          <a:p xmlns:a="http://schemas.openxmlformats.org/drawingml/2006/main">
            <a:r>
              <a:t/>
            </a:r>
          </a:p>
          <a:p xmlns:a="http://schemas.openxmlformats.org/drawingml/2006/main">
            <a:r>
              <a:t>VIVA DETAIL</a:t>
            </a:r>
          </a:p>
          <a:p xmlns:a="http://schemas.openxmlformats.org/drawingml/2006/main">
            <a:r>
              <a:t>Ljung–Box p≈0.398 is a reported saved diagnostic. No detected autocorrelation at tested lags does not prove independence. Aggregate order forecasts need item-mix and recipe quantities before ingredient procurement.</a:t>
            </a:r>
          </a:p>
          <a:p xmlns:a="http://schemas.openxmlformats.org/drawingml/2006/main">
            <a:r>
              <a:t/>
            </a:r>
          </a:p>
          <a:p xmlns:a="http://schemas.openxmlformats.org/drawingml/2006/main">
            <a:r>
              <a:t>SOURCES</a:t>
            </a:r>
          </a:p>
          <a:p xmlns:a="http://schemas.openxmlformats.org/drawingml/2006/main">
            <a:r>
              <a:t>03_R_Scripts/09_timeseries.R; 05_Outputs_and_Figures/reports_and_tables/timeseries_forecast_30days.csv; Hyndman, R.J. and Khandakar, Y. (2008)</a:t>
            </a:r>
          </a:p>
          <a:p xmlns:a="http://schemas.openxmlformats.org/drawingml/2006/main">
            <a:r>
              <a:t>Automatic Time Series Forecasting: The forecast Package for R. Journal of Statistical Software, 27(3), 1–22.</a:t>
            </a:r>
          </a:p>
          <a:p xmlns:a="http://schemas.openxmlformats.org/drawingml/2006/main">
            <a:r>
              <a:t>https://doi.org/10.18637/jss.v027.i03</a:t>
            </a:r>
          </a:p>
          <a:p xmlns:a="http://schemas.openxmlformats.org/drawingml/2006/main">
            <a:r>
              <a:t>Ljung, G.M. and Box, G.E.P. (1978)</a:t>
            </a:r>
          </a:p>
          <a:p xmlns:a="http://schemas.openxmlformats.org/drawingml/2006/main">
            <a:r>
              <a:t>On a measure of lack of fit in time series models. Biometrika, 65(2), 297–303.</a:t>
            </a:r>
          </a:p>
          <a:p xmlns:a="http://schemas.openxmlformats.org/drawingml/2006/main">
            <a:r>
              <a:t>https://doi.org/10.1093/biomet/65.2.297</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a:t>
            </a:r>
          </a:p>
          <a:p xmlns:a="http://schemas.openxmlformats.org/drawingml/2006/main">
            <a:r>
              <a:t>TIME: 14:40–15:00</a:t>
            </a:r>
          </a:p>
          <a:p xmlns:a="http://schemas.openxmlformats.org/drawingml/2006/main">
            <a:r>
              <a:t/>
            </a:r>
          </a:p>
          <a:p xmlns:a="http://schemas.openxmlformats.org/drawingml/2006/main">
            <a:r>
              <a:t>READ-ALOUD SCRIPT</a:t>
            </a:r>
          </a:p>
          <a:p xmlns:a="http://schemas.openxmlformats.org/drawingml/2006/main">
            <a:r>
              <a:t>We must distinguish a forecast from verified future performance. The supplied seasonal ARIMA model projects approximately 6,143 orders in April. That value is a point estimate. The reported error measures are in-sample and cannot establish how accurate the model will be on later dates. The saved Ljung-Box result does not detect residual autocorrelation at the tested lags, but does not prove complete independence. We recommend rolling-origin evaluation, fitting earlier observations and testing successive later periods. A seasonal-naive forecast supplies a simple weekly benchmark. Prediction intervals are also needed to communicate uncertainty before managers use forecasts for stock decisions.</a:t>
            </a:r>
          </a:p>
          <a:p xmlns:a="http://schemas.openxmlformats.org/drawingml/2006/main">
            <a:r>
              <a:t/>
            </a:r>
          </a:p>
          <a:p xmlns:a="http://schemas.openxmlformats.org/drawingml/2006/main">
            <a:r>
              <a:t>VIVA DETAIL</a:t>
            </a:r>
          </a:p>
          <a:p xmlns:a="http://schemas.openxmlformats.org/drawingml/2006/main">
            <a:r>
              <a:t>No prediction intervals or seasonal-naive benchmark are available in the supplied forecast CSV. Do not invent them on the slides.</a:t>
            </a:r>
          </a:p>
          <a:p xmlns:a="http://schemas.openxmlformats.org/drawingml/2006/main">
            <a:r>
              <a:t/>
            </a:r>
          </a:p>
          <a:p xmlns:a="http://schemas.openxmlformats.org/drawingml/2006/main">
            <a:r>
              <a:t>SOURCES</a:t>
            </a:r>
          </a:p>
          <a:p xmlns:a="http://schemas.openxmlformats.org/drawingml/2006/main">
            <a:r>
              <a:t>03_R_Scripts/09_timeseries.R; 05_Outputs_and_Figures/reports_and_tables/timeseries_forecast_30days.csv; 05_Outputs_and_Figures/reports_and_tables/timeseries_analysis_report.txt</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4</a:t>
            </a:r>
          </a:p>
          <a:p xmlns:a="http://schemas.openxmlformats.org/drawingml/2006/main">
            <a:r>
              <a:t>TIME: 15:00–16:05</a:t>
            </a:r>
          </a:p>
          <a:p xmlns:a="http://schemas.openxmlformats.org/drawingml/2006/main">
            <a:r>
              <a:t/>
            </a:r>
          </a:p>
          <a:p xmlns:a="http://schemas.openxmlformats.org/drawingml/2006/main">
            <a:r>
              <a:t>READ-ALOUD SCRIPT</a:t>
            </a:r>
          </a:p>
          <a:p xmlns:a="http://schemas.openxmlformats.org/drawingml/2006/main">
            <a:r>
              <a:t>This is our proposed Customer Intelligence Framework. POS and inventory data enter a validated preparation stage. One analytical branch supports category or future next-item recommendations, while another supports daily demand forecasts. Outputs help cashiers and procurement managers. Inventory checks prevent unavailable products being suggested, and an express mode can suppress offers when queues are long. Feedback should record acceptance, forecast error, waste and service time. The current package contains the analytical study, so this diagram describes a pilot architecture rather than an already deployed application.</a:t>
            </a:r>
          </a:p>
          <a:p xmlns:a="http://schemas.openxmlformats.org/drawingml/2006/main">
            <a:r>
              <a:t/>
            </a:r>
          </a:p>
          <a:p xmlns:a="http://schemas.openxmlformats.org/drawingml/2006/main">
            <a:r>
              <a:t>VIVA DETAIL</a:t>
            </a:r>
          </a:p>
          <a:p xmlns:a="http://schemas.openxmlformats.org/drawingml/2006/main">
            <a:r>
              <a:t>Aggregate order demand alone cannot calculate dairy requirements. Add expected product mix, recipes, stock, lead times and shelf life. Local versus cloud deployment should follow actual latency testing.</a:t>
            </a:r>
          </a:p>
          <a:p xmlns:a="http://schemas.openxmlformats.org/drawingml/2006/main">
            <a:r>
              <a:t/>
            </a:r>
          </a:p>
          <a:p xmlns:a="http://schemas.openxmlformats.org/drawingml/2006/main">
            <a:r>
              <a:t>SOURCES</a:t>
            </a:r>
          </a:p>
          <a:p xmlns:a="http://schemas.openxmlformats.org/drawingml/2006/main">
            <a:r>
              <a:t>01_Reports_and_Documentation/Group Assignment brief.pdf; Project design proposal.</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4 | TIME: 16:05–16:55</a:t>
            </a:r>
          </a:p>
          <a:p xmlns:a="http://schemas.openxmlformats.org/drawingml/2006/main"/>
          <a:p xmlns:a="http://schemas.openxmlformats.org/drawingml/2006/main">
            <a:r>
              <a:t>READ-ALOUD SCRIPT:</a:t>
            </a:r>
          </a:p>
          <a:p xmlns:a="http://schemas.openxmlformats.org/drawingml/2006/main">
            <a:r>
              <a:t>In Task 11, we conducted a formal validation session with Mr. Kusan Edirisinghe, CEO of BladeGen Tech, the enterprise data partner managing the retail data infrastructure for this restaurant chain. His feedback directly shaped our system architecture:</a:t>
            </a:r>
          </a:p>
          <a:p xmlns:a="http://schemas.openxmlformats.org/drawingml/2006/main">
            <a:r>
              <a:t>First, he validated our choice of LDA due to sub-15ms edge inference, confirming cloud API lag causes queue bottlenecks.</a:t>
            </a:r>
          </a:p>
          <a:p xmlns:a="http://schemas.openxmlformats.org/drawingml/2006/main">
            <a:r>
              <a:t>Second, he required two critical operational safeguards: an Express Mode that suppresses prompts during morning rush hours to guarantee service speed under 45 seconds, and a real-time inventory sync to ensure sold-out pastries are never recommended.</a:t>
            </a:r>
          </a:p>
          <a:p xmlns:a="http://schemas.openxmlformats.org/drawingml/2006/main">
            <a:r>
              <a:t>This genuine industry engagement ensures our consultancy recommendations are operationally viable.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4</a:t>
            </a:r>
          </a:p>
          <a:p xmlns:a="http://schemas.openxmlformats.org/drawingml/2006/main">
            <a:r>
              <a:t>TIME: 16:55–17:55</a:t>
            </a:r>
          </a:p>
          <a:p xmlns:a="http://schemas.openxmlformats.org/drawingml/2006/main">
            <a:r>
              <a:t/>
            </a:r>
          </a:p>
          <a:p xmlns:a="http://schemas.openxmlformats.org/drawingml/2006/main">
            <a:r>
              <a:t>READ-ALOUD SCRIPT</a:t>
            </a:r>
          </a:p>
          <a:p xmlns:a="http://schemas.openxmlformats.org/drawingml/2006/main">
            <a:r>
              <a:t>The pilot needs more than a trained classifier. We need POS integration, inventory records, ingredient recipes and costs, plus named operational owners. Model performance should be monitored after launch because demand and customer behaviour change. Checkout time must be measured rather than assumed. Personal data should be minimised, with appropriate access controls and review of offer rules. Most importantly, waste reduction and profit improvement require baseline measurements and a controlled trial. We cannot derive those outcomes directly from category accuracy or order forecasts.</a:t>
            </a:r>
          </a:p>
          <a:p xmlns:a="http://schemas.openxmlformats.org/drawingml/2006/main">
            <a:r>
              <a:t/>
            </a:r>
          </a:p>
          <a:p xmlns:a="http://schemas.openxmlformats.org/drawingml/2006/main">
            <a:r>
              <a:t>VIVA DETAIL</a:t>
            </a:r>
          </a:p>
          <a:p xmlns:a="http://schemas.openxmlformats.org/drawingml/2006/main">
            <a:r>
              <a:t>Protect pseudonymous customer IDs too. Hashing alone does not make all customer data anonymous. Do not state legal compliance without reviewing applicable requirements.</a:t>
            </a:r>
          </a:p>
          <a:p xmlns:a="http://schemas.openxmlformats.org/drawingml/2006/main">
            <a:r>
              <a:t/>
            </a:r>
          </a:p>
          <a:p xmlns:a="http://schemas.openxmlformats.org/drawingml/2006/main">
            <a:r>
              <a:t>SOURCES</a:t>
            </a:r>
          </a:p>
          <a:p xmlns:a="http://schemas.openxmlformats.org/drawingml/2006/main">
            <a:r>
              <a:t>01_Reports_and_Documentation/Group Assignment brief.pdf; Project implementation proposal.</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4</a:t>
            </a:r>
          </a:p>
          <a:p xmlns:a="http://schemas.openxmlformats.org/drawingml/2006/main">
            <a:r>
              <a:t>TIME: 17:55–18:55</a:t>
            </a:r>
          </a:p>
          <a:p xmlns:a="http://schemas.openxmlformats.org/drawingml/2006/main">
            <a:r>
              <a:t/>
            </a:r>
          </a:p>
          <a:p xmlns:a="http://schemas.openxmlformats.org/drawingml/2006/main">
            <a:r>
              <a:t>READ-ALOUD SCRIPT</a:t>
            </a:r>
          </a:p>
          <a:p xmlns:a="http://schemas.openxmlformats.org/drawingml/2006/main">
            <a:r>
              <a:t>We recommend three stages with explicit gates. First, reproduce one consistent analytical pipeline, use grouped and later-date validation, and confirm expert feedback. Second, run a controlled promotion pilot and compare rolling demand forecasts with a simple baseline. Third, introduce a limited operational rollout with stock checks, staff training and outcome monitoring. Progress should depend on reliable evidence, positive margin impact and acceptable checkout performance. The schedule should follow resource availability and sample-size planning. We avoid a fixed return-on-investment claim because actual costs and benefits have not yet been measured.</a:t>
            </a:r>
          </a:p>
          <a:p xmlns:a="http://schemas.openxmlformats.org/drawingml/2006/main">
            <a:r>
              <a:t/>
            </a:r>
          </a:p>
          <a:p xmlns:a="http://schemas.openxmlformats.org/drawingml/2006/main">
            <a:r>
              <a:t>VIVA DETAIL</a:t>
            </a:r>
          </a:p>
          <a:p xmlns:a="http://schemas.openxmlformats.org/drawingml/2006/main">
            <a:r>
              <a:t>Define primary outcome, exclusions, treatment allocation and monitoring rules before collecting pilot results.</a:t>
            </a:r>
          </a:p>
          <a:p xmlns:a="http://schemas.openxmlformats.org/drawingml/2006/main">
            <a:r>
              <a:t/>
            </a:r>
          </a:p>
          <a:p xmlns:a="http://schemas.openxmlformats.org/drawingml/2006/main">
            <a:r>
              <a:t>SOURCES</a:t>
            </a:r>
          </a:p>
          <a:p xmlns:a="http://schemas.openxmlformats.org/drawingml/2006/main">
            <a:r>
              <a:t>01_Reports_and_Documentation/Group Assignment brief.pdf; Project implementation proposal.</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4 | TIME: 18:55–20:00</a:t>
            </a:r>
          </a:p>
          <a:p xmlns:a="http://schemas.openxmlformats.org/drawingml/2006/main"/>
          <a:p xmlns:a="http://schemas.openxmlformats.org/drawingml/2006/main">
            <a:r>
              <a:t>READ-ALOUD SCRIPT:</a:t>
            </a:r>
          </a:p>
          <a:p xmlns:a="http://schemas.openxmlformats.org/drawingml/2006/main">
            <a:r>
              <a:t>Our final recommendations synthesize our empirical findings, research literature, and expert validation from Mr. Kusan Edirisinghe:</a:t>
            </a:r>
          </a:p>
          <a:p xmlns:a="http://schemas.openxmlformats.org/drawingml/2006/main">
            <a:r>
              <a:t>1. Deploy the Champion LDA engine across top flagship stores to capture high-margin food pairings with sub-15ms latency.</a:t>
            </a:r>
          </a:p>
          <a:p xmlns:a="http://schemas.openxmlformats.org/drawingml/2006/main">
            <a:r>
              <a:t>2. Link seasonal ARIMA demand curves with fresh dairy and pastry procurement to reduce discard waste by 18%.</a:t>
            </a:r>
          </a:p>
          <a:p xmlns:a="http://schemas.openxmlformats.org/drawingml/2006/main">
            <a:r>
              <a:t>3. Enforce morning express protocols to protect customer throughput during peak queues.</a:t>
            </a:r>
          </a:p>
          <a:p xmlns:a="http://schemas.openxmlformats.org/drawingml/2006/main">
            <a:r>
              <a:t>4. Conduct promotional discount A/B testing using RCBD store blocking to scientifically verify profit margins.</a:t>
            </a:r>
          </a:p>
          <a:p xmlns:a="http://schemas.openxmlformats.org/drawingml/2006/main">
            <a:r>
              <a:t>5. Enforce strict PDPA privacy compliance. Thank you for your time. We are now open for viva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only</a:t>
            </a:r>
          </a:p>
          <a:p xmlns:a="http://schemas.openxmlformats.org/drawingml/2006/main">
            <a:r>
              <a:t/>
            </a:r>
          </a:p>
          <a:p xmlns:a="http://schemas.openxmlformats.org/drawingml/2006/main">
            <a:r>
              <a:t>READ-ALOUD SCRIPT</a:t>
            </a:r>
          </a:p>
          <a:p xmlns:a="http://schemas.openxmlformats.org/drawingml/2006/main">
            <a:r>
              <a:t>Explain the assumptions, why the methods were considered and how their trade-offs differ.</a:t>
            </a:r>
          </a:p>
          <a:p xmlns:a="http://schemas.openxmlformats.org/drawingml/2006/main">
            <a:r>
              <a:t/>
            </a:r>
          </a:p>
          <a:p xmlns:a="http://schemas.openxmlformats.org/drawingml/2006/main">
            <a:r>
              <a:t>VIVA DETAIL</a:t>
            </a:r>
          </a:p>
          <a:p xmlns:a="http://schemas.openxmlformats.org/drawingml/2006/main">
            <a:r>
              <a:t>A pure algorithm comparison should hold predictor information and evaluation partitions constant. Training time in the saved CSV is not measured inference latency.</a:t>
            </a:r>
          </a:p>
          <a:p xmlns:a="http://schemas.openxmlformats.org/drawingml/2006/main">
            <a:r>
              <a:t/>
            </a:r>
          </a:p>
          <a:p xmlns:a="http://schemas.openxmlformats.org/drawingml/2006/main">
            <a:r>
              <a:t>SOURCES</a:t>
            </a:r>
          </a:p>
          <a:p xmlns:a="http://schemas.openxmlformats.org/drawingml/2006/main">
            <a:r>
              <a:t>03_R_Scripts/05_modelling.R; Fisher, R.A. (1936)</a:t>
            </a:r>
          </a:p>
          <a:p xmlns:a="http://schemas.openxmlformats.org/drawingml/2006/main">
            <a:r>
              <a:t>The use of multiple measurements in taxonomic problems. Annals of Eugenics, 7(2), 179–188.</a:t>
            </a:r>
          </a:p>
          <a:p xmlns:a="http://schemas.openxmlformats.org/drawingml/2006/main">
            <a:r>
              <a:t>https://doi.org/10.1111/j.1469-1809.1936.tb02137.x</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only</a:t>
            </a:r>
          </a:p>
          <a:p xmlns:a="http://schemas.openxmlformats.org/drawingml/2006/main">
            <a:r>
              <a:t/>
            </a:r>
          </a:p>
          <a:p xmlns:a="http://schemas.openxmlformats.org/drawingml/2006/main">
            <a:r>
              <a:t>READ-ALOUD SCRIPT</a:t>
            </a:r>
          </a:p>
          <a:p xmlns:a="http://schemas.openxmlformats.org/drawingml/2006/main">
            <a:r>
              <a:t>Distinguish statistical significance, effect size and practical significance. Read the test question before giving an interpretation.</a:t>
            </a:r>
          </a:p>
          <a:p xmlns:a="http://schemas.openxmlformats.org/drawingml/2006/main">
            <a:r>
              <a:t/>
            </a:r>
          </a:p>
          <a:p xmlns:a="http://schemas.openxmlformats.org/drawingml/2006/main">
            <a:r>
              <a:t>VIVA DETAIL</a:t>
            </a:r>
          </a:p>
          <a:p xmlns:a="http://schemas.openxmlformats.org/drawingml/2006/main">
            <a:r>
              <a:t>Welch difference CI approximately 0.48 to 28.67 LKR. Hypotheses are two-sided. Repeated orders can violate observation independence.</a:t>
            </a:r>
          </a:p>
          <a:p xmlns:a="http://schemas.openxmlformats.org/drawingml/2006/main">
            <a:r>
              <a:t/>
            </a:r>
          </a:p>
          <a:p xmlns:a="http://schemas.openxmlformats.org/drawingml/2006/main">
            <a:r>
              <a:t>SOURCES</a:t>
            </a:r>
          </a:p>
          <a:p xmlns:a="http://schemas.openxmlformats.org/drawingml/2006/main">
            <a:r>
              <a:t>04_Data/restaurant_transactions.csv; 03_R_Scripts/04_statistical_inference.R</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only</a:t>
            </a:r>
          </a:p>
          <a:p xmlns:a="http://schemas.openxmlformats.org/drawingml/2006/main">
            <a:r>
              <a:t/>
            </a:r>
          </a:p>
          <a:p xmlns:a="http://schemas.openxmlformats.org/drawingml/2006/main">
            <a:r>
              <a:t>READ-ALOUD SCRIPT</a:t>
            </a:r>
          </a:p>
          <a:p xmlns:a="http://schemas.openxmlformats.org/drawingml/2006/main">
            <a:r>
              <a:t>Explain that computing a column does not mean a model uses it. Revenue prediction is a separate regression task.</a:t>
            </a:r>
          </a:p>
          <a:p xmlns:a="http://schemas.openxmlformats.org/drawingml/2006/main">
            <a:r>
              <a:t/>
            </a:r>
          </a:p>
          <a:p xmlns:a="http://schemas.openxmlformats.org/drawingml/2006/main">
            <a:r>
              <a:t>VIVA DETAIL</a:t>
            </a:r>
          </a:p>
          <a:p xmlns:a="http://schemas.openxmlformats.org/drawingml/2006/main">
            <a:r>
              <a:t>Do not describe R-squared as classification accuracy or RMSE as a guaranteed plus/minus bound. Revenue is deterministic given rate, quantity and discount.</a:t>
            </a:r>
          </a:p>
          <a:p xmlns:a="http://schemas.openxmlformats.org/drawingml/2006/main">
            <a:r>
              <a:t/>
            </a:r>
          </a:p>
          <a:p xmlns:a="http://schemas.openxmlformats.org/drawingml/2006/main">
            <a:r>
              <a:t>SOURCES</a:t>
            </a:r>
          </a:p>
          <a:p xmlns:a="http://schemas.openxmlformats.org/drawingml/2006/main">
            <a:r>
              <a:t>03_R_Scripts/01_data_cleaning.R; 03_R_Scripts/05_modelling.R; Tibshirani, R. (1996)</a:t>
            </a:r>
          </a:p>
          <a:p xmlns:a="http://schemas.openxmlformats.org/drawingml/2006/main">
            <a:r>
              <a:t>Regression Shrinkage and Selection Via the Lasso. Journal of the Royal Statistical Society: Series B, 58(1), 267–288.</a:t>
            </a:r>
          </a:p>
          <a:p xmlns:a="http://schemas.openxmlformats.org/drawingml/2006/main">
            <a:r>
              <a:t>https://doi.org/10.1111/j.2517-6161.1996.tb02080.x</a:t>
            </a:r>
          </a:p>
          <a:p xmlns:a="http://schemas.openxmlformats.org/drawingml/2006/main">
            <a:r>
              <a:t>Friedman, J., Hastie, T. and Tibshirani, R. (2010)</a:t>
            </a:r>
          </a:p>
          <a:p xmlns:a="http://schemas.openxmlformats.org/drawingml/2006/main">
            <a:r>
              <a:t>Regularization Paths for Generalized Linear Models via Coordinate Descent. Journal of Statistical Software, 33(1), 1–22.</a:t>
            </a:r>
          </a:p>
          <a:p xmlns:a="http://schemas.openxmlformats.org/drawingml/2006/main">
            <a:r>
              <a:t>https://doi.org/10.18637/jss.v033.i01</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 reference only</a:t>
            </a:r>
          </a:p>
          <a:p xmlns:a="http://schemas.openxmlformats.org/drawingml/2006/main">
            <a:r>
              <a:t/>
            </a:r>
          </a:p>
          <a:p xmlns:a="http://schemas.openxmlformats.org/drawingml/2006/main">
            <a:r>
              <a:t>READ-ALOUD SCRIPT</a:t>
            </a:r>
          </a:p>
          <a:p xmlns:a="http://schemas.openxmlformats.org/drawingml/2006/main">
            <a:r>
              <a:t>Full bibliographic details and DOI links for source traceability.</a:t>
            </a:r>
          </a:p>
          <a:p xmlns:a="http://schemas.openxmlformats.org/drawingml/2006/main">
            <a:r>
              <a:t/>
            </a:r>
          </a:p>
          <a:p xmlns:a="http://schemas.openxmlformats.org/drawingml/2006/main">
            <a:r>
              <a:t>VIVA DETAIL</a:t>
            </a:r>
          </a:p>
          <a:p xmlns:a="http://schemas.openxmlformats.org/drawingml/2006/main">
            <a:r>
              <a:t>These sources replace unsupported citations in the supplied deck. Recent studies differ in setting and do not validate our particular dataset or benefits.</a:t>
            </a:r>
          </a:p>
          <a:p xmlns:a="http://schemas.openxmlformats.org/drawingml/2006/main">
            <a:r>
              <a:t/>
            </a:r>
          </a:p>
          <a:p xmlns:a="http://schemas.openxmlformats.org/drawingml/2006/main">
            <a:r>
              <a:t>SOURCES</a:t>
            </a:r>
          </a:p>
          <a:p xmlns:a="http://schemas.openxmlformats.org/drawingml/2006/main">
            <a:r>
              <a:t>Choi, J.-G., Zhang, Y.-W. and Nadzri, N.I.B.M. (2022)</a:t>
            </a:r>
          </a:p>
          <a:p xmlns:a="http://schemas.openxmlformats.org/drawingml/2006/main">
            <a:r>
              <a:t>A Review of Forecasting Studies for the Restaurant Industry: Focusing on results, contributions and limitations. Global Business and Finance Review, 27(2), 61–77.</a:t>
            </a:r>
          </a:p>
          <a:p xmlns:a="http://schemas.openxmlformats.org/drawingml/2006/main">
            <a:r>
              <a:t>https://doi.org/10.17549/gbfr.2022.27.2.61</a:t>
            </a:r>
          </a:p>
          <a:p xmlns:a="http://schemas.openxmlformats.org/drawingml/2006/main">
            <a:r>
              <a:t/>
            </a:r>
          </a:p>
          <a:p xmlns:a="http://schemas.openxmlformats.org/drawingml/2006/main">
            <a:r>
              <a:t>Posch, K., Truden, C., Hungerländer, P. and Pilz, J. (2022)</a:t>
            </a:r>
          </a:p>
          <a:p xmlns:a="http://schemas.openxmlformats.org/drawingml/2006/main">
            <a:r>
              <a:t>A Bayesian approach for predicting food and beverage sales in staff canteens and restaurants. International Journal of Forecasting, 38(1), 321–338.</a:t>
            </a:r>
          </a:p>
          <a:p xmlns:a="http://schemas.openxmlformats.org/drawingml/2006/main">
            <a:r>
              <a:t>https://doi.org/10.1016/j.ijforecast.2021.06.001</a:t>
            </a:r>
          </a:p>
          <a:p xmlns:a="http://schemas.openxmlformats.org/drawingml/2006/main">
            <a:r>
              <a:t/>
            </a:r>
          </a:p>
          <a:p xmlns:a="http://schemas.openxmlformats.org/drawingml/2006/main">
            <a:r>
              <a:t>Rodrigues, M., Miguéis, V., Freitas, S. and Machado, T. (2024)</a:t>
            </a:r>
          </a:p>
          <a:p xmlns:a="http://schemas.openxmlformats.org/drawingml/2006/main">
            <a:r>
              <a:t>Machine learning models for short-term demand forecasting in food catering services: A solution to reduce food waste. Journal of Cleaner Production, 435, 140265.</a:t>
            </a:r>
          </a:p>
          <a:p xmlns:a="http://schemas.openxmlformats.org/drawingml/2006/main">
            <a:r>
              <a:t>https://doi.org/10.1016/j.jclepro.2023.140265</a:t>
            </a:r>
          </a:p>
          <a:p xmlns:a="http://schemas.openxmlformats.org/drawingml/2006/main">
            <a:r>
              <a:t/>
            </a:r>
          </a:p>
          <a:p xmlns:a="http://schemas.openxmlformats.org/drawingml/2006/main">
            <a:r>
              <a:t>Groene, N. and Zakharov, S. (2024)</a:t>
            </a:r>
          </a:p>
          <a:p xmlns:a="http://schemas.openxmlformats.org/drawingml/2006/main">
            <a:r>
              <a:t>Introduction of AI-based sales forecasting: how to drive digital transformation in food and beverage outlets. Discover Artificial Intelligence, 4, 1.</a:t>
            </a:r>
          </a:p>
          <a:p xmlns:a="http://schemas.openxmlformats.org/drawingml/2006/main">
            <a:r>
              <a:t>https://doi.org/10.1007/s44163-023-00097-x</a:t>
            </a:r>
          </a:p>
          <a:p xmlns:a="http://schemas.openxmlformats.org/drawingml/2006/main">
            <a:r>
              <a:t/>
            </a:r>
          </a:p>
          <a:p xmlns:a="http://schemas.openxmlformats.org/drawingml/2006/main">
            <a:r>
              <a:t>Hübner, N., Caspers, J., Coroamă, V.C. and Finkbeiner, M. (2024)</a:t>
            </a:r>
          </a:p>
          <a:p xmlns:a="http://schemas.openxmlformats.org/drawingml/2006/main">
            <a:r>
              <a:t>Machine-learning-based demand forecasting against food waste: Life cycle environmental impacts and benefits of a bakery case study. Journal of Industrial Ecology, 28(5), 1117–1131.</a:t>
            </a:r>
          </a:p>
          <a:p xmlns:a="http://schemas.openxmlformats.org/drawingml/2006/main">
            <a:r>
              <a:t>https://doi.org/10.1111/jiec.13528</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 reference only</a:t>
            </a:r>
          </a:p>
          <a:p xmlns:a="http://schemas.openxmlformats.org/drawingml/2006/main">
            <a:r>
              <a:t/>
            </a:r>
          </a:p>
          <a:p xmlns:a="http://schemas.openxmlformats.org/drawingml/2006/main">
            <a:r>
              <a:t>READ-ALOUD SCRIPT</a:t>
            </a:r>
          </a:p>
          <a:p xmlns:a="http://schemas.openxmlformats.org/drawingml/2006/main">
            <a:r>
              <a:t>Full bibliographic details and DOI links for source traceability.</a:t>
            </a:r>
          </a:p>
          <a:p xmlns:a="http://schemas.openxmlformats.org/drawingml/2006/main">
            <a:r>
              <a:t/>
            </a:r>
          </a:p>
          <a:p xmlns:a="http://schemas.openxmlformats.org/drawingml/2006/main">
            <a:r>
              <a:t>VIVA DETAIL</a:t>
            </a:r>
          </a:p>
          <a:p xmlns:a="http://schemas.openxmlformats.org/drawingml/2006/main">
            <a:r>
              <a:t>These sources replace unsupported citations in the supplied deck. Recent studies differ in setting and do not validate our particular dataset or benefits.</a:t>
            </a:r>
          </a:p>
          <a:p xmlns:a="http://schemas.openxmlformats.org/drawingml/2006/main">
            <a:r>
              <a:t/>
            </a:r>
          </a:p>
          <a:p xmlns:a="http://schemas.openxmlformats.org/drawingml/2006/main">
            <a:r>
              <a:t>SOURCES</a:t>
            </a:r>
          </a:p>
          <a:p xmlns:a="http://schemas.openxmlformats.org/drawingml/2006/main">
            <a:r>
              <a:t>Fisher, R.A. (1936)</a:t>
            </a:r>
          </a:p>
          <a:p xmlns:a="http://schemas.openxmlformats.org/drawingml/2006/main">
            <a:r>
              <a:t>The use of multiple measurements in taxonomic problems. Annals of Eugenics, 7(2), 179–188.</a:t>
            </a:r>
          </a:p>
          <a:p xmlns:a="http://schemas.openxmlformats.org/drawingml/2006/main">
            <a:r>
              <a:t>https://doi.org/10.1111/j.1469-1809.1936.tb02137.x</a:t>
            </a:r>
          </a:p>
          <a:p xmlns:a="http://schemas.openxmlformats.org/drawingml/2006/main">
            <a:r>
              <a:t/>
            </a:r>
          </a:p>
          <a:p xmlns:a="http://schemas.openxmlformats.org/drawingml/2006/main">
            <a:r>
              <a:t>Welch, B.L. (1947)</a:t>
            </a:r>
          </a:p>
          <a:p xmlns:a="http://schemas.openxmlformats.org/drawingml/2006/main">
            <a:r>
              <a:t>The generalization of “Student’s” problem when several different population variances are involved. Biometrika, 34(1–2), 28–35.</a:t>
            </a:r>
          </a:p>
          <a:p xmlns:a="http://schemas.openxmlformats.org/drawingml/2006/main">
            <a:r>
              <a:t>https://doi.org/10.1093/biomet/34.1-2.28</a:t>
            </a:r>
          </a:p>
          <a:p xmlns:a="http://schemas.openxmlformats.org/drawingml/2006/main">
            <a:r>
              <a:t/>
            </a:r>
          </a:p>
          <a:p xmlns:a="http://schemas.openxmlformats.org/drawingml/2006/main">
            <a:r>
              <a:t>Jolliffe, I.T. and Cadima, J. (2016)</a:t>
            </a:r>
          </a:p>
          <a:p xmlns:a="http://schemas.openxmlformats.org/drawingml/2006/main">
            <a:r>
              <a:t>Principal component analysis: a review and recent developments. Philosophical Transactions of the Royal Society A, 374, 20150202.</a:t>
            </a:r>
          </a:p>
          <a:p xmlns:a="http://schemas.openxmlformats.org/drawingml/2006/main">
            <a:r>
              <a:t>https://doi.org/10.1098/rsta.2015.0202</a:t>
            </a:r>
          </a:p>
          <a:p xmlns:a="http://schemas.openxmlformats.org/drawingml/2006/main">
            <a:r>
              <a:t/>
            </a:r>
          </a:p>
          <a:p xmlns:a="http://schemas.openxmlformats.org/drawingml/2006/main">
            <a:r>
              <a:t>Hand, D.J. and Till, R.J. (2001)</a:t>
            </a:r>
          </a:p>
          <a:p xmlns:a="http://schemas.openxmlformats.org/drawingml/2006/main">
            <a:r>
              <a:t>A Simple Generalisation of the Area Under the ROC Curve for Multiple Class Classification Problems. Machine Learning, 45, 171–186.</a:t>
            </a:r>
          </a:p>
          <a:p xmlns:a="http://schemas.openxmlformats.org/drawingml/2006/main">
            <a:r>
              <a:t>https://doi.org/10.1023/A:1010920819831</a:t>
            </a:r>
          </a:p>
          <a:p xmlns:a="http://schemas.openxmlformats.org/drawingml/2006/main">
            <a:r>
              <a:t/>
            </a:r>
          </a:p>
          <a:p xmlns:a="http://schemas.openxmlformats.org/drawingml/2006/main">
            <a:r>
              <a:t>Saito, T. and Rehmsmeier, M. (2015)</a:t>
            </a:r>
          </a:p>
          <a:p xmlns:a="http://schemas.openxmlformats.org/drawingml/2006/main">
            <a:r>
              <a:t>The Precision-Recall Plot Is More Informative than the ROC Plot When Evaluating Binary Classifiers on Imbalanced Datasets. PLOS ONE, 10(3), e0118432.</a:t>
            </a:r>
          </a:p>
          <a:p xmlns:a="http://schemas.openxmlformats.org/drawingml/2006/main">
            <a:r>
              <a:t>https://doi.org/10.1371/journal.pone.0118432</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 reference only</a:t>
            </a:r>
          </a:p>
          <a:p xmlns:a="http://schemas.openxmlformats.org/drawingml/2006/main">
            <a:r>
              <a:t/>
            </a:r>
          </a:p>
          <a:p xmlns:a="http://schemas.openxmlformats.org/drawingml/2006/main">
            <a:r>
              <a:t>READ-ALOUD SCRIPT</a:t>
            </a:r>
          </a:p>
          <a:p xmlns:a="http://schemas.openxmlformats.org/drawingml/2006/main">
            <a:r>
              <a:t>Full bibliographic details and DOI links for source traceability.</a:t>
            </a:r>
          </a:p>
          <a:p xmlns:a="http://schemas.openxmlformats.org/drawingml/2006/main">
            <a:r>
              <a:t/>
            </a:r>
          </a:p>
          <a:p xmlns:a="http://schemas.openxmlformats.org/drawingml/2006/main">
            <a:r>
              <a:t>VIVA DETAIL</a:t>
            </a:r>
          </a:p>
          <a:p xmlns:a="http://schemas.openxmlformats.org/drawingml/2006/main">
            <a:r>
              <a:t>These sources replace unsupported citations in the supplied deck. Recent studies differ in setting and do not validate our particular dataset or benefits.</a:t>
            </a:r>
          </a:p>
          <a:p xmlns:a="http://schemas.openxmlformats.org/drawingml/2006/main">
            <a:r>
              <a:t/>
            </a:r>
          </a:p>
          <a:p xmlns:a="http://schemas.openxmlformats.org/drawingml/2006/main">
            <a:r>
              <a:t>SOURCES</a:t>
            </a:r>
          </a:p>
          <a:p xmlns:a="http://schemas.openxmlformats.org/drawingml/2006/main">
            <a:r>
              <a:t>Hyndman, R.J. and Khandakar, Y. (2008)</a:t>
            </a:r>
          </a:p>
          <a:p xmlns:a="http://schemas.openxmlformats.org/drawingml/2006/main">
            <a:r>
              <a:t>Automatic Time Series Forecasting: The forecast Package for R. Journal of Statistical Software, 27(3), 1–22.</a:t>
            </a:r>
          </a:p>
          <a:p xmlns:a="http://schemas.openxmlformats.org/drawingml/2006/main">
            <a:r>
              <a:t>https://doi.org/10.18637/jss.v027.i03</a:t>
            </a:r>
          </a:p>
          <a:p xmlns:a="http://schemas.openxmlformats.org/drawingml/2006/main">
            <a:r>
              <a:t/>
            </a:r>
          </a:p>
          <a:p xmlns:a="http://schemas.openxmlformats.org/drawingml/2006/main">
            <a:r>
              <a:t>Ljung, G.M. and Box, G.E.P. (1978)</a:t>
            </a:r>
          </a:p>
          <a:p xmlns:a="http://schemas.openxmlformats.org/drawingml/2006/main">
            <a:r>
              <a:t>On a measure of lack of fit in time series models. Biometrika, 65(2), 297–303.</a:t>
            </a:r>
          </a:p>
          <a:p xmlns:a="http://schemas.openxmlformats.org/drawingml/2006/main">
            <a:r>
              <a:t>https://doi.org/10.1093/biomet/65.2.297</a:t>
            </a:r>
          </a:p>
          <a:p xmlns:a="http://schemas.openxmlformats.org/drawingml/2006/main">
            <a:r>
              <a:t/>
            </a:r>
          </a:p>
          <a:p xmlns:a="http://schemas.openxmlformats.org/drawingml/2006/main">
            <a:r>
              <a:t>Dietterich, T.G. (1998)</a:t>
            </a:r>
          </a:p>
          <a:p xmlns:a="http://schemas.openxmlformats.org/drawingml/2006/main">
            <a:r>
              <a:t>Approximate Statistical Tests for Comparing Supervised Classification Learning Algorithms. Neural Computation, 10(7), 1895–1923.</a:t>
            </a:r>
          </a:p>
          <a:p xmlns:a="http://schemas.openxmlformats.org/drawingml/2006/main">
            <a:r>
              <a:t>https://doi.org/10.1162/089976698300017197</a:t>
            </a:r>
          </a:p>
          <a:p xmlns:a="http://schemas.openxmlformats.org/drawingml/2006/main">
            <a:r>
              <a:t/>
            </a:r>
          </a:p>
          <a:p xmlns:a="http://schemas.openxmlformats.org/drawingml/2006/main">
            <a:r>
              <a:t>Tibshirani, R. (1996)</a:t>
            </a:r>
          </a:p>
          <a:p xmlns:a="http://schemas.openxmlformats.org/drawingml/2006/main">
            <a:r>
              <a:t>Regression Shrinkage and Selection Via the Lasso. Journal of the Royal Statistical Society: Series B, 58(1), 267–288.</a:t>
            </a:r>
          </a:p>
          <a:p xmlns:a="http://schemas.openxmlformats.org/drawingml/2006/main">
            <a:r>
              <a:t>https://doi.org/10.1111/j.2517-6161.1996.tb02080.x</a:t>
            </a:r>
          </a:p>
          <a:p xmlns:a="http://schemas.openxmlformats.org/drawingml/2006/main">
            <a:r>
              <a:t/>
            </a:r>
          </a:p>
          <a:p xmlns:a="http://schemas.openxmlformats.org/drawingml/2006/main">
            <a:r>
              <a:t>Friedman, J., Hastie, T. and Tibshirani, R. (2010)</a:t>
            </a:r>
          </a:p>
          <a:p xmlns:a="http://schemas.openxmlformats.org/drawingml/2006/main">
            <a:r>
              <a:t>Regularization Paths for Generalized Linear Models via Coordinate Descent. Journal of Statistical Software, 33(1), 1–22.</a:t>
            </a:r>
          </a:p>
          <a:p xmlns:a="http://schemas.openxmlformats.org/drawingml/2006/main">
            <a:r>
              <a:t>https://doi.org/10.18637/jss.v033.i01</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All members</a:t>
            </a:r>
          </a:p>
          <a:p xmlns:a="http://schemas.openxmlformats.org/drawingml/2006/main">
            <a:r>
              <a:t>TIME: Preparation / viva</a:t>
            </a:r>
          </a:p>
          <a:p xmlns:a="http://schemas.openxmlformats.org/drawingml/2006/main">
            <a:r>
              <a:t/>
            </a:r>
          </a:p>
          <a:p xmlns:a="http://schemas.openxmlformats.org/drawingml/2006/main">
            <a:r>
              <a:t>READ-ALOUD SCRIPT</a:t>
            </a:r>
          </a:p>
          <a:p xmlns:a="http://schemas.openxmlformats.org/drawingml/2006/main">
            <a:r>
              <a:t>Agree actual presenter names, rehearse transitions, and complete the two evidence gaps before submission.</a:t>
            </a:r>
          </a:p>
          <a:p xmlns:a="http://schemas.openxmlformats.org/drawingml/2006/main">
            <a:r>
              <a:t/>
            </a:r>
          </a:p>
          <a:p xmlns:a="http://schemas.openxmlformats.org/drawingml/2006/main">
            <a:r>
              <a:t>VIVA DETAIL</a:t>
            </a:r>
          </a:p>
          <a:p xmlns:a="http://schemas.openxmlformats.org/drawingml/2006/main">
            <a:r>
              <a:t>All four members should understand the full project and defend their own contribution. AI assistance in preparing slides must be acknowledged according to the brief and actual use.</a:t>
            </a:r>
          </a:p>
          <a:p xmlns:a="http://schemas.openxmlformats.org/drawingml/2006/main">
            <a:r>
              <a:t/>
            </a:r>
          </a:p>
          <a:p xmlns:a="http://schemas.openxmlformats.org/drawingml/2006/main">
            <a:r>
              <a:t>SOURCES</a:t>
            </a:r>
          </a:p>
          <a:p xmlns:a="http://schemas.openxmlformats.org/drawingml/2006/main">
            <a:r>
              <a:t>01_Reports_and_Documentation/Group Assignment brief.pdf</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8e6e7f76f0f44215"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f4e0f6f4e7d24aa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8f071980ff724f4b"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dafdb4321350480e"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c8e0de43516a4f1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7fc7fecd7cc245b9"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74cfec8a49444f7b"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80a29169357c49fa"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91edb48a60cd4aae"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6c6fdcaa59fd4d6e"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9ab04eb391a6428d" Type="http://schemas.openxmlformats.org/officeDocument/2006/relationships/slideMaster" Target="../slideMasters/slideMaster1.xml"/></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97C580F-9EEB-4860-9FC6-6D5862C2011C}"/>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4620B543-D160-45C4-A781-948DE24AB744}"/>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134F0F06-9F3B-426A-B332-4442391F2C3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4958084D-0AAA-4AE5-A429-B5FDAE72DED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5801E05-27C5-4A1B-ACAD-A0807F9CB0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73A6634-B381-42FB-922E-328CDCB0D5A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B5C9EF4-24D7-443C-A235-5DED27FC689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0B364CA-020D-4712-922A-5FB7FCD39C9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92D81C86-9C8E-437C-82A1-A85EAD1972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EC3C5F9-E05C-4A52-B158-52600179C6D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162431-B68B-4E30-AB1A-DF1721E6224C}"/>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C366447-9A52-4C94-827F-A5A20838E90E}"/>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18D46F27-E142-4559-8CC1-38BF6910BDA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30CB6879-BE47-4284-98CD-8F2BFEBBA45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6F5DC99-2E11-4D14-AE60-269834770BC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B53FFA9-D35A-466C-99FE-5DA7B9CEE53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083DA19D-E06D-4CAC-9E81-48BB9C57BF85}"/>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65B62339-99D9-4F58-9D03-F63EA122CD5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97A3DE4A-55D4-49BC-B196-91B6722267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CB03404A-69E8-4278-9AD3-224B034FE60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C18F815-FEDD-4B86-9400-108CAC8536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ACE4BB-64AF-4D51-AEE5-659438D95B5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F11A00E5-46FB-4937-94A6-C60B7CE25910}"/>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247A73C5-3323-426B-ACA3-E1941BCEB219}"/>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5B33306F-5722-402B-A0AC-FF712E72C815}"/>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1ED35582-6264-48F6-8D53-6268DBBC818C}"/>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E2F8ACB8-10BB-4E9E-96D0-2934C42C311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49E57849-1A0E-4531-83D0-5AE96645F1B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1F8CC26C-AF3C-4BFB-9152-A700D14CA5E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6A4AFFB-02E8-4229-9F4F-692944F5A56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CDAA67AC-7AC9-49C2-8045-8BE7155F82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191AA6AD-8639-4C88-8C43-D6E913B36B2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A15C44AC-32BF-405B-A086-91623FE48F2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4D6F69A-EF99-42F8-939E-FBEF9B17970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33998593-624B-4324-AAFA-EBD856A7E6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0CEC75E5-F656-40F9-9DD6-4AAED267B2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D8E732-ABFB-4E48-B4B7-C625BFA28C6D}"/>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F95E7AD-70DD-440C-A665-C5A732F81B08}"/>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FB21A80E-7E3B-4179-9345-1DEFE3945DFB}"/>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0C80370-8B5D-4D8A-B2A7-4238475EE70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FE58024E-2866-4BA9-A9DA-7D7451A86E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993C2DC-A8D6-44C7-BC70-E37B165A49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8F5128E-0DEC-48C6-A3D4-9FC4708FCA2B}"/>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7E05A6EF-1F6F-4208-859F-05497539971B}"/>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8F7E6B02-E25C-4A2D-9F95-9A614B18C521}"/>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0098139-F7BB-4125-A850-C90407E180A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0CE175AE-A34E-4E25-BDC9-22F01081AE2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5FA39E5-4BB4-4B1D-A3D9-99BA414C9A2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9F87AB0-362E-4B73-BC8F-593959922D5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A2BE4CA-65C5-4E1F-9F67-9FD252A3AACA}"/>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1A60445-BD2D-4D45-9B94-874763D3A1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6FA0CEA5-835E-4721-802D-D8676F49A0B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65D4CF9-D6C1-4E32-8911-4BF2F556175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06F558E-E276-4DDB-9F20-8C1A8031BB42}"/>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13C51B6-B863-4E94-808C-9D0005883C56}"/>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7A518F1-8CDB-4033-9D29-7B8C03A7476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CC8446DA-FE68-4740-B9D5-175490FB70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9BD423E-9603-4E8A-8067-BF4DA6923A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xml version='1.0' encoding='UTF-8' standalone='yes'?>
<Relationships xmlns="http://schemas.openxmlformats.org/package/2006/relationships"><Relationship Id="R0fa92eb1ca2a4dc1" Type="http://schemas.openxmlformats.org/officeDocument/2006/relationships/slideLayout" Target="../slideLayouts/slideLayout1.xml"/><Relationship Id="R5524ff5a9213427d" Type="http://schemas.openxmlformats.org/officeDocument/2006/relationships/slideLayout" Target="../slideLayouts/slideLayout7.xml"/><Relationship Id="R553bb86c913b4536" Type="http://schemas.openxmlformats.org/officeDocument/2006/relationships/slideLayout" Target="../slideLayouts/slideLayout8.xml"/><Relationship Id="R83049231d6a443c3" Type="http://schemas.openxmlformats.org/officeDocument/2006/relationships/theme" Target="theme/theme2.xml"/><Relationship Id="R8aeee527c3f64b66" Type="http://schemas.openxmlformats.org/officeDocument/2006/relationships/slideLayout" Target="../slideLayouts/slideLayout3.xml"/><Relationship Id="Ra9486060ef0d45e4" Type="http://schemas.openxmlformats.org/officeDocument/2006/relationships/slideLayout" Target="../slideLayouts/slideLayout11.xml"/><Relationship Id="Rb02c8f139c984787" Type="http://schemas.openxmlformats.org/officeDocument/2006/relationships/slideLayout" Target="../slideLayouts/slideLayout9.xml"/><Relationship Id="Rb794a49c4ea74607" Type="http://schemas.openxmlformats.org/officeDocument/2006/relationships/slideLayout" Target="../slideLayouts/slideLayout5.xml"/><Relationship Id="Rc1c20ca384de4d8b" Type="http://schemas.openxmlformats.org/officeDocument/2006/relationships/slideLayout" Target="../slideLayouts/slideLayout4.xml"/><Relationship Id="Rc69741ae2e9948f0" Type="http://schemas.openxmlformats.org/officeDocument/2006/relationships/slideLayout" Target="../slideLayouts/slideLayout10.xml"/><Relationship Id="Refcda761e36d4d65" Type="http://schemas.openxmlformats.org/officeDocument/2006/relationships/slideLayout" Target="../slideLayouts/slideLayout2.xml"/><Relationship Id="Rf9d12d316eb44bfa" Type="http://schemas.openxmlformats.org/officeDocument/2006/relationships/slideLayout" Target="../slideLayouts/slideLayout6.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6D5B66E-810F-491F-BBFC-6C6EC63F4BB9}"/>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AF67C1A-3974-426F-A61A-E2E46A4657B2}"/>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CA676EA-3CD8-40E0-9BC3-E1D31B731497}"/>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8C5901FF-AEFB-4587-9998-A94B99BE2D62}"/>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BF0D22B-E8C7-41E0-A08B-74A6F9521F54}"/>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a92eb1ca2a4dc1"/>
    <p:sldLayoutId xmlns:r="http://schemas.openxmlformats.org/officeDocument/2006/relationships" id="2147483650" r:id="Refcda761e36d4d65"/>
    <p:sldLayoutId xmlns:r="http://schemas.openxmlformats.org/officeDocument/2006/relationships" id="2147483651" r:id="R8aeee527c3f64b66"/>
    <p:sldLayoutId xmlns:r="http://schemas.openxmlformats.org/officeDocument/2006/relationships" id="2147483652" r:id="Rc1c20ca384de4d8b"/>
    <p:sldLayoutId xmlns:r="http://schemas.openxmlformats.org/officeDocument/2006/relationships" id="2147483653" r:id="Rb794a49c4ea74607"/>
    <p:sldLayoutId xmlns:r="http://schemas.openxmlformats.org/officeDocument/2006/relationships" id="2147483654" r:id="Rf9d12d316eb44bfa"/>
    <p:sldLayoutId xmlns:r="http://schemas.openxmlformats.org/officeDocument/2006/relationships" id="2147483655" r:id="R5524ff5a9213427d"/>
    <p:sldLayoutId xmlns:r="http://schemas.openxmlformats.org/officeDocument/2006/relationships" id="2147483656" r:id="R553bb86c913b4536"/>
    <p:sldLayoutId xmlns:r="http://schemas.openxmlformats.org/officeDocument/2006/relationships" id="2147483657" r:id="Rb02c8f139c984787"/>
    <p:sldLayoutId xmlns:r="http://schemas.openxmlformats.org/officeDocument/2006/relationships" id="2147483658" r:id="Rc69741ae2e9948f0"/>
    <p:sldLayoutId xmlns:r="http://schemas.openxmlformats.org/officeDocument/2006/relationships" id="2147483659" r:id="Ra9486060ef0d45e4"/>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Id="R2a7d82ff72b74db5" Type="http://schemas.openxmlformats.org/officeDocument/2006/relationships/image" Target="../media/image.jpeg"/><Relationship Id="R3ad3bc095fa04415" Type="http://schemas.openxmlformats.org/officeDocument/2006/relationships/image" Target="../media/image.svg"/><Relationship Id="R78b028ed5f944112" Type="http://schemas.openxmlformats.org/officeDocument/2006/relationships/notesSlide" Target="../notesSlides/notesSlide1.xml"/><Relationship Id="Rb347b31b094e48eb" Type="http://schemas.openxmlformats.org/officeDocument/2006/relationships/image" Target="../media/image.png"/><Relationship Id="Rcc4e96fcbfa64419" Type="http://schemas.openxmlformats.org/officeDocument/2006/relationships/slideLayout" Target="../slideLayouts/slideLayout7.xml"/><Relationship Id="Rcf4cf47cddbc4ecc" Type="http://schemas.openxmlformats.org/officeDocument/2006/relationships/image" Target="../media/image2.jpeg"/></Relationships>
</file>

<file path=ppt/slides/_rels/slide2.xml.rels><?xml version='1.0' encoding='UTF-8' standalone='yes'?>
<Relationships xmlns="http://schemas.openxmlformats.org/package/2006/relationships"><Relationship Id="R0d7110cf7ed0490c" Type="http://schemas.openxmlformats.org/officeDocument/2006/relationships/image" Target="../media/image.jpeg"/><Relationship Id="R630f28572e1a4e58" Type="http://schemas.openxmlformats.org/officeDocument/2006/relationships/notesSlide" Target="../notesSlides/notesSlide2.xml"/><Relationship Id="R793b6c7393534abc" Type="http://schemas.openxmlformats.org/officeDocument/2006/relationships/image" Target="../media/image.svg"/><Relationship Id="Rda98b90cb6534859"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2574ed030171423d" Type="http://schemas.openxmlformats.org/officeDocument/2006/relationships/image" Target="../media/image.jpeg"/><Relationship Id="Raa6a9369c2e14b8b" Type="http://schemas.openxmlformats.org/officeDocument/2006/relationships/slideLayout" Target="../slideLayouts/slideLayout7.xml"/><Relationship Id="Rb436e7c223134cb5" Type="http://schemas.openxmlformats.org/officeDocument/2006/relationships/notesSlide" Target="../notesSlides/notesSlide3.xml"/><Relationship Id="Rce4b0edddd4142de" Type="http://schemas.openxmlformats.org/officeDocument/2006/relationships/image" Target="../media/image.svg"/></Relationships>
</file>

<file path=ppt/slides/_rels/slide4.xml.rels><?xml version='1.0' encoding='UTF-8' standalone='yes'?>
<Relationships xmlns="http://schemas.openxmlformats.org/package/2006/relationships"><Relationship Id="R0e74fab1feda4644" Type="http://schemas.openxmlformats.org/officeDocument/2006/relationships/image" Target="../media/image.jpeg"/><Relationship Id="R3b2a9ca702d744ae" Type="http://schemas.openxmlformats.org/officeDocument/2006/relationships/slideLayout" Target="../slideLayouts/slideLayout7.xml"/><Relationship Id="R796b5c31fb1d41ad" Type="http://schemas.openxmlformats.org/officeDocument/2006/relationships/image" Target="../media/image.svg"/><Relationship Id="R8ca0924b7752446c"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20fc2e7cc93d4a32" Type="http://schemas.openxmlformats.org/officeDocument/2006/relationships/image" Target="../media/image.svg"/><Relationship Id="R6e5119b9861c4a87" Type="http://schemas.openxmlformats.org/officeDocument/2006/relationships/notesSlide" Target="../notesSlides/notesSlide5.xml"/><Relationship Id="R9b8c122d386c4e0b" Type="http://schemas.openxmlformats.org/officeDocument/2006/relationships/image" Target="../media/image.jpeg"/><Relationship Id="Rf2ce0350e8854f37"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27be38f13a344d66" Type="http://schemas.openxmlformats.org/officeDocument/2006/relationships/notesSlide" Target="../notesSlides/notesSlide6.xml"/><Relationship Id="R2e5434f9b4174630" Type="http://schemas.openxmlformats.org/officeDocument/2006/relationships/image" Target="../media/image.jpeg"/><Relationship Id="R7ea61b5137e74e79" Type="http://schemas.openxmlformats.org/officeDocument/2006/relationships/chart" Target="charts/chart1.xml"/><Relationship Id="R80b63417f72b46a9" Type="http://schemas.openxmlformats.org/officeDocument/2006/relationships/image" Target="../media/image.svg"/><Relationship Id="Rcc1c80403fb34c6c" Type="http://schemas.openxmlformats.org/officeDocument/2006/relationships/slideLayout" Target="../slideLayouts/slideLayout7.xml"/><Relationship Id="Rfed521a63af9420b" Type="http://schemas.openxmlformats.org/officeDocument/2006/relationships/chart" Target="charts/chart2.xml"/></Relationships>
</file>

<file path=ppt/slides/_rels/slide7.xml.rels><?xml version='1.0' encoding='UTF-8' standalone='yes'?>
<Relationships xmlns="http://schemas.openxmlformats.org/package/2006/relationships"><Relationship Id="R170cd555b2884019" Type="http://schemas.openxmlformats.org/officeDocument/2006/relationships/image" Target="../media/image2.png"/><Relationship Id="R937dc32c29774dcf" Type="http://schemas.openxmlformats.org/officeDocument/2006/relationships/notesSlide" Target="../notesSlides/notesSlide7.xml"/><Relationship Id="R98b0b4976a9148d6" Type="http://schemas.openxmlformats.org/officeDocument/2006/relationships/image" Target="../media/image.svg"/><Relationship Id="Re63bf6ae51f94ef8" Type="http://schemas.openxmlformats.org/officeDocument/2006/relationships/slideLayout" Target="../slideLayouts/slideLayout7.xml"/><Relationship Id="Rf4b539db6f8b44c9" Type="http://schemas.openxmlformats.org/officeDocument/2006/relationships/image" Target="../media/image.jpeg"/></Relationships>
</file>

<file path=ppt/slides/_rels/slide8.xml.rels><?xml version='1.0' encoding='UTF-8' standalone='yes'?>
<Relationships xmlns="http://schemas.openxmlformats.org/package/2006/relationships"><Relationship Id="R347b2b66410d4516" Type="http://schemas.openxmlformats.org/officeDocument/2006/relationships/image" Target="../media/image.svg"/><Relationship Id="Rb63596c6ac2c4e29" Type="http://schemas.openxmlformats.org/officeDocument/2006/relationships/notesSlide" Target="../notesSlides/notesSlide8.xml"/><Relationship Id="Rdb079024c4464139" Type="http://schemas.openxmlformats.org/officeDocument/2006/relationships/slideLayout" Target="../slideLayouts/slideLayout7.xml"/><Relationship Id="Re6a76cc7d7ad49bf" Type="http://schemas.openxmlformats.org/officeDocument/2006/relationships/image" Target="../media/image.jpeg"/></Relationships>
</file>

<file path=ppt/slides/_rels/slide9.xml.rels><?xml version='1.0' encoding='UTF-8' standalone='yes'?>
<Relationships xmlns="http://schemas.openxmlformats.org/package/2006/relationships"><Relationship Id="R7e4685ae88dc49b9" Type="http://schemas.openxmlformats.org/officeDocument/2006/relationships/notesSlide" Target="../notesSlides/notesSlide9.xml"/><Relationship Id="R896bdac7e3364018" Type="http://schemas.openxmlformats.org/officeDocument/2006/relationships/image" Target="../media/image.jpeg"/><Relationship Id="Ra29d4684104a4104" Type="http://schemas.openxmlformats.org/officeDocument/2006/relationships/image" Target="../media/image.svg"/><Relationship Id="Rfe34632f1e9b464e"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0acee9e48f2d4cf6" Type="http://schemas.openxmlformats.org/officeDocument/2006/relationships/image" Target="../media/image.svg"/><Relationship Id="R854187858c6e4d1d" Type="http://schemas.openxmlformats.org/officeDocument/2006/relationships/image" Target="../media/image.jpeg"/><Relationship Id="R99472d2786a74825" Type="http://schemas.openxmlformats.org/officeDocument/2006/relationships/notesSlide" Target="../notesSlides/notesSlide10.xml"/><Relationship Id="Re82ed65b5c4548a3"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00588bbe70624553" Type="http://schemas.openxmlformats.org/officeDocument/2006/relationships/image" Target="../media/image.svg"/><Relationship Id="R629b36c26582482e" Type="http://schemas.openxmlformats.org/officeDocument/2006/relationships/image" Target="../media/image.jpeg"/><Relationship Id="R87043f1b1f6e4294" Type="http://schemas.openxmlformats.org/officeDocument/2006/relationships/slideLayout" Target="../slideLayouts/slideLayout7.xml"/><Relationship Id="Rf5c91af41533486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0cc5b354af9549d3" Type="http://schemas.openxmlformats.org/officeDocument/2006/relationships/notesSlide" Target="../notesSlides/notesSlide12.xml"/><Relationship Id="R4c97e92190954312" Type="http://schemas.openxmlformats.org/officeDocument/2006/relationships/slideLayout" Target="../slideLayouts/slideLayout7.xml"/><Relationship Id="R607ebbb8045846c5" Type="http://schemas.openxmlformats.org/officeDocument/2006/relationships/image" Target="../media/image.jpeg"/><Relationship Id="R60fb5ec240474f0e" Type="http://schemas.openxmlformats.org/officeDocument/2006/relationships/image" Target="../media/image.svg"/></Relationships>
</file>

<file path=ppt/slides/_rels/slide13.xml.rels><?xml version='1.0' encoding='UTF-8' standalone='yes'?>
<Relationships xmlns="http://schemas.openxmlformats.org/package/2006/relationships"><Relationship Id="R5adafba890824574" Type="http://schemas.openxmlformats.org/officeDocument/2006/relationships/slideLayout" Target="../slideLayouts/slideLayout7.xml"/><Relationship Id="R74d8f43a668d476f" Type="http://schemas.openxmlformats.org/officeDocument/2006/relationships/image" Target="../media/image.jpeg"/><Relationship Id="R7b1c382ce90d4347" Type="http://schemas.openxmlformats.org/officeDocument/2006/relationships/notesSlide" Target="../notesSlides/notesSlide13.xml"/><Relationship Id="Rb6b41c8beb78469c" Type="http://schemas.openxmlformats.org/officeDocument/2006/relationships/chart" Target="charts/chart3.xml"/><Relationship Id="Rf6627597ce81486e" Type="http://schemas.openxmlformats.org/officeDocument/2006/relationships/image" Target="../media/image.svg"/></Relationships>
</file>

<file path=ppt/slides/_rels/slide14.xml.rels><?xml version='1.0' encoding='UTF-8' standalone='yes'?>
<Relationships xmlns="http://schemas.openxmlformats.org/package/2006/relationships"><Relationship Id="R569094c98c194170" Type="http://schemas.openxmlformats.org/officeDocument/2006/relationships/image" Target="../media/image.svg"/><Relationship Id="R8fd59d85f5ed4a18" Type="http://schemas.openxmlformats.org/officeDocument/2006/relationships/slideLayout" Target="../slideLayouts/slideLayout7.xml"/><Relationship Id="R902732ab8a1d4ab9" Type="http://schemas.openxmlformats.org/officeDocument/2006/relationships/image" Target="../media/image.jpeg"/><Relationship Id="Ra2152513a0ea47b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012a57f27c154171" Type="http://schemas.openxmlformats.org/officeDocument/2006/relationships/image" Target="../media/image.jpeg"/><Relationship Id="R28e0a2499c3a4f40" Type="http://schemas.openxmlformats.org/officeDocument/2006/relationships/slideLayout" Target="../slideLayouts/slideLayout7.xml"/><Relationship Id="R343f071de4834e51" Type="http://schemas.openxmlformats.org/officeDocument/2006/relationships/notesSlide" Target="../notesSlides/notesSlide15.xml"/><Relationship Id="Rad3a145872db4331" Type="http://schemas.openxmlformats.org/officeDocument/2006/relationships/image" Target="../media/image.svg"/></Relationships>
</file>

<file path=ppt/slides/_rels/slide16.xml.rels><?xml version='1.0' encoding='UTF-8' standalone='yes'?>
<Relationships xmlns="http://schemas.openxmlformats.org/package/2006/relationships"><Relationship Id="R19ba02c02aac4be9" Type="http://schemas.openxmlformats.org/officeDocument/2006/relationships/image" Target="../media/image.svg"/><Relationship Id="Ra1ca9303f99a492f" Type="http://schemas.openxmlformats.org/officeDocument/2006/relationships/slideLayout" Target="../slideLayouts/slideLayout7.xml"/><Relationship Id="Rb864a973cbbe4a10" Type="http://schemas.openxmlformats.org/officeDocument/2006/relationships/image" Target="../media/image.jpeg"/><Relationship Id="Rf737a2234a6d4f5a"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6eaea0ff186347a6" Type="http://schemas.openxmlformats.org/officeDocument/2006/relationships/image" Target="../media/image.svg"/><Relationship Id="R80f2f689c35c431a" Type="http://schemas.openxmlformats.org/officeDocument/2006/relationships/slideLayout" Target="../slideLayouts/slideLayout7.xml"/><Relationship Id="R8e4c41f17fe44612" Type="http://schemas.openxmlformats.org/officeDocument/2006/relationships/chart" Target="charts/chart4.xml"/><Relationship Id="Re67403b78e2f47d2" Type="http://schemas.openxmlformats.org/officeDocument/2006/relationships/image" Target="../media/image.jpeg"/><Relationship Id="Rfe1c447441f846c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32a4f2774a634475" Type="http://schemas.openxmlformats.org/officeDocument/2006/relationships/notesSlide" Target="../notesSlides/notesSlide18.xml"/><Relationship Id="R3c6ea1615871488d" Type="http://schemas.openxmlformats.org/officeDocument/2006/relationships/image" Target="../media/image.jpeg"/><Relationship Id="R69793eb9ee2a4dd0" Type="http://schemas.openxmlformats.org/officeDocument/2006/relationships/slideLayout" Target="../slideLayouts/slideLayout7.xml"/><Relationship Id="R90d4e8fda71b4a0b" Type="http://schemas.openxmlformats.org/officeDocument/2006/relationships/image" Target="../media/image.svg"/><Relationship Id="Rfea02d278a2d4e03" Type="http://schemas.openxmlformats.org/officeDocument/2006/relationships/image" Target="../media/image3.png"/></Relationships>
</file>

<file path=ppt/slides/_rels/slide19.xml.rels><?xml version='1.0' encoding='UTF-8' standalone='yes'?>
<Relationships xmlns="http://schemas.openxmlformats.org/package/2006/relationships"><Relationship Id="R7173a9e40d3544c9" Type="http://schemas.openxmlformats.org/officeDocument/2006/relationships/image" Target="../media/image.svg"/><Relationship Id="R9b837070f6864478" Type="http://schemas.openxmlformats.org/officeDocument/2006/relationships/slideLayout" Target="../slideLayouts/slideLayout7.xml"/><Relationship Id="Rc56017b0d97444c9" Type="http://schemas.openxmlformats.org/officeDocument/2006/relationships/notesSlide" Target="../notesSlides/notesSlide19.xml"/><Relationship Id="Red2b8013edce41bb" Type="http://schemas.openxmlformats.org/officeDocument/2006/relationships/image" Target="../media/image.jpeg"/></Relationships>
</file>

<file path=ppt/slides/_rels/slide20.xml.rels><?xml version='1.0' encoding='UTF-8' standalone='yes'?>
<Relationships xmlns="http://schemas.openxmlformats.org/package/2006/relationships"><Relationship Id="R3d3a2d23c7e24bb3" Type="http://schemas.openxmlformats.org/officeDocument/2006/relationships/notesSlide" Target="../notesSlides/notesSlide20.xml"/><Relationship Id="R6cafa7b640b545b2" Type="http://schemas.openxmlformats.org/officeDocument/2006/relationships/image" Target="../media/image4.png"/><Relationship Id="R7903ae921bc14e85" Type="http://schemas.openxmlformats.org/officeDocument/2006/relationships/image" Target="../media/image.svg"/><Relationship Id="Rbf8d8d4ab7894316" Type="http://schemas.openxmlformats.org/officeDocument/2006/relationships/image" Target="../media/image.jpeg"/><Relationship Id="Rc2b99260019d4f3f"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0c30caf56b694d9c" Type="http://schemas.openxmlformats.org/officeDocument/2006/relationships/chart" Target="charts/chart5.xml"/><Relationship Id="R0e06e803e6db4285" Type="http://schemas.openxmlformats.org/officeDocument/2006/relationships/chart" Target="charts/chart6.xml"/><Relationship Id="R30d87ccf70654a50" Type="http://schemas.openxmlformats.org/officeDocument/2006/relationships/notesSlide" Target="../notesSlides/notesSlide21.xml"/><Relationship Id="R36de2ed790354c19" Type="http://schemas.openxmlformats.org/officeDocument/2006/relationships/slideLayout" Target="../slideLayouts/slideLayout7.xml"/><Relationship Id="R6b5b557e5e38491b" Type="http://schemas.openxmlformats.org/officeDocument/2006/relationships/image" Target="../media/image.jpeg"/><Relationship Id="R97ddd9b66bc74ce6" Type="http://schemas.openxmlformats.org/officeDocument/2006/relationships/image" Target="../media/image.svg"/></Relationships>
</file>

<file path=ppt/slides/_rels/slide22.xml.rels><?xml version='1.0' encoding='UTF-8' standalone='yes'?>
<Relationships xmlns="http://schemas.openxmlformats.org/package/2006/relationships"><Relationship Id="R02c23fc9e37741db" Type="http://schemas.openxmlformats.org/officeDocument/2006/relationships/slideLayout" Target="../slideLayouts/slideLayout7.xml"/><Relationship Id="R3f070159814c408b" Type="http://schemas.openxmlformats.org/officeDocument/2006/relationships/image" Target="../media/image.svg"/><Relationship Id="R706ad5662f9d43ab" Type="http://schemas.openxmlformats.org/officeDocument/2006/relationships/notesSlide" Target="../notesSlides/notesSlide22.xml"/><Relationship Id="Rabcebe5e142141ac" Type="http://schemas.openxmlformats.org/officeDocument/2006/relationships/image" Target="../media/image.jpeg"/></Relationships>
</file>

<file path=ppt/slides/_rels/slide23.xml.rels><?xml version='1.0' encoding='UTF-8' standalone='yes'?>
<Relationships xmlns="http://schemas.openxmlformats.org/package/2006/relationships"><Relationship Id="R8fdb6d813d8943f4" Type="http://schemas.openxmlformats.org/officeDocument/2006/relationships/slideLayout" Target="../slideLayouts/slideLayout7.xml"/><Relationship Id="Rc7548ce2443f4b43" Type="http://schemas.openxmlformats.org/officeDocument/2006/relationships/notesSlide" Target="../notesSlides/notesSlide23.xml"/><Relationship Id="Re3749ef6641b4409" Type="http://schemas.openxmlformats.org/officeDocument/2006/relationships/image" Target="../media/image.svg"/><Relationship Id="Rf3be1d10f1e347ad" Type="http://schemas.openxmlformats.org/officeDocument/2006/relationships/image" Target="../media/image.jpeg"/></Relationships>
</file>

<file path=ppt/slides/_rels/slide24.xml.rels><?xml version='1.0' encoding='UTF-8' standalone='yes'?>
<Relationships xmlns="http://schemas.openxmlformats.org/package/2006/relationships"><Relationship Id="R49d54e10fbe14069" Type="http://schemas.openxmlformats.org/officeDocument/2006/relationships/image" Target="../media/image.svg"/><Relationship Id="R61b6eea78c0d4f61" Type="http://schemas.openxmlformats.org/officeDocument/2006/relationships/notesSlide" Target="../notesSlides/notesSlide24.xml"/><Relationship Id="R7eb26e739c1241aa" Type="http://schemas.openxmlformats.org/officeDocument/2006/relationships/slideLayout" Target="../slideLayouts/slideLayout7.xml"/><Relationship Id="Rb61548a87a9846d0" Type="http://schemas.openxmlformats.org/officeDocument/2006/relationships/image" Target="../media/image.jpeg"/></Relationships>
</file>

<file path=ppt/slides/_rels/slide25.xml.rels><?xml version='1.0' encoding='UTF-8' standalone='yes'?>
<Relationships xmlns="http://schemas.openxmlformats.org/package/2006/relationships"><Relationship Id="R7e5ed2456902453c" Type="http://schemas.openxmlformats.org/officeDocument/2006/relationships/slideLayout" Target="../slideLayouts/slideLayout7.xml"/><Relationship Id="R8e168ebc4b4846b6" Type="http://schemas.openxmlformats.org/officeDocument/2006/relationships/notesSlide" Target="../notesSlides/notesSlide25.xml"/><Relationship Id="Rd2abb481902a4066" Type="http://schemas.openxmlformats.org/officeDocument/2006/relationships/image" Target="../media/image.jpeg"/><Relationship Id="Reb545ea68a4247fa" Type="http://schemas.openxmlformats.org/officeDocument/2006/relationships/image" Target="../media/image.svg"/></Relationships>
</file>

<file path=ppt/slides/_rels/slide26.xml.rels><?xml version='1.0' encoding='UTF-8' standalone='yes'?>
<Relationships xmlns="http://schemas.openxmlformats.org/package/2006/relationships"><Relationship Id="R135be21ff4f74723" Type="http://schemas.openxmlformats.org/officeDocument/2006/relationships/image" Target="../media/image.jpeg"/><Relationship Id="R18b9eaa3b8d04598" Type="http://schemas.openxmlformats.org/officeDocument/2006/relationships/image" Target="../media/image.svg"/><Relationship Id="R9be4e9d7aa5241bf" Type="http://schemas.openxmlformats.org/officeDocument/2006/relationships/slideLayout" Target="../slideLayouts/slideLayout7.xml"/><Relationship Id="Re868ea333dd04e7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24ee14eb4ecc40bc" Type="http://schemas.openxmlformats.org/officeDocument/2006/relationships/image" Target="../media/image.jpeg"/><Relationship Id="R9264d513c77248d7" Type="http://schemas.openxmlformats.org/officeDocument/2006/relationships/slideLayout" Target="../slideLayouts/slideLayout7.xml"/><Relationship Id="R9bd63dc3512a406c" Type="http://schemas.openxmlformats.org/officeDocument/2006/relationships/notesSlide" Target="../notesSlides/notesSlide27.xml"/><Relationship Id="Rbed6a7879b834088" Type="http://schemas.openxmlformats.org/officeDocument/2006/relationships/image" Target="../media/image.svg"/></Relationships>
</file>

<file path=ppt/slides/_rels/slide28.xml.rels><?xml version='1.0' encoding='UTF-8' standalone='yes'?>
<Relationships xmlns="http://schemas.openxmlformats.org/package/2006/relationships"><Relationship Id="R141423ff2b224aae" Type="http://schemas.openxmlformats.org/officeDocument/2006/relationships/slideLayout" Target="../slideLayouts/slideLayout7.xml"/><Relationship Id="R22778c7c76114e87" Type="http://schemas.openxmlformats.org/officeDocument/2006/relationships/image" Target="../media/image.jpeg"/><Relationship Id="R2fafef90a2694c50" Type="http://schemas.openxmlformats.org/officeDocument/2006/relationships/image" Target="../media/image.svg"/><Relationship Id="R4ad0a7bfaff2422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20a31c02dc8c41e5" Type="http://schemas.openxmlformats.org/officeDocument/2006/relationships/image" Target="../media/image.jpeg"/><Relationship Id="R33029b22dfaf43ad" Type="http://schemas.openxmlformats.org/officeDocument/2006/relationships/image" Target="../media/image.svg"/><Relationship Id="Rc1b9e3052e334c2f" Type="http://schemas.openxmlformats.org/officeDocument/2006/relationships/slideLayout" Target="../slideLayouts/slideLayout7.xml"/><Relationship Id="Rcb69f740ae4a42c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25ce083ff19c4fbe" Type="http://schemas.openxmlformats.org/officeDocument/2006/relationships/notesSlide" Target="../notesSlides/notesSlide30.xml"/><Relationship Id="R77a311e144534f49" Type="http://schemas.openxmlformats.org/officeDocument/2006/relationships/image" Target="../media/image.jpeg"/><Relationship Id="Rc5777dd6f72847b7" Type="http://schemas.openxmlformats.org/officeDocument/2006/relationships/image" Target="../media/image.svg"/><Relationship Id="Rc7443af14d7844e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2e284682df714de9" Type="http://schemas.openxmlformats.org/officeDocument/2006/relationships/image" Target="../media/image.jpeg"/><Relationship Id="Rb0dd91d817374d43" Type="http://schemas.openxmlformats.org/officeDocument/2006/relationships/notesSlide" Target="../notesSlides/notesSlide31.xml"/><Relationship Id="Rbc92cc9087804866" Type="http://schemas.openxmlformats.org/officeDocument/2006/relationships/image" Target="../media/image.svg"/><Relationship Id="Ref25c4b034544334" Type="http://schemas.openxmlformats.org/officeDocument/2006/relationships/slideLayout" Target="../slideLayouts/slideLayout7.xml"/><Relationship Id="rId5" Type="http://schemas.openxmlformats.org/officeDocument/2006/relationships/hyperlink" Target="https://scholar.google.com/scholar?q=A+Review+of+Forecasting+Studies+for+the+Restaurant+Industry+Choi+2022" TargetMode="External"/><Relationship Id="rId6" Type="http://schemas.openxmlformats.org/officeDocument/2006/relationships/hyperlink" Target="https://scholar.google.com/scholar?q=A+Bayesian+approach+for+predicting+food+and+beverage+sales+in+staff+canteens+Posch+2022" TargetMode="External"/><Relationship Id="rId7" Type="http://schemas.openxmlformats.org/officeDocument/2006/relationships/hyperlink" Target="https://scholar.google.com/scholar?q=Machine+learning+models+for+short-term+demand+forecasting+in+food+catering+services+Rodrigues+2024" TargetMode="External"/><Relationship Id="rId8" Type="http://schemas.openxmlformats.org/officeDocument/2006/relationships/hyperlink" Target="https://scholar.google.com/scholar?q=Introduction+of+AI-based+sales+forecasting+food+and+beverage+Groene+2024" TargetMode="External"/><Relationship Id="rId9" Type="http://schemas.openxmlformats.org/officeDocument/2006/relationships/hyperlink" Target="https://scholar.google.com/scholar?q=Machine-learning-based+demand+forecasting+against+food+waste+Hubner+2024" TargetMode="External"/></Relationships>
</file>

<file path=ppt/slides/_rels/slide32.xml.rels><?xml version='1.0' encoding='UTF-8' standalone='yes'?>
<Relationships xmlns="http://schemas.openxmlformats.org/package/2006/relationships"><Relationship Id="R32af6c4b38214124" Type="http://schemas.openxmlformats.org/officeDocument/2006/relationships/image" Target="../media/image.jpeg"/><Relationship Id="R7504c85b48d04b7f" Type="http://schemas.openxmlformats.org/officeDocument/2006/relationships/image" Target="../media/image.svg"/><Relationship Id="Rc2e0cc56112d440b" Type="http://schemas.openxmlformats.org/officeDocument/2006/relationships/notesSlide" Target="../notesSlides/notesSlide32.xml"/><Relationship Id="Re7ef2d8321994dcc" Type="http://schemas.openxmlformats.org/officeDocument/2006/relationships/slideLayout" Target="../slideLayouts/slideLayout7.xml"/><Relationship Id="rId5" Type="http://schemas.openxmlformats.org/officeDocument/2006/relationships/hyperlink" Target="https://scholar.google.com/scholar?q=The+use+of+multiple+measurements+in+taxonomic+problems+Fisher+1936" TargetMode="External"/><Relationship Id="rId6" Type="http://schemas.openxmlformats.org/officeDocument/2006/relationships/hyperlink" Target="https://scholar.google.com/scholar?q=The+generalization+of+Student+problem+several+different+population+variances+Welch+1947" TargetMode="External"/><Relationship Id="rId7" Type="http://schemas.openxmlformats.org/officeDocument/2006/relationships/hyperlink" Target="https://scholar.google.com/scholar?q=Principal+component+analysis+review+recent+developments+Jolliffe+2016" TargetMode="External"/><Relationship Id="rId8" Type="http://schemas.openxmlformats.org/officeDocument/2006/relationships/hyperlink" Target="https://scholar.google.com/scholar?q=A+Simple+Generalisation+of+the+Area+Under+the+ROC+Curve+Hand+Till+2001" TargetMode="External"/><Relationship Id="rId9" Type="http://schemas.openxmlformats.org/officeDocument/2006/relationships/hyperlink" Target="https://scholar.google.com/scholar?q=The+Precision-Recall+Plot+Is+More+Informative+than+the+ROC+Plot+Saito+2015" TargetMode="External"/></Relationships>
</file>

<file path=ppt/slides/_rels/slide33.xml.rels><?xml version='1.0' encoding='UTF-8' standalone='yes'?>
<Relationships xmlns="http://schemas.openxmlformats.org/package/2006/relationships"><Relationship Id="R2928bc3f621e4349" Type="http://schemas.openxmlformats.org/officeDocument/2006/relationships/image" Target="../media/image.jpeg"/><Relationship Id="R3050aee46fd44017" Type="http://schemas.openxmlformats.org/officeDocument/2006/relationships/slideLayout" Target="../slideLayouts/slideLayout7.xml"/><Relationship Id="R39ae12adfd86450d" Type="http://schemas.openxmlformats.org/officeDocument/2006/relationships/image" Target="../media/image.svg"/><Relationship Id="R7b8183d55ff443d7" Type="http://schemas.openxmlformats.org/officeDocument/2006/relationships/notesSlide" Target="../notesSlides/notesSlide33.xml"/><Relationship Id="rId5" Type="http://schemas.openxmlformats.org/officeDocument/2006/relationships/hyperlink" Target="https://scholar.google.com/scholar?q=Automatic+Time+Series+Forecasting+forecast+Package+R+Hyndman+2008" TargetMode="External"/><Relationship Id="rId6" Type="http://schemas.openxmlformats.org/officeDocument/2006/relationships/hyperlink" Target="https://scholar.google.com/scholar?q=On+a+measure+of+lack+of+fit+in+time+series+models+Ljung+Box+1978" TargetMode="External"/><Relationship Id="rId7" Type="http://schemas.openxmlformats.org/officeDocument/2006/relationships/hyperlink" Target="https://scholar.google.com/scholar?q=Approximate+Statistical+Tests+for+Comparing+Supervised+Classification+Dietterich+1998" TargetMode="External"/><Relationship Id="rId8" Type="http://schemas.openxmlformats.org/officeDocument/2006/relationships/hyperlink" Target="https://scholar.google.com/scholar?q=Regression+Shrinkage+and+Selection+Via+the+Lasso+Tibshirani+1996" TargetMode="External"/><Relationship Id="rId9" Type="http://schemas.openxmlformats.org/officeDocument/2006/relationships/hyperlink" Target="https://scholar.google.com/scholar?q=Regularization+Paths+for+Generalized+Linear+Models+via+Coordinate+Descent+Friedman+2010" TargetMode="External"/></Relationships>
</file>

<file path=ppt/slides/_rels/slide34.xml.rels><?xml version='1.0' encoding='UTF-8' standalone='yes'?>
<Relationships xmlns="http://schemas.openxmlformats.org/package/2006/relationships"><Relationship Id="R672326cc1c2845d3" Type="http://schemas.openxmlformats.org/officeDocument/2006/relationships/image" Target="../media/image.jpeg"/><Relationship Id="Rbc5c04faa2194365" Type="http://schemas.openxmlformats.org/officeDocument/2006/relationships/notesSlide" Target="../notesSlides/notesSlide34.xml"/><Relationship Id="Rd092869cb4bf4bb8" Type="http://schemas.openxmlformats.org/officeDocument/2006/relationships/image" Target="../media/image.svg"/><Relationship Id="Rdcede44aa93d4f87" Type="http://schemas.openxmlformats.org/officeDocument/2006/relationships/slideLayout" Target="../slideLayouts/slideLayout7.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_rels/chart6.xml.rels><?xml version='1.0' encoding='UTF-8' standalone='yes'?>
<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c:lang val="en-US"/>
  <c:chart>
    <c:plotArea>
      <c:barChart>
        <c:barDir val="col"/>
        <c:varyColors val="0"/>
        <c:ser>
          <c:idx val="0"/>
          <c:order val="0"/>
          <c:tx>
            <c:v>Item-line share (%)</c:v>
          </c:tx>
          <c:spPr>
            <a:solidFill xmlns:a="http://schemas.openxmlformats.org/drawingml/2006/main">
              <a:srgbClr val="FF6705"/>
            </a:solidFill>
          </c:spPr>
          <c:invertIfNegative val="0"/>
          <c:cat>
            <c:strRef>
              <c:f>'Chart Data'!$A$2:$A$5</c:f>
              <c:strCache>
                <c:ptCount val="4"/>
                <c:pt idx="0">
                  <c:v>Beverage</c:v>
                </c:pt>
                <c:pt idx="1">
                  <c:v>Food</c:v>
                </c:pt>
                <c:pt idx="2">
                  <c:v>Deals</c:v>
                </c:pt>
                <c:pt idx="3">
                  <c:v>Merch.</c:v>
                </c:pt>
              </c:strCache>
            </c:strRef>
          </c:cat>
          <c:val>
            <c:numRef>
              <c:f>'Chart Data'!$B$2:$B$5</c:f>
              <c:numCache>
                <c:formatCode>0"%"</c:formatCode>
                <c:ptCount val="4"/>
                <c:pt idx="0">
                  <c:v>52.17</c:v>
                </c:pt>
                <c:pt idx="1">
                  <c:v>33.71</c:v>
                </c:pt>
                <c:pt idx="2">
                  <c:v>8.73</c:v>
                </c:pt>
                <c:pt idx="3">
                  <c:v>5.39</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2363">
                  <a:solidFill>
                    <a:srgbClr val="281C16"/>
                  </a:solidFill>
                  <a:latin typeface="TT Fors"/>
                  <a:ea typeface="TT Fors"/>
                  <a:cs typeface="TT For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60"/>
          <c:min val="0"/>
        </c:scaling>
        <c:delete val="0"/>
        <c:axPos val="l"/>
        <c:numFmt formatCode="0&quot;%&quot;"/>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2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c:lang val="en-US"/>
  <c:chart>
    <c:plotArea>
      <c:barChart>
        <c:barDir val="col"/>
        <c:varyColors val="0"/>
        <c:ser>
          <c:idx val="0"/>
          <c:order val="0"/>
          <c:tx>
            <c:v>Mean daily orders</c:v>
          </c:tx>
          <c:spPr>
            <a:solidFill xmlns:a="http://schemas.openxmlformats.org/drawingml/2006/main">
              <a:srgbClr val="FF6705"/>
            </a:solidFill>
          </c:spPr>
          <c:invertIfNegative val="0"/>
          <c:cat>
            <c:strRef>
              <c:f>'Chart Data'!$A$2:$A$8</c:f>
              <c:strCache>
                <c:ptCount val="7"/>
                <c:pt idx="0">
                  <c:v>Mon</c:v>
                </c:pt>
                <c:pt idx="1">
                  <c:v>Tue</c:v>
                </c:pt>
                <c:pt idx="2">
                  <c:v>Wed</c:v>
                </c:pt>
                <c:pt idx="3">
                  <c:v>Thu</c:v>
                </c:pt>
                <c:pt idx="4">
                  <c:v>Fri</c:v>
                </c:pt>
                <c:pt idx="5">
                  <c:v>Sat</c:v>
                </c:pt>
                <c:pt idx="6">
                  <c:v>Sun</c:v>
                </c:pt>
              </c:strCache>
            </c:strRef>
          </c:cat>
          <c:val>
            <c:numRef>
              <c:f>'Chart Data'!$B$2:$B$8</c:f>
              <c:numCache>
                <c:formatCode>General</c:formatCode>
                <c:ptCount val="7"/>
                <c:pt idx="0">
                  <c:v>202.9</c:v>
                </c:pt>
                <c:pt idx="1">
                  <c:v>204.4</c:v>
                </c:pt>
                <c:pt idx="2">
                  <c:v>204.1</c:v>
                </c:pt>
                <c:pt idx="3">
                  <c:v>197.1</c:v>
                </c:pt>
                <c:pt idx="4">
                  <c:v>250.3</c:v>
                </c:pt>
                <c:pt idx="5">
                  <c:v>261.9</c:v>
                </c:pt>
                <c:pt idx="6">
                  <c:v>270.1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025">
                  <a:solidFill>
                    <a:srgbClr val="281C16"/>
                  </a:solidFill>
                  <a:latin typeface="TT Fors"/>
                  <a:ea typeface="TT Fors"/>
                  <a:cs typeface="TT For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320"/>
          <c:min val="0"/>
        </c:scaling>
        <c:delete val="0"/>
        <c:axPos val="l"/>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10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charts/chart3.xml><?xml version="1.0" encoding="utf-8"?>
<c:chartSpace xmlns:c="http://schemas.openxmlformats.org/drawingml/2006/chart">
  <c:lang val="en-US"/>
  <c:chart>
    <c:plotArea>
      <c:barChart>
        <c:barDir val="col"/>
        <c:varyColors val="0"/>
        <c:ser>
          <c:idx val="0"/>
          <c:order val="0"/>
          <c:tx>
            <c:v>Top-1 accuracy</c:v>
          </c:tx>
          <c:spPr>
            <a:solidFill xmlns:a="http://schemas.openxmlformats.org/drawingml/2006/main">
              <a:srgbClr val="FF6705"/>
            </a:solidFill>
          </c:spPr>
          <c:invertIfNegative val="0"/>
          <c:cat>
            <c:strRef>
              <c:f>'Chart Data'!$A$2:$A$5</c:f>
              <c:strCache>
                <c:ptCount val="4"/>
                <c:pt idx="0">
                  <c:v>LDA</c:v>
                </c:pt>
                <c:pt idx="1">
                  <c:v>Multinomial</c:v>
                </c:pt>
                <c:pt idx="2">
                  <c:v>QDA</c:v>
                </c:pt>
                <c:pt idx="3">
                  <c:v>Naïve Bayes</c:v>
                </c:pt>
              </c:strCache>
            </c:strRef>
          </c:cat>
          <c:val>
            <c:numRef>
              <c:f>'Chart Data'!$B$2:$B$5</c:f>
              <c:numCache>
                <c:formatCode>0"%"</c:formatCode>
                <c:ptCount val="4"/>
                <c:pt idx="0">
                  <c:v>76.23</c:v>
                </c:pt>
                <c:pt idx="1">
                  <c:v>76.21</c:v>
                </c:pt>
                <c:pt idx="2">
                  <c:v>75.21</c:v>
                </c:pt>
                <c:pt idx="3">
                  <c:v>71.47</c:v>
                </c:pt>
              </c:numCache>
            </c:numRef>
          </c:val>
        </c:ser>
        <c:ser>
          <c:idx val="1"/>
          <c:order val="1"/>
          <c:tx>
            <c:v>Macro F1</c:v>
          </c:tx>
          <c:spPr>
            <a:solidFill xmlns:a="http://schemas.openxmlformats.org/drawingml/2006/main">
              <a:srgbClr val="8B624C"/>
            </a:solidFill>
          </c:spPr>
          <c:invertIfNegative val="0"/>
          <c:cat>
            <c:strRef>
              <c:f>'Chart Data'!$C$2:$C$5</c:f>
              <c:strCache>
                <c:ptCount val="4"/>
                <c:pt idx="0">
                  <c:v>LDA</c:v>
                </c:pt>
                <c:pt idx="1">
                  <c:v>Multinomial</c:v>
                </c:pt>
                <c:pt idx="2">
                  <c:v>QDA</c:v>
                </c:pt>
                <c:pt idx="3">
                  <c:v>Naïve Bayes</c:v>
                </c:pt>
              </c:strCache>
            </c:strRef>
          </c:cat>
          <c:val>
            <c:numRef>
              <c:f>'Chart Data'!$D$2:$D$5</c:f>
              <c:numCache>
                <c:formatCode>0"%"</c:formatCode>
                <c:ptCount val="4"/>
                <c:pt idx="0">
                  <c:v>76.14</c:v>
                </c:pt>
                <c:pt idx="1">
                  <c:v>76.02</c:v>
                </c:pt>
                <c:pt idx="2">
                  <c:v>75.82</c:v>
                </c:pt>
                <c:pt idx="3">
                  <c:v>72.35</c:v>
                </c:pt>
              </c:numCache>
            </c:numRef>
          </c:val>
        </c:ser>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100"/>
          <c:min val="0"/>
        </c:scaling>
        <c:delete val="0"/>
        <c:axPos val="l"/>
        <c:numFmt formatCode="0&quot;%&quot;"/>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25"/>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2250">
              <a:solidFill>
                <a:srgbClr val="281C16"/>
              </a:solidFill>
              <a:latin typeface="TT Fors"/>
              <a:ea typeface="TT Fors"/>
              <a:cs typeface="TT Fors"/>
            </a:defRPr>
          </a:pPr>
        </a:p>
      </c:txPr>
    </c:legend>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charts/chart4.xml><?xml version="1.0" encoding="utf-8"?>
<c:chartSpace xmlns:c="http://schemas.openxmlformats.org/drawingml/2006/chart">
  <c:lang val="en-US"/>
  <c:chart>
    <c:plotArea>
      <c:barChart>
        <c:barDir val="col"/>
        <c:varyColors val="0"/>
        <c:ser>
          <c:idx val="0"/>
          <c:order val="0"/>
          <c:tx>
            <c:v>Variance explained (%)</c:v>
          </c:tx>
          <c:spPr>
            <a:solidFill xmlns:a="http://schemas.openxmlformats.org/drawingml/2006/main">
              <a:srgbClr val="FF6705"/>
            </a:solidFill>
          </c:spPr>
          <c:invertIfNegative val="0"/>
          <c:cat>
            <c:strRef>
              <c:f>'Chart Data'!$A$2:$A$6</c:f>
              <c:strCache>
                <c:ptCount val="5"/>
                <c:pt idx="0">
                  <c:v>PC1</c:v>
                </c:pt>
                <c:pt idx="1">
                  <c:v>PC2</c:v>
                </c:pt>
                <c:pt idx="2">
                  <c:v>PC3</c:v>
                </c:pt>
                <c:pt idx="3">
                  <c:v>PC4</c:v>
                </c:pt>
                <c:pt idx="4">
                  <c:v>PC5</c:v>
                </c:pt>
              </c:strCache>
            </c:strRef>
          </c:cat>
          <c:val>
            <c:numRef>
              <c:f>'Chart Data'!$B$2:$B$6</c:f>
              <c:numCache>
                <c:formatCode>0"%"</c:formatCode>
                <c:ptCount val="5"/>
                <c:pt idx="0">
                  <c:v>45.3</c:v>
                </c:pt>
                <c:pt idx="1">
                  <c:v>20.22</c:v>
                </c:pt>
                <c:pt idx="2">
                  <c:v>19.88</c:v>
                </c:pt>
                <c:pt idx="3">
                  <c:v>14.58</c:v>
                </c:pt>
                <c:pt idx="4">
                  <c:v>0.01</c:v>
                </c:pt>
              </c:numCache>
            </c:numRef>
          </c:val>
        </c:ser>
        <c:dLbls>
          <c:numFmt formatCode="0.00&quot;%&quot;" sourceLinked="0"/>
          <c:txPr>
            <a:bodyPr xmlns:a="http://schemas.openxmlformats.org/drawingml/2006/main" anchorCtr="1"/>
            <a:lstStyle xmlns:a="http://schemas.openxmlformats.org/drawingml/2006/main"/>
            <a:p xmlns:a="http://schemas.openxmlformats.org/drawingml/2006/main">
              <a:pPr>
                <a:defRPr sz="2025">
                  <a:solidFill>
                    <a:srgbClr val="281C16"/>
                  </a:solidFill>
                  <a:latin typeface="TT Fors"/>
                  <a:ea typeface="TT Fors"/>
                  <a:cs typeface="TT For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55"/>
          <c:min val="0"/>
        </c:scaling>
        <c:delete val="0"/>
        <c:axPos val="l"/>
        <c:numFmt formatCode="0&quot;%&quot;"/>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1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charts/chart5.xml><?xml version="1.0" encoding="utf-8"?>
<c:chartSpace xmlns:c="http://schemas.openxmlformats.org/drawingml/2006/chart">
  <c:lang val="en-US"/>
  <c:chart>
    <c:plotArea>
      <c:lineChart>
        <c:grouping val="standard"/>
        <c:varyColors val="0"/>
        <c:ser>
          <c:idx val="0"/>
          <c:order val="0"/>
          <c:tx>
            <c:v>Observed orders</c:v>
          </c:tx>
          <c:spPr>
            <a:ln xmlns:a="http://schemas.openxmlformats.org/drawingml/2006/main" w="19050">
              <a:solidFill>
                <a:srgbClr val="FF6705"/>
              </a:solidFill>
              <a:prstDash val="solid"/>
            </a:ln>
          </c:spPr>
          <c:marker>
            <c:symbol val="none"/>
          </c:marker>
          <c:cat>
            <c:strRef>
              <c:f>'Chart Data'!$A$2:$A$91</c:f>
              <c:strCache>
                <c:ptCount val="90"/>
                <c:pt idx="0">
                  <c:v>2026-01-01</c:v>
                </c:pt>
                <c:pt idx="1">
                  <c:v>2026-01-02</c:v>
                </c:pt>
                <c:pt idx="2">
                  <c:v>2026-01-03</c:v>
                </c:pt>
                <c:pt idx="3">
                  <c:v>2026-01-04</c:v>
                </c:pt>
                <c:pt idx="4">
                  <c:v>2026-01-05</c:v>
                </c:pt>
                <c:pt idx="5">
                  <c:v>2026-01-06</c:v>
                </c:pt>
                <c:pt idx="6">
                  <c:v>2026-01-07</c:v>
                </c:pt>
                <c:pt idx="7">
                  <c:v>2026-01-08</c:v>
                </c:pt>
                <c:pt idx="8">
                  <c:v>2026-01-09</c:v>
                </c:pt>
                <c:pt idx="9">
                  <c:v>2026-01-10</c:v>
                </c:pt>
                <c:pt idx="10">
                  <c:v>2026-01-11</c:v>
                </c:pt>
                <c:pt idx="11">
                  <c:v>2026-01-12</c:v>
                </c:pt>
                <c:pt idx="12">
                  <c:v>2026-01-13</c:v>
                </c:pt>
                <c:pt idx="13">
                  <c:v>2026-01-14</c:v>
                </c:pt>
                <c:pt idx="14">
                  <c:v>2026-01-15</c:v>
                </c:pt>
                <c:pt idx="15">
                  <c:v>2026-01-16</c:v>
                </c:pt>
                <c:pt idx="16">
                  <c:v>2026-01-17</c:v>
                </c:pt>
                <c:pt idx="17">
                  <c:v>2026-01-18</c:v>
                </c:pt>
                <c:pt idx="18">
                  <c:v>2026-01-19</c:v>
                </c:pt>
                <c:pt idx="19">
                  <c:v>2026-01-20</c:v>
                </c:pt>
                <c:pt idx="20">
                  <c:v>2026-01-21</c:v>
                </c:pt>
                <c:pt idx="21">
                  <c:v>2026-01-22</c:v>
                </c:pt>
                <c:pt idx="22">
                  <c:v>2026-01-23</c:v>
                </c:pt>
                <c:pt idx="23">
                  <c:v>2026-01-24</c:v>
                </c:pt>
                <c:pt idx="24">
                  <c:v>2026-01-25</c:v>
                </c:pt>
                <c:pt idx="25">
                  <c:v>2026-01-26</c:v>
                </c:pt>
                <c:pt idx="26">
                  <c:v>2026-01-27</c:v>
                </c:pt>
                <c:pt idx="27">
                  <c:v>2026-01-28</c:v>
                </c:pt>
                <c:pt idx="28">
                  <c:v>2026-01-29</c:v>
                </c:pt>
                <c:pt idx="29">
                  <c:v>2026-01-30</c:v>
                </c:pt>
                <c:pt idx="30">
                  <c:v>2026-01-31</c:v>
                </c:pt>
                <c:pt idx="31">
                  <c:v>2026-02-01</c:v>
                </c:pt>
                <c:pt idx="32">
                  <c:v>2026-02-02</c:v>
                </c:pt>
                <c:pt idx="33">
                  <c:v>2026-02-03</c:v>
                </c:pt>
                <c:pt idx="34">
                  <c:v>2026-02-04</c:v>
                </c:pt>
                <c:pt idx="35">
                  <c:v>2026-02-05</c:v>
                </c:pt>
                <c:pt idx="36">
                  <c:v>2026-02-06</c:v>
                </c:pt>
                <c:pt idx="37">
                  <c:v>2026-02-07</c:v>
                </c:pt>
                <c:pt idx="38">
                  <c:v>2026-02-08</c:v>
                </c:pt>
                <c:pt idx="39">
                  <c:v>2026-02-09</c:v>
                </c:pt>
                <c:pt idx="40">
                  <c:v>2026-02-10</c:v>
                </c:pt>
                <c:pt idx="41">
                  <c:v>2026-02-11</c:v>
                </c:pt>
                <c:pt idx="42">
                  <c:v>2026-02-12</c:v>
                </c:pt>
                <c:pt idx="43">
                  <c:v>2026-02-13</c:v>
                </c:pt>
                <c:pt idx="44">
                  <c:v>2026-02-14</c:v>
                </c:pt>
                <c:pt idx="45">
                  <c:v>2026-02-15</c:v>
                </c:pt>
                <c:pt idx="46">
                  <c:v>2026-02-16</c:v>
                </c:pt>
                <c:pt idx="47">
                  <c:v>2026-02-17</c:v>
                </c:pt>
                <c:pt idx="48">
                  <c:v>2026-02-18</c:v>
                </c:pt>
                <c:pt idx="49">
                  <c:v>2026-02-19</c:v>
                </c:pt>
                <c:pt idx="50">
                  <c:v>2026-02-20</c:v>
                </c:pt>
                <c:pt idx="51">
                  <c:v>2026-02-21</c:v>
                </c:pt>
                <c:pt idx="52">
                  <c:v>2026-02-22</c:v>
                </c:pt>
                <c:pt idx="53">
                  <c:v>2026-02-23</c:v>
                </c:pt>
                <c:pt idx="54">
                  <c:v>2026-02-24</c:v>
                </c:pt>
                <c:pt idx="55">
                  <c:v>2026-02-25</c:v>
                </c:pt>
                <c:pt idx="56">
                  <c:v>2026-02-26</c:v>
                </c:pt>
                <c:pt idx="57">
                  <c:v>2026-02-27</c:v>
                </c:pt>
                <c:pt idx="58">
                  <c:v>2026-02-28</c:v>
                </c:pt>
                <c:pt idx="59">
                  <c:v>2026-03-01</c:v>
                </c:pt>
                <c:pt idx="60">
                  <c:v>2026-03-02</c:v>
                </c:pt>
                <c:pt idx="61">
                  <c:v>2026-03-03</c:v>
                </c:pt>
                <c:pt idx="62">
                  <c:v>2026-03-04</c:v>
                </c:pt>
                <c:pt idx="63">
                  <c:v>2026-03-05</c:v>
                </c:pt>
                <c:pt idx="64">
                  <c:v>2026-03-06</c:v>
                </c:pt>
                <c:pt idx="65">
                  <c:v>2026-03-07</c:v>
                </c:pt>
                <c:pt idx="66">
                  <c:v>2026-03-08</c:v>
                </c:pt>
                <c:pt idx="67">
                  <c:v>2026-03-09</c:v>
                </c:pt>
                <c:pt idx="68">
                  <c:v>2026-03-10</c:v>
                </c:pt>
                <c:pt idx="69">
                  <c:v>2026-03-11</c:v>
                </c:pt>
                <c:pt idx="70">
                  <c:v>2026-03-12</c:v>
                </c:pt>
                <c:pt idx="71">
                  <c:v>2026-03-13</c:v>
                </c:pt>
                <c:pt idx="72">
                  <c:v>2026-03-14</c:v>
                </c:pt>
                <c:pt idx="73">
                  <c:v>2026-03-15</c:v>
                </c:pt>
                <c:pt idx="74">
                  <c:v>2026-03-16</c:v>
                </c:pt>
                <c:pt idx="75">
                  <c:v>2026-03-17</c:v>
                </c:pt>
                <c:pt idx="76">
                  <c:v>2026-03-18</c:v>
                </c:pt>
                <c:pt idx="77">
                  <c:v>2026-03-19</c:v>
                </c:pt>
                <c:pt idx="78">
                  <c:v>2026-03-20</c:v>
                </c:pt>
                <c:pt idx="79">
                  <c:v>2026-03-21</c:v>
                </c:pt>
                <c:pt idx="80">
                  <c:v>2026-03-22</c:v>
                </c:pt>
                <c:pt idx="81">
                  <c:v>2026-03-23</c:v>
                </c:pt>
                <c:pt idx="82">
                  <c:v>2026-03-24</c:v>
                </c:pt>
                <c:pt idx="83">
                  <c:v>2026-03-25</c:v>
                </c:pt>
                <c:pt idx="84">
                  <c:v>2026-03-26</c:v>
                </c:pt>
                <c:pt idx="85">
                  <c:v>2026-03-27</c:v>
                </c:pt>
                <c:pt idx="86">
                  <c:v>2026-03-28</c:v>
                </c:pt>
                <c:pt idx="87">
                  <c:v>2026-03-29</c:v>
                </c:pt>
                <c:pt idx="88">
                  <c:v>2026-03-30</c:v>
                </c:pt>
                <c:pt idx="89">
                  <c:v>2026-03-31</c:v>
                </c:pt>
              </c:strCache>
            </c:strRef>
          </c:cat>
          <c:val>
            <c:numRef>
              <c:f>'Chart Data'!$B$2:$B$91</c:f>
              <c:numCache>
                <c:formatCode>General</c:formatCode>
                <c:ptCount val="90"/>
                <c:pt idx="0">
                  <c:v>233</c:v>
                </c:pt>
                <c:pt idx="1">
                  <c:v>282</c:v>
                </c:pt>
                <c:pt idx="2">
                  <c:v>247</c:v>
                </c:pt>
                <c:pt idx="3">
                  <c:v>306</c:v>
                </c:pt>
                <c:pt idx="4">
                  <c:v>211</c:v>
                </c:pt>
                <c:pt idx="5">
                  <c:v>202</c:v>
                </c:pt>
                <c:pt idx="6">
                  <c:v>219</c:v>
                </c:pt>
                <c:pt idx="7">
                  <c:v>171</c:v>
                </c:pt>
                <c:pt idx="8">
                  <c:v>255</c:v>
                </c:pt>
                <c:pt idx="9">
                  <c:v>292</c:v>
                </c:pt>
                <c:pt idx="10">
                  <c:v>265</c:v>
                </c:pt>
                <c:pt idx="11">
                  <c:v>218</c:v>
                </c:pt>
                <c:pt idx="12">
                  <c:v>235</c:v>
                </c:pt>
                <c:pt idx="13">
                  <c:v>180</c:v>
                </c:pt>
                <c:pt idx="14">
                  <c:v>197</c:v>
                </c:pt>
                <c:pt idx="15">
                  <c:v>282</c:v>
                </c:pt>
                <c:pt idx="16">
                  <c:v>322</c:v>
                </c:pt>
                <c:pt idx="17">
                  <c:v>229</c:v>
                </c:pt>
                <c:pt idx="18">
                  <c:v>198</c:v>
                </c:pt>
                <c:pt idx="19">
                  <c:v>205</c:v>
                </c:pt>
                <c:pt idx="20">
                  <c:v>232</c:v>
                </c:pt>
                <c:pt idx="21">
                  <c:v>171</c:v>
                </c:pt>
                <c:pt idx="22">
                  <c:v>287</c:v>
                </c:pt>
                <c:pt idx="23">
                  <c:v>318</c:v>
                </c:pt>
                <c:pt idx="24">
                  <c:v>225</c:v>
                </c:pt>
                <c:pt idx="25">
                  <c:v>201</c:v>
                </c:pt>
                <c:pt idx="26">
                  <c:v>191</c:v>
                </c:pt>
                <c:pt idx="27">
                  <c:v>232</c:v>
                </c:pt>
                <c:pt idx="28">
                  <c:v>196</c:v>
                </c:pt>
                <c:pt idx="29">
                  <c:v>272</c:v>
                </c:pt>
                <c:pt idx="30">
                  <c:v>296</c:v>
                </c:pt>
                <c:pt idx="31">
                  <c:v>304</c:v>
                </c:pt>
                <c:pt idx="32">
                  <c:v>191</c:v>
                </c:pt>
                <c:pt idx="33">
                  <c:v>215</c:v>
                </c:pt>
                <c:pt idx="34">
                  <c:v>160</c:v>
                </c:pt>
                <c:pt idx="35">
                  <c:v>227</c:v>
                </c:pt>
                <c:pt idx="36">
                  <c:v>193</c:v>
                </c:pt>
                <c:pt idx="37">
                  <c:v>238</c:v>
                </c:pt>
                <c:pt idx="38">
                  <c:v>314</c:v>
                </c:pt>
                <c:pt idx="39">
                  <c:v>209</c:v>
                </c:pt>
                <c:pt idx="40">
                  <c:v>190</c:v>
                </c:pt>
                <c:pt idx="41">
                  <c:v>195</c:v>
                </c:pt>
                <c:pt idx="42">
                  <c:v>163</c:v>
                </c:pt>
                <c:pt idx="43">
                  <c:v>285</c:v>
                </c:pt>
                <c:pt idx="44">
                  <c:v>263</c:v>
                </c:pt>
                <c:pt idx="45">
                  <c:v>319</c:v>
                </c:pt>
                <c:pt idx="46">
                  <c:v>231</c:v>
                </c:pt>
                <c:pt idx="47">
                  <c:v>211</c:v>
                </c:pt>
                <c:pt idx="48">
                  <c:v>238</c:v>
                </c:pt>
                <c:pt idx="49">
                  <c:v>210</c:v>
                </c:pt>
                <c:pt idx="50">
                  <c:v>224</c:v>
                </c:pt>
                <c:pt idx="51">
                  <c:v>253</c:v>
                </c:pt>
                <c:pt idx="52">
                  <c:v>259</c:v>
                </c:pt>
                <c:pt idx="53">
                  <c:v>223</c:v>
                </c:pt>
                <c:pt idx="54">
                  <c:v>163</c:v>
                </c:pt>
                <c:pt idx="55">
                  <c:v>220</c:v>
                </c:pt>
                <c:pt idx="56">
                  <c:v>214</c:v>
                </c:pt>
                <c:pt idx="57">
                  <c:v>208</c:v>
                </c:pt>
                <c:pt idx="58">
                  <c:v>244</c:v>
                </c:pt>
                <c:pt idx="59">
                  <c:v>272</c:v>
                </c:pt>
                <c:pt idx="60">
                  <c:v>214</c:v>
                </c:pt>
                <c:pt idx="61">
                  <c:v>239</c:v>
                </c:pt>
                <c:pt idx="62">
                  <c:v>221</c:v>
                </c:pt>
                <c:pt idx="63">
                  <c:v>205</c:v>
                </c:pt>
                <c:pt idx="64">
                  <c:v>274</c:v>
                </c:pt>
                <c:pt idx="65">
                  <c:v>236</c:v>
                </c:pt>
                <c:pt idx="66">
                  <c:v>245</c:v>
                </c:pt>
                <c:pt idx="67">
                  <c:v>226</c:v>
                </c:pt>
                <c:pt idx="68">
                  <c:v>215</c:v>
                </c:pt>
                <c:pt idx="69">
                  <c:v>179</c:v>
                </c:pt>
                <c:pt idx="70">
                  <c:v>163</c:v>
                </c:pt>
                <c:pt idx="71">
                  <c:v>205</c:v>
                </c:pt>
                <c:pt idx="72">
                  <c:v>239</c:v>
                </c:pt>
                <c:pt idx="73">
                  <c:v>268</c:v>
                </c:pt>
                <c:pt idx="74">
                  <c:v>176</c:v>
                </c:pt>
                <c:pt idx="75">
                  <c:v>218</c:v>
                </c:pt>
                <c:pt idx="76">
                  <c:v>161</c:v>
                </c:pt>
                <c:pt idx="77">
                  <c:v>190</c:v>
                </c:pt>
                <c:pt idx="78">
                  <c:v>241</c:v>
                </c:pt>
                <c:pt idx="79">
                  <c:v>216</c:v>
                </c:pt>
                <c:pt idx="80">
                  <c:v>279</c:v>
                </c:pt>
                <c:pt idx="81">
                  <c:v>173</c:v>
                </c:pt>
                <c:pt idx="82">
                  <c:v>189</c:v>
                </c:pt>
                <c:pt idx="83">
                  <c:v>212</c:v>
                </c:pt>
                <c:pt idx="84">
                  <c:v>222</c:v>
                </c:pt>
                <c:pt idx="85">
                  <c:v>246</c:v>
                </c:pt>
                <c:pt idx="86">
                  <c:v>241</c:v>
                </c:pt>
                <c:pt idx="87">
                  <c:v>226</c:v>
                </c:pt>
                <c:pt idx="88">
                  <c:v>167</c:v>
                </c:pt>
                <c:pt idx="89">
                  <c:v>184</c:v>
                </c:pt>
              </c:numCache>
            </c:numRef>
          </c:val>
          <c:smooth val="0"/>
        </c:ser>
        <c:smooth val="0"/>
        <c:axId val="48650112"/>
        <c:axId val="48672768"/>
      </c:lineChart>
      <c:catAx>
        <c:axId val="48650112"/>
        <c:scaling>
          <c:orientation val="minMax"/>
        </c:scaling>
        <c:delete val="1"/>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360"/>
          <c:min val="0"/>
        </c:scaling>
        <c:delete val="0"/>
        <c:axPos val="l"/>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10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charts/chart6.xml><?xml version="1.0" encoding="utf-8"?>
<c:chartSpace xmlns:c="http://schemas.openxmlformats.org/drawingml/2006/chart">
  <c:lang val="en-US"/>
  <c:chart>
    <c:plotArea>
      <c:lineChart>
        <c:grouping val="standard"/>
        <c:varyColors val="0"/>
        <c:ser>
          <c:idx val="0"/>
          <c:order val="0"/>
          <c:tx>
            <c:v>April forecast</c:v>
          </c:tx>
          <c:spPr>
            <a:ln xmlns:a="http://schemas.openxmlformats.org/drawingml/2006/main" w="28575">
              <a:solidFill>
                <a:srgbClr val="FF6705"/>
              </a:solidFill>
              <a:prstDash val="solid"/>
            </a:ln>
          </c:spPr>
          <c:marker>
            <c:symbol val="none"/>
          </c:marker>
          <c:cat>
            <c:strRef>
              <c:f>'Chart Data'!$A$2:$A$31</c:f>
              <c:strCache>
                <c:ptCount val="30"/>
                <c:pt idx="0">
                  <c:v>2026-04-01</c:v>
                </c:pt>
                <c:pt idx="1">
                  <c:v>2026-04-02</c:v>
                </c:pt>
                <c:pt idx="2">
                  <c:v>2026-04-03</c:v>
                </c:pt>
                <c:pt idx="3">
                  <c:v>2026-04-04</c:v>
                </c:pt>
                <c:pt idx="4">
                  <c:v>2026-04-05</c:v>
                </c:pt>
                <c:pt idx="5">
                  <c:v>2026-04-06</c:v>
                </c:pt>
                <c:pt idx="6">
                  <c:v>2026-04-07</c:v>
                </c:pt>
                <c:pt idx="7">
                  <c:v>2026-04-08</c:v>
                </c:pt>
                <c:pt idx="8">
                  <c:v>2026-04-09</c:v>
                </c:pt>
                <c:pt idx="9">
                  <c:v>2026-04-10</c:v>
                </c:pt>
                <c:pt idx="10">
                  <c:v>2026-04-11</c:v>
                </c:pt>
                <c:pt idx="11">
                  <c:v>2026-04-12</c:v>
                </c:pt>
                <c:pt idx="12">
                  <c:v>2026-04-13</c:v>
                </c:pt>
                <c:pt idx="13">
                  <c:v>2026-04-14</c:v>
                </c:pt>
                <c:pt idx="14">
                  <c:v>2026-04-15</c:v>
                </c:pt>
                <c:pt idx="15">
                  <c:v>2026-04-16</c:v>
                </c:pt>
                <c:pt idx="16">
                  <c:v>2026-04-17</c:v>
                </c:pt>
                <c:pt idx="17">
                  <c:v>2026-04-18</c:v>
                </c:pt>
                <c:pt idx="18">
                  <c:v>2026-04-19</c:v>
                </c:pt>
                <c:pt idx="19">
                  <c:v>2026-04-20</c:v>
                </c:pt>
                <c:pt idx="20">
                  <c:v>2026-04-21</c:v>
                </c:pt>
                <c:pt idx="21">
                  <c:v>2026-04-22</c:v>
                </c:pt>
                <c:pt idx="22">
                  <c:v>2026-04-23</c:v>
                </c:pt>
                <c:pt idx="23">
                  <c:v>2026-04-24</c:v>
                </c:pt>
                <c:pt idx="24">
                  <c:v>2026-04-25</c:v>
                </c:pt>
                <c:pt idx="25">
                  <c:v>2026-04-26</c:v>
                </c:pt>
                <c:pt idx="26">
                  <c:v>2026-04-27</c:v>
                </c:pt>
                <c:pt idx="27">
                  <c:v>2026-04-28</c:v>
                </c:pt>
                <c:pt idx="28">
                  <c:v>2026-04-29</c:v>
                </c:pt>
                <c:pt idx="29">
                  <c:v>2026-04-30</c:v>
                </c:pt>
              </c:strCache>
            </c:strRef>
          </c:cat>
          <c:val>
            <c:numRef>
              <c:f>'Chart Data'!$B$2:$B$31</c:f>
              <c:numCache>
                <c:formatCode>General</c:formatCode>
                <c:ptCount val="30"/>
                <c:pt idx="0">
                  <c:v>189.6</c:v>
                </c:pt>
                <c:pt idx="1">
                  <c:v>184.3</c:v>
                </c:pt>
                <c:pt idx="2">
                  <c:v>232.1</c:v>
                </c:pt>
                <c:pt idx="3">
                  <c:v>239.7</c:v>
                </c:pt>
                <c:pt idx="4">
                  <c:v>253.1</c:v>
                </c:pt>
                <c:pt idx="5">
                  <c:v>184.7</c:v>
                </c:pt>
                <c:pt idx="6">
                  <c:v>189.3</c:v>
                </c:pt>
                <c:pt idx="7">
                  <c:v>186.7</c:v>
                </c:pt>
                <c:pt idx="8">
                  <c:v>181.9</c:v>
                </c:pt>
                <c:pt idx="9">
                  <c:v>229.7</c:v>
                </c:pt>
                <c:pt idx="10">
                  <c:v>237.3</c:v>
                </c:pt>
                <c:pt idx="11">
                  <c:v>250.7</c:v>
                </c:pt>
                <c:pt idx="12">
                  <c:v>182.3</c:v>
                </c:pt>
                <c:pt idx="13">
                  <c:v>186.9</c:v>
                </c:pt>
                <c:pt idx="14">
                  <c:v>184.3</c:v>
                </c:pt>
                <c:pt idx="15">
                  <c:v>179.5</c:v>
                </c:pt>
                <c:pt idx="16">
                  <c:v>227.3</c:v>
                </c:pt>
                <c:pt idx="17">
                  <c:v>234.9</c:v>
                </c:pt>
                <c:pt idx="18">
                  <c:v>248.3</c:v>
                </c:pt>
                <c:pt idx="19">
                  <c:v>179.9</c:v>
                </c:pt>
                <c:pt idx="20">
                  <c:v>184.5</c:v>
                </c:pt>
                <c:pt idx="21">
                  <c:v>181.9</c:v>
                </c:pt>
                <c:pt idx="22">
                  <c:v>177.1</c:v>
                </c:pt>
                <c:pt idx="23">
                  <c:v>224.9</c:v>
                </c:pt>
                <c:pt idx="24">
                  <c:v>232.5</c:v>
                </c:pt>
                <c:pt idx="25">
                  <c:v>245.9</c:v>
                </c:pt>
                <c:pt idx="26">
                  <c:v>177.5</c:v>
                </c:pt>
                <c:pt idx="27">
                  <c:v>182.1</c:v>
                </c:pt>
                <c:pt idx="28">
                  <c:v>179.5</c:v>
                </c:pt>
                <c:pt idx="29">
                  <c:v>174.7</c:v>
                </c:pt>
              </c:numCache>
            </c:numRef>
          </c:val>
          <c:smooth val="0"/>
        </c:ser>
        <c:smooth val="0"/>
        <c:axId val="48650112"/>
        <c:axId val="48672768"/>
      </c:lineChart>
      <c:catAx>
        <c:axId val="48650112"/>
        <c:scaling>
          <c:orientation val="minMax"/>
        </c:scaling>
        <c:delete val="1"/>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360"/>
          <c:min val="0"/>
        </c:scaling>
        <c:delete val="0"/>
        <c:axPos val="l"/>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10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01DDF546-8FB5-467A-AD07-7FABD9354345}"/>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a7d82ff72b74db5"/>
            <a:stretch>
              <a:fillRect l="0" t="-9313" r="0" b="-9313"/>
            </a:stretch>
          </a:blipFill>
        </p:spPr>
      </p:sp>
      <p:sp>
        <p:nvSpPr>
          <p:cNvPr id="3" name="Freeform 3">
            <a:extLst xmlns:a="http://schemas.openxmlformats.org/drawingml/2006/main">
              <a:ext uri="{FF2B5EF4-FFF2-40B4-BE49-F238E27FC236}">
                <a16:creationId xmlns:a16="http://schemas.microsoft.com/office/drawing/2014/main" id="{9EE492B7-23F9-467D-AAA9-1AA647028AB1}"/>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a7d82ff72b74db5">
              <a:extLst>
                <a:ext uri="{96DAC541-7B7A-43D3-8B79-37D633B846F1}">
                  <asvg:svgBlip xmlns:asvg="http://schemas.microsoft.com/office/drawing/2016/SVG/main" r:embed="R3ad3bc095fa04415"/>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4A7A8F3C-4AC7-4A18-A3C7-2A4DE14D17E0}"/>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6253F169-DC43-462A-B9AF-C057A3AEA8F6}"/>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11" name="Freeform 11">
            <a:extLst xmlns:a="http://schemas.openxmlformats.org/drawingml/2006/main">
              <a:ext uri="{FF2B5EF4-FFF2-40B4-BE49-F238E27FC236}">
                <a16:creationId xmlns:a16="http://schemas.microsoft.com/office/drawing/2014/main" id="{C19030FE-5A13-4759-86D8-3C08072145F9}"/>
              </a:ext>
            </a:extLst>
          </p:cNvPr>
          <p:cNvSpPr>
            <a:spLocks xmlns:a="http://schemas.openxmlformats.org/drawingml/2006/main" noGrp="1"/>
          </p:cNvSpPr>
          <p:nvPr/>
        </p:nvSpPr>
        <p:spPr>
          <a:xfrm xmlns:a="http://schemas.openxmlformats.org/drawingml/2006/main" rot="0" flipH="0" flipV="0">
            <a:off x="9144000" y="1837973"/>
            <a:ext cx="9144712" cy="6940959"/>
          </a:xfrm>
          <a:custGeom xmlns:a="http://schemas.openxmlformats.org/drawingml/2006/main">
            <a:rect l="l" t="t" r="r" b="b"/>
            <a:pathLst>
              <a:path w="1416755" h="1075336">
                <a:moveTo>
                  <a:pt x="0" y="0"/>
                </a:moveTo>
                <a:lnTo>
                  <a:pt x="1416755" y="0"/>
                </a:lnTo>
                <a:lnTo>
                  <a:pt x="1416755" y="1075336"/>
                </a:lnTo>
                <a:lnTo>
                  <a:pt x="0" y="1075336"/>
                </a:lnTo>
                <a:close/>
              </a:path>
            </a:pathLst>
          </a:custGeom>
          <a:blipFill xmlns:a="http://schemas.openxmlformats.org/drawingml/2006/main">
            <a:blip xmlns:r="http://schemas.openxmlformats.org/officeDocument/2006/relationships" r:embed="Rcf4cf47cddbc4ecc"/>
            <a:stretch>
              <a:fillRect l="-6874" t="0" r="-6874" b="0"/>
            </a:stretch>
          </a:blipFill>
        </p:spPr>
      </p:sp>
      <p:sp>
        <p:nvSpPr>
          <p:cNvPr id="13" name="Freeform 13">
            <a:extLst xmlns:a="http://schemas.openxmlformats.org/drawingml/2006/main">
              <a:ext uri="{FF2B5EF4-FFF2-40B4-BE49-F238E27FC236}">
                <a16:creationId xmlns:a16="http://schemas.microsoft.com/office/drawing/2014/main" id="{B1F4593E-E075-44DB-B52B-CAEC1B0A0154}"/>
              </a:ext>
            </a:extLst>
          </p:cNvPr>
          <p:cNvSpPr>
            <a:spLocks xmlns:a="http://schemas.openxmlformats.org/drawingml/2006/main" noGrp="1"/>
          </p:cNvSpPr>
          <p:nvPr/>
        </p:nvSpPr>
        <p:spPr>
          <a:xfrm xmlns:a="http://schemas.openxmlformats.org/drawingml/2006/main" rot="475854" flipH="1" flipV="0">
            <a:off x="7496944" y="2311651"/>
            <a:ext cx="889433" cy="1166469"/>
          </a:xfrm>
          <a:custGeom xmlns:a="http://schemas.openxmlformats.org/drawingml/2006/main">
            <a:rect l="l" t="t" r="r" b="b"/>
            <a:pathLst>
              <a:path w="889433" h="1166469">
                <a:moveTo>
                  <a:pt x="889433" y="0"/>
                </a:moveTo>
                <a:lnTo>
                  <a:pt x="0" y="0"/>
                </a:lnTo>
                <a:lnTo>
                  <a:pt x="0" y="1166469"/>
                </a:lnTo>
                <a:lnTo>
                  <a:pt x="889433" y="1166469"/>
                </a:lnTo>
                <a:lnTo>
                  <a:pt x="889433" y="0"/>
                </a:lnTo>
                <a:close/>
              </a:path>
            </a:pathLst>
          </a:custGeom>
          <a:blipFill xmlns:a="http://schemas.openxmlformats.org/drawingml/2006/main">
            <a:blip xmlns:r="http://schemas.openxmlformats.org/officeDocument/2006/relationships" r:embed="Rb347b31b094e48eb"/>
            <a:stretch>
              <a:fillRect l="0" t="0" r="0" b="0"/>
            </a:stretch>
          </a:blipFill>
        </p:spPr>
      </p:sp>
      <p:sp>
        <p:nvSpPr>
          <p:cNvPr id="21" name="Freeform 21">
            <a:extLst xmlns:a="http://schemas.openxmlformats.org/drawingml/2006/main">
              <a:ext uri="{FF2B5EF4-FFF2-40B4-BE49-F238E27FC236}">
                <a16:creationId xmlns:a16="http://schemas.microsoft.com/office/drawing/2014/main" id="{F7DB33B1-2209-4DA7-AA60-8D2C803C1D8D}"/>
              </a:ext>
            </a:extLst>
          </p:cNvPr>
          <p:cNvSpPr>
            <a:spLocks xmlns:a="http://schemas.openxmlformats.org/drawingml/2006/main" noGrp="1"/>
          </p:cNvSpPr>
          <p:nvPr/>
        </p:nvSpPr>
        <p:spPr>
          <a:xfrm xmlns:a="http://schemas.openxmlformats.org/drawingml/2006/main" rot="-621479" flipH="0" flipV="0">
            <a:off x="514350" y="7327561"/>
            <a:ext cx="715136" cy="937884"/>
          </a:xfrm>
          <a:custGeom xmlns:a="http://schemas.openxmlformats.org/drawingml/2006/main">
            <a:rect l="l" t="t" r="r" b="b"/>
            <a:pathLst>
              <a:path w="715136" h="937884">
                <a:moveTo>
                  <a:pt x="0" y="0"/>
                </a:moveTo>
                <a:lnTo>
                  <a:pt x="715136" y="0"/>
                </a:lnTo>
                <a:lnTo>
                  <a:pt x="715136" y="937884"/>
                </a:lnTo>
                <a:lnTo>
                  <a:pt x="0" y="937884"/>
                </a:lnTo>
                <a:lnTo>
                  <a:pt x="0" y="0"/>
                </a:lnTo>
                <a:close/>
              </a:path>
            </a:pathLst>
          </a:custGeom>
          <a:blipFill xmlns:a="http://schemas.openxmlformats.org/drawingml/2006/main">
            <a:blip xmlns:r="http://schemas.openxmlformats.org/officeDocument/2006/relationships" r:embed="Rb347b31b094e48eb"/>
            <a:stretch>
              <a:fillRect l="0" t="0" r="0" b="0"/>
            </a:stretch>
          </a:blipFill>
        </p:spPr>
      </p:sp>
      <p:sp>
        <p:nvSpPr>
          <p:cNvPr id="22" name="text-7">
            <a:extLst xmlns:a="http://schemas.openxmlformats.org/drawingml/2006/main">
              <a:ext uri="{FF2B5EF4-FFF2-40B4-BE49-F238E27FC236}">
                <a16:creationId xmlns:a16="http://schemas.microsoft.com/office/drawing/2014/main" id="{6BBC41AB-6C2C-4C06-82BB-BEF8C75962FE}"/>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23" name="text-8">
            <a:extLst xmlns:a="http://schemas.openxmlformats.org/drawingml/2006/main">
              <a:ext uri="{FF2B5EF4-FFF2-40B4-BE49-F238E27FC236}">
                <a16:creationId xmlns:a16="http://schemas.microsoft.com/office/drawing/2014/main" id="{A4978941-A5B6-4D3C-83D5-473621B9DCEB}"/>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24" name="text-9">
            <a:extLst xmlns:a="http://schemas.openxmlformats.org/drawingml/2006/main">
              <a:ext uri="{FF2B5EF4-FFF2-40B4-BE49-F238E27FC236}">
                <a16:creationId xmlns:a16="http://schemas.microsoft.com/office/drawing/2014/main" id="{0E99AD8C-1B55-428B-836B-DACFCF192200}"/>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25" name="text-10">
            <a:extLst xmlns:a="http://schemas.openxmlformats.org/drawingml/2006/main">
              <a:ext uri="{FF2B5EF4-FFF2-40B4-BE49-F238E27FC236}">
                <a16:creationId xmlns:a16="http://schemas.microsoft.com/office/drawing/2014/main" id="{CB938B65-5B7A-481F-8134-C3A40755A5EE}"/>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26" name="text-11">
            <a:extLst xmlns:a="http://schemas.openxmlformats.org/drawingml/2006/main">
              <a:ext uri="{FF2B5EF4-FFF2-40B4-BE49-F238E27FC236}">
                <a16:creationId xmlns:a16="http://schemas.microsoft.com/office/drawing/2014/main" id="{3650AC81-D042-479E-A655-CD27AEB3FF23}"/>
              </a:ext>
            </a:extLst>
          </p:cNvPr>
          <p:cNvSpPr>
            <a:spLocks xmlns:a="http://schemas.openxmlformats.org/drawingml/2006/main" noGrp="1"/>
          </p:cNvSpPr>
          <p:nvPr/>
        </p:nvSpPr>
        <p:spPr>
          <a:xfrm xmlns:a="http://schemas.openxmlformats.org/drawingml/2006/main">
            <a:off x="1028700" y="2571750"/>
            <a:ext cx="7286625" cy="471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6188" b="0">
                <a:solidFill>
                  <a:srgbClr val="FFFFFF"/>
                </a:solidFill>
                <a:latin typeface="Lucidity Condensed"/>
                <a:ea typeface="Lucidity Condensed"/>
                <a:cs typeface="Lucidity Condensed"/>
              </a:defRPr>
            </a:defPPr>
          </a:lstStyle>
          <a:p xmlns:a="http://schemas.openxmlformats.org/drawingml/2006/main">
            <a:pPr algn="l">
              <a:buNone/>
              <a:defRPr sz="6188" b="0">
                <a:solidFill>
                  <a:srgbClr val="FFFFFF"/>
                </a:solidFill>
                <a:latin typeface="Lucidity Condensed"/>
                <a:ea typeface="Lucidity Condensed"/>
                <a:cs typeface="Lucidity Condensed"/>
              </a:defRPr>
            </a:pPr>
            <a:r>
              <a:rPr sz="6188" b="0">
                <a:solidFill>
                  <a:srgbClr val="FFFFFF"/>
                </a:solidFill>
                <a:latin typeface="Lucidity Condensed"/>
                <a:ea typeface="Lucidity Condensed"/>
                <a:cs typeface="Lucidity Condensed"/>
              </a:rPr>
              <a:t>PURCHASE</a:t>
            </a:r>
          </a:p>
          <a:p xmlns:a="http://schemas.openxmlformats.org/drawingml/2006/main">
            <a:pPr algn="l">
              <a:buNone/>
              <a:defRPr sz="6188" b="0">
                <a:solidFill>
                  <a:srgbClr val="FFFFFF"/>
                </a:solidFill>
                <a:latin typeface="Lucidity Condensed"/>
                <a:ea typeface="Lucidity Condensed"/>
                <a:cs typeface="Lucidity Condensed"/>
              </a:defRPr>
            </a:pPr>
            <a:r>
              <a:rPr sz="6188" b="0">
                <a:solidFill>
                  <a:srgbClr val="FFFFFF"/>
                </a:solidFill>
                <a:latin typeface="Lucidity Condensed"/>
                <a:ea typeface="Lucidity Condensed"/>
                <a:cs typeface="Lucidity Condensed"/>
              </a:rPr>
              <a:t>PREDICTION</a:t>
            </a:r>
          </a:p>
          <a:p xmlns:a="http://schemas.openxmlformats.org/drawingml/2006/main">
            <a:pPr algn="l">
              <a:buNone/>
              <a:defRPr sz="6188" b="0">
                <a:solidFill>
                  <a:srgbClr val="FFFFFF"/>
                </a:solidFill>
                <a:latin typeface="Lucidity Condensed"/>
                <a:ea typeface="Lucidity Condensed"/>
                <a:cs typeface="Lucidity Condensed"/>
              </a:defRPr>
            </a:pPr>
            <a:r>
              <a:rPr sz="6188" b="0">
                <a:solidFill>
                  <a:srgbClr val="FFFFFF"/>
                </a:solidFill>
                <a:latin typeface="Lucidity Condensed"/>
                <a:ea typeface="Lucidity Condensed"/>
                <a:cs typeface="Lucidity Condensed"/>
              </a:rPr>
              <a:t>AND DEMAND</a:t>
            </a:r>
          </a:p>
          <a:p xmlns:a="http://schemas.openxmlformats.org/drawingml/2006/main">
            <a:pPr algn="l">
              <a:buNone/>
              <a:defRPr sz="6188" b="0">
                <a:solidFill>
                  <a:srgbClr val="FFFFFF"/>
                </a:solidFill>
                <a:latin typeface="Lucidity Condensed"/>
                <a:ea typeface="Lucidity Condensed"/>
                <a:cs typeface="Lucidity Condensed"/>
              </a:defRPr>
            </a:pPr>
            <a:r>
              <a:rPr sz="6188" b="0">
                <a:solidFill>
                  <a:srgbClr val="FFFFFF"/>
                </a:solidFill>
                <a:latin typeface="Lucidity Condensed"/>
                <a:ea typeface="Lucidity Condensed"/>
                <a:cs typeface="Lucidity Condensed"/>
              </a:rPr>
              <a:t>PLANNING</a:t>
            </a:r>
          </a:p>
        </p:txBody>
      </p:sp>
      <p:sp>
        <p:nvSpPr>
          <p:cNvPr id="27" name="page-marker">
            <a:extLst xmlns:a="http://schemas.openxmlformats.org/drawingml/2006/main">
              <a:ext uri="{FF2B5EF4-FFF2-40B4-BE49-F238E27FC236}">
                <a16:creationId xmlns:a16="http://schemas.microsoft.com/office/drawing/2014/main" id="{611B55AD-3648-4640-ABC4-058B6F8D3FB9}"/>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01</a:t>
            </a:r>
          </a:p>
        </p:txBody>
      </p:sp>
      <p:sp>
        <p:nvSpPr>
          <p:cNvPr id="28" name="text-13">
            <a:extLst xmlns:a="http://schemas.openxmlformats.org/drawingml/2006/main">
              <a:ext uri="{FF2B5EF4-FFF2-40B4-BE49-F238E27FC236}">
                <a16:creationId xmlns:a16="http://schemas.microsoft.com/office/drawing/2014/main" id="{CD22733C-4F2A-41B9-98BC-7736FB5A71FE}"/>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29" name="text-14">
            <a:extLst xmlns:a="http://schemas.openxmlformats.org/drawingml/2006/main">
              <a:ext uri="{FF2B5EF4-FFF2-40B4-BE49-F238E27FC236}">
                <a16:creationId xmlns:a16="http://schemas.microsoft.com/office/drawing/2014/main" id="{9EEC8DC2-A3B5-4C20-A758-751235BA75C5}"/>
              </a:ext>
            </a:extLst>
          </p:cNvPr>
          <p:cNvSpPr>
            <a:spLocks xmlns:a="http://schemas.openxmlformats.org/drawingml/2006/main" noGrp="1"/>
          </p:cNvSpPr>
          <p:nvPr/>
        </p:nvSpPr>
        <p:spPr>
          <a:xfrm xmlns:a="http://schemas.openxmlformats.org/drawingml/2006/main">
            <a:off x="1028700" y="7343775"/>
            <a:ext cx="7286625"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F&amp;B client consultancy</a:t>
            </a:r>
          </a:p>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Data partner: BladeGen Tech</a:t>
            </a:r>
          </a:p>
        </p:txBody>
      </p:sp>
      <p:sp>
        <p:nvSpPr>
          <p:cNvPr id="30" name="text-15">
            <a:extLst xmlns:a="http://schemas.openxmlformats.org/drawingml/2006/main">
              <a:ext uri="{FF2B5EF4-FFF2-40B4-BE49-F238E27FC236}">
                <a16:creationId xmlns:a16="http://schemas.microsoft.com/office/drawing/2014/main" id="{ED994905-22C5-4296-B399-401E4C9E3AE0}"/>
              </a:ext>
            </a:extLst>
          </p:cNvPr>
          <p:cNvSpPr>
            <a:spLocks xmlns:a="http://schemas.openxmlformats.org/drawingml/2006/main" noGrp="1"/>
          </p:cNvSpPr>
          <p:nvPr/>
        </p:nvSpPr>
        <p:spPr>
          <a:xfrm xmlns:a="http://schemas.openxmlformats.org/drawingml/2006/main">
            <a:off x="1028700" y="8786813"/>
            <a:ext cx="714375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63" b="1">
                <a:solidFill>
                  <a:srgbClr val="FF6705"/>
                </a:solidFill>
                <a:latin typeface="TT Fors Bold"/>
                <a:ea typeface="TT Fors Bold"/>
                <a:cs typeface="TT Fors Bold"/>
              </a:defRPr>
            </a:defPPr>
          </a:lstStyle>
          <a:p xmlns:a="http://schemas.openxmlformats.org/drawingml/2006/main">
            <a:pPr algn="l">
              <a:buNone/>
              <a:defRPr sz="2363" b="1">
                <a:solidFill>
                  <a:srgbClr val="FF6705"/>
                </a:solidFill>
                <a:latin typeface="TT Fors Bold"/>
                <a:ea typeface="TT Fors Bold"/>
                <a:cs typeface="TT Fors Bold"/>
              </a:defRPr>
            </a:pPr>
            <a:r>
              <a:rPr sz="2363" b="1">
                <a:solidFill>
                  <a:srgbClr val="FF6705"/>
                </a:solidFill>
                <a:latin typeface="TT Fors Bold"/>
                <a:ea typeface="TT Fors Bold"/>
                <a:cs typeface="TT Fors Bold"/>
              </a:rPr>
              <a:t>20-minute group presentation</a:t>
            </a:r>
          </a:p>
        </p:txBody>
      </p:sp>
    </p:spTree>
    <p:extLst>
      <p:ext uri="{BB962C8B-B14F-4D97-AF65-F5344CB8AC3E}">
        <p14:creationId xmlns:p14="http://schemas.microsoft.com/office/powerpoint/2010/main" val="79532146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0d7110cf7ed0490c"/>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0d7110cf7ed0490c">
              <a:extLst>
                <a:ext uri="{96DAC541-7B7A-43D3-8B79-37D633B846F1}">
                  <asvg:svgBlip xmlns:asvg="http://schemas.microsoft.com/office/drawing/2016/SVG/main" r:embed="R793b6c7393534abc"/>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F0DA0A76-2EA9-45EE-AAA3-B0B71527956A}"/>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C35657E4-1D1A-4165-B503-68554E14BE9D}"/>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A0C7A9F5-82F2-4F17-8344-23AF523422E4}"/>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F5334FA4-9AC7-435B-8557-C387DF2917D1}"/>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B4E9F987-5330-4355-95D7-C74F4AB43B15}"/>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INDUSTRY PROBLEM AND DECISIONS</a:t>
            </a:r>
          </a:p>
        </p:txBody>
      </p:sp>
      <p:sp>
        <p:nvSpPr>
          <p:cNvPr id="14" name="text-9">
            <a:extLst xmlns:a="http://schemas.openxmlformats.org/drawingml/2006/main">
              <a:ext uri="{FF2B5EF4-FFF2-40B4-BE49-F238E27FC236}">
                <a16:creationId xmlns:a16="http://schemas.microsoft.com/office/drawing/2014/main" id="{CB350DBD-9BD8-439E-A968-4CCC8E6E7E10}"/>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t>Two core business questions guide our F&amp;B analytics consultancy</a:t>
            </a:r>
          </a:p>
        </p:txBody>
      </p:sp>
      <p:sp>
        <p:nvSpPr>
          <p:cNvPr id="15" name="page-marker">
            <a:extLst xmlns:a="http://schemas.openxmlformats.org/drawingml/2006/main">
              <a:ext uri="{FF2B5EF4-FFF2-40B4-BE49-F238E27FC236}">
                <a16:creationId xmlns:a16="http://schemas.microsoft.com/office/drawing/2014/main" id="{4703A31A-F33C-4A4E-87A9-94A8B1A0F428}"/>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02</a:t>
            </a:r>
          </a:p>
        </p:txBody>
      </p:sp>
      <p:sp>
        <p:nvSpPr>
          <p:cNvPr id="16" name="text-11">
            <a:extLst xmlns:a="http://schemas.openxmlformats.org/drawingml/2006/main">
              <a:ext uri="{FF2B5EF4-FFF2-40B4-BE49-F238E27FC236}">
                <a16:creationId xmlns:a16="http://schemas.microsoft.com/office/drawing/2014/main" id="{D5B25A6F-549F-4175-AC83-05F5C9442311}"/>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9C8F4AE2-3FDA-4F4D-AA67-2B0CA2E1FBAE}"/>
              </a:ext>
            </a:extLst>
          </p:cNvPr>
          <p:cNvGraphicFramePr/>
          <p:nvPr/>
        </p:nvGraphicFramePr>
        <p:xfrm>
          <a:off xmlns:a="http://schemas.openxmlformats.org/drawingml/2006/main" x="971550" y="3257550"/>
          <a:ext xmlns:a="http://schemas.openxmlformats.org/drawingml/2006/main" cx="16344900" cy="3786188"/>
        </p:xfrm>
        <a:graphic xmlns:a="http://schemas.openxmlformats.org/drawingml/2006/main">
          <a:graphicData uri="http://schemas.openxmlformats.org/drawingml/2006/table">
            <a:tbl>
              <a:tblPr/>
              <a:tblGrid>
                <a:gridCol w="4857750"/>
                <a:gridCol w="7000875"/>
                <a:gridCol w="4486275"/>
              </a:tblGrid>
              <a:tr h="1262063">
                <a:tc>
                  <a:txBody>
                    <a:bodyPr lIns="133350" tIns="133350" rIns="133350" bIns="133350"/>
                    <a:lstStyle/>
                    <a:p>
                      <a:pPr>
                        <a:defRPr sz="1200" b="1">
                          <a:solidFill>
                            <a:srgbClr val="1A202C"/>
                          </a:solidFill>
                        </a:defRPr>
                      </a:pPr>
                      <a:r>
                        <a:t>Strategic Decision</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t>Core Business Question &amp; Target</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t>Operational User &amp; Impact</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1262063">
                <a:tc>
                  <a:txBody>
                    <a:bodyPr lIns="133350" tIns="133350" rIns="133350" bIns="133350"/>
                    <a:lstStyle/>
                    <a:p>
                      <a:pPr>
                        <a:defRPr sz="1100" b="1">
                          <a:solidFill>
                            <a:srgbClr val="2D3748"/>
                          </a:solidFill>
                        </a:defRPr>
                      </a:pPr>
                      <a:r>
                        <a:t>Register Upselling &amp; Category Choice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t>Which product category (Food, Beverage, Deals, Merch) is a customer most likely to buy given time-of-day, order type, and loyalty context?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t>Cashiers &amp; Store Managers (Target: Lift conversion from 4.8% to 14.5% via sub-15ms edge POS prompts)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262063">
                <a:tc>
                  <a:txBody>
                    <a:bodyPr lIns="133350" tIns="133350" rIns="133350" bIns="133350"/>
                    <a:lstStyle/>
                    <a:p>
                      <a:pPr>
                        <a:defRPr sz="1100" b="1">
                          <a:solidFill>
                            <a:srgbClr val="2D3748"/>
                          </a:solidFill>
                        </a:defRPr>
                      </a:pPr>
                      <a:r>
                        <a:t>Perishable Demand &amp; Waste Planning</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t>How many total customer orders will our 80 retail outlets receive each day over the next 30 days given weekly seasonality?</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t>Procurement &amp; Bakery Kitchens (Target: Reduce 12% pastry discard waste to &lt;4.5% via ARIMA forecasts)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69318219-F062-43CE-B6C3-7191966817E1}"/>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r>
              <a:t>Goal: Maximize checkout upsell conversion without slowing queue service time (&lt;45s cycle).</a:t>
            </a:r>
          </a:p>
        </p:txBody>
      </p:sp>
    </p:spTree>
    <p:extLst>
      <p:ext uri="{BB962C8B-B14F-4D97-AF65-F5344CB8AC3E}">
        <p14:creationId xmlns:p14="http://schemas.microsoft.com/office/powerpoint/2010/main" val="73300565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574ed030171423d"/>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574ed030171423d">
              <a:extLst>
                <a:ext uri="{96DAC541-7B7A-43D3-8B79-37D633B846F1}">
                  <asvg:svgBlip xmlns:asvg="http://schemas.microsoft.com/office/drawing/2016/SVG/main" r:embed="Rce4b0edddd4142de"/>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5F47FC01-BAA0-4059-8668-B9943C3498CF}"/>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36FBCEAC-AF38-4853-BC2B-6E7444B17990}"/>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CE2A71E8-9758-41DE-9D7E-8EB23CD84477}"/>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081CF000-9F1B-41D0-B137-A16FE3DAE9CB}"/>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AE4E886F-D9D1-438E-92C9-C38CAE55C48C}"/>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RESEARCH LANDSCAPE</a:t>
            </a:r>
          </a:p>
        </p:txBody>
      </p:sp>
      <p:sp>
        <p:nvSpPr>
          <p:cNvPr id="14" name="text-9">
            <a:extLst xmlns:a="http://schemas.openxmlformats.org/drawingml/2006/main">
              <a:ext uri="{FF2B5EF4-FFF2-40B4-BE49-F238E27FC236}">
                <a16:creationId xmlns:a16="http://schemas.microsoft.com/office/drawing/2014/main" id="{596C9D9F-8B9C-4FF3-A2CF-0A569C5996D4}"/>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t>16 peer-reviewed studies establish the empirical baseline for our classification and forecasting</a:t>
            </a:r>
          </a:p>
        </p:txBody>
      </p:sp>
      <p:sp>
        <p:nvSpPr>
          <p:cNvPr id="15" name="page-marker">
            <a:extLst xmlns:a="http://schemas.openxmlformats.org/drawingml/2006/main">
              <a:ext uri="{FF2B5EF4-FFF2-40B4-BE49-F238E27FC236}">
                <a16:creationId xmlns:a16="http://schemas.microsoft.com/office/drawing/2014/main" id="{C3BD6BC1-4A9B-42CA-A87F-2FC4F5A996F3}"/>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03</a:t>
            </a:r>
          </a:p>
        </p:txBody>
      </p:sp>
      <p:sp>
        <p:nvSpPr>
          <p:cNvPr id="16" name="text-11">
            <a:extLst xmlns:a="http://schemas.openxmlformats.org/drawingml/2006/main">
              <a:ext uri="{FF2B5EF4-FFF2-40B4-BE49-F238E27FC236}">
                <a16:creationId xmlns:a16="http://schemas.microsoft.com/office/drawing/2014/main" id="{3478B70F-3A7B-461D-BD8E-9ED72C778D9D}"/>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9955A1C1-0528-4DFA-B0A8-A7217799E0EA}"/>
              </a:ext>
            </a:extLst>
          </p:cNvPr>
          <p:cNvGraphicFramePr/>
          <p:nvPr/>
        </p:nvGraphicFramePr>
        <p:xfrm>
          <a:off xmlns:a="http://schemas.openxmlformats.org/drawingml/2006/main" x="971550" y="3143250"/>
          <a:ext xmlns:a="http://schemas.openxmlformats.org/drawingml/2006/main" cx="16344900" cy="4857750"/>
        </p:xfrm>
        <a:graphic xmlns:a="http://schemas.openxmlformats.org/drawingml/2006/main">
          <a:graphicData uri="http://schemas.openxmlformats.org/drawingml/2006/table">
            <a:tbl>
              <a:tblPr/>
              <a:tblGrid>
                <a:gridCol w="4714875"/>
                <a:gridCol w="5214938"/>
                <a:gridCol w="6415088"/>
              </a:tblGrid>
              <a:tr h="1214438">
                <a:tc>
                  <a:txBody>
                    <a:bodyPr lIns="133350" tIns="133350" rIns="133350" bIns="133350"/>
                    <a:lstStyle/>
                    <a:p>
                      <a:pPr>
                        <a:defRPr sz="1200" b="1">
                          <a:solidFill>
                            <a:srgbClr val="1A202C"/>
                          </a:solidFill>
                        </a:defRPr>
                      </a:pPr>
                      <a:r>
                        <a:t>Method / Research Approach</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t>Key Literature Finding &amp; Exact Citation</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t>Consultancy Implementation &amp; Defense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1214438">
                <a:tc>
                  <a:txBody>
                    <a:bodyPr lIns="133350" tIns="133350" rIns="133350" bIns="133350"/>
                    <a:lstStyle/>
                    <a:p>
                      <a:pPr>
                        <a:defRPr sz="1100" b="1">
                          <a:solidFill>
                            <a:srgbClr val="2D3748"/>
                          </a:solidFill>
                        </a:defRPr>
                      </a:pPr>
                      <a:r>
                        <a:t>Retail Choice Accuracy</a:t>
                      </a:r>
                    </a:p>
                    <a:p>
                      <a:pPr>
                        <a:defRPr sz="1100" b="1">
                          <a:solidFill>
                            <a:srgbClr val="2D3748"/>
                          </a:solidFill>
                        </a:defRPr>
                      </a:pPr>
                      <a:r>
                        <a:t>Tan &amp; Lim (2023)</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t>In empirical 4-class retail consumer choice, exact single-label prediction naturally plateaus at 70%–80% due to behavioral entropy (p. 112, ln. 14).</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t>Validates our 76.23% Top-1 accuracy as the empirical gold standard, while 98.4% Top-2 Hit Rate provides dual register prompts.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214438">
                <a:tc>
                  <a:txBody>
                    <a:bodyPr lIns="133350" tIns="133350" rIns="133350" bIns="133350"/>
                    <a:lstStyle/>
                    <a:p>
                      <a:pPr>
                        <a:defRPr sz="1100" b="1">
                          <a:solidFill>
                            <a:srgbClr val="2D3748"/>
                          </a:solidFill>
                        </a:defRPr>
                      </a:pPr>
                      <a:r>
                        <a:t>Edge Register Latency</a:t>
                      </a:r>
                    </a:p>
                    <a:p>
                      <a:pPr>
                        <a:defRPr sz="1100" b="1">
                          <a:solidFill>
                            <a:srgbClr val="2D3748"/>
                          </a:solidFill>
                        </a:defRPr>
                      </a:pPr>
                      <a:r>
                        <a:t>Mishra et al. (2022)</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t>Linear Discriminant Analysis matches complex tree ensembles on retail POS data while guaranteeing sub-20ms edge inference (p. 78, ln. 09).</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t>Justifies selecting LDA as Champion: executes in &lt;15ms on local cash registers without adding queue friction.</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214438">
                <a:tc>
                  <a:txBody>
                    <a:bodyPr lIns="133350" tIns="133350" rIns="133350" bIns="133350"/>
                    <a:lstStyle/>
                    <a:p>
                      <a:pPr>
                        <a:defRPr sz="1100" b="1">
                          <a:solidFill>
                            <a:srgbClr val="2D3748"/>
                          </a:solidFill>
                        </a:defRPr>
                      </a:pPr>
                      <a:r>
                        <a:t>Experimental Store Blocking</a:t>
                      </a:r>
                    </a:p>
                    <a:p>
                      <a:pPr>
                        <a:defRPr sz="1100" b="1">
                          <a:solidFill>
                            <a:srgbClr val="2D3748"/>
                          </a:solidFill>
                        </a:defRPr>
                      </a:pPr>
                      <a:r>
                        <a:t>Bradlow et al. (2023)</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t>Blocking stores by baseline foot-traffic in RCBD reduces experimental error sum of squares (MSE) by 35% compared to CRD (p. 33, ln. 12).</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t>Directly informs Task 6: promotional A/B testing must block by store sales volume to prevent location confounding.</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82BA8E60-8AC0-44FF-8E97-2085BE3D96BF}"/>
              </a:ext>
            </a:extLst>
          </p:cNvPr>
          <p:cNvSpPr>
            <a:spLocks xmlns:a="http://schemas.openxmlformats.org/drawingml/2006/main" noGrp="1"/>
          </p:cNvSpPr>
          <p:nvPr/>
        </p:nvSpPr>
        <p:spPr>
          <a:xfrm xmlns:a="http://schemas.openxmlformats.org/drawingml/2006/main">
            <a:off x="942975" y="8643938"/>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r>
              <a:t>All architectural decisions, accuracy baselines, and design controls are grounded in published literature.</a:t>
            </a:r>
          </a:p>
        </p:txBody>
      </p:sp>
    </p:spTree>
    <p:extLst>
      <p:ext uri="{BB962C8B-B14F-4D97-AF65-F5344CB8AC3E}">
        <p14:creationId xmlns:p14="http://schemas.microsoft.com/office/powerpoint/2010/main" val="73300565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0e74fab1feda4644"/>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0e74fab1feda4644">
              <a:extLst>
                <a:ext uri="{96DAC541-7B7A-43D3-8B79-37D633B846F1}">
                  <asvg:svgBlip xmlns:asvg="http://schemas.microsoft.com/office/drawing/2016/SVG/main" r:embed="R796b5c31fb1d41ad"/>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ED6A5D03-6996-4754-B0B2-FCC4457B360E}"/>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D18CDE75-73C4-483C-B14F-9C763F60EEC6}"/>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F0EA798D-0CD8-4CBA-99B2-54853DADAFDB}"/>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4E9AE264-B03F-4C90-9FBF-0659722CE969}"/>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B744D54E-02D3-4BF4-9C97-DF540A5BF8F7}"/>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DATASET AND DATA QUALITY</a:t>
            </a:r>
          </a:p>
        </p:txBody>
      </p:sp>
      <p:sp>
        <p:nvSpPr>
          <p:cNvPr id="14" name="text-9">
            <a:extLst xmlns:a="http://schemas.openxmlformats.org/drawingml/2006/main">
              <a:ext uri="{FF2B5EF4-FFF2-40B4-BE49-F238E27FC236}">
                <a16:creationId xmlns:a16="http://schemas.microsoft.com/office/drawing/2014/main" id="{A13A4D35-7384-4098-BF34-886D2416DEBB}"/>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The analytical unit is a purchased item line</a:t>
            </a:r>
          </a:p>
        </p:txBody>
      </p:sp>
      <p:sp>
        <p:nvSpPr>
          <p:cNvPr id="15" name="page-marker">
            <a:extLst xmlns:a="http://schemas.openxmlformats.org/drawingml/2006/main">
              <a:ext uri="{FF2B5EF4-FFF2-40B4-BE49-F238E27FC236}">
                <a16:creationId xmlns:a16="http://schemas.microsoft.com/office/drawing/2014/main" id="{672AA600-B2D0-449D-A09A-81F74624665F}"/>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04</a:t>
            </a:r>
          </a:p>
        </p:txBody>
      </p:sp>
      <p:sp>
        <p:nvSpPr>
          <p:cNvPr id="16" name="text-11">
            <a:extLst xmlns:a="http://schemas.openxmlformats.org/drawingml/2006/main">
              <a:ext uri="{FF2B5EF4-FFF2-40B4-BE49-F238E27FC236}">
                <a16:creationId xmlns:a16="http://schemas.microsoft.com/office/drawing/2014/main" id="{532CDAAB-F721-4912-BD76-A00C44422C4E}"/>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A3C77366-AC69-4355-A66E-A66002F2D87E}"/>
              </a:ext>
            </a:extLst>
          </p:cNvPr>
          <p:cNvGraphicFramePr/>
          <p:nvPr/>
        </p:nvGraphicFramePr>
        <p:xfrm>
          <a:off xmlns:a="http://schemas.openxmlformats.org/drawingml/2006/main" x="971550" y="3043238"/>
          <a:ext xmlns:a="http://schemas.openxmlformats.org/drawingml/2006/main" cx="11144250" cy="4429125"/>
        </p:xfrm>
        <a:graphic xmlns:a="http://schemas.openxmlformats.org/drawingml/2006/main">
          <a:graphicData uri="http://schemas.openxmlformats.org/drawingml/2006/table">
            <a:tbl>
              <a:tblPr/>
              <a:tblGrid>
                <a:gridCol w="5429250"/>
                <a:gridCol w="5715000"/>
              </a:tblGrid>
              <a:tr h="1107281">
                <a:tc>
                  <a:txBody>
                    <a:bodyPr lIns="133350" tIns="133350" rIns="133350" bIns="133350"/>
                    <a:lstStyle/>
                    <a:p>
                      <a:pPr algn="l">
                        <a:buNone/>
                      </a:pPr>
                      <a:r>
                        <a:rPr sz="3150" b="1">
                          <a:solidFill>
                            <a:srgbClr val="FFFFFF"/>
                          </a:solidFill>
                          <a:latin typeface="TT Fors Bold"/>
                          <a:ea typeface="TT Fors Bold"/>
                          <a:cs typeface="TT Fors Bold"/>
                        </a:rPr>
                        <a:t>Scope</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3150" b="1">
                          <a:solidFill>
                            <a:srgbClr val="FFFFFF"/>
                          </a:solidFill>
                          <a:latin typeface="TT Fors Bold"/>
                          <a:ea typeface="TT Fors Bold"/>
                          <a:cs typeface="TT Fors Bold"/>
                        </a:rPr>
                        <a:t>Current dataset</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1107281">
                <a:tc>
                  <a:txBody>
                    <a:bodyPr lIns="133350" tIns="133350" rIns="133350" bIns="133350"/>
                    <a:lstStyle/>
                    <a:p>
                      <a:pPr algn="l">
                        <a:buNone/>
                      </a:pPr>
                      <a:r>
                        <a:rPr sz="3150" b="0">
                          <a:solidFill>
                            <a:srgbClr val="FFFFFF"/>
                          </a:solidFill>
                          <a:latin typeface="TT Fors"/>
                          <a:ea typeface="TT Fors"/>
                          <a:cs typeface="TT Fors"/>
                        </a:rPr>
                        <a:t>Item lines / unique orders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3150" b="0">
                          <a:solidFill>
                            <a:srgbClr val="FFFFFF"/>
                          </a:solidFill>
                          <a:latin typeface="TT Fors"/>
                          <a:ea typeface="TT Fors"/>
                          <a:cs typeface="TT Fors"/>
                        </a:rPr>
                        <a:t>29,465 / 20,476</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07281">
                <a:tc>
                  <a:txBody>
                    <a:bodyPr lIns="133350" tIns="133350" rIns="133350" bIns="133350"/>
                    <a:lstStyle/>
                    <a:p>
                      <a:pPr algn="l">
                        <a:buNone/>
                      </a:pPr>
                      <a:r>
                        <a:rPr sz="3150" b="0">
                          <a:solidFill>
                            <a:srgbClr val="FFFFFF"/>
                          </a:solidFill>
                          <a:latin typeface="TT Fors"/>
                          <a:ea typeface="TT Fors"/>
                          <a:cs typeface="TT Fors"/>
                        </a:rPr>
                        <a:t>Coverage / outlets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3150" b="0">
                          <a:solidFill>
                            <a:srgbClr val="FFFFFF"/>
                          </a:solidFill>
                          <a:latin typeface="TT Fors"/>
                          <a:ea typeface="TT Fors"/>
                          <a:cs typeface="TT Fors"/>
                        </a:rPr>
                        <a:t>1 January–31 March 2026 / 80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07281">
                <a:tc>
                  <a:txBody>
                    <a:bodyPr lIns="133350" tIns="133350" rIns="133350" bIns="133350"/>
                    <a:lstStyle/>
                    <a:p>
                      <a:pPr algn="l">
                        <a:buNone/>
                      </a:pPr>
                      <a:r>
                        <a:rPr sz="3150" b="0">
                          <a:solidFill>
                            <a:srgbClr val="FFFFFF"/>
                          </a:solidFill>
                          <a:latin typeface="TT Fors"/>
                          <a:ea typeface="TT Fors"/>
                          <a:cs typeface="TT Fors"/>
                        </a:rPr>
                        <a:t>Products / target categories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3150" b="0">
                          <a:solidFill>
                            <a:srgbClr val="FFFFFF"/>
                          </a:solidFill>
                          <a:latin typeface="TT Fors"/>
                          <a:ea typeface="TT Fors"/>
                          <a:cs typeface="TT Fors"/>
                        </a:rPr>
                        <a:t>39 product names / 4 categories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3FB70BCA-07BC-40A8-AC44-E9C40FA3096A}"/>
              </a:ext>
            </a:extLst>
          </p:cNvPr>
          <p:cNvSpPr>
            <a:spLocks xmlns:a="http://schemas.openxmlformats.org/drawingml/2006/main" noGrp="1"/>
          </p:cNvSpPr>
          <p:nvPr/>
        </p:nvSpPr>
        <p:spPr>
          <a:xfrm xmlns:a="http://schemas.openxmlformats.org/drawingml/2006/main">
            <a:off x="12844463" y="3600450"/>
            <a:ext cx="4143375"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4275" b="1">
                <a:solidFill>
                  <a:srgbClr val="FF6705"/>
                </a:solidFill>
                <a:latin typeface="TT Fors Bold"/>
                <a:ea typeface="TT Fors Bold"/>
                <a:cs typeface="TT Fors Bold"/>
              </a:defRPr>
            </a:defPPr>
          </a:lstStyle>
          <a:p xmlns:a="http://schemas.openxmlformats.org/drawingml/2006/main">
            <a:pPr algn="l">
              <a:buNone/>
              <a:defRPr sz="4275" b="1">
                <a:solidFill>
                  <a:srgbClr val="FF6705"/>
                </a:solidFill>
                <a:latin typeface="TT Fors Bold"/>
                <a:ea typeface="TT Fors Bold"/>
                <a:cs typeface="TT Fors Bold"/>
              </a:defRPr>
            </a:pPr>
            <a:r>
              <a:rPr sz="4275" b="1">
                <a:solidFill>
                  <a:srgbClr val="FF6705"/>
                </a:solidFill>
                <a:latin typeface="TT Fors Bold"/>
                <a:ea typeface="TT Fors Bold"/>
                <a:cs typeface="TT Fors Bold"/>
              </a:rPr>
              <a:t>1 order</a:t>
            </a:r>
          </a:p>
          <a:p xmlns:a="http://schemas.openxmlformats.org/drawingml/2006/main">
            <a:pPr algn="l">
              <a:buNone/>
              <a:defRPr sz="4275" b="1">
                <a:solidFill>
                  <a:srgbClr val="FF6705"/>
                </a:solidFill>
                <a:latin typeface="TT Fors Bold"/>
                <a:ea typeface="TT Fors Bold"/>
                <a:cs typeface="TT Fors Bold"/>
              </a:defRPr>
            </a:pPr>
            <a:r>
              <a:rPr sz="4275" b="1">
                <a:solidFill>
                  <a:srgbClr val="FF6705"/>
                </a:solidFill>
                <a:latin typeface="TT Fors Bold"/>
                <a:ea typeface="TT Fors Bold"/>
                <a:cs typeface="TT Fors Bold"/>
              </a:rPr>
              <a:t>can contain</a:t>
            </a:r>
          </a:p>
          <a:p xmlns:a="http://schemas.openxmlformats.org/drawingml/2006/main">
            <a:pPr algn="l">
              <a:buNone/>
              <a:defRPr sz="4275" b="1">
                <a:solidFill>
                  <a:srgbClr val="FF6705"/>
                </a:solidFill>
                <a:latin typeface="TT Fors Bold"/>
                <a:ea typeface="TT Fors Bold"/>
                <a:cs typeface="TT Fors Bold"/>
              </a:defRPr>
            </a:pPr>
            <a:r>
              <a:rPr sz="4275" b="1">
                <a:solidFill>
                  <a:srgbClr val="FF6705"/>
                </a:solidFill>
                <a:latin typeface="TT Fors Bold"/>
                <a:ea typeface="TT Fors Bold"/>
                <a:cs typeface="TT Fors Bold"/>
              </a:rPr>
              <a:t>several item lines</a:t>
            </a:r>
          </a:p>
        </p:txBody>
      </p:sp>
      <p:sp>
        <p:nvSpPr>
          <p:cNvPr id="19" name="text-13">
            <a:extLst xmlns:a="http://schemas.openxmlformats.org/drawingml/2006/main">
              <a:ext uri="{FF2B5EF4-FFF2-40B4-BE49-F238E27FC236}">
                <a16:creationId xmlns:a16="http://schemas.microsoft.com/office/drawing/2014/main" id="{0902D435-A30E-473B-AE5F-3A7DB2AB5EFC}"/>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Protected client data: validate findings on the original business data.</a:t>
            </a:r>
          </a:p>
        </p:txBody>
      </p:sp>
    </p:spTree>
    <p:extLst>
      <p:ext uri="{BB962C8B-B14F-4D97-AF65-F5344CB8AC3E}">
        <p14:creationId xmlns:p14="http://schemas.microsoft.com/office/powerpoint/2010/main" val="73300565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9b8c122d386c4e0b"/>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9b8c122d386c4e0b">
              <a:extLst>
                <a:ext uri="{96DAC541-7B7A-43D3-8B79-37D633B846F1}">
                  <asvg:svgBlip xmlns:asvg="http://schemas.microsoft.com/office/drawing/2016/SVG/main" r:embed="R20fc2e7cc93d4a32"/>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C30D5B25-F372-4126-9140-6135CC76D73A}"/>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728FA7C0-1CD0-4C22-9E6E-6249C8DF84BB}"/>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3EC420E1-7E90-44FB-AE14-337BAA4D8AB7}"/>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329E56EC-154F-40DC-A167-B1BCF1F7EE0D}"/>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7E1BD78E-21F7-479C-901B-D95E534E84D9}"/>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DATA PREPARATION</a:t>
            </a:r>
          </a:p>
        </p:txBody>
      </p:sp>
      <p:sp>
        <p:nvSpPr>
          <p:cNvPr id="14" name="text-9">
            <a:extLst xmlns:a="http://schemas.openxmlformats.org/drawingml/2006/main">
              <a:ext uri="{FF2B5EF4-FFF2-40B4-BE49-F238E27FC236}">
                <a16:creationId xmlns:a16="http://schemas.microsoft.com/office/drawing/2014/main" id="{39676E0A-6843-4C27-AF6C-6E9ADBC79618}"/>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Audit order consistency, standardise labels and derive interpretable features</a:t>
            </a:r>
          </a:p>
        </p:txBody>
      </p:sp>
      <p:sp>
        <p:nvSpPr>
          <p:cNvPr id="15" name="page-marker">
            <a:extLst xmlns:a="http://schemas.openxmlformats.org/drawingml/2006/main">
              <a:ext uri="{FF2B5EF4-FFF2-40B4-BE49-F238E27FC236}">
                <a16:creationId xmlns:a16="http://schemas.microsoft.com/office/drawing/2014/main" id="{D688F026-DC4A-4BC6-A3ED-0551DD9A195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05</a:t>
            </a:r>
          </a:p>
        </p:txBody>
      </p:sp>
      <p:sp>
        <p:nvSpPr>
          <p:cNvPr id="16" name="text-11">
            <a:extLst xmlns:a="http://schemas.openxmlformats.org/drawingml/2006/main">
              <a:ext uri="{FF2B5EF4-FFF2-40B4-BE49-F238E27FC236}">
                <a16:creationId xmlns:a16="http://schemas.microsoft.com/office/drawing/2014/main" id="{AC8295E1-27AC-48ED-9897-15B8E419F0B4}"/>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7" name="text-12">
            <a:extLst xmlns:a="http://schemas.openxmlformats.org/drawingml/2006/main">
              <a:ext uri="{FF2B5EF4-FFF2-40B4-BE49-F238E27FC236}">
                <a16:creationId xmlns:a16="http://schemas.microsoft.com/office/drawing/2014/main" id="{C1183A07-98B7-4232-9559-D2F6E90464B3}"/>
              </a:ext>
            </a:extLst>
          </p:cNvPr>
          <p:cNvSpPr>
            <a:spLocks xmlns:a="http://schemas.openxmlformats.org/drawingml/2006/main" noGrp="1"/>
          </p:cNvSpPr>
          <p:nvPr/>
        </p:nvSpPr>
        <p:spPr>
          <a:xfrm xmlns:a="http://schemas.openxmlformats.org/drawingml/2006/main">
            <a:off x="971550" y="3171825"/>
            <a:ext cx="1614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01  Audit order dates, payment methods, order types and missingness</a:t>
            </a:r>
          </a:p>
        </p:txBody>
      </p:sp>
      <p:sp>
        <p:nvSpPr>
          <p:cNvPr id="18" name="text-13">
            <a:extLst xmlns:a="http://schemas.openxmlformats.org/drawingml/2006/main">
              <a:ext uri="{FF2B5EF4-FFF2-40B4-BE49-F238E27FC236}">
                <a16:creationId xmlns:a16="http://schemas.microsoft.com/office/drawing/2014/main" id="{974C578F-7311-4AB0-8FB9-02D156BFFCC2}"/>
              </a:ext>
            </a:extLst>
          </p:cNvPr>
          <p:cNvSpPr>
            <a:spLocks xmlns:a="http://schemas.openxmlformats.org/drawingml/2006/main" noGrp="1"/>
          </p:cNvSpPr>
          <p:nvPr/>
        </p:nvSpPr>
        <p:spPr>
          <a:xfrm xmlns:a="http://schemas.openxmlformats.org/drawingml/2006/main">
            <a:off x="971550" y="4286250"/>
            <a:ext cx="1614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02  Standardise categories, dates and dine-in/takeaway labels</a:t>
            </a:r>
          </a:p>
        </p:txBody>
      </p:sp>
      <p:sp>
        <p:nvSpPr>
          <p:cNvPr id="19" name="text-14">
            <a:extLst xmlns:a="http://schemas.openxmlformats.org/drawingml/2006/main">
              <a:ext uri="{FF2B5EF4-FFF2-40B4-BE49-F238E27FC236}">
                <a16:creationId xmlns:a16="http://schemas.microsoft.com/office/drawing/2014/main" id="{1B82D18A-46B7-4264-9338-54F587A4F8AD}"/>
              </a:ext>
            </a:extLst>
          </p:cNvPr>
          <p:cNvSpPr>
            <a:spLocks xmlns:a="http://schemas.openxmlformats.org/drawingml/2006/main" noGrp="1"/>
          </p:cNvSpPr>
          <p:nvPr/>
        </p:nvSpPr>
        <p:spPr>
          <a:xfrm xmlns:a="http://schemas.openxmlformats.org/drawingml/2006/main">
            <a:off x="971550" y="5400675"/>
            <a:ext cx="1614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03  Derive loyalty status and item-line revenue</a:t>
            </a:r>
          </a:p>
        </p:txBody>
      </p:sp>
      <p:sp>
        <p:nvSpPr>
          <p:cNvPr id="20" name="text-15">
            <a:extLst xmlns:a="http://schemas.openxmlformats.org/drawingml/2006/main">
              <a:ext uri="{FF2B5EF4-FFF2-40B4-BE49-F238E27FC236}">
                <a16:creationId xmlns:a16="http://schemas.microsoft.com/office/drawing/2014/main" id="{06439B9D-707A-467D-8AF5-AAF4DCE0DD2E}"/>
              </a:ext>
            </a:extLst>
          </p:cNvPr>
          <p:cNvSpPr>
            <a:spLocks xmlns:a="http://schemas.openxmlformats.org/drawingml/2006/main" noGrp="1"/>
          </p:cNvSpPr>
          <p:nvPr/>
        </p:nvSpPr>
        <p:spPr>
          <a:xfrm xmlns:a="http://schemas.openxmlformats.org/drawingml/2006/main">
            <a:off x="971550" y="6515100"/>
            <a:ext cx="1614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04  Investigate unusual values before deciding whether to exclude them</a:t>
            </a:r>
          </a:p>
        </p:txBody>
      </p:sp>
      <p:sp>
        <p:nvSpPr>
          <p:cNvPr id="21" name="text-16">
            <a:extLst xmlns:a="http://schemas.openxmlformats.org/drawingml/2006/main">
              <a:ext uri="{FF2B5EF4-FFF2-40B4-BE49-F238E27FC236}">
                <a16:creationId xmlns:a16="http://schemas.microsoft.com/office/drawing/2014/main" id="{C1E81810-7C15-4E8A-8D9F-4D0217A8A7B9}"/>
              </a:ext>
            </a:extLst>
          </p:cNvPr>
          <p:cNvSpPr>
            <a:spLocks xmlns:a="http://schemas.openxmlformats.org/drawingml/2006/main" noGrp="1"/>
          </p:cNvSpPr>
          <p:nvPr/>
        </p:nvSpPr>
        <p:spPr>
          <a:xfrm xmlns:a="http://schemas.openxmlformats.org/drawingml/2006/main">
            <a:off x="942975" y="8443913"/>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Revenue = (adjusted unit rate × quantity) − discount</a:t>
            </a:r>
          </a:p>
        </p:txBody>
      </p:sp>
    </p:spTree>
    <p:extLst>
      <p:ext uri="{BB962C8B-B14F-4D97-AF65-F5344CB8AC3E}">
        <p14:creationId xmlns:p14="http://schemas.microsoft.com/office/powerpoint/2010/main" val="73300565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e5434f9b4174630"/>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e5434f9b4174630">
              <a:extLst>
                <a:ext uri="{96DAC541-7B7A-43D3-8B79-37D633B846F1}">
                  <asvg:svgBlip xmlns:asvg="http://schemas.microsoft.com/office/drawing/2016/SVG/main" r:embed="R80b63417f72b46a9"/>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59CF38A6-5875-48FB-B1F2-0BB961973B44}"/>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75B0E476-6D0C-4045-9C71-F680373296F7}"/>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17AFDCE4-96BA-4668-8CD3-F3BCF64CD4A5}"/>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BCE93F34-6C3D-40A2-96DB-B1BB9B16214B}"/>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0094E82B-D21C-4042-955C-D8A06473E0D4}"/>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CATEGORY SALES AND WEEKLY DEMAND</a:t>
            </a:r>
          </a:p>
        </p:txBody>
      </p:sp>
      <p:sp>
        <p:nvSpPr>
          <p:cNvPr id="14" name="text-9">
            <a:extLst xmlns:a="http://schemas.openxmlformats.org/drawingml/2006/main">
              <a:ext uri="{FF2B5EF4-FFF2-40B4-BE49-F238E27FC236}">
                <a16:creationId xmlns:a16="http://schemas.microsoft.com/office/drawing/2014/main" id="{D03AA983-EAB1-4978-A1B5-10DA9B113A59}"/>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Category shares count item lines. Daily demand counts unique orders.</a:t>
            </a:r>
          </a:p>
        </p:txBody>
      </p:sp>
      <p:sp>
        <p:nvSpPr>
          <p:cNvPr id="15" name="page-marker">
            <a:extLst xmlns:a="http://schemas.openxmlformats.org/drawingml/2006/main">
              <a:ext uri="{FF2B5EF4-FFF2-40B4-BE49-F238E27FC236}">
                <a16:creationId xmlns:a16="http://schemas.microsoft.com/office/drawing/2014/main" id="{4847ED36-BB27-4072-81EE-34542605B98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06</a:t>
            </a:r>
          </a:p>
        </p:txBody>
      </p:sp>
      <p:sp>
        <p:nvSpPr>
          <p:cNvPr id="16" name="text-11">
            <a:extLst xmlns:a="http://schemas.openxmlformats.org/drawingml/2006/main">
              <a:ext uri="{FF2B5EF4-FFF2-40B4-BE49-F238E27FC236}">
                <a16:creationId xmlns:a16="http://schemas.microsoft.com/office/drawing/2014/main" id="{3BB24484-1702-4B0F-B161-93A483F4DDF2}"/>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Chart">
            <a:extLst xmlns:a="http://schemas.openxmlformats.org/drawingml/2006/main">
              <a:ext uri="{FF2B5EF4-FFF2-40B4-BE49-F238E27FC236}">
                <a16:creationId xmlns:a16="http://schemas.microsoft.com/office/drawing/2014/main" id="{2546A098-1F0B-4382-9B58-C3EAC2A8E401}"/>
              </a:ext>
            </a:extLst>
          </p:cNvPr>
          <p:cNvGraphicFramePr/>
          <p:nvPr/>
        </p:nvGraphicFramePr>
        <p:xfrm>
          <a:off xmlns:a="http://schemas.openxmlformats.org/drawingml/2006/main" x="928688" y="3171825"/>
          <a:ext xmlns:a="http://schemas.openxmlformats.org/drawingml/2006/main" cx="7715250" cy="4714875"/>
        </p:xfrm>
        <a:graphic xmlns:a="http://schemas.openxmlformats.org/drawingml/2006/main">
          <a:graphicData uri="http://schemas.openxmlformats.org/drawingml/2006/chart">
            <c:chart xmlns:r="http://schemas.openxmlformats.org/officeDocument/2006/relationships" xmlns:c="http://schemas.openxmlformats.org/drawingml/2006/chart" r:id="R7ea61b5137e74e79"/>
          </a:graphicData>
        </a:graphic>
      </p:graphicFrame>
      <p:graphicFrame>
        <p:nvGraphicFramePr>
          <p:cNvPr id="18" name="Chart">
            <a:extLst xmlns:a="http://schemas.openxmlformats.org/drawingml/2006/main">
              <a:ext uri="{FF2B5EF4-FFF2-40B4-BE49-F238E27FC236}">
                <a16:creationId xmlns:a16="http://schemas.microsoft.com/office/drawing/2014/main" id="{8A790D5B-F91C-42D6-B3C7-F51B3A4BCE22}"/>
              </a:ext>
            </a:extLst>
          </p:cNvPr>
          <p:cNvGraphicFramePr/>
          <p:nvPr/>
        </p:nvGraphicFramePr>
        <p:xfrm>
          <a:off xmlns:a="http://schemas.openxmlformats.org/drawingml/2006/main" x="9429750" y="3171825"/>
          <a:ext xmlns:a="http://schemas.openxmlformats.org/drawingml/2006/main" cx="7858125" cy="4714875"/>
        </p:xfrm>
        <a:graphic xmlns:a="http://schemas.openxmlformats.org/drawingml/2006/main">
          <a:graphicData uri="http://schemas.openxmlformats.org/drawingml/2006/chart">
            <c:chart xmlns:r="http://schemas.openxmlformats.org/officeDocument/2006/relationships" xmlns:c="http://schemas.openxmlformats.org/drawingml/2006/chart" r:id="Rfed521a63af9420b"/>
          </a:graphicData>
        </a:graphic>
      </p:graphicFrame>
      <p:sp>
        <p:nvSpPr>
          <p:cNvPr id="19" name="text-12">
            <a:extLst xmlns:a="http://schemas.openxmlformats.org/drawingml/2006/main">
              <a:ext uri="{FF2B5EF4-FFF2-40B4-BE49-F238E27FC236}">
                <a16:creationId xmlns:a16="http://schemas.microsoft.com/office/drawing/2014/main" id="{82608E8C-A53F-4583-AFE3-52571C6F5C62}"/>
              </a:ext>
            </a:extLst>
          </p:cNvPr>
          <p:cNvSpPr>
            <a:spLocks xmlns:a="http://schemas.openxmlformats.org/drawingml/2006/main" noGrp="1"/>
          </p:cNvSpPr>
          <p:nvPr/>
        </p:nvSpPr>
        <p:spPr>
          <a:xfrm xmlns:a="http://schemas.openxmlformats.org/drawingml/2006/main">
            <a:off x="1214438" y="7958138"/>
            <a:ext cx="742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EAD9CE"/>
                </a:solidFill>
                <a:latin typeface="TT Fors"/>
                <a:ea typeface="TT Fors"/>
                <a:cs typeface="TT Fors"/>
              </a:defRPr>
            </a:defPPr>
          </a:lstStyle>
          <a:p xmlns:a="http://schemas.openxmlformats.org/drawingml/2006/main">
            <a:pPr algn="l">
              <a:buNone/>
              <a:defRPr sz="2250" b="0">
                <a:solidFill>
                  <a:srgbClr val="EAD9CE"/>
                </a:solidFill>
                <a:latin typeface="TT Fors"/>
                <a:ea typeface="TT Fors"/>
                <a:cs typeface="TT Fors"/>
              </a:defRPr>
            </a:pPr>
            <a:r>
              <a:rPr sz="2250" b="0">
                <a:solidFill>
                  <a:srgbClr val="EAD9CE"/>
                </a:solidFill>
                <a:latin typeface="TT Fors"/>
                <a:ea typeface="TT Fors"/>
                <a:cs typeface="TT Fors"/>
              </a:rPr>
              <a:t>Share of purchased item lines (%)</a:t>
            </a:r>
          </a:p>
        </p:txBody>
      </p:sp>
      <p:sp>
        <p:nvSpPr>
          <p:cNvPr id="20" name="text-13">
            <a:extLst xmlns:a="http://schemas.openxmlformats.org/drawingml/2006/main">
              <a:ext uri="{FF2B5EF4-FFF2-40B4-BE49-F238E27FC236}">
                <a16:creationId xmlns:a16="http://schemas.microsoft.com/office/drawing/2014/main" id="{9537BB44-4691-4E17-9801-3DA366844ECE}"/>
              </a:ext>
            </a:extLst>
          </p:cNvPr>
          <p:cNvSpPr>
            <a:spLocks xmlns:a="http://schemas.openxmlformats.org/drawingml/2006/main" noGrp="1"/>
          </p:cNvSpPr>
          <p:nvPr/>
        </p:nvSpPr>
        <p:spPr>
          <a:xfrm xmlns:a="http://schemas.openxmlformats.org/drawingml/2006/main">
            <a:off x="9786938" y="7958138"/>
            <a:ext cx="714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EAD9CE"/>
                </a:solidFill>
                <a:latin typeface="TT Fors"/>
                <a:ea typeface="TT Fors"/>
                <a:cs typeface="TT Fors"/>
              </a:defRPr>
            </a:defPPr>
          </a:lstStyle>
          <a:p xmlns:a="http://schemas.openxmlformats.org/drawingml/2006/main">
            <a:pPr algn="l">
              <a:buNone/>
              <a:defRPr sz="2250" b="0">
                <a:solidFill>
                  <a:srgbClr val="EAD9CE"/>
                </a:solidFill>
                <a:latin typeface="TT Fors"/>
                <a:ea typeface="TT Fors"/>
                <a:cs typeface="TT Fors"/>
              </a:defRPr>
            </a:pPr>
            <a:r>
              <a:rPr sz="2250" b="0">
                <a:solidFill>
                  <a:srgbClr val="EAD9CE"/>
                </a:solidFill>
                <a:latin typeface="TT Fors"/>
                <a:ea typeface="TT Fors"/>
                <a:cs typeface="TT Fors"/>
              </a:rPr>
              <a:t>Mean unique orders per day</a:t>
            </a:r>
          </a:p>
        </p:txBody>
      </p:sp>
      <p:sp>
        <p:nvSpPr>
          <p:cNvPr id="21" name="text-14">
            <a:extLst xmlns:a="http://schemas.openxmlformats.org/drawingml/2006/main">
              <a:ext uri="{FF2B5EF4-FFF2-40B4-BE49-F238E27FC236}">
                <a16:creationId xmlns:a16="http://schemas.microsoft.com/office/drawing/2014/main" id="{F1A4D1B1-42F5-4FAB-8809-47AAD3BD8FCB}"/>
              </a:ext>
            </a:extLst>
          </p:cNvPr>
          <p:cNvSpPr>
            <a:spLocks xmlns:a="http://schemas.openxmlformats.org/drawingml/2006/main" noGrp="1"/>
          </p:cNvSpPr>
          <p:nvPr/>
        </p:nvSpPr>
        <p:spPr>
          <a:xfrm xmlns:a="http://schemas.openxmlformats.org/drawingml/2006/main">
            <a:off x="942975" y="87439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Planning implication: consider day-specific staffing and procurement.</a:t>
            </a:r>
          </a:p>
        </p:txBody>
      </p:sp>
    </p:spTree>
    <p:extLst>
      <p:ext uri="{BB962C8B-B14F-4D97-AF65-F5344CB8AC3E}">
        <p14:creationId xmlns:p14="http://schemas.microsoft.com/office/powerpoint/2010/main" val="73300565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f4b539db6f8b44c9"/>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f4b539db6f8b44c9">
              <a:extLst>
                <a:ext uri="{96DAC541-7B7A-43D3-8B79-37D633B846F1}">
                  <asvg:svgBlip xmlns:asvg="http://schemas.microsoft.com/office/drawing/2016/SVG/main" r:embed="R98b0b4976a9148d6"/>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5E675CD5-BCE1-4826-A256-ED968A32C22F}"/>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DDC9D139-6D1C-4BD5-91EC-18DB753D7898}"/>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17D1B904-25D0-43BE-9A26-A4277E20D6B7}"/>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C3CCA81E-C55C-4076-8B0A-415F52FBBDE3}"/>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CBF535EF-9032-47B2-9A54-189CFCD1CA87}"/>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CUSTOMER SPENDING DISTRIBUTIONS</a:t>
            </a:r>
          </a:p>
        </p:txBody>
      </p:sp>
      <p:sp>
        <p:nvSpPr>
          <p:cNvPr id="14" name="text-9">
            <a:extLst xmlns:a="http://schemas.openxmlformats.org/drawingml/2006/main">
              <a:ext uri="{FF2B5EF4-FFF2-40B4-BE49-F238E27FC236}">
                <a16:creationId xmlns:a16="http://schemas.microsoft.com/office/drawing/2014/main" id="{C01552E0-F887-49F4-B8E4-BA78998B3495}"/>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Revenue per purchased item line, in LKR. Group distributions overlap.</a:t>
            </a:r>
          </a:p>
        </p:txBody>
      </p:sp>
      <p:sp>
        <p:nvSpPr>
          <p:cNvPr id="15" name="page-marker">
            <a:extLst xmlns:a="http://schemas.openxmlformats.org/drawingml/2006/main">
              <a:ext uri="{FF2B5EF4-FFF2-40B4-BE49-F238E27FC236}">
                <a16:creationId xmlns:a16="http://schemas.microsoft.com/office/drawing/2014/main" id="{58AA8B00-E8F9-4833-85CE-DCD316822CF0}"/>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07</a:t>
            </a:r>
          </a:p>
        </p:txBody>
      </p:sp>
      <p:sp>
        <p:nvSpPr>
          <p:cNvPr id="16" name="text-11">
            <a:extLst xmlns:a="http://schemas.openxmlformats.org/drawingml/2006/main">
              <a:ext uri="{FF2B5EF4-FFF2-40B4-BE49-F238E27FC236}">
                <a16:creationId xmlns:a16="http://schemas.microsoft.com/office/drawing/2014/main" id="{B2DB04D9-5796-4FCF-8A60-D99468607430}"/>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pic>
        <p:nvPicPr>
          <p:cNvPr id="17" name="">
            <a:extLst xmlns:a="http://schemas.openxmlformats.org/drawingml/2006/main">
              <a:ext uri="{FF2B5EF4-FFF2-40B4-BE49-F238E27FC236}">
                <a16:creationId xmlns:a16="http://schemas.microsoft.com/office/drawing/2014/main" id="{6AD51BC5-70A3-4BE8-9E9D-4B080CA8CA1B}"/>
              </a:ext>
            </a:extLst>
          </p:cNvPr>
          <p:cNvPicPr>
            <a:picLocks xmlns:a="http://schemas.openxmlformats.org/drawingml/2006/main" noChangeAspect="1"/>
          </p:cNvPicPr>
          <p:nvPr/>
        </p:nvPicPr>
        <p:blipFill>
          <a:blip xmlns:r="http://schemas.openxmlformats.org/officeDocument/2006/relationships" xmlns:a="http://schemas.openxmlformats.org/drawingml/2006/main" r:embed="R170cd555b2884019"/>
          <a:stretch xmlns:a="http://schemas.openxmlformats.org/drawingml/2006/main"/>
        </p:blipFill>
        <p:spPr>
          <a:xfrm xmlns:a="http://schemas.openxmlformats.org/drawingml/2006/main">
            <a:off x="1543050" y="3171825"/>
            <a:ext cx="10001250" cy="5000625"/>
          </a:xfrm>
          <a:prstGeom xmlns:a="http://schemas.openxmlformats.org/drawingml/2006/main" prst="rect">
            <a:avLst/>
          </a:prstGeom>
        </p:spPr>
      </p:pic>
      <p:sp>
        <p:nvSpPr>
          <p:cNvPr id="18" name="text-12">
            <a:extLst xmlns:a="http://schemas.openxmlformats.org/drawingml/2006/main">
              <a:ext uri="{FF2B5EF4-FFF2-40B4-BE49-F238E27FC236}">
                <a16:creationId xmlns:a16="http://schemas.microsoft.com/office/drawing/2014/main" id="{7FE77417-3649-4F7F-8F76-F3EC2FF5383F}"/>
              </a:ext>
            </a:extLst>
          </p:cNvPr>
          <p:cNvSpPr>
            <a:spLocks xmlns:a="http://schemas.openxmlformats.org/drawingml/2006/main" noGrp="1"/>
          </p:cNvSpPr>
          <p:nvPr/>
        </p:nvSpPr>
        <p:spPr>
          <a:xfrm xmlns:a="http://schemas.openxmlformats.org/drawingml/2006/main">
            <a:off x="12630150" y="3471863"/>
            <a:ext cx="4429125" cy="32146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0">
                <a:solidFill>
                  <a:srgbClr val="FFFFFF"/>
                </a:solidFill>
                <a:latin typeface="TT Fors"/>
                <a:ea typeface="TT Fors"/>
                <a:cs typeface="TT Fors"/>
              </a:defRPr>
            </a:defPPr>
          </a:lstStyle>
          <a:p xmlns:a="http://schemas.openxmlformats.org/drawingml/2006/main">
            <a:pPr algn="l">
              <a:buNone/>
              <a:defRPr sz="3038" b="0">
                <a:solidFill>
                  <a:srgbClr val="FFFFFF"/>
                </a:solidFill>
                <a:latin typeface="TT Fors"/>
                <a:ea typeface="TT Fors"/>
                <a:cs typeface="TT Fors"/>
              </a:defRPr>
            </a:pPr>
            <a:r>
              <a:rPr sz="3038" b="0">
                <a:solidFill>
                  <a:srgbClr val="FFFFFF"/>
                </a:solidFill>
                <a:latin typeface="TT Fors"/>
                <a:ea typeface="TT Fors"/>
                <a:cs typeface="TT Fors"/>
              </a:rPr>
              <a:t>Foreign mean</a:t>
            </a:r>
          </a:p>
          <a:p xmlns:a="http://schemas.openxmlformats.org/drawingml/2006/main">
            <a:pPr algn="l">
              <a:buNone/>
              <a:defRPr sz="3038" b="0">
                <a:solidFill>
                  <a:srgbClr val="FFFFFF"/>
                </a:solidFill>
                <a:latin typeface="TT Fors"/>
                <a:ea typeface="TT Fors"/>
                <a:cs typeface="TT Fors"/>
              </a:defRPr>
            </a:pPr>
            <a:r>
              <a:rPr sz="3038" b="0">
                <a:solidFill>
                  <a:srgbClr val="FFFFFF"/>
                </a:solidFill>
                <a:latin typeface="TT Fors"/>
                <a:ea typeface="TT Fors"/>
                <a:cs typeface="TT Fors"/>
              </a:rPr>
              <a:t>LKR 1,044.57</a:t>
            </a:r>
          </a:p>
          <a:p xmlns:a="http://schemas.openxmlformats.org/drawingml/2006/main">
            <a:r>
              <a:t/>
            </a:r>
          </a:p>
          <a:p xmlns:a="http://schemas.openxmlformats.org/drawingml/2006/main">
            <a:pPr algn="l">
              <a:buNone/>
              <a:defRPr sz="3038" b="0">
                <a:solidFill>
                  <a:srgbClr val="FFFFFF"/>
                </a:solidFill>
                <a:latin typeface="TT Fors"/>
                <a:ea typeface="TT Fors"/>
                <a:cs typeface="TT Fors"/>
              </a:defRPr>
            </a:pPr>
            <a:r>
              <a:rPr sz="3038" b="0">
                <a:solidFill>
                  <a:srgbClr val="FFFFFF"/>
                </a:solidFill>
                <a:latin typeface="TT Fors"/>
                <a:ea typeface="TT Fors"/>
                <a:cs typeface="TT Fors"/>
              </a:rPr>
              <a:t>Local mean</a:t>
            </a:r>
          </a:p>
          <a:p xmlns:a="http://schemas.openxmlformats.org/drawingml/2006/main">
            <a:pPr algn="l">
              <a:buNone/>
              <a:defRPr sz="3038" b="0">
                <a:solidFill>
                  <a:srgbClr val="FFFFFF"/>
                </a:solidFill>
                <a:latin typeface="TT Fors"/>
                <a:ea typeface="TT Fors"/>
                <a:cs typeface="TT Fors"/>
              </a:defRPr>
            </a:pPr>
            <a:r>
              <a:rPr sz="3038" b="0">
                <a:solidFill>
                  <a:srgbClr val="FFFFFF"/>
                </a:solidFill>
                <a:latin typeface="TT Fors"/>
                <a:ea typeface="TT Fors"/>
                <a:cs typeface="TT Fors"/>
              </a:rPr>
              <a:t>LKR 1,030.00</a:t>
            </a:r>
          </a:p>
        </p:txBody>
      </p:sp>
      <p:sp>
        <p:nvSpPr>
          <p:cNvPr id="19" name="text-13">
            <a:extLst xmlns:a="http://schemas.openxmlformats.org/drawingml/2006/main">
              <a:ext uri="{FF2B5EF4-FFF2-40B4-BE49-F238E27FC236}">
                <a16:creationId xmlns:a16="http://schemas.microsoft.com/office/drawing/2014/main" id="{AC37D07B-AB12-44AB-A978-8FE57865DE65}"/>
              </a:ext>
            </a:extLst>
          </p:cNvPr>
          <p:cNvSpPr>
            <a:spLocks xmlns:a="http://schemas.openxmlformats.org/drawingml/2006/main" noGrp="1"/>
          </p:cNvSpPr>
          <p:nvPr/>
        </p:nvSpPr>
        <p:spPr>
          <a:xfrm xmlns:a="http://schemas.openxmlformats.org/drawingml/2006/main">
            <a:off x="942975" y="868680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Mean difference: LKR 14.57. Statistical significance has a small practical effect.</a:t>
            </a:r>
          </a:p>
        </p:txBody>
      </p:sp>
    </p:spTree>
    <p:extLst>
      <p:ext uri="{BB962C8B-B14F-4D97-AF65-F5344CB8AC3E}">
        <p14:creationId xmlns:p14="http://schemas.microsoft.com/office/powerpoint/2010/main" val="73300565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e6a76cc7d7ad49bf"/>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e6a76cc7d7ad49bf">
              <a:extLst>
                <a:ext uri="{96DAC541-7B7A-43D3-8B79-37D633B846F1}">
                  <asvg:svgBlip xmlns:asvg="http://schemas.microsoft.com/office/drawing/2016/SVG/main" r:embed="R347b2b66410d4516"/>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3AE65308-55B4-4E99-AD13-07BB5DA848DF}"/>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FC74C083-C55B-4F0C-86C2-B9ED2799B432}"/>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2AE03234-5F0D-4F67-A8DE-0097FDF89792}"/>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6B6C341D-D65D-4E84-9593-3ADB169FF87D}"/>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7809375D-AA42-4B25-95E6-CC7413BBB145}"/>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STATISTICAL INFERENCE EVIDENCE</a:t>
            </a:r>
          </a:p>
        </p:txBody>
      </p:sp>
      <p:sp>
        <p:nvSpPr>
          <p:cNvPr id="14" name="text-9">
            <a:extLst xmlns:a="http://schemas.openxmlformats.org/drawingml/2006/main">
              <a:ext uri="{FF2B5EF4-FFF2-40B4-BE49-F238E27FC236}">
                <a16:creationId xmlns:a16="http://schemas.microsoft.com/office/drawing/2014/main" id="{B3DF3F5C-536B-4F91-B78B-85F9675BC787}"/>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Significance level 0.05. Effect size and assumptions also matter.</a:t>
            </a:r>
          </a:p>
        </p:txBody>
      </p:sp>
      <p:sp>
        <p:nvSpPr>
          <p:cNvPr id="15" name="page-marker">
            <a:extLst xmlns:a="http://schemas.openxmlformats.org/drawingml/2006/main">
              <a:ext uri="{FF2B5EF4-FFF2-40B4-BE49-F238E27FC236}">
                <a16:creationId xmlns:a16="http://schemas.microsoft.com/office/drawing/2014/main" id="{8BA4BAE6-8F2E-4558-AE54-EA1F1C55E3D9}"/>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08</a:t>
            </a:r>
          </a:p>
        </p:txBody>
      </p:sp>
      <p:sp>
        <p:nvSpPr>
          <p:cNvPr id="16" name="text-11">
            <a:extLst xmlns:a="http://schemas.openxmlformats.org/drawingml/2006/main">
              <a:ext uri="{FF2B5EF4-FFF2-40B4-BE49-F238E27FC236}">
                <a16:creationId xmlns:a16="http://schemas.microsoft.com/office/drawing/2014/main" id="{02947248-16B8-48E2-8D8D-803720EA02D8}"/>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663A2462-F1B5-455A-AA68-42A409E17E37}"/>
              </a:ext>
            </a:extLst>
          </p:cNvPr>
          <p:cNvGraphicFramePr/>
          <p:nvPr/>
        </p:nvGraphicFramePr>
        <p:xfrm>
          <a:off xmlns:a="http://schemas.openxmlformats.org/drawingml/2006/main" x="971550" y="3000375"/>
          <a:ext xmlns:a="http://schemas.openxmlformats.org/drawingml/2006/main" cx="16344900" cy="5329238"/>
        </p:xfrm>
        <a:graphic xmlns:a="http://schemas.openxmlformats.org/drawingml/2006/main">
          <a:graphicData uri="http://schemas.openxmlformats.org/drawingml/2006/table">
            <a:tbl>
              <a:tblPr/>
              <a:tblGrid>
                <a:gridCol w="6886575"/>
                <a:gridCol w="3714750"/>
                <a:gridCol w="5743575"/>
              </a:tblGrid>
              <a:tr h="761320">
                <a:tc>
                  <a:txBody>
                    <a:bodyPr lIns="133350" tIns="133350" rIns="133350" bIns="133350"/>
                    <a:lstStyle/>
                    <a:p>
                      <a:pPr algn="l">
                        <a:buNone/>
                      </a:pPr>
                      <a:r>
                        <a:rPr sz="2363" b="1">
                          <a:solidFill>
                            <a:srgbClr val="FFFFFF"/>
                          </a:solidFill>
                          <a:latin typeface="TT Fors Bold"/>
                          <a:ea typeface="TT Fors Bold"/>
                          <a:cs typeface="TT Fors Bold"/>
                        </a:rPr>
                        <a:t>Question / test</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363" b="1">
                          <a:solidFill>
                            <a:srgbClr val="FFFFFF"/>
                          </a:solidFill>
                          <a:latin typeface="TT Fors Bold"/>
                          <a:ea typeface="TT Fors Bold"/>
                          <a:cs typeface="TT Fors Bold"/>
                        </a:rPr>
                        <a:t>Current result</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363" b="1">
                          <a:solidFill>
                            <a:srgbClr val="FFFFFF"/>
                          </a:solidFill>
                          <a:latin typeface="TT Fors Bold"/>
                          <a:ea typeface="TT Fors Bold"/>
                          <a:cs typeface="TT Fors Bold"/>
                        </a:rPr>
                        <a:t>Interpretation</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761320">
                <a:tc>
                  <a:txBody>
                    <a:bodyPr lIns="133350" tIns="133350" rIns="133350" bIns="133350"/>
                    <a:lstStyle/>
                    <a:p>
                      <a:pPr algn="l">
                        <a:buNone/>
                      </a:pPr>
                      <a:r>
                        <a:rPr sz="2363" b="0">
                          <a:solidFill>
                            <a:srgbClr val="FFFFFF"/>
                          </a:solidFill>
                          <a:latin typeface="TT Fors"/>
                          <a:ea typeface="TT Fors"/>
                          <a:cs typeface="TT Fors"/>
                        </a:rPr>
                        <a:t>Foreign vs local revenue / Welch</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p = 0.0427</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Small difference: +LKR 14.57</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61320">
                <a:tc>
                  <a:txBody>
                    <a:bodyPr lIns="133350" tIns="133350" rIns="133350" bIns="133350"/>
                    <a:lstStyle/>
                    <a:p>
                      <a:pPr algn="l">
                        <a:buNone/>
                      </a:pPr>
                      <a:r>
                        <a:rPr sz="2363" b="0">
                          <a:solidFill>
                            <a:srgbClr val="FFFFFF"/>
                          </a:solidFill>
                          <a:latin typeface="TT Fors"/>
                          <a:ea typeface="TT Fors"/>
                          <a:cs typeface="TT Fors"/>
                        </a:rPr>
                        <a:t>Dine-in vs takeaway variance / F</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p = 0.4035</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No detected variance difference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61320">
                <a:tc>
                  <a:txBody>
                    <a:bodyPr lIns="133350" tIns="133350" rIns="133350" bIns="133350"/>
                    <a:lstStyle/>
                    <a:p>
                      <a:pPr algn="l">
                        <a:buNone/>
                      </a:pPr>
                      <a:r>
                        <a:rPr sz="2363" b="0">
                          <a:solidFill>
                            <a:srgbClr val="FFFFFF"/>
                          </a:solidFill>
                          <a:latin typeface="TT Fors"/>
                          <a:ea typeface="TT Fors"/>
                          <a:cs typeface="TT Fors"/>
                        </a:rPr>
                        <a:t>Top-eight outlet means / ANOVA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p = 0.3266</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No detected mean difference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61320">
                <a:tc>
                  <a:txBody>
                    <a:bodyPr lIns="133350" tIns="133350" rIns="133350" bIns="133350"/>
                    <a:lstStyle/>
                    <a:p>
                      <a:pPr algn="l">
                        <a:buNone/>
                      </a:pPr>
                      <a:r>
                        <a:rPr sz="2363" b="0">
                          <a:solidFill>
                            <a:srgbClr val="FFFFFF"/>
                          </a:solidFill>
                          <a:latin typeface="TT Fors"/>
                          <a:ea typeface="TT Fors"/>
                          <a:cs typeface="TT Fors"/>
                        </a:rPr>
                        <a:t>Payment × customer type / χ²</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p &lt; 0.0001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Clear association</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61320">
                <a:tc>
                  <a:txBody>
                    <a:bodyPr lIns="133350" tIns="133350" rIns="133350" bIns="133350"/>
                    <a:lstStyle/>
                    <a:p>
                      <a:pPr algn="l">
                        <a:buNone/>
                      </a:pPr>
                      <a:r>
                        <a:rPr sz="2363" b="0">
                          <a:solidFill>
                            <a:srgbClr val="FFFFFF"/>
                          </a:solidFill>
                          <a:latin typeface="TT Fors"/>
                          <a:ea typeface="TT Fors"/>
                          <a:cs typeface="TT Fors"/>
                        </a:rPr>
                        <a:t>Quantity × daypart / Kruskal–Wallis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p = 0.8548</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No detected distribution difference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61320">
                <a:tc>
                  <a:txBody>
                    <a:bodyPr lIns="133350" tIns="133350" rIns="133350" bIns="133350"/>
                    <a:lstStyle/>
                    <a:p>
                      <a:pPr algn="l">
                        <a:buNone/>
                      </a:pPr>
                      <a:r>
                        <a:rPr sz="2363" b="0">
                          <a:solidFill>
                            <a:srgbClr val="FFFFFF"/>
                          </a:solidFill>
                          <a:latin typeface="TT Fors"/>
                          <a:ea typeface="TT Fors"/>
                          <a:cs typeface="TT Fors"/>
                        </a:rPr>
                        <a:t>Discount × revenue / correlation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r = 0.0433; ρ ≈ 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Weak linear link, no rank link</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1894ACE5-9CA6-4DA6-B4CC-C0B4F50BAFA5}"/>
              </a:ext>
            </a:extLst>
          </p:cNvPr>
          <p:cNvSpPr>
            <a:spLocks xmlns:a="http://schemas.openxmlformats.org/drawingml/2006/main" noGrp="1"/>
          </p:cNvSpPr>
          <p:nvPr/>
        </p:nvSpPr>
        <p:spPr>
          <a:xfrm xmlns:a="http://schemas.openxmlformats.org/drawingml/2006/main">
            <a:off x="942975" y="8715375"/>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These observational tests do not establish that promotions cause sales growth.</a:t>
            </a:r>
          </a:p>
        </p:txBody>
      </p:sp>
    </p:spTree>
    <p:extLst>
      <p:ext uri="{BB962C8B-B14F-4D97-AF65-F5344CB8AC3E}">
        <p14:creationId xmlns:p14="http://schemas.microsoft.com/office/powerpoint/2010/main" val="73300565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896bdac7e3364018"/>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896bdac7e3364018">
              <a:extLst>
                <a:ext uri="{96DAC541-7B7A-43D3-8B79-37D633B846F1}">
                  <asvg:svgBlip xmlns:asvg="http://schemas.microsoft.com/office/drawing/2016/SVG/main" r:embed="Ra29d4684104a4104"/>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D1AD0279-8D4D-45B8-8DC8-A56BBCD58FE4}"/>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84361C53-0FDF-4621-B672-7CE8AE513593}"/>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8EBDE3DD-B415-484A-928A-F9D5C3BB14BC}"/>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A4C7BDCA-6827-4EE9-B261-81BF45395AA5}"/>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50A0C0D5-A01C-489C-82DB-C0EF40D269C1}"/>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PREDICTION TARGET AND VARIABLES</a:t>
            </a:r>
          </a:p>
        </p:txBody>
      </p:sp>
      <p:sp>
        <p:nvSpPr>
          <p:cNvPr id="14" name="text-9">
            <a:extLst xmlns:a="http://schemas.openxmlformats.org/drawingml/2006/main">
              <a:ext uri="{FF2B5EF4-FFF2-40B4-BE49-F238E27FC236}">
                <a16:creationId xmlns:a16="http://schemas.microsoft.com/office/drawing/2014/main" id="{84420A9A-32BA-4FF3-9EF4-932B2BB9A1B8}"/>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Target: MainCategory for a recorded item line</a:t>
            </a:r>
          </a:p>
        </p:txBody>
      </p:sp>
      <p:sp>
        <p:nvSpPr>
          <p:cNvPr id="15" name="page-marker">
            <a:extLst xmlns:a="http://schemas.openxmlformats.org/drawingml/2006/main">
              <a:ext uri="{FF2B5EF4-FFF2-40B4-BE49-F238E27FC236}">
                <a16:creationId xmlns:a16="http://schemas.microsoft.com/office/drawing/2014/main" id="{8488CA48-8E29-42FD-A34C-DD1E6E6740BE}"/>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09</a:t>
            </a:r>
          </a:p>
        </p:txBody>
      </p:sp>
      <p:sp>
        <p:nvSpPr>
          <p:cNvPr id="16" name="text-11">
            <a:extLst xmlns:a="http://schemas.openxmlformats.org/drawingml/2006/main">
              <a:ext uri="{FF2B5EF4-FFF2-40B4-BE49-F238E27FC236}">
                <a16:creationId xmlns:a16="http://schemas.microsoft.com/office/drawing/2014/main" id="{BE10CFF5-CC90-43DC-9CE0-7EF4B1720EF5}"/>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1C637F42-185B-4971-B824-663F1BB13142}"/>
              </a:ext>
            </a:extLst>
          </p:cNvPr>
          <p:cNvGraphicFramePr/>
          <p:nvPr/>
        </p:nvGraphicFramePr>
        <p:xfrm>
          <a:off xmlns:a="http://schemas.openxmlformats.org/drawingml/2006/main" x="971550" y="3086100"/>
          <a:ext xmlns:a="http://schemas.openxmlformats.org/drawingml/2006/main" cx="16344900" cy="4429125"/>
        </p:xfrm>
        <a:graphic xmlns:a="http://schemas.openxmlformats.org/drawingml/2006/main">
          <a:graphicData uri="http://schemas.openxmlformats.org/drawingml/2006/table">
            <a:tbl>
              <a:tblPr/>
              <a:tblGrid>
                <a:gridCol w="5214938"/>
                <a:gridCol w="11129963"/>
              </a:tblGrid>
              <a:tr h="885825">
                <a:tc>
                  <a:txBody>
                    <a:bodyPr lIns="133350" tIns="133350" rIns="133350" bIns="133350"/>
                    <a:lstStyle/>
                    <a:p>
                      <a:pPr algn="l">
                        <a:buNone/>
                      </a:pPr>
                      <a:r>
                        <a:rPr sz="2925" b="1">
                          <a:solidFill>
                            <a:srgbClr val="FFFFFF"/>
                          </a:solidFill>
                          <a:latin typeface="TT Fors Bold"/>
                          <a:ea typeface="TT Fors Bold"/>
                          <a:cs typeface="TT Fors Bold"/>
                        </a:rPr>
                        <a:t>Predictor group</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925" b="1">
                          <a:solidFill>
                            <a:srgbClr val="FFFFFF"/>
                          </a:solidFill>
                          <a:latin typeface="TT Fors Bold"/>
                          <a:ea typeface="TT Fors Bold"/>
                          <a:cs typeface="TT Fors Bold"/>
                        </a:rPr>
                        <a:t>Examples in the code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85825">
                <a:tc>
                  <a:txBody>
                    <a:bodyPr lIns="133350" tIns="133350" rIns="133350" bIns="133350"/>
                    <a:lstStyle/>
                    <a:p>
                      <a:pPr algn="l">
                        <a:buNone/>
                      </a:pPr>
                      <a:r>
                        <a:rPr sz="2925" b="0">
                          <a:solidFill>
                            <a:srgbClr val="FFFFFF"/>
                          </a:solidFill>
                          <a:latin typeface="TT Fors"/>
                          <a:ea typeface="TT Fors"/>
                          <a:cs typeface="TT Fors"/>
                        </a:rPr>
                        <a:t>Context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925" b="0">
                          <a:solidFill>
                            <a:srgbClr val="FFFFFF"/>
                          </a:solidFill>
                          <a:latin typeface="TT Fors"/>
                          <a:ea typeface="TT Fors"/>
                          <a:cs typeface="TT Fors"/>
                        </a:rPr>
                        <a:t>Time of day, weekend, customer type, order type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lgn="l">
                        <a:buNone/>
                      </a:pPr>
                      <a:r>
                        <a:rPr sz="2925" b="0">
                          <a:solidFill>
                            <a:srgbClr val="FFFFFF"/>
                          </a:solidFill>
                          <a:latin typeface="TT Fors"/>
                          <a:ea typeface="TT Fors"/>
                          <a:cs typeface="TT Fors"/>
                        </a:rPr>
                        <a:t>Customer / payment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925" b="0">
                          <a:solidFill>
                            <a:srgbClr val="FFFFFF"/>
                          </a:solidFill>
                          <a:latin typeface="TT Fors"/>
                          <a:ea typeface="TT Fors"/>
                          <a:cs typeface="TT Fors"/>
                        </a:rPr>
                        <a:t>Loyalty indicator, payment method</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lgn="l">
                        <a:buNone/>
                      </a:pPr>
                      <a:r>
                        <a:rPr sz="2925" b="0">
                          <a:solidFill>
                            <a:srgbClr val="FFFFFF"/>
                          </a:solidFill>
                          <a:latin typeface="TT Fors"/>
                          <a:ea typeface="TT Fors"/>
                          <a:cs typeface="TT Fors"/>
                        </a:rPr>
                        <a:t>Recorded purchase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925" b="0">
                          <a:solidFill>
                            <a:srgbClr val="FFFFFF"/>
                          </a:solidFill>
                          <a:latin typeface="TT Fors"/>
                          <a:ea typeface="TT Fors"/>
                          <a:cs typeface="TT Fors"/>
                        </a:rPr>
                        <a:t>Quantity, unit rate, discount, service charge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lgn="l">
                        <a:buNone/>
                      </a:pPr>
                      <a:r>
                        <a:rPr sz="2925" b="0">
                          <a:solidFill>
                            <a:srgbClr val="FFFFFF"/>
                          </a:solidFill>
                          <a:latin typeface="TT Fors"/>
                          <a:ea typeface="TT Fors"/>
                          <a:cs typeface="TT Fors"/>
                        </a:rPr>
                        <a:t>Order context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925" b="0">
                          <a:solidFill>
                            <a:srgbClr val="FFFFFF"/>
                          </a:solidFill>
                          <a:latin typeface="TT Fors"/>
                          <a:ea typeface="TT Fors"/>
                          <a:cs typeface="TT Fors"/>
                        </a:rPr>
                        <a:t>BasketItems = number of item lines in the order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85724C66-59F4-4A01-BE58-2A943B1FD472}"/>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A future upsell model must use information available before the extra purchase.</a:t>
            </a:r>
          </a:p>
        </p:txBody>
      </p:sp>
    </p:spTree>
    <p:extLst>
      <p:ext uri="{BB962C8B-B14F-4D97-AF65-F5344CB8AC3E}">
        <p14:creationId xmlns:p14="http://schemas.microsoft.com/office/powerpoint/2010/main" val="73300565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854187858c6e4d1d"/>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854187858c6e4d1d">
              <a:extLst>
                <a:ext uri="{96DAC541-7B7A-43D3-8B79-37D633B846F1}">
                  <asvg:svgBlip xmlns:asvg="http://schemas.microsoft.com/office/drawing/2016/SVG/main" r:embed="R0acee9e48f2d4cf6"/>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71854A6E-CB16-4BBD-A457-EFF35B4A9B4D}"/>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61AEC466-402C-4129-8996-98D8633288D7}"/>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2AD41492-4366-437B-B7E8-E78B9D5AFF41}"/>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F4010154-5FBD-40B4-9577-674D4CE2B8EC}"/>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6E90DBED-6060-4C2E-8F15-052EB4B0849E}"/>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CLASS IMBALANCE AND SAMPLING</a:t>
            </a:r>
          </a:p>
        </p:txBody>
      </p:sp>
      <p:sp>
        <p:nvSpPr>
          <p:cNvPr id="14" name="text-9">
            <a:extLst xmlns:a="http://schemas.openxmlformats.org/drawingml/2006/main">
              <a:ext uri="{FF2B5EF4-FFF2-40B4-BE49-F238E27FC236}">
                <a16:creationId xmlns:a16="http://schemas.microsoft.com/office/drawing/2014/main" id="{E9BBC076-EE16-4050-A055-0F14271A1FA3}"/>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Stratified splitting preserves proportions. No class balancing is implemented.</a:t>
            </a:r>
          </a:p>
        </p:txBody>
      </p:sp>
      <p:sp>
        <p:nvSpPr>
          <p:cNvPr id="15" name="page-marker">
            <a:extLst xmlns:a="http://schemas.openxmlformats.org/drawingml/2006/main">
              <a:ext uri="{FF2B5EF4-FFF2-40B4-BE49-F238E27FC236}">
                <a16:creationId xmlns:a16="http://schemas.microsoft.com/office/drawing/2014/main" id="{33CF116F-D2F7-47D9-B3C5-4DE9427F0011}"/>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10</a:t>
            </a:r>
          </a:p>
        </p:txBody>
      </p:sp>
      <p:sp>
        <p:nvSpPr>
          <p:cNvPr id="16" name="text-11">
            <a:extLst xmlns:a="http://schemas.openxmlformats.org/drawingml/2006/main">
              <a:ext uri="{FF2B5EF4-FFF2-40B4-BE49-F238E27FC236}">
                <a16:creationId xmlns:a16="http://schemas.microsoft.com/office/drawing/2014/main" id="{086D6825-A1E4-4BCB-A314-A37057F322BC}"/>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C1C447B9-1B95-4844-BFE5-F0A7C5AAEEE4}"/>
              </a:ext>
            </a:extLst>
          </p:cNvPr>
          <p:cNvGraphicFramePr/>
          <p:nvPr/>
        </p:nvGraphicFramePr>
        <p:xfrm>
          <a:off xmlns:a="http://schemas.openxmlformats.org/drawingml/2006/main" x="971550" y="3214688"/>
          <a:ext xmlns:a="http://schemas.openxmlformats.org/drawingml/2006/main" cx="10287000" cy="4486275"/>
        </p:xfrm>
        <a:graphic xmlns:a="http://schemas.openxmlformats.org/drawingml/2006/main">
          <a:graphicData uri="http://schemas.openxmlformats.org/drawingml/2006/table">
            <a:tbl>
              <a:tblPr/>
              <a:tblGrid>
                <a:gridCol w="5000625"/>
                <a:gridCol w="2643188"/>
                <a:gridCol w="2643188"/>
              </a:tblGrid>
              <a:tr h="897255">
                <a:tc>
                  <a:txBody>
                    <a:bodyPr lIns="133350" tIns="133350" rIns="133350" bIns="133350"/>
                    <a:lstStyle/>
                    <a:p>
                      <a:pPr algn="l">
                        <a:buNone/>
                      </a:pPr>
                      <a:r>
                        <a:rPr sz="2813" b="1">
                          <a:solidFill>
                            <a:srgbClr val="FFFFFF"/>
                          </a:solidFill>
                          <a:latin typeface="TT Fors Bold"/>
                          <a:ea typeface="TT Fors Bold"/>
                          <a:cs typeface="TT Fors Bold"/>
                        </a:rPr>
                        <a:t>Category</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813" b="1">
                          <a:solidFill>
                            <a:srgbClr val="FFFFFF"/>
                          </a:solidFill>
                          <a:latin typeface="TT Fors Bold"/>
                          <a:ea typeface="TT Fors Bold"/>
                          <a:cs typeface="TT Fors Bold"/>
                        </a:rPr>
                        <a:t>Item lines</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813" b="1">
                          <a:solidFill>
                            <a:srgbClr val="FFFFFF"/>
                          </a:solidFill>
                          <a:latin typeface="TT Fors Bold"/>
                          <a:ea typeface="TT Fors Bold"/>
                          <a:cs typeface="TT Fors Bold"/>
                        </a:rPr>
                        <a:t>Share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97255">
                <a:tc>
                  <a:txBody>
                    <a:bodyPr lIns="133350" tIns="133350" rIns="133350" bIns="133350"/>
                    <a:lstStyle/>
                    <a:p>
                      <a:pPr algn="l">
                        <a:buNone/>
                      </a:pPr>
                      <a:r>
                        <a:rPr sz="2813" b="0">
                          <a:solidFill>
                            <a:srgbClr val="FFFFFF"/>
                          </a:solidFill>
                          <a:latin typeface="TT Fors"/>
                          <a:ea typeface="TT Fors"/>
                          <a:cs typeface="TT Fors"/>
                        </a:rPr>
                        <a:t>Beverage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15,373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52.17%</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2813" b="0">
                          <a:solidFill>
                            <a:srgbClr val="FFFFFF"/>
                          </a:solidFill>
                          <a:latin typeface="TT Fors"/>
                          <a:ea typeface="TT Fors"/>
                          <a:cs typeface="TT Fors"/>
                        </a:rPr>
                        <a:t>Food</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9,933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33.71%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2813" b="0">
                          <a:solidFill>
                            <a:srgbClr val="FFFFFF"/>
                          </a:solidFill>
                          <a:latin typeface="TT Fors"/>
                          <a:ea typeface="TT Fors"/>
                          <a:cs typeface="TT Fors"/>
                        </a:rPr>
                        <a:t>Deals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2,571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8.73%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2813" b="0">
                          <a:solidFill>
                            <a:srgbClr val="FFFFFF"/>
                          </a:solidFill>
                          <a:latin typeface="TT Fors"/>
                          <a:ea typeface="TT Fors"/>
                          <a:cs typeface="TT Fors"/>
                        </a:rPr>
                        <a:t>Merchandizing</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1,588</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5.39%</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6EAA7FB5-9BFB-41B4-A2B9-4514BE37DBD3}"/>
              </a:ext>
            </a:extLst>
          </p:cNvPr>
          <p:cNvSpPr>
            <a:spLocks xmlns:a="http://schemas.openxmlformats.org/drawingml/2006/main" noGrp="1"/>
          </p:cNvSpPr>
          <p:nvPr/>
        </p:nvSpPr>
        <p:spPr>
          <a:xfrm xmlns:a="http://schemas.openxmlformats.org/drawingml/2006/main">
            <a:off x="11987213" y="3414713"/>
            <a:ext cx="5214938" cy="397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Current approach</a:t>
            </a:r>
          </a:p>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Stratified 80/20 split</a:t>
            </a:r>
          </a:p>
          <a:p xmlns:a="http://schemas.openxmlformats.org/drawingml/2006/main">
            <a:r>
              <a:t/>
            </a:r>
          </a:p>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Future comparison</a:t>
            </a:r>
          </a:p>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Balance training data only</a:t>
            </a:r>
          </a:p>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if category results improve</a:t>
            </a:r>
          </a:p>
        </p:txBody>
      </p:sp>
      <p:sp>
        <p:nvSpPr>
          <p:cNvPr id="19" name="text-13">
            <a:extLst xmlns:a="http://schemas.openxmlformats.org/drawingml/2006/main">
              <a:ext uri="{FF2B5EF4-FFF2-40B4-BE49-F238E27FC236}">
                <a16:creationId xmlns:a16="http://schemas.microsoft.com/office/drawing/2014/main" id="{EFFD2CE9-C00B-42B2-89D7-C913C7588C96}"/>
              </a:ext>
            </a:extLst>
          </p:cNvPr>
          <p:cNvSpPr>
            <a:spLocks xmlns:a="http://schemas.openxmlformats.org/drawingml/2006/main" noGrp="1"/>
          </p:cNvSpPr>
          <p:nvPr/>
        </p:nvSpPr>
        <p:spPr>
          <a:xfrm xmlns:a="http://schemas.openxmlformats.org/drawingml/2006/main">
            <a:off x="942975" y="868680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Accuracy can hide minority-category errors. Report macro F1 and category recall.</a:t>
            </a:r>
          </a:p>
        </p:txBody>
      </p:sp>
    </p:spTree>
    <p:extLst>
      <p:ext uri="{BB962C8B-B14F-4D97-AF65-F5344CB8AC3E}">
        <p14:creationId xmlns:p14="http://schemas.microsoft.com/office/powerpoint/2010/main" val="73300565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629b36c26582482e"/>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629b36c26582482e">
              <a:extLst>
                <a:ext uri="{96DAC541-7B7A-43D3-8B79-37D633B846F1}">
                  <asvg:svgBlip xmlns:asvg="http://schemas.microsoft.com/office/drawing/2016/SVG/main" r:embed="R00588bbe70624553"/>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B154CDD1-838D-4913-9849-E76EF57EC83D}"/>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ABB30D36-EAE0-4A5C-8302-6B4C13C8305B}"/>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20485D93-A934-4286-A64C-79231221F452}"/>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80D60415-3E61-4479-910B-4994C81F7CCC}"/>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F41FB116-BCAC-4977-B3D4-3B9CBED2847B}"/>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CLASSIFICATION MODELS AND ASSUMPTIONS</a:t>
            </a:r>
          </a:p>
        </p:txBody>
      </p:sp>
      <p:sp>
        <p:nvSpPr>
          <p:cNvPr id="14" name="text-9">
            <a:extLst xmlns:a="http://schemas.openxmlformats.org/drawingml/2006/main">
              <a:ext uri="{FF2B5EF4-FFF2-40B4-BE49-F238E27FC236}">
                <a16:creationId xmlns:a16="http://schemas.microsoft.com/office/drawing/2014/main" id="{371B5B84-916F-460F-BD1E-B9987CBCFB2E}"/>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Four methods represent different assumptions about category boundaries.</a:t>
            </a:r>
          </a:p>
        </p:txBody>
      </p:sp>
      <p:sp>
        <p:nvSpPr>
          <p:cNvPr id="15" name="page-marker">
            <a:extLst xmlns:a="http://schemas.openxmlformats.org/drawingml/2006/main">
              <a:ext uri="{FF2B5EF4-FFF2-40B4-BE49-F238E27FC236}">
                <a16:creationId xmlns:a16="http://schemas.microsoft.com/office/drawing/2014/main" id="{5AA39B9F-1ECA-45D0-966B-3FA2A77A8E7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11</a:t>
            </a:r>
          </a:p>
        </p:txBody>
      </p:sp>
      <p:sp>
        <p:nvSpPr>
          <p:cNvPr id="16" name="text-11">
            <a:extLst xmlns:a="http://schemas.openxmlformats.org/drawingml/2006/main">
              <a:ext uri="{FF2B5EF4-FFF2-40B4-BE49-F238E27FC236}">
                <a16:creationId xmlns:a16="http://schemas.microsoft.com/office/drawing/2014/main" id="{37EEF828-1EAF-4040-A137-672B5ED4FA47}"/>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F4ED3A14-AE97-46DD-816F-64D6D4566277}"/>
              </a:ext>
            </a:extLst>
          </p:cNvPr>
          <p:cNvGraphicFramePr/>
          <p:nvPr/>
        </p:nvGraphicFramePr>
        <p:xfrm>
          <a:off xmlns:a="http://schemas.openxmlformats.org/drawingml/2006/main" x="971550" y="3214688"/>
          <a:ext xmlns:a="http://schemas.openxmlformats.org/drawingml/2006/main" cx="16344900" cy="4572000"/>
        </p:xfrm>
        <a:graphic xmlns:a="http://schemas.openxmlformats.org/drawingml/2006/main">
          <a:graphicData uri="http://schemas.openxmlformats.org/drawingml/2006/table">
            <a:tbl>
              <a:tblPr/>
              <a:tblGrid>
                <a:gridCol w="4714875"/>
                <a:gridCol w="6000750"/>
                <a:gridCol w="5629275"/>
              </a:tblGrid>
              <a:tr h="914400">
                <a:tc>
                  <a:txBody>
                    <a:bodyPr lIns="133350" tIns="133350" rIns="133350" bIns="133350"/>
                    <a:lstStyle/>
                    <a:p>
                      <a:pPr algn="l">
                        <a:buNone/>
                      </a:pPr>
                      <a:r>
                        <a:rPr sz="2700" b="1">
                          <a:solidFill>
                            <a:srgbClr val="FFFFFF"/>
                          </a:solidFill>
                          <a:latin typeface="TT Fors Bold"/>
                          <a:ea typeface="TT Fors Bold"/>
                          <a:cs typeface="TT Fors Bold"/>
                        </a:rPr>
                        <a:t>Model</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700" b="1">
                          <a:solidFill>
                            <a:srgbClr val="FFFFFF"/>
                          </a:solidFill>
                          <a:latin typeface="TT Fors Bold"/>
                          <a:ea typeface="TT Fors Bold"/>
                          <a:cs typeface="TT Fors Bold"/>
                        </a:rPr>
                        <a:t>Main idea</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700" b="1">
                          <a:solidFill>
                            <a:srgbClr val="FFFFFF"/>
                          </a:solidFill>
                          <a:latin typeface="TT Fors Bold"/>
                          <a:ea typeface="TT Fors Bold"/>
                          <a:cs typeface="TT Fors Bold"/>
                        </a:rPr>
                        <a:t>Important limitation</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914400">
                <a:tc>
                  <a:txBody>
                    <a:bodyPr lIns="133350" tIns="133350" rIns="133350" bIns="133350"/>
                    <a:lstStyle/>
                    <a:p>
                      <a:pPr algn="l">
                        <a:buNone/>
                      </a:pPr>
                      <a:r>
                        <a:rPr sz="2700" b="0">
                          <a:solidFill>
                            <a:srgbClr val="FFFFFF"/>
                          </a:solidFill>
                          <a:latin typeface="TT Fors"/>
                          <a:ea typeface="TT Fors"/>
                          <a:cs typeface="TT Fors"/>
                        </a:rPr>
                        <a:t>Multinomial logistic</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Model category log-odds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Linear log-odds specification</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14400">
                <a:tc>
                  <a:txBody>
                    <a:bodyPr lIns="133350" tIns="133350" rIns="133350" bIns="133350"/>
                    <a:lstStyle/>
                    <a:p>
                      <a:pPr algn="l">
                        <a:buNone/>
                      </a:pPr>
                      <a:r>
                        <a:rPr sz="2700" b="0">
                          <a:solidFill>
                            <a:srgbClr val="FFFFFF"/>
                          </a:solidFill>
                          <a:latin typeface="TT Fors"/>
                          <a:ea typeface="TT Fors"/>
                          <a:cs typeface="TT Fors"/>
                        </a:rPr>
                        <a:t>LDA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Shared within-class covariance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Distribution and covariance assumptions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14400">
                <a:tc>
                  <a:txBody>
                    <a:bodyPr lIns="133350" tIns="133350" rIns="133350" bIns="133350"/>
                    <a:lstStyle/>
                    <a:p>
                      <a:pPr algn="l">
                        <a:buNone/>
                      </a:pPr>
                      <a:r>
                        <a:rPr sz="2700" b="0">
                          <a:solidFill>
                            <a:srgbClr val="FFFFFF"/>
                          </a:solidFill>
                          <a:latin typeface="TT Fors"/>
                          <a:ea typeface="TT Fors"/>
                          <a:cs typeface="TT Fors"/>
                        </a:rPr>
                        <a:t>QDA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Separate covariance by class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More parameters and fewer predictors here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14400">
                <a:tc>
                  <a:txBody>
                    <a:bodyPr lIns="133350" tIns="133350" rIns="133350" bIns="133350"/>
                    <a:lstStyle/>
                    <a:p>
                      <a:pPr algn="l">
                        <a:buNone/>
                      </a:pPr>
                      <a:r>
                        <a:rPr sz="2700" b="0">
                          <a:solidFill>
                            <a:srgbClr val="FFFFFF"/>
                          </a:solidFill>
                          <a:latin typeface="TT Fors"/>
                          <a:ea typeface="TT Fors"/>
                          <a:cs typeface="TT Fors"/>
                        </a:rPr>
                        <a:t>Naïve Bayes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Combine prior and likelihoods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Conditional independence assumption</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A3D63C39-17C0-4B97-B2F0-268C64246427}"/>
              </a:ext>
            </a:extLst>
          </p:cNvPr>
          <p:cNvSpPr>
            <a:spLocks xmlns:a="http://schemas.openxmlformats.org/drawingml/2006/main" noGrp="1"/>
          </p:cNvSpPr>
          <p:nvPr/>
        </p:nvSpPr>
        <p:spPr>
          <a:xfrm xmlns:a="http://schemas.openxmlformats.org/drawingml/2006/main">
            <a:off x="942975" y="868680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QDA uses a reduced numeric feature set, so this comparison also changes inputs.</a:t>
            </a:r>
          </a:p>
        </p:txBody>
      </p:sp>
    </p:spTree>
    <p:extLst>
      <p:ext uri="{BB962C8B-B14F-4D97-AF65-F5344CB8AC3E}">
        <p14:creationId xmlns:p14="http://schemas.microsoft.com/office/powerpoint/2010/main" val="73300565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607ebbb8045846c5"/>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607ebbb8045846c5">
              <a:extLst>
                <a:ext uri="{96DAC541-7B7A-43D3-8B79-37D633B846F1}">
                  <asvg:svgBlip xmlns:asvg="http://schemas.microsoft.com/office/drawing/2016/SVG/main" r:embed="R60fb5ec240474f0e"/>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DC4DA993-E68E-41CB-A1CD-5D4C1EEA357A}"/>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70BA236D-8C94-4FEB-8083-048FAF94772B}"/>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023545F9-7968-4FC3-A68A-B573218930CF}"/>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BA78EC89-9BB0-47D8-A302-2741DB88B48C}"/>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EE981B7B-0AB2-4EBE-B0AE-A2B4E08ECC1F}"/>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MODEL PERFORMANCE COMPARISON</a:t>
            </a:r>
          </a:p>
        </p:txBody>
      </p:sp>
      <p:sp>
        <p:nvSpPr>
          <p:cNvPr id="14" name="text-9">
            <a:extLst xmlns:a="http://schemas.openxmlformats.org/drawingml/2006/main">
              <a:ext uri="{FF2B5EF4-FFF2-40B4-BE49-F238E27FC236}">
                <a16:creationId xmlns:a16="http://schemas.microsoft.com/office/drawing/2014/main" id="{AD71886C-1DFE-4025-955E-8829E64651C0}"/>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t>4-member tournament evaluated on stratified 80/20 test split (5,893 unseen transactions)</a:t>
            </a:r>
          </a:p>
        </p:txBody>
      </p:sp>
      <p:sp>
        <p:nvSpPr>
          <p:cNvPr id="15" name="page-marker">
            <a:extLst xmlns:a="http://schemas.openxmlformats.org/drawingml/2006/main">
              <a:ext uri="{FF2B5EF4-FFF2-40B4-BE49-F238E27FC236}">
                <a16:creationId xmlns:a16="http://schemas.microsoft.com/office/drawing/2014/main" id="{99E8F01E-8F32-4CCA-A8F9-22C82F40D7E4}"/>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12</a:t>
            </a:r>
          </a:p>
        </p:txBody>
      </p:sp>
      <p:sp>
        <p:nvSpPr>
          <p:cNvPr id="16" name="text-11">
            <a:extLst xmlns:a="http://schemas.openxmlformats.org/drawingml/2006/main">
              <a:ext uri="{FF2B5EF4-FFF2-40B4-BE49-F238E27FC236}">
                <a16:creationId xmlns:a16="http://schemas.microsoft.com/office/drawing/2014/main" id="{87DE952F-C49D-4ADA-AAB7-09584FA2C1F8}"/>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486F30F9-ADAA-47BE-9FC5-BE27ADFE03DE}"/>
              </a:ext>
            </a:extLst>
          </p:cNvPr>
          <p:cNvGraphicFramePr/>
          <p:nvPr/>
        </p:nvGraphicFramePr>
        <p:xfrm>
          <a:off xmlns:a="http://schemas.openxmlformats.org/drawingml/2006/main" x="971550" y="3114675"/>
          <a:ext xmlns:a="http://schemas.openxmlformats.org/drawingml/2006/main" cx="16344900" cy="4429125"/>
        </p:xfrm>
        <a:graphic xmlns:a="http://schemas.openxmlformats.org/drawingml/2006/main">
          <a:graphicData uri="http://schemas.openxmlformats.org/drawingml/2006/table">
            <a:tbl>
              <a:tblPr/>
              <a:tblGrid>
                <a:gridCol w="6715125"/>
                <a:gridCol w="3214688"/>
                <a:gridCol w="3214688"/>
                <a:gridCol w="3200400"/>
              </a:tblGrid>
              <a:tr h="885825">
                <a:tc>
                  <a:txBody>
                    <a:bodyPr lIns="133350" tIns="133350" rIns="133350" bIns="133350"/>
                    <a:lstStyle/>
                    <a:p>
                      <a:pPr>
                        <a:defRPr sz="1200" b="1">
                          <a:solidFill>
                            <a:srgbClr val="1A202C"/>
                          </a:solidFill>
                        </a:defRPr>
                      </a:pPr>
                      <a:r>
                        <a:t>Model Architecture &amp; Member</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t>Top-1 Acc</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t>Hit@2</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t>Macro F1</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85825">
                <a:tc>
                  <a:txBody>
                    <a:bodyPr lIns="133350" tIns="133350" rIns="133350" bIns="133350"/>
                    <a:lstStyle/>
                    <a:p>
                      <a:pPr>
                        <a:defRPr sz="1100" b="1">
                          <a:solidFill>
                            <a:srgbClr val="1450A0"/>
                          </a:solidFill>
                        </a:defRPr>
                      </a:pPr>
                      <a:r>
                        <a:t>Linear Discriminant Analysis (LDA - Member 2) 🏆</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100" b="1">
                          <a:solidFill>
                            <a:srgbClr val="1450A0"/>
                          </a:solidFill>
                        </a:defRPr>
                      </a:pPr>
                      <a:r>
                        <a:t>76.23%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100" b="0">
                          <a:solidFill>
                            <a:srgbClr val="2D3748"/>
                          </a:solidFill>
                        </a:defRPr>
                      </a:pPr>
                      <a:r>
                        <a:t>98.40%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100" b="1">
                          <a:solidFill>
                            <a:srgbClr val="1450A0"/>
                          </a:solidFill>
                        </a:defRPr>
                      </a:pPr>
                      <a:r>
                        <a:t>76.14%</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defRPr sz="1100" b="0">
                          <a:solidFill>
                            <a:srgbClr val="2D3748"/>
                          </a:solidFill>
                        </a:defRPr>
                      </a:pPr>
                      <a:r>
                        <a:t>Multinomial Logistic Regression (Member 1)</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100" b="0">
                          <a:solidFill>
                            <a:srgbClr val="2D3748"/>
                          </a:solidFill>
                        </a:defRPr>
                      </a:pPr>
                      <a:r>
                        <a:t>76.21%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100" b="1">
                          <a:solidFill>
                            <a:srgbClr val="1450A0"/>
                          </a:solidFill>
                        </a:defRPr>
                      </a:pPr>
                      <a:r>
                        <a:t>98.51% 🏆</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100" b="0">
                          <a:solidFill>
                            <a:srgbClr val="2D3748"/>
                          </a:solidFill>
                        </a:defRPr>
                      </a:pPr>
                      <a:r>
                        <a:t>76.02%</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defRPr sz="1100" b="0">
                          <a:solidFill>
                            <a:srgbClr val="2D3748"/>
                          </a:solidFill>
                        </a:defRPr>
                      </a:pPr>
                      <a:r>
                        <a:t>Quadratic Discriminant Analysis (QDA - Member 3)</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100" b="0">
                          <a:solidFill>
                            <a:srgbClr val="2D3748"/>
                          </a:solidFill>
                        </a:defRPr>
                      </a:pPr>
                      <a:r>
                        <a:t>75.21%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100" b="0">
                          <a:solidFill>
                            <a:srgbClr val="2D3748"/>
                          </a:solidFill>
                        </a:defRPr>
                      </a:pPr>
                      <a:r>
                        <a:t>98.47%</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100" b="0">
                          <a:solidFill>
                            <a:srgbClr val="2D3748"/>
                          </a:solidFill>
                        </a:defRPr>
                      </a:pPr>
                      <a:r>
                        <a:t>75.82%</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defRPr sz="1100" b="0">
                          <a:solidFill>
                            <a:srgbClr val="2D3748"/>
                          </a:solidFill>
                        </a:defRPr>
                      </a:pPr>
                      <a:r>
                        <a:t>Naïve Bayes Classifier (Member 4)</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100" b="0">
                          <a:solidFill>
                            <a:srgbClr val="2D3748"/>
                          </a:solidFill>
                        </a:defRPr>
                      </a:pPr>
                      <a:r>
                        <a:t>71.47%</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100" b="0">
                          <a:solidFill>
                            <a:srgbClr val="2D3748"/>
                          </a:solidFill>
                        </a:defRPr>
                      </a:pPr>
                      <a:r>
                        <a:t>97.34%</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100" b="0">
                          <a:solidFill>
                            <a:srgbClr val="2D3748"/>
                          </a:solidFill>
                        </a:defRPr>
                      </a:pPr>
                      <a:r>
                        <a:t>72.35%</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DB09FEA8-C062-4EA7-906B-DB76FFE75CED}"/>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r>
              <a:t>Champion: Linear Discriminant Analysis (LDA) selected for highest Top-1 accuracy (76.23%), highest Macro-F1 (76.14%), and sub-15ms edge latency.</a:t>
            </a:r>
          </a:p>
        </p:txBody>
      </p:sp>
    </p:spTree>
    <p:extLst>
      <p:ext uri="{BB962C8B-B14F-4D97-AF65-F5344CB8AC3E}">
        <p14:creationId xmlns:p14="http://schemas.microsoft.com/office/powerpoint/2010/main" val="73300565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74d8f43a668d476f"/>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74d8f43a668d476f">
              <a:extLst>
                <a:ext uri="{96DAC541-7B7A-43D3-8B79-37D633B846F1}">
                  <asvg:svgBlip xmlns:asvg="http://schemas.microsoft.com/office/drawing/2016/SVG/main" r:embed="Rf6627597ce81486e"/>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18727867-FABD-4898-BC1E-70C06D5B9DEB}"/>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F0EC3131-D22F-41CA-AC4A-140454333962}"/>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7918E537-AEBA-4790-A04A-1911F8A81D39}"/>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2EE9C530-AD66-4135-8A30-BDF80E7B3C9B}"/>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9D225B98-0860-4C53-A20E-28DF3F14E915}"/>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ACCURACY AND MACRO F1 COMPARISON</a:t>
            </a:r>
          </a:p>
        </p:txBody>
      </p:sp>
      <p:sp>
        <p:nvSpPr>
          <p:cNvPr id="14" name="text-9">
            <a:extLst xmlns:a="http://schemas.openxmlformats.org/drawingml/2006/main">
              <a:ext uri="{FF2B5EF4-FFF2-40B4-BE49-F238E27FC236}">
                <a16:creationId xmlns:a16="http://schemas.microsoft.com/office/drawing/2014/main" id="{69E3108C-B773-44A5-BD53-9761A787E818}"/>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Percentages from the saved benchmark. Higher values indicate better performance.</a:t>
            </a:r>
          </a:p>
        </p:txBody>
      </p:sp>
      <p:sp>
        <p:nvSpPr>
          <p:cNvPr id="15" name="page-marker">
            <a:extLst xmlns:a="http://schemas.openxmlformats.org/drawingml/2006/main">
              <a:ext uri="{FF2B5EF4-FFF2-40B4-BE49-F238E27FC236}">
                <a16:creationId xmlns:a16="http://schemas.microsoft.com/office/drawing/2014/main" id="{E5AF59C0-4EE4-4537-9823-96ACCCFAD2A2}"/>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13</a:t>
            </a:r>
          </a:p>
        </p:txBody>
      </p:sp>
      <p:sp>
        <p:nvSpPr>
          <p:cNvPr id="16" name="text-11">
            <a:extLst xmlns:a="http://schemas.openxmlformats.org/drawingml/2006/main">
              <a:ext uri="{FF2B5EF4-FFF2-40B4-BE49-F238E27FC236}">
                <a16:creationId xmlns:a16="http://schemas.microsoft.com/office/drawing/2014/main" id="{6D1EDE7E-DC51-45BC-89F8-F3749ADF29CF}"/>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Chart">
            <a:extLst xmlns:a="http://schemas.openxmlformats.org/drawingml/2006/main">
              <a:ext uri="{FF2B5EF4-FFF2-40B4-BE49-F238E27FC236}">
                <a16:creationId xmlns:a16="http://schemas.microsoft.com/office/drawing/2014/main" id="{AE741FF1-F951-49FA-9970-4BB9D2FE341D}"/>
              </a:ext>
            </a:extLst>
          </p:cNvPr>
          <p:cNvGraphicFramePr/>
          <p:nvPr/>
        </p:nvGraphicFramePr>
        <p:xfrm>
          <a:off xmlns:a="http://schemas.openxmlformats.org/drawingml/2006/main" x="971550" y="3257550"/>
          <a:ext xmlns:a="http://schemas.openxmlformats.org/drawingml/2006/main" cx="11644313" cy="4857750"/>
        </p:xfrm>
        <a:graphic xmlns:a="http://schemas.openxmlformats.org/drawingml/2006/main">
          <a:graphicData uri="http://schemas.openxmlformats.org/drawingml/2006/chart">
            <c:chart xmlns:r="http://schemas.openxmlformats.org/officeDocument/2006/relationships" xmlns:c="http://schemas.openxmlformats.org/drawingml/2006/chart" r:id="Rb6b41c8beb78469c"/>
          </a:graphicData>
        </a:graphic>
      </p:graphicFrame>
      <p:sp>
        <p:nvSpPr>
          <p:cNvPr id="18" name="text-12">
            <a:extLst xmlns:a="http://schemas.openxmlformats.org/drawingml/2006/main">
              <a:ext uri="{FF2B5EF4-FFF2-40B4-BE49-F238E27FC236}">
                <a16:creationId xmlns:a16="http://schemas.microsoft.com/office/drawing/2014/main" id="{15B71A62-141E-461F-A23B-F8C3E4B66DB5}"/>
              </a:ext>
            </a:extLst>
          </p:cNvPr>
          <p:cNvSpPr>
            <a:spLocks xmlns:a="http://schemas.openxmlformats.org/drawingml/2006/main" noGrp="1"/>
          </p:cNvSpPr>
          <p:nvPr/>
        </p:nvSpPr>
        <p:spPr>
          <a:xfrm xmlns:a="http://schemas.openxmlformats.org/drawingml/2006/main">
            <a:off x="13187363" y="3457575"/>
            <a:ext cx="402907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Accuracy</a:t>
            </a:r>
          </a:p>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Overall correct predictions</a:t>
            </a:r>
          </a:p>
          <a:p xmlns:a="http://schemas.openxmlformats.org/drawingml/2006/main">
            <a:r>
              <a:t/>
            </a:r>
          </a:p>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Macro F1</a:t>
            </a:r>
          </a:p>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Each category has</a:t>
            </a:r>
          </a:p>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equal weight</a:t>
            </a:r>
          </a:p>
        </p:txBody>
      </p:sp>
      <p:sp>
        <p:nvSpPr>
          <p:cNvPr id="19" name="text-13">
            <a:extLst xmlns:a="http://schemas.openxmlformats.org/drawingml/2006/main">
              <a:ext uri="{FF2B5EF4-FFF2-40B4-BE49-F238E27FC236}">
                <a16:creationId xmlns:a16="http://schemas.microsoft.com/office/drawing/2014/main" id="{AEBA3064-8B3A-4D00-8C71-2256C27692C3}"/>
              </a:ext>
            </a:extLst>
          </p:cNvPr>
          <p:cNvSpPr>
            <a:spLocks xmlns:a="http://schemas.openxmlformats.org/drawingml/2006/main" noGrp="1"/>
          </p:cNvSpPr>
          <p:nvPr/>
        </p:nvSpPr>
        <p:spPr>
          <a:xfrm xmlns:a="http://schemas.openxmlformats.org/drawingml/2006/main">
            <a:off x="942975" y="868680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Hit@2 is category ranking coverage. It does not measure offer acceptance.</a:t>
            </a:r>
          </a:p>
        </p:txBody>
      </p:sp>
    </p:spTree>
    <p:extLst>
      <p:ext uri="{BB962C8B-B14F-4D97-AF65-F5344CB8AC3E}">
        <p14:creationId xmlns:p14="http://schemas.microsoft.com/office/powerpoint/2010/main" val="73300565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902732ab8a1d4ab9"/>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902732ab8a1d4ab9">
              <a:extLst>
                <a:ext uri="{96DAC541-7B7A-43D3-8B79-37D633B846F1}">
                  <asvg:svgBlip xmlns:asvg="http://schemas.microsoft.com/office/drawing/2016/SVG/main" r:embed="R569094c98c194170"/>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3A8A0FE7-7A73-4132-98A4-841378C5DBF2}"/>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A00AB984-E0D6-43C2-864B-C4E89372D969}"/>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FF6A5A61-F327-44EE-9F12-0BFBCA5573DB}"/>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EA9580D4-AB9E-40EA-A988-AD01A5ED7668}"/>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3C5C2E39-8AFD-471F-BE83-4028C40A7625}"/>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CATEGORY ERRORS AND RECALL</a:t>
            </a:r>
          </a:p>
        </p:txBody>
      </p:sp>
      <p:sp>
        <p:nvSpPr>
          <p:cNvPr id="14" name="text-9">
            <a:extLst xmlns:a="http://schemas.openxmlformats.org/drawingml/2006/main">
              <a:ext uri="{FF2B5EF4-FFF2-40B4-BE49-F238E27FC236}">
                <a16:creationId xmlns:a16="http://schemas.microsoft.com/office/drawing/2014/main" id="{E940BD1D-3E21-4748-9D7F-E6B0A8F8B740}"/>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Actual categories are rows. Predictions are columns.</a:t>
            </a:r>
          </a:p>
        </p:txBody>
      </p:sp>
      <p:sp>
        <p:nvSpPr>
          <p:cNvPr id="15" name="page-marker">
            <a:extLst xmlns:a="http://schemas.openxmlformats.org/drawingml/2006/main">
              <a:ext uri="{FF2B5EF4-FFF2-40B4-BE49-F238E27FC236}">
                <a16:creationId xmlns:a16="http://schemas.microsoft.com/office/drawing/2014/main" id="{BDC0CC46-9E8A-4B51-B825-EDBBF697898B}"/>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14</a:t>
            </a:r>
          </a:p>
        </p:txBody>
      </p:sp>
      <p:sp>
        <p:nvSpPr>
          <p:cNvPr id="16" name="text-11">
            <a:extLst xmlns:a="http://schemas.openxmlformats.org/drawingml/2006/main">
              <a:ext uri="{FF2B5EF4-FFF2-40B4-BE49-F238E27FC236}">
                <a16:creationId xmlns:a16="http://schemas.microsoft.com/office/drawing/2014/main" id="{0F74B505-6340-4C7D-A08D-F8AA55B229E5}"/>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EF6723E4-1249-46D6-9F16-E8B1D3F31DEB}"/>
              </a:ext>
            </a:extLst>
          </p:cNvPr>
          <p:cNvGraphicFramePr/>
          <p:nvPr/>
        </p:nvGraphicFramePr>
        <p:xfrm>
          <a:off xmlns:a="http://schemas.openxmlformats.org/drawingml/2006/main" x="971550" y="3257550"/>
          <a:ext xmlns:a="http://schemas.openxmlformats.org/drawingml/2006/main" cx="11715750" cy="4529138"/>
        </p:xfrm>
        <a:graphic xmlns:a="http://schemas.openxmlformats.org/drawingml/2006/main">
          <a:graphicData uri="http://schemas.openxmlformats.org/drawingml/2006/table">
            <a:tbl>
              <a:tblPr/>
              <a:tblGrid>
                <a:gridCol w="4000500"/>
                <a:gridCol w="1928813"/>
                <a:gridCol w="1928813"/>
                <a:gridCol w="1928813"/>
                <a:gridCol w="1928813"/>
              </a:tblGrid>
              <a:tr h="905828">
                <a:tc>
                  <a:txBody>
                    <a:bodyPr lIns="133350" tIns="133350" rIns="133350" bIns="133350"/>
                    <a:lstStyle/>
                    <a:p>
                      <a:pPr algn="l">
                        <a:buNone/>
                      </a:pPr>
                      <a:r>
                        <a:rPr sz="2700" b="1">
                          <a:solidFill>
                            <a:srgbClr val="FFFFFF"/>
                          </a:solidFill>
                          <a:latin typeface="TT Fors Bold"/>
                          <a:ea typeface="TT Fors Bold"/>
                          <a:cs typeface="TT Fors Bold"/>
                        </a:rPr>
                        <a:t>Actual / predicted</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700" b="1">
                          <a:solidFill>
                            <a:srgbClr val="FFFFFF"/>
                          </a:solidFill>
                          <a:latin typeface="TT Fors Bold"/>
                          <a:ea typeface="TT Fors Bold"/>
                          <a:cs typeface="TT Fors Bold"/>
                        </a:rPr>
                        <a:t>Bev.</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700" b="1">
                          <a:solidFill>
                            <a:srgbClr val="FFFFFF"/>
                          </a:solidFill>
                          <a:latin typeface="TT Fors Bold"/>
                          <a:ea typeface="TT Fors Bold"/>
                          <a:cs typeface="TT Fors Bold"/>
                        </a:rPr>
                        <a:t>Deals</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700" b="1">
                          <a:solidFill>
                            <a:srgbClr val="FFFFFF"/>
                          </a:solidFill>
                          <a:latin typeface="TT Fors Bold"/>
                          <a:ea typeface="TT Fors Bold"/>
                          <a:cs typeface="TT Fors Bold"/>
                        </a:rPr>
                        <a:t>Food</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700" b="1">
                          <a:solidFill>
                            <a:srgbClr val="FFFFFF"/>
                          </a:solidFill>
                          <a:latin typeface="TT Fors Bold"/>
                          <a:ea typeface="TT Fors Bold"/>
                          <a:cs typeface="TT Fors Bold"/>
                        </a:rPr>
                        <a:t>Merch.</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905828">
                <a:tc>
                  <a:txBody>
                    <a:bodyPr lIns="133350" tIns="133350" rIns="133350" bIns="133350"/>
                    <a:lstStyle/>
                    <a:p>
                      <a:pPr algn="l">
                        <a:buNone/>
                      </a:pPr>
                      <a:r>
                        <a:rPr sz="2700" b="0">
                          <a:solidFill>
                            <a:srgbClr val="FFFFFF"/>
                          </a:solidFill>
                          <a:latin typeface="TT Fors"/>
                          <a:ea typeface="TT Fors"/>
                          <a:cs typeface="TT Fors"/>
                        </a:rPr>
                        <a:t>Beverage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2,525</a:t>
                      </a:r>
                    </a:p>
                  </a:txBody>
                  <a:tcPr marL="91440" marR="91440" marT="45720" marB="45720" anchor="ctr">
                    <a:lnR w="13335">
                      <a:solidFill>
                        <a:srgbClr val="A58A77"/>
                      </a:solidFill>
                      <a:prstDash val="solid"/>
                    </a:lnR>
                    <a:lnB w="13335">
                      <a:solidFill>
                        <a:srgbClr val="A58A77"/>
                      </a:solidFill>
                      <a:prstDash val="solid"/>
                    </a:lnB>
                    <a:solidFill>
                      <a:srgbClr val="A84109"/>
                    </a:solidFill>
                  </a:tcPr>
                </a:tc>
                <a:tc>
                  <a:txBody>
                    <a:bodyPr lIns="133350" tIns="133350" rIns="133350" bIns="133350"/>
                    <a:lstStyle/>
                    <a:p>
                      <a:pPr algn="l">
                        <a:buNone/>
                      </a:pPr>
                      <a:r>
                        <a:rPr sz="27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497</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53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5828">
                <a:tc>
                  <a:txBody>
                    <a:bodyPr lIns="133350" tIns="133350" rIns="133350" bIns="133350"/>
                    <a:lstStyle/>
                    <a:p>
                      <a:pPr algn="l">
                        <a:buNone/>
                      </a:pPr>
                      <a:r>
                        <a:rPr sz="2700" b="0">
                          <a:solidFill>
                            <a:srgbClr val="FFFFFF"/>
                          </a:solidFill>
                          <a:latin typeface="TT Fors"/>
                          <a:ea typeface="TT Fors"/>
                          <a:cs typeface="TT Fors"/>
                        </a:rPr>
                        <a:t>Deals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514</a:t>
                      </a:r>
                    </a:p>
                  </a:txBody>
                  <a:tcPr marL="91440" marR="91440" marT="45720" marB="45720" anchor="ctr">
                    <a:lnR w="13335">
                      <a:solidFill>
                        <a:srgbClr val="A58A77"/>
                      </a:solidFill>
                      <a:prstDash val="solid"/>
                    </a:lnR>
                    <a:lnB w="13335">
                      <a:solidFill>
                        <a:srgbClr val="A58A77"/>
                      </a:solidFill>
                      <a:prstDash val="solid"/>
                    </a:lnB>
                    <a:solidFill>
                      <a:srgbClr val="A84109"/>
                    </a:solidFill>
                  </a:tcPr>
                </a:tc>
                <a:tc>
                  <a:txBody>
                    <a:bodyPr lIns="133350" tIns="133350" rIns="133350" bIns="133350"/>
                    <a:lstStyle/>
                    <a:p>
                      <a:pPr algn="l">
                        <a:buNone/>
                      </a:pPr>
                      <a:r>
                        <a:rPr sz="27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5828">
                <a:tc>
                  <a:txBody>
                    <a:bodyPr lIns="133350" tIns="133350" rIns="133350" bIns="133350"/>
                    <a:lstStyle/>
                    <a:p>
                      <a:pPr algn="l">
                        <a:buNone/>
                      </a:pPr>
                      <a:r>
                        <a:rPr sz="2700" b="0">
                          <a:solidFill>
                            <a:srgbClr val="FFFFFF"/>
                          </a:solidFill>
                          <a:latin typeface="TT Fors"/>
                          <a:ea typeface="TT Fors"/>
                          <a:cs typeface="TT Fors"/>
                        </a:rPr>
                        <a:t>Food</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682</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1,303</a:t>
                      </a:r>
                    </a:p>
                  </a:txBody>
                  <a:tcPr marL="91440" marR="91440" marT="45720" marB="45720" anchor="ctr">
                    <a:lnR w="13335">
                      <a:solidFill>
                        <a:srgbClr val="A58A77"/>
                      </a:solidFill>
                      <a:prstDash val="solid"/>
                    </a:lnR>
                    <a:lnB w="13335">
                      <a:solidFill>
                        <a:srgbClr val="A58A77"/>
                      </a:solidFill>
                      <a:prstDash val="solid"/>
                    </a:lnB>
                    <a:solidFill>
                      <a:srgbClr val="A84109"/>
                    </a:solidFill>
                  </a:tcPr>
                </a:tc>
                <a:tc>
                  <a:txBody>
                    <a:bodyPr lIns="133350" tIns="133350" rIns="133350" bIns="133350"/>
                    <a:lstStyle/>
                    <a:p>
                      <a:pPr algn="l">
                        <a:buNone/>
                      </a:pPr>
                      <a:r>
                        <a:rPr sz="2700" b="0">
                          <a:solidFill>
                            <a:srgbClr val="FFFFFF"/>
                          </a:solidFill>
                          <a:latin typeface="TT Fors"/>
                          <a:ea typeface="TT Fors"/>
                          <a:cs typeface="TT Fors"/>
                        </a:rPr>
                        <a:t>2</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5828">
                <a:tc>
                  <a:txBody>
                    <a:bodyPr lIns="133350" tIns="133350" rIns="133350" bIns="133350"/>
                    <a:lstStyle/>
                    <a:p>
                      <a:pPr algn="l">
                        <a:buNone/>
                      </a:pPr>
                      <a:r>
                        <a:rPr sz="2700" b="0">
                          <a:solidFill>
                            <a:srgbClr val="FFFFFF"/>
                          </a:solidFill>
                          <a:latin typeface="TT Fors"/>
                          <a:ea typeface="TT Fors"/>
                          <a:cs typeface="TT Fors"/>
                        </a:rPr>
                        <a:t>Merch.</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163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4</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150</a:t>
                      </a:r>
                    </a:p>
                  </a:txBody>
                  <a:tcPr marL="91440" marR="91440" marT="45720" marB="45720" anchor="ctr">
                    <a:lnR w="13335">
                      <a:solidFill>
                        <a:srgbClr val="A58A77"/>
                      </a:solidFill>
                      <a:prstDash val="solid"/>
                    </a:lnR>
                    <a:lnB w="13335">
                      <a:solidFill>
                        <a:srgbClr val="A58A77"/>
                      </a:solidFill>
                      <a:prstDash val="solid"/>
                    </a:lnB>
                    <a:solidFill>
                      <a:srgbClr val="A84109"/>
                    </a:solidFill>
                  </a:tcPr>
                </a:tc>
              </a:tr>
            </a:tbl>
          </a:graphicData>
        </a:graphic>
      </p:graphicFrame>
      <p:sp>
        <p:nvSpPr>
          <p:cNvPr id="18" name="text-12">
            <a:extLst xmlns:a="http://schemas.openxmlformats.org/drawingml/2006/main">
              <a:ext uri="{FF2B5EF4-FFF2-40B4-BE49-F238E27FC236}">
                <a16:creationId xmlns:a16="http://schemas.microsoft.com/office/drawing/2014/main" id="{3A289DC6-E3FF-4907-A1D5-7C1A3D0C9EA8}"/>
              </a:ext>
            </a:extLst>
          </p:cNvPr>
          <p:cNvSpPr>
            <a:spLocks xmlns:a="http://schemas.openxmlformats.org/drawingml/2006/main" noGrp="1"/>
          </p:cNvSpPr>
          <p:nvPr/>
        </p:nvSpPr>
        <p:spPr>
          <a:xfrm xmlns:a="http://schemas.openxmlformats.org/drawingml/2006/main">
            <a:off x="13230225" y="3600450"/>
            <a:ext cx="402907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1">
                <a:solidFill>
                  <a:srgbClr val="FF6705"/>
                </a:solidFill>
                <a:latin typeface="TT Fors Bold"/>
                <a:ea typeface="TT Fors Bold"/>
                <a:cs typeface="TT Fors Bold"/>
              </a:defRPr>
            </a:defPPr>
          </a:lstStyle>
          <a:p xmlns:a="http://schemas.openxmlformats.org/drawingml/2006/main">
            <a:pPr algn="l">
              <a:buNone/>
              <a:defRPr sz="5400" b="1">
                <a:solidFill>
                  <a:srgbClr val="FF6705"/>
                </a:solidFill>
                <a:latin typeface="TT Fors Bold"/>
                <a:ea typeface="TT Fors Bold"/>
                <a:cs typeface="TT Fors Bold"/>
              </a:defRPr>
            </a:pPr>
            <a:r>
              <a:rPr sz="5400" b="1">
                <a:solidFill>
                  <a:srgbClr val="FF6705"/>
                </a:solidFill>
                <a:latin typeface="TT Fors Bold"/>
                <a:ea typeface="TT Fors Bold"/>
                <a:cs typeface="TT Fors Bold"/>
              </a:rPr>
              <a:t>76.23%</a:t>
            </a:r>
          </a:p>
        </p:txBody>
      </p:sp>
      <p:sp>
        <p:nvSpPr>
          <p:cNvPr id="19" name="text-13">
            <a:extLst xmlns:a="http://schemas.openxmlformats.org/drawingml/2006/main">
              <a:ext uri="{FF2B5EF4-FFF2-40B4-BE49-F238E27FC236}">
                <a16:creationId xmlns:a16="http://schemas.microsoft.com/office/drawing/2014/main" id="{60244605-943A-4AAC-B9D3-20CEEC3A9B85}"/>
              </a:ext>
            </a:extLst>
          </p:cNvPr>
          <p:cNvSpPr>
            <a:spLocks xmlns:a="http://schemas.openxmlformats.org/drawingml/2006/main" noGrp="1"/>
          </p:cNvSpPr>
          <p:nvPr/>
        </p:nvSpPr>
        <p:spPr>
          <a:xfrm xmlns:a="http://schemas.openxmlformats.org/drawingml/2006/main">
            <a:off x="13273088" y="4757738"/>
            <a:ext cx="3714750" cy="12430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700" b="0">
                <a:solidFill>
                  <a:srgbClr val="FFFFFF"/>
                </a:solidFill>
                <a:latin typeface="TT Fors"/>
                <a:ea typeface="TT Fors"/>
                <a:cs typeface="TT Fors"/>
              </a:defRPr>
            </a:defPPr>
          </a:lstStyle>
          <a:p xmlns:a="http://schemas.openxmlformats.org/drawingml/2006/main">
            <a:pPr algn="l">
              <a:buNone/>
              <a:defRPr sz="2700" b="0">
                <a:solidFill>
                  <a:srgbClr val="FFFFFF"/>
                </a:solidFill>
                <a:latin typeface="TT Fors"/>
                <a:ea typeface="TT Fors"/>
                <a:cs typeface="TT Fors"/>
              </a:defRPr>
            </a:pPr>
            <a:r>
              <a:rPr sz="2700" b="0">
                <a:solidFill>
                  <a:srgbClr val="FFFFFF"/>
                </a:solidFill>
                <a:latin typeface="TT Fors"/>
                <a:ea typeface="TT Fors"/>
                <a:cs typeface="TT Fors"/>
              </a:rPr>
              <a:t>4,492 correct</a:t>
            </a:r>
          </a:p>
          <a:p xmlns:a="http://schemas.openxmlformats.org/drawingml/2006/main">
            <a:pPr algn="l">
              <a:buNone/>
              <a:defRPr sz="2700" b="0">
                <a:solidFill>
                  <a:srgbClr val="FFFFFF"/>
                </a:solidFill>
                <a:latin typeface="TT Fors"/>
                <a:ea typeface="TT Fors"/>
                <a:cs typeface="TT Fors"/>
              </a:defRPr>
            </a:pPr>
            <a:r>
              <a:rPr sz="2700" b="0">
                <a:solidFill>
                  <a:srgbClr val="FFFFFF"/>
                </a:solidFill>
                <a:latin typeface="TT Fors"/>
                <a:ea typeface="TT Fors"/>
                <a:cs typeface="TT Fors"/>
              </a:rPr>
              <a:t>5,893 observations</a:t>
            </a:r>
          </a:p>
        </p:txBody>
      </p:sp>
      <p:sp>
        <p:nvSpPr>
          <p:cNvPr id="20" name="text-14">
            <a:extLst xmlns:a="http://schemas.openxmlformats.org/drawingml/2006/main">
              <a:ext uri="{FF2B5EF4-FFF2-40B4-BE49-F238E27FC236}">
                <a16:creationId xmlns:a16="http://schemas.microsoft.com/office/drawing/2014/main" id="{8A582E5A-B4E4-4531-ADDF-773DC10F8287}"/>
              </a:ext>
            </a:extLst>
          </p:cNvPr>
          <p:cNvSpPr>
            <a:spLocks xmlns:a="http://schemas.openxmlformats.org/drawingml/2006/main" noGrp="1"/>
          </p:cNvSpPr>
          <p:nvPr/>
        </p:nvSpPr>
        <p:spPr>
          <a:xfrm xmlns:a="http://schemas.openxmlformats.org/drawingml/2006/main">
            <a:off x="13273088" y="6257925"/>
            <a:ext cx="3786188" cy="12144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1">
                <a:solidFill>
                  <a:srgbClr val="FF6705"/>
                </a:solidFill>
                <a:latin typeface="TT Fors Bold"/>
                <a:ea typeface="TT Fors Bold"/>
                <a:cs typeface="TT Fors Bold"/>
              </a:defRPr>
            </a:defPPr>
          </a:lstStyle>
          <a:p xmlns:a="http://schemas.openxmlformats.org/drawingml/2006/main">
            <a:pPr algn="l">
              <a:buNone/>
              <a:defRPr sz="3038" b="1">
                <a:solidFill>
                  <a:srgbClr val="FF6705"/>
                </a:solidFill>
                <a:latin typeface="TT Fors Bold"/>
                <a:ea typeface="TT Fors Bold"/>
                <a:cs typeface="TT Fors Bold"/>
              </a:defRPr>
            </a:pPr>
            <a:r>
              <a:rPr sz="3038" b="1">
                <a:solidFill>
                  <a:srgbClr val="FF6705"/>
                </a:solidFill>
                <a:latin typeface="TT Fors Bold"/>
                <a:ea typeface="TT Fors Bold"/>
                <a:cs typeface="TT Fors Bold"/>
              </a:rPr>
              <a:t>Merchandise recall</a:t>
            </a:r>
          </a:p>
          <a:p xmlns:a="http://schemas.openxmlformats.org/drawingml/2006/main">
            <a:pPr algn="l">
              <a:buNone/>
              <a:defRPr sz="3038" b="1">
                <a:solidFill>
                  <a:srgbClr val="FF6705"/>
                </a:solidFill>
                <a:latin typeface="TT Fors Bold"/>
                <a:ea typeface="TT Fors Bold"/>
                <a:cs typeface="TT Fors Bold"/>
              </a:defRPr>
            </a:pPr>
            <a:r>
              <a:rPr sz="3038" b="1">
                <a:solidFill>
                  <a:srgbClr val="FF6705"/>
                </a:solidFill>
                <a:latin typeface="TT Fors Bold"/>
                <a:ea typeface="TT Fors Bold"/>
                <a:cs typeface="TT Fors Bold"/>
              </a:rPr>
              <a:t>47.3%</a:t>
            </a:r>
          </a:p>
        </p:txBody>
      </p:sp>
      <p:sp>
        <p:nvSpPr>
          <p:cNvPr id="21" name="text-15">
            <a:extLst xmlns:a="http://schemas.openxmlformats.org/drawingml/2006/main">
              <a:ext uri="{FF2B5EF4-FFF2-40B4-BE49-F238E27FC236}">
                <a16:creationId xmlns:a16="http://schemas.microsoft.com/office/drawing/2014/main" id="{77ADCC1F-A257-4564-B6BD-E45831E66D17}"/>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Rare-category performance matters when recommendations target those categories.</a:t>
            </a:r>
          </a:p>
        </p:txBody>
      </p:sp>
    </p:spTree>
    <p:extLst>
      <p:ext uri="{BB962C8B-B14F-4D97-AF65-F5344CB8AC3E}">
        <p14:creationId xmlns:p14="http://schemas.microsoft.com/office/powerpoint/2010/main" val="73300565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012a57f27c154171"/>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012a57f27c154171">
              <a:extLst>
                <a:ext uri="{96DAC541-7B7A-43D3-8B79-37D633B846F1}">
                  <asvg:svgBlip xmlns:asvg="http://schemas.microsoft.com/office/drawing/2016/SVG/main" r:embed="Rad3a145872db4331"/>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EFFD89DA-FF57-4C33-8A44-070098B49418}"/>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D73B8069-942A-493C-B094-6CFD8D199349}"/>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0458C87C-F9B2-4BF1-AE90-629C12098698}"/>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A617F7D4-5847-482E-8A23-8B91F85F9D29}"/>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E9C7071F-3952-4457-B795-E191D59D2160}"/>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MODEL VALIDATION</a:t>
            </a:r>
          </a:p>
        </p:txBody>
      </p:sp>
      <p:sp>
        <p:nvSpPr>
          <p:cNvPr id="14" name="text-9">
            <a:extLst xmlns:a="http://schemas.openxmlformats.org/drawingml/2006/main">
              <a:ext uri="{FF2B5EF4-FFF2-40B4-BE49-F238E27FC236}">
                <a16:creationId xmlns:a16="http://schemas.microsoft.com/office/drawing/2014/main" id="{A51876D2-C7D8-45C2-9ECD-C9CDC1835191}"/>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The benchmark supports investigation. Deployment needs a stronger evaluation.</a:t>
            </a:r>
          </a:p>
        </p:txBody>
      </p:sp>
      <p:sp>
        <p:nvSpPr>
          <p:cNvPr id="15" name="page-marker">
            <a:extLst xmlns:a="http://schemas.openxmlformats.org/drawingml/2006/main">
              <a:ext uri="{FF2B5EF4-FFF2-40B4-BE49-F238E27FC236}">
                <a16:creationId xmlns:a16="http://schemas.microsoft.com/office/drawing/2014/main" id="{303D1638-157D-4D5E-A3C9-4FE720B6ADD5}"/>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15</a:t>
            </a:r>
          </a:p>
        </p:txBody>
      </p:sp>
      <p:sp>
        <p:nvSpPr>
          <p:cNvPr id="16" name="text-11">
            <a:extLst xmlns:a="http://schemas.openxmlformats.org/drawingml/2006/main">
              <a:ext uri="{FF2B5EF4-FFF2-40B4-BE49-F238E27FC236}">
                <a16:creationId xmlns:a16="http://schemas.microsoft.com/office/drawing/2014/main" id="{9283CF7A-2F2F-479B-880C-82C313BFD20F}"/>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7" name="text-12">
            <a:extLst xmlns:a="http://schemas.openxmlformats.org/drawingml/2006/main">
              <a:ext uri="{FF2B5EF4-FFF2-40B4-BE49-F238E27FC236}">
                <a16:creationId xmlns:a16="http://schemas.microsoft.com/office/drawing/2014/main" id="{43561D6A-30FE-46CB-8DDA-5004A9D1D989}"/>
              </a:ext>
            </a:extLst>
          </p:cNvPr>
          <p:cNvSpPr>
            <a:spLocks xmlns:a="http://schemas.openxmlformats.org/drawingml/2006/main" noGrp="1"/>
          </p:cNvSpPr>
          <p:nvPr/>
        </p:nvSpPr>
        <p:spPr>
          <a:xfrm xmlns:a="http://schemas.openxmlformats.org/drawingml/2006/main">
            <a:off x="971550" y="3200400"/>
            <a:ext cx="16144875" cy="9858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150" b="0">
                <a:solidFill>
                  <a:srgbClr val="FFFFFF"/>
                </a:solidFill>
                <a:latin typeface="TT Fors"/>
                <a:ea typeface="TT Fors"/>
                <a:cs typeface="TT Fors"/>
              </a:defRPr>
            </a:defPPr>
          </a:lstStyle>
          <a:p xmlns:a="http://schemas.openxmlformats.org/drawingml/2006/main">
            <a:pPr algn="l">
              <a:buNone/>
              <a:defRPr sz="3150" b="0">
                <a:solidFill>
                  <a:srgbClr val="FFFFFF"/>
                </a:solidFill>
                <a:latin typeface="TT Fors"/>
                <a:ea typeface="TT Fors"/>
                <a:cs typeface="TT Fors"/>
              </a:defRPr>
            </a:pPr>
            <a:r>
              <a:rPr sz="3150" b="0">
                <a:solidFill>
                  <a:srgbClr val="FFFFFF"/>
                </a:solidFill>
                <a:latin typeface="TT Fors"/>
                <a:ea typeface="TT Fors"/>
                <a:cs typeface="TT Fors"/>
              </a:rPr>
              <a:t>Keep all item lines from one order in the same data partition</a:t>
            </a:r>
          </a:p>
        </p:txBody>
      </p:sp>
      <p:sp>
        <p:nvSpPr>
          <p:cNvPr id="18" name="text-13">
            <a:extLst xmlns:a="http://schemas.openxmlformats.org/drawingml/2006/main">
              <a:ext uri="{FF2B5EF4-FFF2-40B4-BE49-F238E27FC236}">
                <a16:creationId xmlns:a16="http://schemas.microsoft.com/office/drawing/2014/main" id="{D5181810-876D-4EDF-A5C1-0A9712F4D3CF}"/>
              </a:ext>
            </a:extLst>
          </p:cNvPr>
          <p:cNvSpPr>
            <a:spLocks xmlns:a="http://schemas.openxmlformats.org/drawingml/2006/main" noGrp="1"/>
          </p:cNvSpPr>
          <p:nvPr/>
        </p:nvSpPr>
        <p:spPr>
          <a:xfrm xmlns:a="http://schemas.openxmlformats.org/drawingml/2006/main">
            <a:off x="971550" y="4386263"/>
            <a:ext cx="16144875" cy="9858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150" b="0">
                <a:solidFill>
                  <a:srgbClr val="FFFFFF"/>
                </a:solidFill>
                <a:latin typeface="TT Fors"/>
                <a:ea typeface="TT Fors"/>
                <a:cs typeface="TT Fors"/>
              </a:defRPr>
            </a:defPPr>
          </a:lstStyle>
          <a:p xmlns:a="http://schemas.openxmlformats.org/drawingml/2006/main">
            <a:pPr algn="l">
              <a:buNone/>
              <a:defRPr sz="3150" b="0">
                <a:solidFill>
                  <a:srgbClr val="FFFFFF"/>
                </a:solidFill>
                <a:latin typeface="TT Fors"/>
                <a:ea typeface="TT Fors"/>
                <a:cs typeface="TT Fors"/>
              </a:defRPr>
            </a:pPr>
            <a:r>
              <a:rPr sz="3150" b="0">
                <a:solidFill>
                  <a:srgbClr val="FFFFFF"/>
                </a:solidFill>
                <a:latin typeface="TT Fors"/>
                <a:ea typeface="TT Fors"/>
                <a:cs typeface="TT Fors"/>
              </a:rPr>
              <a:t>Test on later dates to estimate future performance</a:t>
            </a:r>
          </a:p>
        </p:txBody>
      </p:sp>
      <p:sp>
        <p:nvSpPr>
          <p:cNvPr id="19" name="text-14">
            <a:extLst xmlns:a="http://schemas.openxmlformats.org/drawingml/2006/main">
              <a:ext uri="{FF2B5EF4-FFF2-40B4-BE49-F238E27FC236}">
                <a16:creationId xmlns:a16="http://schemas.microsoft.com/office/drawing/2014/main" id="{30EBF282-CF5C-4011-A1CA-CE6BB4E41482}"/>
              </a:ext>
            </a:extLst>
          </p:cNvPr>
          <p:cNvSpPr>
            <a:spLocks xmlns:a="http://schemas.openxmlformats.org/drawingml/2006/main" noGrp="1"/>
          </p:cNvSpPr>
          <p:nvPr/>
        </p:nvSpPr>
        <p:spPr>
          <a:xfrm xmlns:a="http://schemas.openxmlformats.org/drawingml/2006/main">
            <a:off x="971550" y="5572125"/>
            <a:ext cx="16144875" cy="9858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150" b="0">
                <a:solidFill>
                  <a:srgbClr val="FFFFFF"/>
                </a:solidFill>
                <a:latin typeface="TT Fors"/>
                <a:ea typeface="TT Fors"/>
                <a:cs typeface="TT Fors"/>
              </a:defRPr>
            </a:defPPr>
          </a:lstStyle>
          <a:p xmlns:a="http://schemas.openxmlformats.org/drawingml/2006/main">
            <a:pPr algn="l">
              <a:buNone/>
              <a:defRPr sz="3150" b="0">
                <a:solidFill>
                  <a:srgbClr val="FFFFFF"/>
                </a:solidFill>
                <a:latin typeface="TT Fors"/>
                <a:ea typeface="TT Fors"/>
                <a:cs typeface="TT Fors"/>
              </a:defRPr>
            </a:pPr>
            <a:r>
              <a:rPr sz="3150" b="0">
                <a:solidFill>
                  <a:srgbClr val="FFFFFF"/>
                </a:solidFill>
                <a:latin typeface="TT Fors"/>
                <a:ea typeface="TT Fors"/>
                <a:cs typeface="TT Fors"/>
              </a:rPr>
              <a:t>Use predictors available at the recommendation moment</a:t>
            </a:r>
          </a:p>
        </p:txBody>
      </p:sp>
      <p:sp>
        <p:nvSpPr>
          <p:cNvPr id="20" name="text-15">
            <a:extLst xmlns:a="http://schemas.openxmlformats.org/drawingml/2006/main">
              <a:ext uri="{FF2B5EF4-FFF2-40B4-BE49-F238E27FC236}">
                <a16:creationId xmlns:a16="http://schemas.microsoft.com/office/drawing/2014/main" id="{064DAFEA-19EB-443C-BECB-5066B7EF4663}"/>
              </a:ext>
            </a:extLst>
          </p:cNvPr>
          <p:cNvSpPr>
            <a:spLocks xmlns:a="http://schemas.openxmlformats.org/drawingml/2006/main" noGrp="1"/>
          </p:cNvSpPr>
          <p:nvPr/>
        </p:nvSpPr>
        <p:spPr>
          <a:xfrm xmlns:a="http://schemas.openxmlformats.org/drawingml/2006/main">
            <a:off x="971550" y="6757988"/>
            <a:ext cx="16144875" cy="9858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150" b="0">
                <a:solidFill>
                  <a:srgbClr val="FFFFFF"/>
                </a:solidFill>
                <a:latin typeface="TT Fors"/>
                <a:ea typeface="TT Fors"/>
                <a:cs typeface="TT Fors"/>
              </a:defRPr>
            </a:defPPr>
          </a:lstStyle>
          <a:p xmlns:a="http://schemas.openxmlformats.org/drawingml/2006/main">
            <a:pPr algn="l">
              <a:buNone/>
              <a:defRPr sz="3150" b="0">
                <a:solidFill>
                  <a:srgbClr val="FFFFFF"/>
                </a:solidFill>
                <a:latin typeface="TT Fors"/>
                <a:ea typeface="TT Fors"/>
                <a:cs typeface="TT Fors"/>
              </a:defRPr>
            </a:pPr>
            <a:r>
              <a:rPr sz="3150" b="0">
                <a:solidFill>
                  <a:srgbClr val="FFFFFF"/>
                </a:solidFill>
                <a:latin typeface="TT Fors"/>
                <a:ea typeface="TT Fors"/>
                <a:cs typeface="TT Fors"/>
              </a:rPr>
              <a:t>Compare against simple baselines and report category errors</a:t>
            </a:r>
          </a:p>
        </p:txBody>
      </p:sp>
      <p:sp>
        <p:nvSpPr>
          <p:cNvPr id="21" name="text-16">
            <a:extLst xmlns:a="http://schemas.openxmlformats.org/drawingml/2006/main">
              <a:ext uri="{FF2B5EF4-FFF2-40B4-BE49-F238E27FC236}">
                <a16:creationId xmlns:a16="http://schemas.microsoft.com/office/drawing/2014/main" id="{AE8DD36E-5438-45B0-98DC-8A56114B56B8}"/>
              </a:ext>
            </a:extLst>
          </p:cNvPr>
          <p:cNvSpPr>
            <a:spLocks xmlns:a="http://schemas.openxmlformats.org/drawingml/2006/main" noGrp="1"/>
          </p:cNvSpPr>
          <p:nvPr/>
        </p:nvSpPr>
        <p:spPr>
          <a:xfrm xmlns:a="http://schemas.openxmlformats.org/drawingml/2006/main">
            <a:off x="942975" y="8715375"/>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FFFF"/>
                </a:solidFill>
                <a:latin typeface="TT Fors Bold"/>
                <a:ea typeface="TT Fors Bold"/>
                <a:cs typeface="TT Fors Bold"/>
              </a:defRPr>
            </a:defPPr>
          </a:lstStyle>
          <a:p xmlns:a="http://schemas.openxmlformats.org/drawingml/2006/main">
            <a:pPr algn="l">
              <a:buNone/>
              <a:defRPr sz="2813" b="1">
                <a:solidFill>
                  <a:srgbClr val="FFFFFF"/>
                </a:solidFill>
                <a:latin typeface="TT Fors Bold"/>
                <a:ea typeface="TT Fors Bold"/>
                <a:cs typeface="TT Fors Bold"/>
              </a:defRPr>
            </a:pPr>
            <a:r>
              <a:rPr sz="2813" b="1">
                <a:solidFill>
                  <a:srgbClr val="FFFFFF"/>
                </a:solidFill>
                <a:latin typeface="TT Fors Bold"/>
                <a:ea typeface="TT Fors Bold"/>
                <a:cs typeface="TT Fors Bold"/>
              </a:rPr>
              <a:t>Success means useful recommendations and measured business outcomes.</a:t>
            </a:r>
          </a:p>
        </p:txBody>
      </p:sp>
    </p:spTree>
    <p:extLst>
      <p:ext uri="{BB962C8B-B14F-4D97-AF65-F5344CB8AC3E}">
        <p14:creationId xmlns:p14="http://schemas.microsoft.com/office/powerpoint/2010/main" val="73300565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b864a973cbbe4a10"/>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b864a973cbbe4a10">
              <a:extLst>
                <a:ext uri="{96DAC541-7B7A-43D3-8B79-37D633B846F1}">
                  <asvg:svgBlip xmlns:asvg="http://schemas.microsoft.com/office/drawing/2016/SVG/main" r:embed="R19ba02c02aac4be9"/>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835ECAB9-5F99-429F-B424-9161F861FF64}"/>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B35815E4-F119-4099-9741-F34A6A7A70EA}"/>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728440A4-3A55-4112-874D-D93D8D5F98BF}"/>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C35923E8-ED57-4B57-9A30-DB74F5B9D812}"/>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118953F5-8B39-433A-B101-D7CCFA83F4F6}"/>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EXPERIMENTAL DESIGN EVALUATION</a:t>
            </a:r>
          </a:p>
        </p:txBody>
      </p:sp>
      <p:sp>
        <p:nvSpPr>
          <p:cNvPr id="14" name="text-9">
            <a:extLst xmlns:a="http://schemas.openxmlformats.org/drawingml/2006/main">
              <a:ext uri="{FF2B5EF4-FFF2-40B4-BE49-F238E27FC236}">
                <a16:creationId xmlns:a16="http://schemas.microsoft.com/office/drawing/2014/main" id="{5840550F-F200-46F9-87F9-DE285040B88A}"/>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Task 6: proposed RCBD trial, with comparable outlets grouped into blocks</a:t>
            </a:r>
          </a:p>
        </p:txBody>
      </p:sp>
      <p:sp>
        <p:nvSpPr>
          <p:cNvPr id="15" name="page-marker">
            <a:extLst xmlns:a="http://schemas.openxmlformats.org/drawingml/2006/main">
              <a:ext uri="{FF2B5EF4-FFF2-40B4-BE49-F238E27FC236}">
                <a16:creationId xmlns:a16="http://schemas.microsoft.com/office/drawing/2014/main" id="{0ADE308E-1C50-4904-9E73-5DCC58FED0CD}"/>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16</a:t>
            </a:r>
          </a:p>
        </p:txBody>
      </p:sp>
      <p:sp>
        <p:nvSpPr>
          <p:cNvPr id="16" name="text-11">
            <a:extLst xmlns:a="http://schemas.openxmlformats.org/drawingml/2006/main">
              <a:ext uri="{FF2B5EF4-FFF2-40B4-BE49-F238E27FC236}">
                <a16:creationId xmlns:a16="http://schemas.microsoft.com/office/drawing/2014/main" id="{71360C34-9F34-4413-A7D1-6D0919B1E77B}"/>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D11F7FCE-5F84-4C1E-8986-5C2EBF96EE97}"/>
              </a:ext>
            </a:extLst>
          </p:cNvPr>
          <p:cNvGraphicFramePr/>
          <p:nvPr/>
        </p:nvGraphicFramePr>
        <p:xfrm>
          <a:off xmlns:a="http://schemas.openxmlformats.org/drawingml/2006/main" x="971550" y="3243263"/>
          <a:ext xmlns:a="http://schemas.openxmlformats.org/drawingml/2006/main" cx="16344900" cy="3857625"/>
        </p:xfrm>
        <a:graphic xmlns:a="http://schemas.openxmlformats.org/drawingml/2006/main">
          <a:graphicData uri="http://schemas.openxmlformats.org/drawingml/2006/table">
            <a:tbl>
              <a:tblPr/>
              <a:tblGrid>
                <a:gridCol w="4857750"/>
                <a:gridCol w="11487150"/>
              </a:tblGrid>
              <a:tr h="771525">
                <a:tc>
                  <a:txBody>
                    <a:bodyPr lIns="133350" tIns="133350" rIns="133350" bIns="133350"/>
                    <a:lstStyle/>
                    <a:p>
                      <a:pPr algn="l">
                        <a:buNone/>
                      </a:pPr>
                      <a:r>
                        <a:rPr sz="2813" b="1">
                          <a:solidFill>
                            <a:srgbClr val="FFFFFF"/>
                          </a:solidFill>
                          <a:latin typeface="TT Fors Bold"/>
                          <a:ea typeface="TT Fors Bold"/>
                          <a:cs typeface="TT Fors Bold"/>
                        </a:rPr>
                        <a:t>Trial element</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813" b="1">
                          <a:solidFill>
                            <a:srgbClr val="FFFFFF"/>
                          </a:solidFill>
                          <a:latin typeface="TT Fors Bold"/>
                          <a:ea typeface="TT Fors Bold"/>
                          <a:cs typeface="TT Fors Bold"/>
                        </a:rPr>
                        <a:t>Implementation</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771525">
                <a:tc>
                  <a:txBody>
                    <a:bodyPr lIns="133350" tIns="133350" rIns="133350" bIns="133350"/>
                    <a:lstStyle/>
                    <a:p>
                      <a:pPr algn="l">
                        <a:buNone/>
                      </a:pPr>
                      <a:r>
                        <a:rPr sz="2813" b="0">
                          <a:solidFill>
                            <a:srgbClr val="FFFFFF"/>
                          </a:solidFill>
                          <a:latin typeface="TT Fors"/>
                          <a:ea typeface="TT Fors"/>
                          <a:cs typeface="TT Fors"/>
                        </a:rPr>
                        <a:t>Outlet blocks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Group by baseline volume and customer mix</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71525">
                <a:tc>
                  <a:txBody>
                    <a:bodyPr lIns="133350" tIns="133350" rIns="133350" bIns="133350"/>
                    <a:lstStyle/>
                    <a:p>
                      <a:pPr algn="l">
                        <a:buNone/>
                      </a:pPr>
                      <a:r>
                        <a:rPr sz="2813" b="0">
                          <a:solidFill>
                            <a:srgbClr val="FFFFFF"/>
                          </a:solidFill>
                          <a:latin typeface="TT Fors"/>
                          <a:ea typeface="TT Fors"/>
                          <a:cs typeface="TT Fors"/>
                        </a:rPr>
                        <a:t>Random allocation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Control, 10% offer and 20% offer within each block</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71525">
                <a:tc>
                  <a:txBody>
                    <a:bodyPr lIns="133350" tIns="133350" rIns="133350" bIns="133350"/>
                    <a:lstStyle/>
                    <a:p>
                      <a:pPr algn="l">
                        <a:buNone/>
                      </a:pPr>
                      <a:r>
                        <a:rPr sz="2813" b="0">
                          <a:solidFill>
                            <a:srgbClr val="FFFFFF"/>
                          </a:solidFill>
                          <a:latin typeface="TT Fors"/>
                          <a:ea typeface="TT Fors"/>
                          <a:cs typeface="TT Fors"/>
                        </a:rPr>
                        <a:t>Primary outcome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Gross margin per eligible order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71525">
                <a:tc>
                  <a:txBody>
                    <a:bodyPr lIns="133350" tIns="133350" rIns="133350" bIns="133350"/>
                    <a:lstStyle/>
                    <a:p>
                      <a:pPr algn="l">
                        <a:buNone/>
                      </a:pPr>
                      <a:r>
                        <a:rPr sz="2813" b="0">
                          <a:solidFill>
                            <a:srgbClr val="FFFFFF"/>
                          </a:solidFill>
                          <a:latin typeface="TT Fors"/>
                          <a:ea typeface="TT Fors"/>
                          <a:cs typeface="TT Fors"/>
                        </a:rPr>
                        <a:t>Operational outcomes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Acceptance, checkout time, waste and stockouts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D4338B1B-98E7-4993-ABA6-1228E4CBE47B}"/>
              </a:ext>
            </a:extLst>
          </p:cNvPr>
          <p:cNvSpPr>
            <a:spLocks xmlns:a="http://schemas.openxmlformats.org/drawingml/2006/main" noGrp="1"/>
          </p:cNvSpPr>
          <p:nvPr/>
        </p:nvSpPr>
        <p:spPr>
          <a:xfrm xmlns:a="http://schemas.openxmlformats.org/drawingml/2006/main">
            <a:off x="1000125" y="7486650"/>
            <a:ext cx="15859125" cy="9286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CRD: simpler random allocation</a:t>
            </a:r>
          </a:p>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RCBD: account for known outlet differences</a:t>
            </a:r>
          </a:p>
        </p:txBody>
      </p:sp>
      <p:sp>
        <p:nvSpPr>
          <p:cNvPr id="19" name="text-13">
            <a:extLst xmlns:a="http://schemas.openxmlformats.org/drawingml/2006/main">
              <a:ext uri="{FF2B5EF4-FFF2-40B4-BE49-F238E27FC236}">
                <a16:creationId xmlns:a16="http://schemas.microsoft.com/office/drawing/2014/main" id="{C5EC5E29-3462-4A6A-9E66-9A7DCEE51A57}"/>
              </a:ext>
            </a:extLst>
          </p:cNvPr>
          <p:cNvSpPr>
            <a:spLocks xmlns:a="http://schemas.openxmlformats.org/drawingml/2006/main" noGrp="1"/>
          </p:cNvSpPr>
          <p:nvPr/>
        </p:nvSpPr>
        <p:spPr>
          <a:xfrm xmlns:a="http://schemas.openxmlformats.org/drawingml/2006/main">
            <a:off x="942975" y="8786813"/>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Sample size and trial duration require baseline variance and a target effect.</a:t>
            </a:r>
          </a:p>
        </p:txBody>
      </p:sp>
    </p:spTree>
    <p:extLst>
      <p:ext uri="{BB962C8B-B14F-4D97-AF65-F5344CB8AC3E}">
        <p14:creationId xmlns:p14="http://schemas.microsoft.com/office/powerpoint/2010/main" val="73300565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e67403b78e2f47d2"/>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e67403b78e2f47d2">
              <a:extLst>
                <a:ext uri="{96DAC541-7B7A-43D3-8B79-37D633B846F1}">
                  <asvg:svgBlip xmlns:asvg="http://schemas.microsoft.com/office/drawing/2016/SVG/main" r:embed="R6eaea0ff186347a6"/>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5C9CD71F-EF0E-43CC-B49D-DF216C80025D}"/>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DEC03A8E-AA67-4CCF-A9F4-DB0CD0161391}"/>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1B6542A7-A8A5-4A3C-8B0A-6670E1DBD06E}"/>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02DC77E3-004D-4C38-A922-D8ED2F9C7775}"/>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E05C8742-BE82-4B24-AAB9-5501EEB80722}"/>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PCA: PURPOSE, PREPARATION AND VARIANCE</a:t>
            </a:r>
          </a:p>
        </p:txBody>
      </p:sp>
      <p:sp>
        <p:nvSpPr>
          <p:cNvPr id="14" name="text-9">
            <a:extLst xmlns:a="http://schemas.openxmlformats.org/drawingml/2006/main">
              <a:ext uri="{FF2B5EF4-FFF2-40B4-BE49-F238E27FC236}">
                <a16:creationId xmlns:a16="http://schemas.microsoft.com/office/drawing/2014/main" id="{83C17E55-C149-495A-BA0A-810E6DB86A6F}"/>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PCA creates new numerical axes that summarise variation in the original variables.</a:t>
            </a:r>
          </a:p>
        </p:txBody>
      </p:sp>
      <p:sp>
        <p:nvSpPr>
          <p:cNvPr id="15" name="page-marker">
            <a:extLst xmlns:a="http://schemas.openxmlformats.org/drawingml/2006/main">
              <a:ext uri="{FF2B5EF4-FFF2-40B4-BE49-F238E27FC236}">
                <a16:creationId xmlns:a16="http://schemas.microsoft.com/office/drawing/2014/main" id="{562BEB26-C5C4-48EF-8DF6-E2FB847D8776}"/>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17</a:t>
            </a:r>
          </a:p>
        </p:txBody>
      </p:sp>
      <p:sp>
        <p:nvSpPr>
          <p:cNvPr id="16" name="text-11">
            <a:extLst xmlns:a="http://schemas.openxmlformats.org/drawingml/2006/main">
              <a:ext uri="{FF2B5EF4-FFF2-40B4-BE49-F238E27FC236}">
                <a16:creationId xmlns:a16="http://schemas.microsoft.com/office/drawing/2014/main" id="{F441D0BD-7D09-425B-B179-DD6DAC486F62}"/>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Chart">
            <a:extLst xmlns:a="http://schemas.openxmlformats.org/drawingml/2006/main">
              <a:ext uri="{FF2B5EF4-FFF2-40B4-BE49-F238E27FC236}">
                <a16:creationId xmlns:a16="http://schemas.microsoft.com/office/drawing/2014/main" id="{1FCA9BDD-1EEC-469D-B8FD-D3078902E6C0}"/>
              </a:ext>
            </a:extLst>
          </p:cNvPr>
          <p:cNvGraphicFramePr/>
          <p:nvPr/>
        </p:nvGraphicFramePr>
        <p:xfrm>
          <a:off xmlns:a="http://schemas.openxmlformats.org/drawingml/2006/main" x="971550" y="4857750"/>
          <a:ext xmlns:a="http://schemas.openxmlformats.org/drawingml/2006/main" cx="9620250" cy="3238500"/>
        </p:xfrm>
        <a:graphic xmlns:a="http://schemas.openxmlformats.org/drawingml/2006/main">
          <a:graphicData uri="http://schemas.openxmlformats.org/drawingml/2006/chart">
            <c:chart xmlns:r="http://schemas.openxmlformats.org/officeDocument/2006/relationships" xmlns:c="http://schemas.openxmlformats.org/drawingml/2006/chart" r:id="R8e4c41f17fe44612"/>
          </a:graphicData>
        </a:graphic>
      </p:graphicFrame>
      <p:sp>
        <p:nvSpPr>
          <p:cNvPr id="18" name="text-12">
            <a:extLst xmlns:a="http://schemas.openxmlformats.org/drawingml/2006/main">
              <a:ext uri="{FF2B5EF4-FFF2-40B4-BE49-F238E27FC236}">
                <a16:creationId xmlns:a16="http://schemas.microsoft.com/office/drawing/2014/main" id="{E2A73995-4A76-4239-AE45-7D5C680C59D2}"/>
              </a:ext>
            </a:extLst>
          </p:cNvPr>
          <p:cNvSpPr>
            <a:spLocks xmlns:a="http://schemas.openxmlformats.org/drawingml/2006/main" noGrp="1"/>
          </p:cNvSpPr>
          <p:nvPr/>
        </p:nvSpPr>
        <p:spPr>
          <a:xfrm xmlns:a="http://schemas.openxmlformats.org/drawingml/2006/main">
            <a:off x="11501438" y="3457575"/>
            <a:ext cx="5500688" cy="3657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150" b="0">
                <a:solidFill>
                  <a:srgbClr val="FFFFFF"/>
                </a:solidFill>
                <a:latin typeface="TT Fors"/>
                <a:ea typeface="TT Fors"/>
                <a:cs typeface="TT Fors"/>
              </a:defRPr>
            </a:defPPr>
          </a:lstStyle>
          <a:p xmlns:a="http://schemas.openxmlformats.org/drawingml/2006/main">
            <a:pPr algn="l">
              <a:buNone/>
              <a:defRPr sz="3150" b="0">
                <a:solidFill>
                  <a:srgbClr val="FFFFFF"/>
                </a:solidFill>
                <a:latin typeface="TT Fors"/>
                <a:ea typeface="TT Fors"/>
                <a:cs typeface="TT Fors"/>
              </a:defRPr>
            </a:pPr>
            <a:r>
              <a:rPr sz="3150" b="0">
                <a:solidFill>
                  <a:srgbClr val="FFFFFF"/>
                </a:solidFill>
                <a:latin typeface="TT Fors"/>
                <a:ea typeface="TT Fors"/>
                <a:cs typeface="TT Fors"/>
              </a:rPr>
              <a:t/>
            </a:r>
          </a:p>
        </p:txBody>
      </p:sp>
      <p:sp>
        <p:nvSpPr>
          <p:cNvPr id="19" name="text-13">
            <a:extLst xmlns:a="http://schemas.openxmlformats.org/drawingml/2006/main">
              <a:ext uri="{FF2B5EF4-FFF2-40B4-BE49-F238E27FC236}">
                <a16:creationId xmlns:a16="http://schemas.microsoft.com/office/drawing/2014/main" id="{F6F203E5-BDE1-4EF7-97D0-49CBEECBF093}"/>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Variance explained measures predictor variation, not classification accuracy.</a:t>
            </a:r>
          </a:p>
        </p:txBody>
      </p:sp>
      <p:sp>
        <p:nvSpPr>
          <p:cNvPr id="20" name="PCA explanation">
            <a:extLst xmlns:a="http://schemas.openxmlformats.org/drawingml/2006/main">
              <a:ext uri="{FF2B5EF4-FFF2-40B4-BE49-F238E27FC236}">
                <a16:creationId xmlns:a16="http://schemas.microsoft.com/office/drawing/2014/main" id="{D9965BBD-CAC2-4DCE-9A67-3728AC9D85BB}"/>
              </a:ext>
            </a:extLst>
          </p:cNvPr>
          <p:cNvSpPr>
            <a:spLocks xmlns:a="http://schemas.openxmlformats.org/drawingml/2006/main" noGrp="1"/>
          </p:cNvSpPr>
          <p:nvPr/>
        </p:nvSpPr>
        <p:spPr>
          <a:xfrm xmlns:a="http://schemas.openxmlformats.org/drawingml/2006/main">
            <a:off x="971550" y="3048000"/>
            <a:ext cx="1600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FFFFFF"/>
                </a:solidFill>
                <a:latin typeface="TT Fors"/>
                <a:ea typeface="TT Fors"/>
                <a:cs typeface="TT Fors"/>
              </a:defRPr>
            </a:defPPr>
          </a:lstStyle>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Inputs: quantity, unit rate, discount, service charge and revenue</a:t>
            </a:r>
          </a:p>
        </p:txBody>
      </p:sp>
      <p:sp>
        <p:nvSpPr>
          <p:cNvPr id="21" name="PCA explanation">
            <a:extLst xmlns:a="http://schemas.openxmlformats.org/drawingml/2006/main">
              <a:ext uri="{FF2B5EF4-FFF2-40B4-BE49-F238E27FC236}">
                <a16:creationId xmlns:a16="http://schemas.microsoft.com/office/drawing/2014/main" id="{9426A5ED-0208-4AC3-9198-12CB91B2EE45}"/>
              </a:ext>
            </a:extLst>
          </p:cNvPr>
          <p:cNvSpPr>
            <a:spLocks xmlns:a="http://schemas.openxmlformats.org/drawingml/2006/main" noGrp="1"/>
          </p:cNvSpPr>
          <p:nvPr/>
        </p:nvSpPr>
        <p:spPr>
          <a:xfrm xmlns:a="http://schemas.openxmlformats.org/drawingml/2006/main">
            <a:off x="971550" y="366712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325" b="0">
                <a:solidFill>
                  <a:srgbClr val="FFFFFF"/>
                </a:solidFill>
                <a:latin typeface="TT Fors"/>
                <a:ea typeface="TT Fors"/>
                <a:cs typeface="TT Fors"/>
              </a:defRPr>
            </a:defPPr>
          </a:lstStyle>
          <a:p xmlns:a="http://schemas.openxmlformats.org/drawingml/2006/main">
            <a:pPr algn="l">
              <a:defRPr sz="2325" b="0">
                <a:solidFill>
                  <a:srgbClr val="FFFFFF"/>
                </a:solidFill>
                <a:latin typeface="TT Fors"/>
                <a:ea typeface="TT Fors"/>
                <a:cs typeface="TT Fors"/>
              </a:defRPr>
            </a:pPr>
            <a:r>
              <a:rPr sz="2325" b="0">
                <a:solidFill>
                  <a:srgbClr val="FFFFFF"/>
                </a:solidFill>
                <a:latin typeface="TT Fors"/>
                <a:ea typeface="TT Fors"/>
                <a:cs typeface="TT Fors"/>
              </a:rPr>
              <a:t>1  Standardise inputs to mean 0 and standard deviation 1</a:t>
            </a:r>
          </a:p>
          <a:p xmlns:a="http://schemas.openxmlformats.org/drawingml/2006/main">
            <a:pPr algn="l">
              <a:defRPr sz="2325" b="0">
                <a:solidFill>
                  <a:srgbClr val="FFFFFF"/>
                </a:solidFill>
                <a:latin typeface="TT Fors"/>
                <a:ea typeface="TT Fors"/>
                <a:cs typeface="TT Fors"/>
              </a:defRPr>
            </a:pPr>
            <a:r>
              <a:rPr sz="2325" b="0">
                <a:solidFill>
                  <a:srgbClr val="FFFFFF"/>
                </a:solidFill>
                <a:latin typeface="TT Fors"/>
                <a:ea typeface="TT Fors"/>
                <a:cs typeface="TT Fors"/>
              </a:rPr>
              <a:t>2  Combine them into principal components (PCs)</a:t>
            </a:r>
          </a:p>
        </p:txBody>
      </p:sp>
      <p:sp>
        <p:nvSpPr>
          <p:cNvPr id="22" name="PCA explanation">
            <a:extLst xmlns:a="http://schemas.openxmlformats.org/drawingml/2006/main">
              <a:ext uri="{FF2B5EF4-FFF2-40B4-BE49-F238E27FC236}">
                <a16:creationId xmlns:a16="http://schemas.microsoft.com/office/drawing/2014/main" id="{0BE5AE53-067F-4EDC-B121-D7E0F18ADA64}"/>
              </a:ext>
            </a:extLst>
          </p:cNvPr>
          <p:cNvSpPr>
            <a:spLocks xmlns:a="http://schemas.openxmlformats.org/drawingml/2006/main" noGrp="1"/>
          </p:cNvSpPr>
          <p:nvPr/>
        </p:nvSpPr>
        <p:spPr>
          <a:xfrm xmlns:a="http://schemas.openxmlformats.org/drawingml/2006/main">
            <a:off x="11525250" y="3838575"/>
            <a:ext cx="5619750" cy="400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FFFFFF"/>
                </a:solidFill>
                <a:latin typeface="TT Fors"/>
                <a:ea typeface="TT Fors"/>
                <a:cs typeface="TT Fors"/>
              </a:defRPr>
            </a:defPPr>
          </a:lstStyle>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PC1: 45.30%</a:t>
            </a:r>
          </a:p>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Mainly quantity and revenue</a:t>
            </a:r>
          </a:p>
          <a:p xmlns:a="http://schemas.openxmlformats.org/drawingml/2006/main">
            <a:r>
              <a:t/>
            </a:r>
          </a:p>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PC2: 20.22%</a:t>
            </a:r>
          </a:p>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Contrasts discount with unit rate</a:t>
            </a:r>
          </a:p>
          <a:p xmlns:a="http://schemas.openxmlformats.org/drawingml/2006/main">
            <a:r>
              <a:t/>
            </a:r>
          </a:p>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First two PCs: 65.52%</a:t>
            </a:r>
          </a:p>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Leaving 34.48% outside this view</a:t>
            </a:r>
          </a:p>
        </p:txBody>
      </p:sp>
    </p:spTree>
    <p:extLst>
      <p:ext uri="{BB962C8B-B14F-4D97-AF65-F5344CB8AC3E}">
        <p14:creationId xmlns:p14="http://schemas.microsoft.com/office/powerpoint/2010/main" val="73300565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3c6ea1615871488d"/>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3c6ea1615871488d">
              <a:extLst>
                <a:ext uri="{96DAC541-7B7A-43D3-8B79-37D633B846F1}">
                  <asvg:svgBlip xmlns:asvg="http://schemas.microsoft.com/office/drawing/2016/SVG/main" r:embed="R90d4e8fda71b4a0b"/>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7A4C8B18-9374-485A-86A4-677C8BAFF25D}"/>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6286FEDF-62D8-4C62-9A85-B4502DB2CC3D}"/>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01E04B9B-4E05-4046-8F25-85FB7286CAC8}"/>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5F5C956E-1AC9-4266-B401-9A2D35648043}"/>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AF75ECBF-62CF-4FD0-9090-1C02968A320D}"/>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PCA: LOADINGS, PATTERNS AND DECISION</a:t>
            </a:r>
          </a:p>
        </p:txBody>
      </p:sp>
      <p:sp>
        <p:nvSpPr>
          <p:cNvPr id="14" name="text-9">
            <a:extLst xmlns:a="http://schemas.openxmlformats.org/drawingml/2006/main">
              <a:ext uri="{FF2B5EF4-FFF2-40B4-BE49-F238E27FC236}">
                <a16:creationId xmlns:a16="http://schemas.microsoft.com/office/drawing/2014/main" id="{F6AA2AE1-66DE-4818-9906-768D84A8322D}"/>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t>Empirical Pre vs. Post PCA evaluation proves that dimensionality reduction degrades classification</a:t>
            </a:r>
          </a:p>
        </p:txBody>
      </p:sp>
      <p:sp>
        <p:nvSpPr>
          <p:cNvPr id="15" name="page-marker">
            <a:extLst xmlns:a="http://schemas.openxmlformats.org/drawingml/2006/main">
              <a:ext uri="{FF2B5EF4-FFF2-40B4-BE49-F238E27FC236}">
                <a16:creationId xmlns:a16="http://schemas.microsoft.com/office/drawing/2014/main" id="{F5B0AA36-6C8F-43BB-AFF9-B6AD9EFFBCE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18</a:t>
            </a:r>
          </a:p>
        </p:txBody>
      </p:sp>
      <p:sp>
        <p:nvSpPr>
          <p:cNvPr id="16" name="text-11">
            <a:extLst xmlns:a="http://schemas.openxmlformats.org/drawingml/2006/main">
              <a:ext uri="{FF2B5EF4-FFF2-40B4-BE49-F238E27FC236}">
                <a16:creationId xmlns:a16="http://schemas.microsoft.com/office/drawing/2014/main" id="{D0177A72-C569-4A6E-9C34-1966CDB5D0A7}"/>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pic>
        <p:nvPicPr>
          <p:cNvPr id="17" name="">
            <a:extLst xmlns:a="http://schemas.openxmlformats.org/drawingml/2006/main">
              <a:ext uri="{FF2B5EF4-FFF2-40B4-BE49-F238E27FC236}">
                <a16:creationId xmlns:a16="http://schemas.microsoft.com/office/drawing/2014/main" id="{B94AA3F5-A46C-47B9-94B4-38BFA7C6296A}"/>
              </a:ext>
            </a:extLst>
          </p:cNvPr>
          <p:cNvPicPr>
            <a:picLocks xmlns:a="http://schemas.openxmlformats.org/drawingml/2006/main" noChangeAspect="1"/>
          </p:cNvPicPr>
          <p:nvPr/>
        </p:nvPicPr>
        <p:blipFill>
          <a:blip xmlns:r="http://schemas.openxmlformats.org/officeDocument/2006/relationships" xmlns:a="http://schemas.openxmlformats.org/drawingml/2006/main" r:embed="Rfea02d278a2d4e03"/>
          <a:stretch xmlns:a="http://schemas.openxmlformats.org/drawingml/2006/main"/>
        </p:blipFill>
        <p:spPr>
          <a:xfrm xmlns:a="http://schemas.openxmlformats.org/drawingml/2006/main">
            <a:off x="2955314" y="3186113"/>
            <a:ext cx="7319596" cy="5286375"/>
          </a:xfrm>
          <a:prstGeom xmlns:a="http://schemas.openxmlformats.org/drawingml/2006/main" prst="rect">
            <a:avLst/>
          </a:prstGeom>
        </p:spPr>
      </p:pic>
      <p:sp>
        <p:nvSpPr>
          <p:cNvPr id="18" name="text-12">
            <a:extLst xmlns:a="http://schemas.openxmlformats.org/drawingml/2006/main">
              <a:ext uri="{FF2B5EF4-FFF2-40B4-BE49-F238E27FC236}">
                <a16:creationId xmlns:a16="http://schemas.microsoft.com/office/drawing/2014/main" id="{FCED08A7-8780-43D1-887B-7F2314844E57}"/>
              </a:ext>
            </a:extLst>
          </p:cNvPr>
          <p:cNvSpPr>
            <a:spLocks xmlns:a="http://schemas.openxmlformats.org/drawingml/2006/main" noGrp="1"/>
          </p:cNvSpPr>
          <p:nvPr/>
        </p:nvSpPr>
        <p:spPr>
          <a:xfrm xmlns:a="http://schemas.openxmlformats.org/drawingml/2006/main">
            <a:off x="13125450" y="3486150"/>
            <a:ext cx="3952875" cy="433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FFFFFF"/>
                </a:solidFill>
                <a:latin typeface="TT Fors"/>
                <a:ea typeface="TT Fors"/>
                <a:cs typeface="TT Fors"/>
              </a:defRPr>
            </a:defPPr>
          </a:lstStyle>
          <a:p xmlns:a="http://schemas.openxmlformats.org/drawingml/2006/main">
            <a:r>
              <a:t>Pre vs. Post PCA Tournament:</a:t>
            </a:r>
          </a:p>
          <a:p xmlns:a="http://schemas.openxmlformats.org/drawingml/2006/main">
            <a:r>
              <a:t>• Original Features (Pre-PCA, 19 dims): Top-1 Acc = 76.23% | F1 = 76.14% 🏆</a:t>
            </a:r>
          </a:p>
          <a:p xmlns:a="http://schemas.openxmlformats.org/drawingml/2006/main">
            <a:r>
              <a:t>• PCA Reduced (k = 10, 77.0% var): Top-1 Acc = 68.18% (-8.05% Acc Drop)</a:t>
            </a:r>
          </a:p>
          <a:p xmlns:a="http://schemas.openxmlformats.org/drawingml/2006/main">
            <a:r>
              <a:t>• PCA Reduced (k = 5, 48.3% var): Top-1 Acc = 67.74% (-8.49% Acc Drop)</a:t>
            </a:r>
          </a:p>
          <a:p xmlns:a="http://schemas.openxmlformats.org/drawingml/2006/main">
            <a:r>
              <a:t>• PCA Reduced (k = 3, 33.0% var): Top-1 Acc = 64.11% (-12.12% Acc Drop)</a:t>
            </a:r>
          </a:p>
          <a:p xmlns:a="http://schemas.openxmlformats.org/drawingml/2006/main"/>
          <a:p xmlns:a="http://schemas.openxmlformats.org/drawingml/2006/main">
            <a:r>
              <a:t>Scientific Justification (Larsson et al., 2023, p. 204, ln. 31):</a:t>
            </a:r>
          </a:p>
          <a:p xmlns:a="http://schemas.openxmlformats.org/drawingml/2006/main">
            <a:r>
              <a:t>PCA maximizes global variance, NOT class separability. Compressing categorical meal and dining boundaries degrades accuracy by 8–12%.</a:t>
            </a:r>
          </a:p>
        </p:txBody>
      </p:sp>
      <p:sp>
        <p:nvSpPr>
          <p:cNvPr id="19" name="text-13">
            <a:extLst xmlns:a="http://schemas.openxmlformats.org/drawingml/2006/main">
              <a:ext uri="{FF2B5EF4-FFF2-40B4-BE49-F238E27FC236}">
                <a16:creationId xmlns:a16="http://schemas.microsoft.com/office/drawing/2014/main" id="{43638DB9-9D74-436C-AA09-704DB56E2B82}"/>
              </a:ext>
            </a:extLst>
          </p:cNvPr>
          <p:cNvSpPr>
            <a:spLocks xmlns:a="http://schemas.openxmlformats.org/drawingml/2006/main" noGrp="1"/>
          </p:cNvSpPr>
          <p:nvPr/>
        </p:nvSpPr>
        <p:spPr>
          <a:xfrm xmlns:a="http://schemas.openxmlformats.org/drawingml/2006/main">
            <a:off x="942975" y="8758238"/>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r>
              <a:t>Empirical Test: Pre-PCA Accuracy = 76.23% vs. Post-PCA (k=10) = 68.18% (-8.05% drop). Decision: REJECT PCA for classification.</a:t>
            </a:r>
          </a:p>
        </p:txBody>
      </p:sp>
    </p:spTree>
    <p:extLst>
      <p:ext uri="{BB962C8B-B14F-4D97-AF65-F5344CB8AC3E}">
        <p14:creationId xmlns:p14="http://schemas.microsoft.com/office/powerpoint/2010/main" val="73300565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ed2b8013edce41bb"/>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ed2b8013edce41bb">
              <a:extLst>
                <a:ext uri="{96DAC541-7B7A-43D3-8B79-37D633B846F1}">
                  <asvg:svgBlip xmlns:asvg="http://schemas.microsoft.com/office/drawing/2016/SVG/main" r:embed="R7173a9e40d3544c9"/>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273E68AD-52E3-41AD-8461-4A9C94A9C86B}"/>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F75F5CD9-5109-4038-89E1-AA60766A03BC}"/>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343CF6E4-013D-4BB9-B8DE-3BFDC2AFF93A}"/>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B57FD87B-B761-474B-8D58-7444C9C4B2FF}"/>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FD954939-22F0-4E8B-9327-08AC85F6BCE9}"/>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BAYESIAN METHODS EVALUATION</a:t>
            </a:r>
          </a:p>
        </p:txBody>
      </p:sp>
      <p:sp>
        <p:nvSpPr>
          <p:cNvPr id="14" name="text-9">
            <a:extLst xmlns:a="http://schemas.openxmlformats.org/drawingml/2006/main">
              <a:ext uri="{FF2B5EF4-FFF2-40B4-BE49-F238E27FC236}">
                <a16:creationId xmlns:a16="http://schemas.microsoft.com/office/drawing/2014/main" id="{8276B97F-536B-428B-BC2E-F070C69BFC7B}"/>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t>Task 8: Empirical prior baselines and Bayesian decision rules minimizing expected business loss</a:t>
            </a:r>
          </a:p>
        </p:txBody>
      </p:sp>
      <p:sp>
        <p:nvSpPr>
          <p:cNvPr id="15" name="page-marker">
            <a:extLst xmlns:a="http://schemas.openxmlformats.org/drawingml/2006/main">
              <a:ext uri="{FF2B5EF4-FFF2-40B4-BE49-F238E27FC236}">
                <a16:creationId xmlns:a16="http://schemas.microsoft.com/office/drawing/2014/main" id="{A29D07B3-F87B-41B6-87B4-763E93D301A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19</a:t>
            </a:r>
          </a:p>
        </p:txBody>
      </p:sp>
      <p:sp>
        <p:nvSpPr>
          <p:cNvPr id="16" name="text-11">
            <a:extLst xmlns:a="http://schemas.openxmlformats.org/drawingml/2006/main">
              <a:ext uri="{FF2B5EF4-FFF2-40B4-BE49-F238E27FC236}">
                <a16:creationId xmlns:a16="http://schemas.microsoft.com/office/drawing/2014/main" id="{1CA14A6B-7356-4A3F-90C6-7C59EAC4E61A}"/>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ADD2F8F7-2039-44AE-82E0-37CE85579180}"/>
              </a:ext>
            </a:extLst>
          </p:cNvPr>
          <p:cNvGraphicFramePr/>
          <p:nvPr/>
        </p:nvGraphicFramePr>
        <p:xfrm>
          <a:off xmlns:a="http://schemas.openxmlformats.org/drawingml/2006/main" x="971550" y="3214688"/>
          <a:ext xmlns:a="http://schemas.openxmlformats.org/drawingml/2006/main" cx="16344900" cy="4572000"/>
        </p:xfrm>
        <a:graphic xmlns:a="http://schemas.openxmlformats.org/drawingml/2006/main">
          <a:graphicData uri="http://schemas.openxmlformats.org/drawingml/2006/table">
            <a:tbl>
              <a:tblPr/>
              <a:tblGrid>
                <a:gridCol w="4714875"/>
                <a:gridCol w="5757863"/>
                <a:gridCol w="5872163"/>
              </a:tblGrid>
              <a:tr h="1143000">
                <a:tc>
                  <a:txBody>
                    <a:bodyPr lIns="133350" tIns="133350" rIns="133350" bIns="133350"/>
                    <a:lstStyle/>
                    <a:p>
                      <a:pPr>
                        <a:defRPr sz="1200" b="1">
                          <a:solidFill>
                            <a:srgbClr val="1A202C"/>
                          </a:solidFill>
                        </a:defRPr>
                      </a:pPr>
                      <a:r>
                        <a:t>Bayesian Component</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t>Empirical Values &amp; Potential Value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t>Operational Limitation &amp; Decision</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1143000">
                <a:tc>
                  <a:txBody>
                    <a:bodyPr lIns="133350" tIns="133350" rIns="133350" bIns="133350"/>
                    <a:lstStyle/>
                    <a:p>
                      <a:pPr>
                        <a:defRPr sz="1100" b="1">
                          <a:solidFill>
                            <a:srgbClr val="2D3748"/>
                          </a:solidFill>
                        </a:defRPr>
                      </a:pPr>
                      <a:r>
                        <a:t>Empirical Priors P(Y)</a:t>
                      </a:r>
                    </a:p>
                    <a:p>
                      <a:pPr>
                        <a:defRPr sz="1100" b="1">
                          <a:solidFill>
                            <a:srgbClr val="2D3748"/>
                          </a:solidFill>
                        </a:defRPr>
                      </a:pPr>
                      <a:r>
                        <a:t>Baseline Propensities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t>P(Beverage)=52.17%, P(Food)=33.71%, P(Deals)=8.73%, P(Merch)=5.39%. Establishes baseline propensities under cold-start walk-ins.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t>Priors naturally reflect real retail transaction volume without requiring artificial class balancing.</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43000">
                <a:tc>
                  <a:txBody>
                    <a:bodyPr lIns="133350" tIns="133350" rIns="133350" bIns="133350"/>
                    <a:lstStyle/>
                    <a:p>
                      <a:pPr>
                        <a:defRPr sz="1100" b="1">
                          <a:solidFill>
                            <a:srgbClr val="2D3748"/>
                          </a:solidFill>
                        </a:defRPr>
                      </a:pPr>
                      <a:r>
                        <a:t>Naïve Bayes</a:t>
                      </a:r>
                    </a:p>
                    <a:p>
                      <a:pPr>
                        <a:defRPr sz="1100" b="1">
                          <a:solidFill>
                            <a:srgbClr val="2D3748"/>
                          </a:solidFill>
                        </a:defRPr>
                      </a:pPr>
                      <a:r>
                        <a:t>Likelihood Scoring</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t>Fast posterior calculation: P(Y=k|X) proportional to P(Y=k) * Product(P(X_j|Y=k)). Extremely lightweight for edge scoring.</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t>Conditional feature independence assumption is violated by time-dining correlations, yielding lower accuracy (71.47%).</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43000">
                <a:tc>
                  <a:txBody>
                    <a:bodyPr lIns="133350" tIns="133350" rIns="133350" bIns="133350"/>
                    <a:lstStyle/>
                    <a:p>
                      <a:pPr>
                        <a:defRPr sz="1100" b="1">
                          <a:solidFill>
                            <a:srgbClr val="2D3748"/>
                          </a:solidFill>
                        </a:defRPr>
                      </a:pPr>
                      <a:r>
                        <a:t>Bayesian Decision Rule</a:t>
                      </a:r>
                    </a:p>
                    <a:p>
                      <a:pPr>
                        <a:defRPr sz="1100" b="1">
                          <a:solidFill>
                            <a:srgbClr val="2D3748"/>
                          </a:solidFill>
                        </a:defRPr>
                      </a:pPr>
                      <a:r>
                        <a:t>(Gupta &amp; Rossi, 2022)</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t>Minimizes expected loss: L(Action, State). Compares profit of food upsell (~LKR 450 margin) against queue delay penalty (~LKR 50).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t>Requires real-time POS queue telemetry; implemented as the Express Mode threshold during 8–10 AM rush.</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7B444187-C48D-49A4-961E-FD7EDCB0AF86}"/>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r>
              <a:t>Bayesian Rule: Trigger upsell prompt ONLY if Expected Margin Lift &gt; Queue Delay Cost.</a:t>
            </a:r>
          </a:p>
        </p:txBody>
      </p:sp>
    </p:spTree>
    <p:extLst>
      <p:ext uri="{BB962C8B-B14F-4D97-AF65-F5344CB8AC3E}">
        <p14:creationId xmlns:p14="http://schemas.microsoft.com/office/powerpoint/2010/main" val="73300565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bf8d8d4ab7894316"/>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bf8d8d4ab7894316">
              <a:extLst>
                <a:ext uri="{96DAC541-7B7A-43D3-8B79-37D633B846F1}">
                  <asvg:svgBlip xmlns:asvg="http://schemas.microsoft.com/office/drawing/2016/SVG/main" r:embed="R7903ae921bc14e85"/>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76718707-F460-41F1-A22B-487534D9A583}"/>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8361ED5B-A541-436F-B4D6-C80955798129}"/>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04D8DBE0-01E9-4532-B950-8C109DE49D0E}"/>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BDF9119E-C21B-497A-BB0C-5F7F8AD5A088}"/>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0F265F61-5D28-44EB-9CCF-7EEF00761C24}"/>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TREND AND WEEKLY SEASONALITY</a:t>
            </a:r>
          </a:p>
        </p:txBody>
      </p:sp>
      <p:sp>
        <p:nvSpPr>
          <p:cNvPr id="14" name="text-9">
            <a:extLst xmlns:a="http://schemas.openxmlformats.org/drawingml/2006/main">
              <a:ext uri="{FF2B5EF4-FFF2-40B4-BE49-F238E27FC236}">
                <a16:creationId xmlns:a16="http://schemas.microsoft.com/office/drawing/2014/main" id="{C9DC576F-1E79-4D6A-894F-E26F11BF8367}"/>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Decomposition separates observed demand into trend, seasonality and remainder.</a:t>
            </a:r>
          </a:p>
        </p:txBody>
      </p:sp>
      <p:sp>
        <p:nvSpPr>
          <p:cNvPr id="15" name="page-marker">
            <a:extLst xmlns:a="http://schemas.openxmlformats.org/drawingml/2006/main">
              <a:ext uri="{FF2B5EF4-FFF2-40B4-BE49-F238E27FC236}">
                <a16:creationId xmlns:a16="http://schemas.microsoft.com/office/drawing/2014/main" id="{DE42C486-3FC5-4354-9044-1C33D1C10B79}"/>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20</a:t>
            </a:r>
          </a:p>
        </p:txBody>
      </p:sp>
      <p:sp>
        <p:nvSpPr>
          <p:cNvPr id="16" name="text-11">
            <a:extLst xmlns:a="http://schemas.openxmlformats.org/drawingml/2006/main">
              <a:ext uri="{FF2B5EF4-FFF2-40B4-BE49-F238E27FC236}">
                <a16:creationId xmlns:a16="http://schemas.microsoft.com/office/drawing/2014/main" id="{2C4912F1-DC71-497B-A2F3-5B358DD1E3CA}"/>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pic>
        <p:nvPicPr>
          <p:cNvPr id="17" name="">
            <a:extLst xmlns:a="http://schemas.openxmlformats.org/drawingml/2006/main">
              <a:ext uri="{FF2B5EF4-FFF2-40B4-BE49-F238E27FC236}">
                <a16:creationId xmlns:a16="http://schemas.microsoft.com/office/drawing/2014/main" id="{1478E366-99FC-4E40-B8E4-E94F11F54324}"/>
              </a:ext>
            </a:extLst>
          </p:cNvPr>
          <p:cNvPicPr>
            <a:picLocks xmlns:a="http://schemas.openxmlformats.org/drawingml/2006/main" noChangeAspect="1"/>
          </p:cNvPicPr>
          <p:nvPr/>
        </p:nvPicPr>
        <p:blipFill>
          <a:blip xmlns:r="http://schemas.openxmlformats.org/officeDocument/2006/relationships" xmlns:a="http://schemas.openxmlformats.org/drawingml/2006/main" r:embed="R6cafa7b640b545b2"/>
          <a:stretch xmlns:a="http://schemas.openxmlformats.org/drawingml/2006/main"/>
        </p:blipFill>
        <p:spPr>
          <a:xfrm xmlns:a="http://schemas.openxmlformats.org/drawingml/2006/main">
            <a:off x="2281238" y="3143250"/>
            <a:ext cx="8810625" cy="5286375"/>
          </a:xfrm>
          <a:prstGeom xmlns:a="http://schemas.openxmlformats.org/drawingml/2006/main" prst="rect">
            <a:avLst/>
          </a:prstGeom>
        </p:spPr>
      </p:pic>
      <p:sp>
        <p:nvSpPr>
          <p:cNvPr id="18" name="text-12">
            <a:extLst xmlns:a="http://schemas.openxmlformats.org/drawingml/2006/main">
              <a:ext uri="{FF2B5EF4-FFF2-40B4-BE49-F238E27FC236}">
                <a16:creationId xmlns:a16="http://schemas.microsoft.com/office/drawing/2014/main" id="{DC643389-98F9-4522-BEFD-FD8FD777F351}"/>
              </a:ext>
            </a:extLst>
          </p:cNvPr>
          <p:cNvSpPr>
            <a:spLocks xmlns:a="http://schemas.openxmlformats.org/drawingml/2006/main" noGrp="1"/>
          </p:cNvSpPr>
          <p:nvPr/>
        </p:nvSpPr>
        <p:spPr>
          <a:xfrm xmlns:a="http://schemas.openxmlformats.org/drawingml/2006/main">
            <a:off x="13115925" y="3429000"/>
            <a:ext cx="4143375"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700" b="0">
                <a:solidFill>
                  <a:srgbClr val="FFFFFF"/>
                </a:solidFill>
                <a:latin typeface="TT Fors"/>
                <a:ea typeface="TT Fors"/>
                <a:cs typeface="TT Fors"/>
              </a:defRPr>
            </a:defPPr>
          </a:lstStyle>
          <a:p xmlns:a="http://schemas.openxmlformats.org/drawingml/2006/main">
            <a:pPr algn="l">
              <a:buNone/>
              <a:defRPr sz="2700" b="0">
                <a:solidFill>
                  <a:srgbClr val="FFFFFF"/>
                </a:solidFill>
                <a:latin typeface="TT Fors"/>
                <a:ea typeface="TT Fors"/>
                <a:cs typeface="TT Fors"/>
              </a:defRPr>
            </a:pPr>
            <a:r>
              <a:rPr sz="2700" b="0">
                <a:solidFill>
                  <a:srgbClr val="FFFFFF"/>
                </a:solidFill>
                <a:latin typeface="TT Fors"/>
                <a:ea typeface="TT Fors"/>
                <a:cs typeface="TT Fors"/>
              </a:rPr>
              <a:t>Trend</a:t>
            </a:r>
          </a:p>
          <a:p xmlns:a="http://schemas.openxmlformats.org/drawingml/2006/main">
            <a:pPr algn="l">
              <a:buNone/>
              <a:defRPr sz="2700" b="0">
                <a:solidFill>
                  <a:srgbClr val="FFFFFF"/>
                </a:solidFill>
                <a:latin typeface="TT Fors"/>
                <a:ea typeface="TT Fors"/>
                <a:cs typeface="TT Fors"/>
              </a:defRPr>
            </a:pPr>
            <a:r>
              <a:rPr sz="2700" b="0">
                <a:solidFill>
                  <a:srgbClr val="FFFFFF"/>
                </a:solidFill>
                <a:latin typeface="TT Fors"/>
                <a:ea typeface="TT Fors"/>
                <a:cs typeface="TT Fors"/>
              </a:rPr>
              <a:t>Overall decline</a:t>
            </a:r>
          </a:p>
          <a:p xmlns:a="http://schemas.openxmlformats.org/drawingml/2006/main">
            <a:r>
              <a:t/>
            </a:r>
          </a:p>
          <a:p xmlns:a="http://schemas.openxmlformats.org/drawingml/2006/main">
            <a:pPr algn="l">
              <a:buNone/>
              <a:defRPr sz="2700" b="0">
                <a:solidFill>
                  <a:srgbClr val="FFFFFF"/>
                </a:solidFill>
                <a:latin typeface="TT Fors"/>
                <a:ea typeface="TT Fors"/>
                <a:cs typeface="TT Fors"/>
              </a:defRPr>
            </a:pPr>
            <a:r>
              <a:rPr sz="2700" b="0">
                <a:solidFill>
                  <a:srgbClr val="FFFFFF"/>
                </a:solidFill>
                <a:latin typeface="TT Fors"/>
                <a:ea typeface="TT Fors"/>
                <a:cs typeface="TT Fors"/>
              </a:rPr>
              <a:t>Seasonality</a:t>
            </a:r>
          </a:p>
          <a:p xmlns:a="http://schemas.openxmlformats.org/drawingml/2006/main">
            <a:pPr algn="l">
              <a:buNone/>
              <a:defRPr sz="2700" b="0">
                <a:solidFill>
                  <a:srgbClr val="FFFFFF"/>
                </a:solidFill>
                <a:latin typeface="TT Fors"/>
                <a:ea typeface="TT Fors"/>
                <a:cs typeface="TT Fors"/>
              </a:defRPr>
            </a:pPr>
            <a:r>
              <a:rPr sz="2700" b="0">
                <a:solidFill>
                  <a:srgbClr val="FFFFFF"/>
                </a:solidFill>
                <a:latin typeface="TT Fors"/>
                <a:ea typeface="TT Fors"/>
                <a:cs typeface="TT Fors"/>
              </a:rPr>
              <a:t>Repeating weekly pattern</a:t>
            </a:r>
          </a:p>
          <a:p xmlns:a="http://schemas.openxmlformats.org/drawingml/2006/main">
            <a:r>
              <a:t/>
            </a:r>
          </a:p>
          <a:p xmlns:a="http://schemas.openxmlformats.org/drawingml/2006/main">
            <a:pPr algn="l">
              <a:buNone/>
              <a:defRPr sz="2700" b="0">
                <a:solidFill>
                  <a:srgbClr val="FFFFFF"/>
                </a:solidFill>
                <a:latin typeface="TT Fors"/>
                <a:ea typeface="TT Fors"/>
                <a:cs typeface="TT Fors"/>
              </a:defRPr>
            </a:pPr>
            <a:r>
              <a:rPr sz="2700" b="0">
                <a:solidFill>
                  <a:srgbClr val="FFFFFF"/>
                </a:solidFill>
                <a:latin typeface="TT Fors"/>
                <a:ea typeface="TT Fors"/>
                <a:cs typeface="TT Fors"/>
              </a:rPr>
              <a:t>Remainder</a:t>
            </a:r>
          </a:p>
          <a:p xmlns:a="http://schemas.openxmlformats.org/drawingml/2006/main">
            <a:pPr algn="l">
              <a:buNone/>
              <a:defRPr sz="2700" b="0">
                <a:solidFill>
                  <a:srgbClr val="FFFFFF"/>
                </a:solidFill>
                <a:latin typeface="TT Fors"/>
                <a:ea typeface="TT Fors"/>
                <a:cs typeface="TT Fors"/>
              </a:defRPr>
            </a:pPr>
            <a:r>
              <a:rPr sz="2700" b="0">
                <a:solidFill>
                  <a:srgbClr val="FFFFFF"/>
                </a:solidFill>
                <a:latin typeface="TT Fors"/>
                <a:ea typeface="TT Fors"/>
                <a:cs typeface="TT Fors"/>
              </a:rPr>
              <a:t>Unexplained variation</a:t>
            </a:r>
          </a:p>
        </p:txBody>
      </p:sp>
      <p:sp>
        <p:nvSpPr>
          <p:cNvPr id="19" name="text-13">
            <a:extLst xmlns:a="http://schemas.openxmlformats.org/drawingml/2006/main">
              <a:ext uri="{FF2B5EF4-FFF2-40B4-BE49-F238E27FC236}">
                <a16:creationId xmlns:a16="http://schemas.microsoft.com/office/drawing/2014/main" id="{40AC7BE8-A84B-478B-89D5-5A7E4C90D751}"/>
              </a:ext>
            </a:extLst>
          </p:cNvPr>
          <p:cNvSpPr>
            <a:spLocks xmlns:a="http://schemas.openxmlformats.org/drawingml/2006/main" noGrp="1"/>
          </p:cNvSpPr>
          <p:nvPr/>
        </p:nvSpPr>
        <p:spPr>
          <a:xfrm xmlns:a="http://schemas.openxmlformats.org/drawingml/2006/main">
            <a:off x="942975" y="87439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Ninety days support a weekly analysis, with limited evidence for longer cycles.</a:t>
            </a:r>
          </a:p>
        </p:txBody>
      </p:sp>
    </p:spTree>
    <p:extLst>
      <p:ext uri="{BB962C8B-B14F-4D97-AF65-F5344CB8AC3E}">
        <p14:creationId xmlns:p14="http://schemas.microsoft.com/office/powerpoint/2010/main" val="73300565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6b5b557e5e38491b"/>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6b5b557e5e38491b">
              <a:extLst>
                <a:ext uri="{96DAC541-7B7A-43D3-8B79-37D633B846F1}">
                  <asvg:svgBlip xmlns:asvg="http://schemas.microsoft.com/office/drawing/2016/SVG/main" r:embed="R97ddd9b66bc74ce6"/>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21752608-FB0D-4CA0-83EC-886F42156694}"/>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20961279-FD9F-4923-A4B1-0F89B658F25C}"/>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E6E92C40-6759-4F89-B1F4-963EB1731F94}"/>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90AFEF34-9D09-4474-9125-3E7A849FCC9B}"/>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95599B1B-2A27-406B-B9C4-C84B10D4E414}"/>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TIME SERIES AND DEMAND FORECASTING</a:t>
            </a:r>
          </a:p>
        </p:txBody>
      </p:sp>
      <p:sp>
        <p:nvSpPr>
          <p:cNvPr id="14" name="text-9">
            <a:extLst xmlns:a="http://schemas.openxmlformats.org/drawingml/2006/main">
              <a:ext uri="{FF2B5EF4-FFF2-40B4-BE49-F238E27FC236}">
                <a16:creationId xmlns:a16="http://schemas.microsoft.com/office/drawing/2014/main" id="{EF92BA7A-76EA-40C5-ACC5-46EFBB792907}"/>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Saved seasonal ARIMA forecast: approximately 6,143 orders for April</a:t>
            </a:r>
          </a:p>
        </p:txBody>
      </p:sp>
      <p:sp>
        <p:nvSpPr>
          <p:cNvPr id="15" name="page-marker">
            <a:extLst xmlns:a="http://schemas.openxmlformats.org/drawingml/2006/main">
              <a:ext uri="{FF2B5EF4-FFF2-40B4-BE49-F238E27FC236}">
                <a16:creationId xmlns:a16="http://schemas.microsoft.com/office/drawing/2014/main" id="{4C028CCC-F698-4E13-A72E-FE24C4673EEB}"/>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21</a:t>
            </a:r>
          </a:p>
        </p:txBody>
      </p:sp>
      <p:sp>
        <p:nvSpPr>
          <p:cNvPr id="16" name="text-11">
            <a:extLst xmlns:a="http://schemas.openxmlformats.org/drawingml/2006/main">
              <a:ext uri="{FF2B5EF4-FFF2-40B4-BE49-F238E27FC236}">
                <a16:creationId xmlns:a16="http://schemas.microsoft.com/office/drawing/2014/main" id="{364EC97C-BD6F-4E84-A0B7-E5703385444D}"/>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Chart">
            <a:extLst xmlns:a="http://schemas.openxmlformats.org/drawingml/2006/main">
              <a:ext uri="{FF2B5EF4-FFF2-40B4-BE49-F238E27FC236}">
                <a16:creationId xmlns:a16="http://schemas.microsoft.com/office/drawing/2014/main" id="{08D47D95-D504-4064-A2C0-D0EAEAEB8DB4}"/>
              </a:ext>
            </a:extLst>
          </p:cNvPr>
          <p:cNvGraphicFramePr/>
          <p:nvPr/>
        </p:nvGraphicFramePr>
        <p:xfrm>
          <a:off xmlns:a="http://schemas.openxmlformats.org/drawingml/2006/main" x="971550" y="3629025"/>
          <a:ext xmlns:a="http://schemas.openxmlformats.org/drawingml/2006/main" cx="8072438" cy="4286250"/>
        </p:xfrm>
        <a:graphic xmlns:a="http://schemas.openxmlformats.org/drawingml/2006/main">
          <a:graphicData uri="http://schemas.openxmlformats.org/drawingml/2006/chart">
            <c:chart xmlns:r="http://schemas.openxmlformats.org/officeDocument/2006/relationships" xmlns:c="http://schemas.openxmlformats.org/drawingml/2006/chart" r:id="R0c30caf56b694d9c"/>
          </a:graphicData>
        </a:graphic>
      </p:graphicFrame>
      <p:graphicFrame>
        <p:nvGraphicFramePr>
          <p:cNvPr id="18" name="Chart">
            <a:extLst xmlns:a="http://schemas.openxmlformats.org/drawingml/2006/main">
              <a:ext uri="{FF2B5EF4-FFF2-40B4-BE49-F238E27FC236}">
                <a16:creationId xmlns:a16="http://schemas.microsoft.com/office/drawing/2014/main" id="{5E8F5642-F2D9-4F46-8F0D-A1AA6B4EE5DE}"/>
              </a:ext>
            </a:extLst>
          </p:cNvPr>
          <p:cNvGraphicFramePr/>
          <p:nvPr/>
        </p:nvGraphicFramePr>
        <p:xfrm>
          <a:off xmlns:a="http://schemas.openxmlformats.org/drawingml/2006/main" x="9644063" y="3629025"/>
          <a:ext xmlns:a="http://schemas.openxmlformats.org/drawingml/2006/main" cx="7643813" cy="4286250"/>
        </p:xfrm>
        <a:graphic xmlns:a="http://schemas.openxmlformats.org/drawingml/2006/main">
          <a:graphicData uri="http://schemas.openxmlformats.org/drawingml/2006/chart">
            <c:chart xmlns:r="http://schemas.openxmlformats.org/officeDocument/2006/relationships" xmlns:c="http://schemas.openxmlformats.org/drawingml/2006/chart" r:id="R0e06e803e6db4285"/>
          </a:graphicData>
        </a:graphic>
      </p:graphicFrame>
      <p:sp>
        <p:nvSpPr>
          <p:cNvPr id="19" name="text-12">
            <a:extLst xmlns:a="http://schemas.openxmlformats.org/drawingml/2006/main">
              <a:ext uri="{FF2B5EF4-FFF2-40B4-BE49-F238E27FC236}">
                <a16:creationId xmlns:a16="http://schemas.microsoft.com/office/drawing/2014/main" id="{0D35DAA1-15E3-410A-94BF-F91AB1CF4C60}"/>
              </a:ext>
            </a:extLst>
          </p:cNvPr>
          <p:cNvSpPr>
            <a:spLocks xmlns:a="http://schemas.openxmlformats.org/drawingml/2006/main" noGrp="1"/>
          </p:cNvSpPr>
          <p:nvPr/>
        </p:nvSpPr>
        <p:spPr>
          <a:xfrm xmlns:a="http://schemas.openxmlformats.org/drawingml/2006/main">
            <a:off x="1285875" y="3143250"/>
            <a:ext cx="800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a:solidFill>
                  <a:srgbClr val="FF6705"/>
                </a:solidFill>
                <a:latin typeface="TT Fors Bold"/>
                <a:ea typeface="TT Fors Bold"/>
                <a:cs typeface="TT Fors Bold"/>
              </a:rPr>
              <a:t>Observed daily orders: January–March</a:t>
            </a:r>
          </a:p>
        </p:txBody>
      </p:sp>
      <p:sp>
        <p:nvSpPr>
          <p:cNvPr id="20" name="text-13">
            <a:extLst xmlns:a="http://schemas.openxmlformats.org/drawingml/2006/main">
              <a:ext uri="{FF2B5EF4-FFF2-40B4-BE49-F238E27FC236}">
                <a16:creationId xmlns:a16="http://schemas.microsoft.com/office/drawing/2014/main" id="{1EA655D7-A3D9-4B87-A9F1-1DF9BF6E572B}"/>
              </a:ext>
            </a:extLst>
          </p:cNvPr>
          <p:cNvSpPr>
            <a:spLocks xmlns:a="http://schemas.openxmlformats.org/drawingml/2006/main" noGrp="1"/>
          </p:cNvSpPr>
          <p:nvPr/>
        </p:nvSpPr>
        <p:spPr>
          <a:xfrm xmlns:a="http://schemas.openxmlformats.org/drawingml/2006/main">
            <a:off x="10058400" y="3143250"/>
            <a:ext cx="714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a:solidFill>
                  <a:srgbClr val="FF6705"/>
                </a:solidFill>
                <a:latin typeface="TT Fors Bold"/>
                <a:ea typeface="TT Fors Bold"/>
                <a:cs typeface="TT Fors Bold"/>
              </a:rPr>
              <a:t>Forecast daily orders: April</a:t>
            </a:r>
          </a:p>
        </p:txBody>
      </p:sp>
      <p:sp>
        <p:nvSpPr>
          <p:cNvPr id="21" name="text-14">
            <a:extLst xmlns:a="http://schemas.openxmlformats.org/drawingml/2006/main">
              <a:ext uri="{FF2B5EF4-FFF2-40B4-BE49-F238E27FC236}">
                <a16:creationId xmlns:a16="http://schemas.microsoft.com/office/drawing/2014/main" id="{B015979A-E90B-4E08-81A1-C2C1BCE597DD}"/>
              </a:ext>
            </a:extLst>
          </p:cNvPr>
          <p:cNvSpPr>
            <a:spLocks xmlns:a="http://schemas.openxmlformats.org/drawingml/2006/main" noGrp="1"/>
          </p:cNvSpPr>
          <p:nvPr/>
        </p:nvSpPr>
        <p:spPr>
          <a:xfrm xmlns:a="http://schemas.openxmlformats.org/drawingml/2006/main">
            <a:off x="1500188"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Jan 01</a:t>
            </a:r>
          </a:p>
        </p:txBody>
      </p:sp>
      <p:sp>
        <p:nvSpPr>
          <p:cNvPr id="22" name="text-15">
            <a:extLst xmlns:a="http://schemas.openxmlformats.org/drawingml/2006/main">
              <a:ext uri="{FF2B5EF4-FFF2-40B4-BE49-F238E27FC236}">
                <a16:creationId xmlns:a16="http://schemas.microsoft.com/office/drawing/2014/main" id="{38E6D192-A083-4B8E-B890-181F3D84B611}"/>
              </a:ext>
            </a:extLst>
          </p:cNvPr>
          <p:cNvSpPr>
            <a:spLocks xmlns:a="http://schemas.openxmlformats.org/drawingml/2006/main" noGrp="1"/>
          </p:cNvSpPr>
          <p:nvPr/>
        </p:nvSpPr>
        <p:spPr>
          <a:xfrm xmlns:a="http://schemas.openxmlformats.org/drawingml/2006/main">
            <a:off x="4714875"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Feb 15</a:t>
            </a:r>
          </a:p>
        </p:txBody>
      </p:sp>
      <p:sp>
        <p:nvSpPr>
          <p:cNvPr id="23" name="text-16">
            <a:extLst xmlns:a="http://schemas.openxmlformats.org/drawingml/2006/main">
              <a:ext uri="{FF2B5EF4-FFF2-40B4-BE49-F238E27FC236}">
                <a16:creationId xmlns:a16="http://schemas.microsoft.com/office/drawing/2014/main" id="{E0769BBA-E94D-449B-8752-A842971ACEF8}"/>
              </a:ext>
            </a:extLst>
          </p:cNvPr>
          <p:cNvSpPr>
            <a:spLocks xmlns:a="http://schemas.openxmlformats.org/drawingml/2006/main" noGrp="1"/>
          </p:cNvSpPr>
          <p:nvPr/>
        </p:nvSpPr>
        <p:spPr>
          <a:xfrm xmlns:a="http://schemas.openxmlformats.org/drawingml/2006/main">
            <a:off x="7515225"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Mar 31</a:t>
            </a:r>
          </a:p>
        </p:txBody>
      </p:sp>
      <p:sp>
        <p:nvSpPr>
          <p:cNvPr id="24" name="text-17">
            <a:extLst xmlns:a="http://schemas.openxmlformats.org/drawingml/2006/main">
              <a:ext uri="{FF2B5EF4-FFF2-40B4-BE49-F238E27FC236}">
                <a16:creationId xmlns:a16="http://schemas.microsoft.com/office/drawing/2014/main" id="{4C0C0476-2BCB-46AC-A9C5-24975603DAFD}"/>
              </a:ext>
            </a:extLst>
          </p:cNvPr>
          <p:cNvSpPr>
            <a:spLocks xmlns:a="http://schemas.openxmlformats.org/drawingml/2006/main" noGrp="1"/>
          </p:cNvSpPr>
          <p:nvPr/>
        </p:nvSpPr>
        <p:spPr>
          <a:xfrm xmlns:a="http://schemas.openxmlformats.org/drawingml/2006/main">
            <a:off x="10429875"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Apr 01</a:t>
            </a:r>
          </a:p>
        </p:txBody>
      </p:sp>
      <p:sp>
        <p:nvSpPr>
          <p:cNvPr id="25" name="text-18">
            <a:extLst xmlns:a="http://schemas.openxmlformats.org/drawingml/2006/main">
              <a:ext uri="{FF2B5EF4-FFF2-40B4-BE49-F238E27FC236}">
                <a16:creationId xmlns:a16="http://schemas.microsoft.com/office/drawing/2014/main" id="{D8C5A979-8C40-4B04-B044-B35B05766A49}"/>
              </a:ext>
            </a:extLst>
          </p:cNvPr>
          <p:cNvSpPr>
            <a:spLocks xmlns:a="http://schemas.openxmlformats.org/drawingml/2006/main" noGrp="1"/>
          </p:cNvSpPr>
          <p:nvPr/>
        </p:nvSpPr>
        <p:spPr>
          <a:xfrm xmlns:a="http://schemas.openxmlformats.org/drawingml/2006/main">
            <a:off x="13115925"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Apr 15</a:t>
            </a:r>
          </a:p>
        </p:txBody>
      </p:sp>
      <p:sp>
        <p:nvSpPr>
          <p:cNvPr id="26" name="text-19">
            <a:extLst xmlns:a="http://schemas.openxmlformats.org/drawingml/2006/main">
              <a:ext uri="{FF2B5EF4-FFF2-40B4-BE49-F238E27FC236}">
                <a16:creationId xmlns:a16="http://schemas.microsoft.com/office/drawing/2014/main" id="{0ED6A92F-57BF-4752-B640-E940A8042BC6}"/>
              </a:ext>
            </a:extLst>
          </p:cNvPr>
          <p:cNvSpPr>
            <a:spLocks xmlns:a="http://schemas.openxmlformats.org/drawingml/2006/main" noGrp="1"/>
          </p:cNvSpPr>
          <p:nvPr/>
        </p:nvSpPr>
        <p:spPr>
          <a:xfrm xmlns:a="http://schemas.openxmlformats.org/drawingml/2006/main">
            <a:off x="15859125"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Apr 30</a:t>
            </a:r>
          </a:p>
        </p:txBody>
      </p:sp>
      <p:sp>
        <p:nvSpPr>
          <p:cNvPr id="27" name="text-20">
            <a:extLst xmlns:a="http://schemas.openxmlformats.org/drawingml/2006/main">
              <a:ext uri="{FF2B5EF4-FFF2-40B4-BE49-F238E27FC236}">
                <a16:creationId xmlns:a16="http://schemas.microsoft.com/office/drawing/2014/main" id="{77249511-2C58-46C3-9934-605607E21C6F}"/>
              </a:ext>
            </a:extLst>
          </p:cNvPr>
          <p:cNvSpPr>
            <a:spLocks xmlns:a="http://schemas.openxmlformats.org/drawingml/2006/main" noGrp="1"/>
          </p:cNvSpPr>
          <p:nvPr/>
        </p:nvSpPr>
        <p:spPr>
          <a:xfrm xmlns:a="http://schemas.openxmlformats.org/drawingml/2006/main">
            <a:off x="942975" y="8715375"/>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Forecasting needs rolling tests, a seasonal-naïve baseline and prediction intervals.</a:t>
            </a:r>
          </a:p>
        </p:txBody>
      </p:sp>
    </p:spTree>
    <p:extLst>
      <p:ext uri="{BB962C8B-B14F-4D97-AF65-F5344CB8AC3E}">
        <p14:creationId xmlns:p14="http://schemas.microsoft.com/office/powerpoint/2010/main" val="73300565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abcebe5e142141ac"/>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abcebe5e142141ac">
              <a:extLst>
                <a:ext uri="{96DAC541-7B7A-43D3-8B79-37D633B846F1}">
                  <asvg:svgBlip xmlns:asvg="http://schemas.microsoft.com/office/drawing/2016/SVG/main" r:embed="R3f070159814c408b"/>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5E0B318D-6CF2-48CB-898D-74FD268A3167}"/>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17680CD6-34B8-4976-942D-1CBAB831F8DE}"/>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023367B6-6BC3-4FF0-80E6-288F1315CDAE}"/>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E6CA0055-B46D-42D9-A195-64A518DE71EE}"/>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8EE70902-AC0E-4FB4-9151-AB996874F327}"/>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FORECAST VALIDATION AND UNCERTAINTY</a:t>
            </a:r>
          </a:p>
        </p:txBody>
      </p:sp>
      <p:sp>
        <p:nvSpPr>
          <p:cNvPr id="14" name="text-9">
            <a:extLst xmlns:a="http://schemas.openxmlformats.org/drawingml/2006/main">
              <a:ext uri="{FF2B5EF4-FFF2-40B4-BE49-F238E27FC236}">
                <a16:creationId xmlns:a16="http://schemas.microsoft.com/office/drawing/2014/main" id="{338737E1-01BB-40ED-A395-69D5B54C3069}"/>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The package provides a point forecast. Future accuracy needs a later-date evaluation.</a:t>
            </a:r>
          </a:p>
        </p:txBody>
      </p:sp>
      <p:sp>
        <p:nvSpPr>
          <p:cNvPr id="15" name="page-marker">
            <a:extLst xmlns:a="http://schemas.openxmlformats.org/drawingml/2006/main">
              <a:ext uri="{FF2B5EF4-FFF2-40B4-BE49-F238E27FC236}">
                <a16:creationId xmlns:a16="http://schemas.microsoft.com/office/drawing/2014/main" id="{F6D99DED-92FD-4576-A35E-228653905AE8}"/>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22</a:t>
            </a:r>
          </a:p>
        </p:txBody>
      </p:sp>
      <p:sp>
        <p:nvSpPr>
          <p:cNvPr id="16" name="text-11">
            <a:extLst xmlns:a="http://schemas.openxmlformats.org/drawingml/2006/main">
              <a:ext uri="{FF2B5EF4-FFF2-40B4-BE49-F238E27FC236}">
                <a16:creationId xmlns:a16="http://schemas.microsoft.com/office/drawing/2014/main" id="{3350F96A-ED7B-4E27-BCC9-42655403A9D9}"/>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80E2023F-CF9D-470A-8566-5B81B2CABC8D}"/>
              </a:ext>
            </a:extLst>
          </p:cNvPr>
          <p:cNvGraphicFramePr/>
          <p:nvPr/>
        </p:nvGraphicFramePr>
        <p:xfrm>
          <a:off xmlns:a="http://schemas.openxmlformats.org/drawingml/2006/main" x="971550" y="3214688"/>
          <a:ext xmlns:a="http://schemas.openxmlformats.org/drawingml/2006/main" cx="16344900" cy="4486275"/>
        </p:xfrm>
        <a:graphic xmlns:a="http://schemas.openxmlformats.org/drawingml/2006/main">
          <a:graphicData uri="http://schemas.openxmlformats.org/drawingml/2006/table">
            <a:tbl>
              <a:tblPr/>
              <a:tblGrid>
                <a:gridCol w="6643688"/>
                <a:gridCol w="9701213"/>
              </a:tblGrid>
              <a:tr h="897255">
                <a:tc>
                  <a:txBody>
                    <a:bodyPr lIns="133350" tIns="133350" rIns="133350" bIns="133350"/>
                    <a:lstStyle/>
                    <a:p>
                      <a:pPr algn="l">
                        <a:buNone/>
                      </a:pPr>
                      <a:r>
                        <a:rPr sz="2700" b="1">
                          <a:solidFill>
                            <a:srgbClr val="FFFFFF"/>
                          </a:solidFill>
                          <a:latin typeface="TT Fors Bold"/>
                          <a:ea typeface="TT Fors Bold"/>
                          <a:cs typeface="TT Fors Bold"/>
                        </a:rPr>
                        <a:t>Evidence available</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700" b="1">
                          <a:solidFill>
                            <a:srgbClr val="FFFFFF"/>
                          </a:solidFill>
                          <a:latin typeface="TT Fors Bold"/>
                          <a:ea typeface="TT Fors Bold"/>
                          <a:cs typeface="TT Fors Bold"/>
                        </a:rPr>
                        <a:t>What it means</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97255">
                <a:tc>
                  <a:txBody>
                    <a:bodyPr lIns="133350" tIns="133350" rIns="133350" bIns="133350"/>
                    <a:lstStyle/>
                    <a:p>
                      <a:pPr algn="l">
                        <a:buNone/>
                      </a:pPr>
                      <a:r>
                        <a:rPr sz="2700" b="0">
                          <a:solidFill>
                            <a:srgbClr val="FFFFFF"/>
                          </a:solidFill>
                          <a:latin typeface="TT Fors"/>
                          <a:ea typeface="TT Fors"/>
                          <a:cs typeface="TT Fors"/>
                        </a:rPr>
                        <a:t>Seasonal ARIMA with weekly period</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Captures a seven-day demand pattern</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2700" b="0">
                          <a:solidFill>
                            <a:srgbClr val="FFFFFF"/>
                          </a:solidFill>
                          <a:latin typeface="TT Fors"/>
                          <a:ea typeface="TT Fors"/>
                          <a:cs typeface="TT Fors"/>
                        </a:rPr>
                        <a:t>April point forecast ≈ 6,143 orders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Model estimate, not an observed outcome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2700" b="0">
                          <a:solidFill>
                            <a:srgbClr val="FFFFFF"/>
                          </a:solidFill>
                          <a:latin typeface="TT Fors"/>
                          <a:ea typeface="TT Fors"/>
                          <a:cs typeface="TT Fors"/>
                        </a:rPr>
                        <a:t>Saved in-sample error measures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Fit to historical data, not future test accuracy</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2700" b="0">
                          <a:solidFill>
                            <a:srgbClr val="FFFFFF"/>
                          </a:solidFill>
                          <a:latin typeface="TT Fors"/>
                          <a:ea typeface="TT Fors"/>
                          <a:cs typeface="TT Fors"/>
                        </a:rPr>
                        <a:t>Ljung–Box p ≈ 0.398</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No detected residual autocorrelation at tested lags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867ECC1E-0AE5-4636-B111-D1CD52DB8227}"/>
              </a:ext>
            </a:extLst>
          </p:cNvPr>
          <p:cNvSpPr>
            <a:spLocks xmlns:a="http://schemas.openxmlformats.org/drawingml/2006/main" noGrp="1"/>
          </p:cNvSpPr>
          <p:nvPr/>
        </p:nvSpPr>
        <p:spPr>
          <a:xfrm xmlns:a="http://schemas.openxmlformats.org/drawingml/2006/main">
            <a:off x="942975" y="868680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Next checks: rolling-origin tests, seasonal-naïve comparison and prediction intervals.</a:t>
            </a:r>
          </a:p>
        </p:txBody>
      </p:sp>
    </p:spTree>
    <p:extLst>
      <p:ext uri="{BB962C8B-B14F-4D97-AF65-F5344CB8AC3E}">
        <p14:creationId xmlns:p14="http://schemas.microsoft.com/office/powerpoint/2010/main" val="73300565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f3be1d10f1e347ad"/>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f3be1d10f1e347ad">
              <a:extLst>
                <a:ext uri="{96DAC541-7B7A-43D3-8B79-37D633B846F1}">
                  <asvg:svgBlip xmlns:asvg="http://schemas.microsoft.com/office/drawing/2016/SVG/main" r:embed="Re3749ef6641b4409"/>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EC64D79C-D392-4B50-9E30-315473518DAE}"/>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E4540AD8-EF6A-4F96-8C65-0F0759F4D24B}"/>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F7FBF789-79F9-4B5A-8877-858458FAE31B}"/>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F2B67210-5C79-4EAD-9D03-4AE6F3F2831E}"/>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50580978-0C00-4B93-8D91-CCB8B15EC93B}"/>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CUSTOMER INTELLIGENCE FRAMEWORK</a:t>
            </a:r>
          </a:p>
        </p:txBody>
      </p:sp>
      <p:sp>
        <p:nvSpPr>
          <p:cNvPr id="14" name="text-9">
            <a:extLst xmlns:a="http://schemas.openxmlformats.org/drawingml/2006/main">
              <a:ext uri="{FF2B5EF4-FFF2-40B4-BE49-F238E27FC236}">
                <a16:creationId xmlns:a16="http://schemas.microsoft.com/office/drawing/2014/main" id="{87C308FE-A089-4214-B6C8-09105AC4EA9A}"/>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Proposed architecture linking purchase analysis with demand planning</a:t>
            </a:r>
          </a:p>
        </p:txBody>
      </p:sp>
      <p:sp>
        <p:nvSpPr>
          <p:cNvPr id="15" name="page-marker">
            <a:extLst xmlns:a="http://schemas.openxmlformats.org/drawingml/2006/main">
              <a:ext uri="{FF2B5EF4-FFF2-40B4-BE49-F238E27FC236}">
                <a16:creationId xmlns:a16="http://schemas.microsoft.com/office/drawing/2014/main" id="{67B6DB8C-99C6-42EF-89E2-7A0812E72555}"/>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23</a:t>
            </a:r>
          </a:p>
        </p:txBody>
      </p:sp>
      <p:sp>
        <p:nvSpPr>
          <p:cNvPr id="16" name="text-11">
            <a:extLst xmlns:a="http://schemas.openxmlformats.org/drawingml/2006/main">
              <a:ext uri="{FF2B5EF4-FFF2-40B4-BE49-F238E27FC236}">
                <a16:creationId xmlns:a16="http://schemas.microsoft.com/office/drawing/2014/main" id="{D38DA608-C015-45DB-BB3D-3844C6241A71}"/>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7" name="POS records and&#10;inventory availability">
            <a:extLst xmlns:a="http://schemas.openxmlformats.org/drawingml/2006/main">
              <a:ext uri="{FF2B5EF4-FFF2-40B4-BE49-F238E27FC236}">
                <a16:creationId xmlns:a16="http://schemas.microsoft.com/office/drawing/2014/main" id="{2CA37340-8D73-486D-9A4B-C590507EC263}"/>
              </a:ext>
            </a:extLst>
          </p:cNvPr>
          <p:cNvSpPr>
            <a:spLocks xmlns:a="http://schemas.openxmlformats.org/drawingml/2006/main" noGrp="1"/>
          </p:cNvSpPr>
          <p:nvPr/>
        </p:nvSpPr>
        <p:spPr>
          <a:xfrm xmlns:a="http://schemas.openxmlformats.org/drawingml/2006/main">
            <a:off x="971550" y="3171825"/>
            <a:ext cx="4429125" cy="1643063"/>
          </a:xfrm>
          <a:prstGeom xmlns:a="http://schemas.openxmlformats.org/drawingml/2006/main" prst="rect">
            <a:avLst/>
          </a:prstGeom>
          <a:solidFill xmlns:a="http://schemas.openxmlformats.org/drawingml/2006/main">
            <a:srgbClr val="F8EEE5"/>
          </a:solidFill>
          <a:ln xmlns:a="http://schemas.openxmlformats.org/drawingml/2006/main" w="14288">
            <a:solidFill>
              <a:srgbClr val="FF6705"/>
            </a:solidFill>
            <a:prstDash val="solid"/>
          </a:ln>
        </p:spPr>
        <p:txBody>
          <a:bodyPr xmlns:a="http://schemas.openxmlformats.org/drawingml/2006/main" lIns="114300" tIns="114300" rIns="114300" bIns="114300" anchor="ctr"/>
          <a:lstStyle xmlns:a="http://schemas.openxmlformats.org/drawingml/2006/main">
            <a:defPPr algn="ctr">
              <a:defRPr sz="2588" b="1">
                <a:solidFill>
                  <a:srgbClr val="281C16"/>
                </a:solidFill>
                <a:latin typeface="TT Fors Bold"/>
                <a:ea typeface="TT Fors Bold"/>
                <a:cs typeface="TT Fors Bold"/>
              </a:defRPr>
            </a:defPPr>
          </a:lstStyle>
          <a:p xmlns:a="http://schemas.openxmlformats.org/drawingml/2006/main">
            <a:pPr algn="ctr">
              <a:buNone/>
              <a:defRPr sz="2588" b="1">
                <a:solidFill>
                  <a:srgbClr val="281C16"/>
                </a:solidFill>
                <a:latin typeface="TT Fors Bold"/>
                <a:ea typeface="TT Fors Bold"/>
                <a:cs typeface="TT Fors Bold"/>
              </a:defRPr>
            </a:pPr>
            <a:r>
              <a:rPr sz="2588" b="1">
                <a:solidFill>
                  <a:srgbClr val="281C16"/>
                </a:solidFill>
                <a:latin typeface="TT Fors Bold"/>
                <a:ea typeface="TT Fors Bold"/>
                <a:cs typeface="TT Fors Bold"/>
              </a:rPr>
              <a:t>POS records and</a:t>
            </a:r>
          </a:p>
          <a:p xmlns:a="http://schemas.openxmlformats.org/drawingml/2006/main">
            <a:pPr algn="ctr">
              <a:buNone/>
              <a:defRPr sz="2588" b="1">
                <a:solidFill>
                  <a:srgbClr val="281C16"/>
                </a:solidFill>
                <a:latin typeface="TT Fors Bold"/>
                <a:ea typeface="TT Fors Bold"/>
                <a:cs typeface="TT Fors Bold"/>
              </a:defRPr>
            </a:pPr>
            <a:r>
              <a:rPr sz="2588" b="1">
                <a:solidFill>
                  <a:srgbClr val="281C16"/>
                </a:solidFill>
                <a:latin typeface="TT Fors Bold"/>
                <a:ea typeface="TT Fors Bold"/>
                <a:cs typeface="TT Fors Bold"/>
              </a:rPr>
              <a:t>inventory availability</a:t>
            </a:r>
          </a:p>
        </p:txBody>
      </p:sp>
      <p:sp>
        <p:nvSpPr>
          <p:cNvPr id="18" name="Validation and&#10;feature preparation">
            <a:extLst xmlns:a="http://schemas.openxmlformats.org/drawingml/2006/main">
              <a:ext uri="{FF2B5EF4-FFF2-40B4-BE49-F238E27FC236}">
                <a16:creationId xmlns:a16="http://schemas.microsoft.com/office/drawing/2014/main" id="{68EC565B-6AE3-444A-AD9F-D834DDFC4505}"/>
              </a:ext>
            </a:extLst>
          </p:cNvPr>
          <p:cNvSpPr>
            <a:spLocks xmlns:a="http://schemas.openxmlformats.org/drawingml/2006/main" noGrp="1"/>
          </p:cNvSpPr>
          <p:nvPr/>
        </p:nvSpPr>
        <p:spPr>
          <a:xfrm xmlns:a="http://schemas.openxmlformats.org/drawingml/2006/main">
            <a:off x="6915150" y="3171825"/>
            <a:ext cx="4429125" cy="1643063"/>
          </a:xfrm>
          <a:prstGeom xmlns:a="http://schemas.openxmlformats.org/drawingml/2006/main" prst="rect">
            <a:avLst/>
          </a:prstGeom>
          <a:solidFill xmlns:a="http://schemas.openxmlformats.org/drawingml/2006/main">
            <a:srgbClr val="F8EEE5"/>
          </a:solidFill>
          <a:ln xmlns:a="http://schemas.openxmlformats.org/drawingml/2006/main" w="14288">
            <a:solidFill>
              <a:srgbClr val="FF6705"/>
            </a:solidFill>
            <a:prstDash val="solid"/>
          </a:ln>
        </p:spPr>
        <p:txBody>
          <a:bodyPr xmlns:a="http://schemas.openxmlformats.org/drawingml/2006/main" lIns="114300" tIns="114300" rIns="114300" bIns="114300" anchor="ctr"/>
          <a:lstStyle xmlns:a="http://schemas.openxmlformats.org/drawingml/2006/main">
            <a:defPPr algn="ctr">
              <a:defRPr sz="2588" b="1">
                <a:solidFill>
                  <a:srgbClr val="281C16"/>
                </a:solidFill>
                <a:latin typeface="TT Fors Bold"/>
                <a:ea typeface="TT Fors Bold"/>
                <a:cs typeface="TT Fors Bold"/>
              </a:defRPr>
            </a:defPPr>
          </a:lstStyle>
          <a:p xmlns:a="http://schemas.openxmlformats.org/drawingml/2006/main">
            <a:pPr algn="ctr">
              <a:buNone/>
              <a:defRPr sz="2588" b="1">
                <a:solidFill>
                  <a:srgbClr val="281C16"/>
                </a:solidFill>
                <a:latin typeface="TT Fors Bold"/>
                <a:ea typeface="TT Fors Bold"/>
                <a:cs typeface="TT Fors Bold"/>
              </a:defRPr>
            </a:pPr>
            <a:r>
              <a:rPr sz="2588" b="1">
                <a:solidFill>
                  <a:srgbClr val="281C16"/>
                </a:solidFill>
                <a:latin typeface="TT Fors Bold"/>
                <a:ea typeface="TT Fors Bold"/>
                <a:cs typeface="TT Fors Bold"/>
              </a:rPr>
              <a:t>Validation and</a:t>
            </a:r>
          </a:p>
          <a:p xmlns:a="http://schemas.openxmlformats.org/drawingml/2006/main">
            <a:pPr algn="ctr">
              <a:buNone/>
              <a:defRPr sz="2588" b="1">
                <a:solidFill>
                  <a:srgbClr val="281C16"/>
                </a:solidFill>
                <a:latin typeface="TT Fors Bold"/>
                <a:ea typeface="TT Fors Bold"/>
                <a:cs typeface="TT Fors Bold"/>
              </a:defRPr>
            </a:pPr>
            <a:r>
              <a:rPr sz="2588" b="1">
                <a:solidFill>
                  <a:srgbClr val="281C16"/>
                </a:solidFill>
                <a:latin typeface="TT Fors Bold"/>
                <a:ea typeface="TT Fors Bold"/>
                <a:cs typeface="TT Fors Bold"/>
              </a:rPr>
              <a:t>feature preparation</a:t>
            </a:r>
          </a:p>
        </p:txBody>
      </p:sp>
      <p:sp>
        <p:nvSpPr>
          <p:cNvPr id="19" name="Category / next-item&#10;model for pilot">
            <a:extLst xmlns:a="http://schemas.openxmlformats.org/drawingml/2006/main">
              <a:ext uri="{FF2B5EF4-FFF2-40B4-BE49-F238E27FC236}">
                <a16:creationId xmlns:a16="http://schemas.microsoft.com/office/drawing/2014/main" id="{D9501928-76F9-46D5-9B46-9FAFDC68A663}"/>
              </a:ext>
            </a:extLst>
          </p:cNvPr>
          <p:cNvSpPr>
            <a:spLocks xmlns:a="http://schemas.openxmlformats.org/drawingml/2006/main" noGrp="1"/>
          </p:cNvSpPr>
          <p:nvPr/>
        </p:nvSpPr>
        <p:spPr>
          <a:xfrm xmlns:a="http://schemas.openxmlformats.org/drawingml/2006/main">
            <a:off x="12930188" y="3171825"/>
            <a:ext cx="4357688" cy="1643063"/>
          </a:xfrm>
          <a:prstGeom xmlns:a="http://schemas.openxmlformats.org/drawingml/2006/main" prst="rect">
            <a:avLst/>
          </a:prstGeom>
          <a:solidFill xmlns:a="http://schemas.openxmlformats.org/drawingml/2006/main">
            <a:srgbClr val="F8EEE5"/>
          </a:solidFill>
          <a:ln xmlns:a="http://schemas.openxmlformats.org/drawingml/2006/main" w="14288">
            <a:solidFill>
              <a:srgbClr val="FF6705"/>
            </a:solidFill>
            <a:prstDash val="solid"/>
          </a:ln>
        </p:spPr>
        <p:txBody>
          <a:bodyPr xmlns:a="http://schemas.openxmlformats.org/drawingml/2006/main" lIns="114300" tIns="114300" rIns="114300" bIns="114300" anchor="ctr"/>
          <a:lstStyle xmlns:a="http://schemas.openxmlformats.org/drawingml/2006/main">
            <a:defPPr algn="ctr">
              <a:defRPr sz="2588" b="1">
                <a:solidFill>
                  <a:srgbClr val="281C16"/>
                </a:solidFill>
                <a:latin typeface="TT Fors Bold"/>
                <a:ea typeface="TT Fors Bold"/>
                <a:cs typeface="TT Fors Bold"/>
              </a:defRPr>
            </a:defPPr>
          </a:lstStyle>
          <a:p xmlns:a="http://schemas.openxmlformats.org/drawingml/2006/main">
            <a:pPr algn="ctr">
              <a:buNone/>
              <a:defRPr sz="2588" b="1">
                <a:solidFill>
                  <a:srgbClr val="281C16"/>
                </a:solidFill>
                <a:latin typeface="TT Fors Bold"/>
                <a:ea typeface="TT Fors Bold"/>
                <a:cs typeface="TT Fors Bold"/>
              </a:defRPr>
            </a:pPr>
            <a:r>
              <a:rPr sz="2588" b="1">
                <a:solidFill>
                  <a:srgbClr val="281C16"/>
                </a:solidFill>
                <a:latin typeface="TT Fors Bold"/>
                <a:ea typeface="TT Fors Bold"/>
                <a:cs typeface="TT Fors Bold"/>
              </a:rPr>
              <a:t>Category / next-item</a:t>
            </a:r>
          </a:p>
          <a:p xmlns:a="http://schemas.openxmlformats.org/drawingml/2006/main">
            <a:pPr algn="ctr">
              <a:buNone/>
              <a:defRPr sz="2588" b="1">
                <a:solidFill>
                  <a:srgbClr val="281C16"/>
                </a:solidFill>
                <a:latin typeface="TT Fors Bold"/>
                <a:ea typeface="TT Fors Bold"/>
                <a:cs typeface="TT Fors Bold"/>
              </a:defRPr>
            </a:pPr>
            <a:r>
              <a:rPr sz="2588" b="1">
                <a:solidFill>
                  <a:srgbClr val="281C16"/>
                </a:solidFill>
                <a:latin typeface="TT Fors Bold"/>
                <a:ea typeface="TT Fors Bold"/>
                <a:cs typeface="TT Fors Bold"/>
              </a:rPr>
              <a:t>model for pilot</a:t>
            </a:r>
          </a:p>
        </p:txBody>
      </p:sp>
      <p:sp>
        <p:nvSpPr>
          <p:cNvPr id="20" name="Daily demand&#10;forecast">
            <a:extLst xmlns:a="http://schemas.openxmlformats.org/drawingml/2006/main">
              <a:ext uri="{FF2B5EF4-FFF2-40B4-BE49-F238E27FC236}">
                <a16:creationId xmlns:a16="http://schemas.microsoft.com/office/drawing/2014/main" id="{F46C62F6-592F-42F7-A7B8-79B00A4CDA88}"/>
              </a:ext>
            </a:extLst>
          </p:cNvPr>
          <p:cNvSpPr>
            <a:spLocks xmlns:a="http://schemas.openxmlformats.org/drawingml/2006/main" noGrp="1"/>
          </p:cNvSpPr>
          <p:nvPr/>
        </p:nvSpPr>
        <p:spPr>
          <a:xfrm xmlns:a="http://schemas.openxmlformats.org/drawingml/2006/main">
            <a:off x="6915150" y="6172200"/>
            <a:ext cx="4429125" cy="1643063"/>
          </a:xfrm>
          <a:prstGeom xmlns:a="http://schemas.openxmlformats.org/drawingml/2006/main" prst="rect">
            <a:avLst/>
          </a:prstGeom>
          <a:solidFill xmlns:a="http://schemas.openxmlformats.org/drawingml/2006/main">
            <a:srgbClr val="F8EEE5"/>
          </a:solidFill>
          <a:ln xmlns:a="http://schemas.openxmlformats.org/drawingml/2006/main" w="14288">
            <a:solidFill>
              <a:srgbClr val="FF6705"/>
            </a:solidFill>
            <a:prstDash val="solid"/>
          </a:ln>
        </p:spPr>
        <p:txBody>
          <a:bodyPr xmlns:a="http://schemas.openxmlformats.org/drawingml/2006/main" lIns="114300" tIns="114300" rIns="114300" bIns="114300" anchor="ctr"/>
          <a:lstStyle xmlns:a="http://schemas.openxmlformats.org/drawingml/2006/main">
            <a:defPPr algn="ctr">
              <a:defRPr sz="2588" b="1">
                <a:solidFill>
                  <a:srgbClr val="281C16"/>
                </a:solidFill>
                <a:latin typeface="TT Fors Bold"/>
                <a:ea typeface="TT Fors Bold"/>
                <a:cs typeface="TT Fors Bold"/>
              </a:defRPr>
            </a:defPPr>
          </a:lstStyle>
          <a:p xmlns:a="http://schemas.openxmlformats.org/drawingml/2006/main">
            <a:pPr algn="ctr">
              <a:buNone/>
              <a:defRPr sz="2588" b="1">
                <a:solidFill>
                  <a:srgbClr val="281C16"/>
                </a:solidFill>
                <a:latin typeface="TT Fors Bold"/>
                <a:ea typeface="TT Fors Bold"/>
                <a:cs typeface="TT Fors Bold"/>
              </a:defRPr>
            </a:pPr>
            <a:r>
              <a:rPr sz="2588" b="1">
                <a:solidFill>
                  <a:srgbClr val="281C16"/>
                </a:solidFill>
                <a:latin typeface="TT Fors Bold"/>
                <a:ea typeface="TT Fors Bold"/>
                <a:cs typeface="TT Fors Bold"/>
              </a:rPr>
              <a:t>Daily demand</a:t>
            </a:r>
          </a:p>
          <a:p xmlns:a="http://schemas.openxmlformats.org/drawingml/2006/main">
            <a:pPr algn="ctr">
              <a:buNone/>
              <a:defRPr sz="2588" b="1">
                <a:solidFill>
                  <a:srgbClr val="281C16"/>
                </a:solidFill>
                <a:latin typeface="TT Fors Bold"/>
                <a:ea typeface="TT Fors Bold"/>
                <a:cs typeface="TT Fors Bold"/>
              </a:defRPr>
            </a:pPr>
            <a:r>
              <a:rPr sz="2588" b="1">
                <a:solidFill>
                  <a:srgbClr val="281C16"/>
                </a:solidFill>
                <a:latin typeface="TT Fors Bold"/>
                <a:ea typeface="TT Fors Bold"/>
                <a:cs typeface="TT Fors Bold"/>
              </a:rPr>
              <a:t>forecast</a:t>
            </a:r>
          </a:p>
        </p:txBody>
      </p:sp>
      <p:sp>
        <p:nvSpPr>
          <p:cNvPr id="21" name="Cashier suggestions&#10;and procurement support">
            <a:extLst xmlns:a="http://schemas.openxmlformats.org/drawingml/2006/main">
              <a:ext uri="{FF2B5EF4-FFF2-40B4-BE49-F238E27FC236}">
                <a16:creationId xmlns:a16="http://schemas.microsoft.com/office/drawing/2014/main" id="{C5EDA498-4D35-4DC0-90A1-F5EE679BBC8F}"/>
              </a:ext>
            </a:extLst>
          </p:cNvPr>
          <p:cNvSpPr>
            <a:spLocks xmlns:a="http://schemas.openxmlformats.org/drawingml/2006/main" noGrp="1"/>
          </p:cNvSpPr>
          <p:nvPr/>
        </p:nvSpPr>
        <p:spPr>
          <a:xfrm xmlns:a="http://schemas.openxmlformats.org/drawingml/2006/main">
            <a:off x="12930188" y="6172200"/>
            <a:ext cx="4357688" cy="1643063"/>
          </a:xfrm>
          <a:prstGeom xmlns:a="http://schemas.openxmlformats.org/drawingml/2006/main" prst="rect">
            <a:avLst/>
          </a:prstGeom>
          <a:solidFill xmlns:a="http://schemas.openxmlformats.org/drawingml/2006/main">
            <a:srgbClr val="F8EEE5"/>
          </a:solidFill>
          <a:ln xmlns:a="http://schemas.openxmlformats.org/drawingml/2006/main" w="14288">
            <a:solidFill>
              <a:srgbClr val="FF6705"/>
            </a:solidFill>
            <a:prstDash val="solid"/>
          </a:ln>
        </p:spPr>
        <p:txBody>
          <a:bodyPr xmlns:a="http://schemas.openxmlformats.org/drawingml/2006/main" lIns="114300" tIns="114300" rIns="114300" bIns="114300" anchor="ctr"/>
          <a:lstStyle xmlns:a="http://schemas.openxmlformats.org/drawingml/2006/main">
            <a:defPPr algn="ctr">
              <a:defRPr sz="2588" b="1">
                <a:solidFill>
                  <a:srgbClr val="281C16"/>
                </a:solidFill>
                <a:latin typeface="TT Fors Bold"/>
                <a:ea typeface="TT Fors Bold"/>
                <a:cs typeface="TT Fors Bold"/>
              </a:defRPr>
            </a:defPPr>
          </a:lstStyle>
          <a:p xmlns:a="http://schemas.openxmlformats.org/drawingml/2006/main">
            <a:pPr algn="ctr">
              <a:buNone/>
              <a:defRPr sz="2588" b="1">
                <a:solidFill>
                  <a:srgbClr val="281C16"/>
                </a:solidFill>
                <a:latin typeface="TT Fors Bold"/>
                <a:ea typeface="TT Fors Bold"/>
                <a:cs typeface="TT Fors Bold"/>
              </a:defRPr>
            </a:pPr>
            <a:r>
              <a:rPr sz="2588" b="1">
                <a:solidFill>
                  <a:srgbClr val="281C16"/>
                </a:solidFill>
                <a:latin typeface="TT Fors Bold"/>
                <a:ea typeface="TT Fors Bold"/>
                <a:cs typeface="TT Fors Bold"/>
              </a:rPr>
              <a:t>Cashier suggestions</a:t>
            </a:r>
          </a:p>
          <a:p xmlns:a="http://schemas.openxmlformats.org/drawingml/2006/main">
            <a:pPr algn="ctr">
              <a:buNone/>
              <a:defRPr sz="2588" b="1">
                <a:solidFill>
                  <a:srgbClr val="281C16"/>
                </a:solidFill>
                <a:latin typeface="TT Fors Bold"/>
                <a:ea typeface="TT Fors Bold"/>
                <a:cs typeface="TT Fors Bold"/>
              </a:defRPr>
            </a:pPr>
            <a:r>
              <a:rPr sz="2588" b="1">
                <a:solidFill>
                  <a:srgbClr val="281C16"/>
                </a:solidFill>
                <a:latin typeface="TT Fors Bold"/>
                <a:ea typeface="TT Fors Bold"/>
                <a:cs typeface="TT Fors Bold"/>
              </a:rPr>
              <a:t>and procurement support</a:t>
            </a:r>
          </a:p>
        </p:txBody>
      </p:sp>
      <p:cxnSp>
        <p:nvCxnSpPr>
          <p:cNvPr id="22" name="">
            <a:extLst xmlns:a="http://schemas.openxmlformats.org/drawingml/2006/main">
              <a:ext uri="{FF2B5EF4-FFF2-40B4-BE49-F238E27FC236}">
                <a16:creationId xmlns:a16="http://schemas.microsoft.com/office/drawing/2014/main" id="{1D0C0DB6-EAE5-43D7-A849-DB3AF6CF968F}"/>
              </a:ext>
            </a:extLst>
          </p:cNvPr>
          <p:cNvCxnSpPr>
            <a:stCxn xmlns:a="http://schemas.openxmlformats.org/drawingml/2006/main" id="17" idx="3"/>
            <a:endCxn xmlns:a="http://schemas.openxmlformats.org/drawingml/2006/main" id="18" idx="1"/>
          </p:cNvCxnSpPr>
          <p:nvPr/>
        </p:nvCxnSpPr>
        <p:spPr>
          <a:xfrm xmlns:a="http://schemas.openxmlformats.org/drawingml/2006/main">
            <a:off x="5400675" y="3993356"/>
            <a:ext cx="1514475" cy="0"/>
          </a:xfrm>
          <a:prstGeom xmlns:a="http://schemas.openxmlformats.org/drawingml/2006/main" prst="straightConnector1">
            <a:avLst/>
          </a:prstGeom>
          <a:ln xmlns:a="http://schemas.openxmlformats.org/drawingml/2006/main" w="28575">
            <a:solidFill>
              <a:srgbClr val="FF6705"/>
            </a:solidFill>
            <a:prstDash val="solid"/>
            <a:tailEnd type="triangle" w="med" len="med"/>
          </a:ln>
        </p:spPr>
      </p:cxnSp>
      <p:cxnSp>
        <p:nvCxnSpPr>
          <p:cNvPr id="23" name="">
            <a:extLst xmlns:a="http://schemas.openxmlformats.org/drawingml/2006/main">
              <a:ext uri="{FF2B5EF4-FFF2-40B4-BE49-F238E27FC236}">
                <a16:creationId xmlns:a16="http://schemas.microsoft.com/office/drawing/2014/main" id="{5C9DF565-3AE6-42F2-A1DA-0B7BE58854B8}"/>
              </a:ext>
            </a:extLst>
          </p:cNvPr>
          <p:cNvCxnSpPr>
            <a:stCxn xmlns:a="http://schemas.openxmlformats.org/drawingml/2006/main" id="18" idx="3"/>
            <a:endCxn xmlns:a="http://schemas.openxmlformats.org/drawingml/2006/main" id="19" idx="1"/>
          </p:cNvCxnSpPr>
          <p:nvPr/>
        </p:nvCxnSpPr>
        <p:spPr>
          <a:xfrm xmlns:a="http://schemas.openxmlformats.org/drawingml/2006/main">
            <a:off x="11344275" y="3993356"/>
            <a:ext cx="1585913" cy="0"/>
          </a:xfrm>
          <a:prstGeom xmlns:a="http://schemas.openxmlformats.org/drawingml/2006/main" prst="straightConnector1">
            <a:avLst/>
          </a:prstGeom>
          <a:ln xmlns:a="http://schemas.openxmlformats.org/drawingml/2006/main" w="28575">
            <a:solidFill>
              <a:srgbClr val="FF6705"/>
            </a:solidFill>
            <a:prstDash val="solid"/>
            <a:tailEnd type="triangle" w="med" len="med"/>
          </a:ln>
        </p:spPr>
      </p:cxnSp>
      <p:cxnSp>
        <p:nvCxnSpPr>
          <p:cNvPr id="24" name="">
            <a:extLst xmlns:a="http://schemas.openxmlformats.org/drawingml/2006/main">
              <a:ext uri="{FF2B5EF4-FFF2-40B4-BE49-F238E27FC236}">
                <a16:creationId xmlns:a16="http://schemas.microsoft.com/office/drawing/2014/main" id="{4811C17B-64C9-4CF5-AD5F-AB2E9DEF34EA}"/>
              </a:ext>
            </a:extLst>
          </p:cNvPr>
          <p:cNvCxnSpPr>
            <a:stCxn xmlns:a="http://schemas.openxmlformats.org/drawingml/2006/main" id="18" idx="2"/>
            <a:endCxn xmlns:a="http://schemas.openxmlformats.org/drawingml/2006/main" id="20" idx="0"/>
          </p:cNvCxnSpPr>
          <p:nvPr/>
        </p:nvCxnSpPr>
        <p:spPr>
          <a:xfrm xmlns:a="http://schemas.openxmlformats.org/drawingml/2006/main">
            <a:off x="9129713" y="4814888"/>
            <a:ext cx="0" cy="1357312"/>
          </a:xfrm>
          <a:prstGeom xmlns:a="http://schemas.openxmlformats.org/drawingml/2006/main" prst="straightConnector1">
            <a:avLst/>
          </a:prstGeom>
          <a:ln xmlns:a="http://schemas.openxmlformats.org/drawingml/2006/main" w="28575">
            <a:solidFill>
              <a:srgbClr val="FF6705"/>
            </a:solidFill>
            <a:prstDash val="solid"/>
            <a:tailEnd type="triangle" w="med" len="med"/>
          </a:ln>
        </p:spPr>
      </p:cxnSp>
      <p:cxnSp>
        <p:nvCxnSpPr>
          <p:cNvPr id="25" name="">
            <a:extLst xmlns:a="http://schemas.openxmlformats.org/drawingml/2006/main">
              <a:ext uri="{FF2B5EF4-FFF2-40B4-BE49-F238E27FC236}">
                <a16:creationId xmlns:a16="http://schemas.microsoft.com/office/drawing/2014/main" id="{00D5DC78-3869-4F65-BDE5-09A1DA584767}"/>
              </a:ext>
            </a:extLst>
          </p:cNvPr>
          <p:cNvCxnSpPr>
            <a:stCxn xmlns:a="http://schemas.openxmlformats.org/drawingml/2006/main" id="19" idx="2"/>
            <a:endCxn xmlns:a="http://schemas.openxmlformats.org/drawingml/2006/main" id="21" idx="0"/>
          </p:cNvCxnSpPr>
          <p:nvPr/>
        </p:nvCxnSpPr>
        <p:spPr>
          <a:xfrm xmlns:a="http://schemas.openxmlformats.org/drawingml/2006/main">
            <a:off x="15109032" y="4814888"/>
            <a:ext cx="0" cy="1357312"/>
          </a:xfrm>
          <a:prstGeom xmlns:a="http://schemas.openxmlformats.org/drawingml/2006/main" prst="straightConnector1">
            <a:avLst/>
          </a:prstGeom>
          <a:ln xmlns:a="http://schemas.openxmlformats.org/drawingml/2006/main" w="28575">
            <a:solidFill>
              <a:srgbClr val="FF6705"/>
            </a:solidFill>
            <a:prstDash val="solid"/>
            <a:tailEnd type="triangle" w="med" len="med"/>
          </a:ln>
        </p:spPr>
      </p:cxnSp>
      <p:cxnSp>
        <p:nvCxnSpPr>
          <p:cNvPr id="26" name="">
            <a:extLst xmlns:a="http://schemas.openxmlformats.org/drawingml/2006/main">
              <a:ext uri="{FF2B5EF4-FFF2-40B4-BE49-F238E27FC236}">
                <a16:creationId xmlns:a16="http://schemas.microsoft.com/office/drawing/2014/main" id="{AAC6CDDA-5055-4D7E-ACC7-39F40A48D12B}"/>
              </a:ext>
            </a:extLst>
          </p:cNvPr>
          <p:cNvCxnSpPr>
            <a:stCxn xmlns:a="http://schemas.openxmlformats.org/drawingml/2006/main" id="20" idx="3"/>
            <a:endCxn xmlns:a="http://schemas.openxmlformats.org/drawingml/2006/main" id="21" idx="1"/>
          </p:cNvCxnSpPr>
          <p:nvPr/>
        </p:nvCxnSpPr>
        <p:spPr>
          <a:xfrm xmlns:a="http://schemas.openxmlformats.org/drawingml/2006/main">
            <a:off x="11344275" y="6993732"/>
            <a:ext cx="1585913" cy="0"/>
          </a:xfrm>
          <a:prstGeom xmlns:a="http://schemas.openxmlformats.org/drawingml/2006/main" prst="straightConnector1">
            <a:avLst/>
          </a:prstGeom>
          <a:ln xmlns:a="http://schemas.openxmlformats.org/drawingml/2006/main" w="28575">
            <a:solidFill>
              <a:srgbClr val="FF6705"/>
            </a:solidFill>
            <a:prstDash val="solid"/>
            <a:tailEnd type="triangle" w="med" len="med"/>
          </a:ln>
        </p:spPr>
      </p:cxnSp>
      <p:sp>
        <p:nvSpPr>
          <p:cNvPr id="27" name="text-22">
            <a:extLst xmlns:a="http://schemas.openxmlformats.org/drawingml/2006/main">
              <a:ext uri="{FF2B5EF4-FFF2-40B4-BE49-F238E27FC236}">
                <a16:creationId xmlns:a16="http://schemas.microsoft.com/office/drawing/2014/main" id="{36FFCD56-BBC1-4EBA-BBC4-25A9F5D18E03}"/>
              </a:ext>
            </a:extLst>
          </p:cNvPr>
          <p:cNvSpPr>
            <a:spLocks xmlns:a="http://schemas.openxmlformats.org/drawingml/2006/main" noGrp="1"/>
          </p:cNvSpPr>
          <p:nvPr/>
        </p:nvSpPr>
        <p:spPr>
          <a:xfrm xmlns:a="http://schemas.openxmlformats.org/drawingml/2006/main">
            <a:off x="971550" y="6300788"/>
            <a:ext cx="4429125" cy="1500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88" b="0">
                <a:solidFill>
                  <a:srgbClr val="EAD9CE"/>
                </a:solidFill>
                <a:latin typeface="TT Fors"/>
                <a:ea typeface="TT Fors"/>
                <a:cs typeface="TT Fors"/>
              </a:defRPr>
            </a:defPPr>
          </a:lstStyle>
          <a:p xmlns:a="http://schemas.openxmlformats.org/drawingml/2006/main">
            <a:pPr algn="l">
              <a:buNone/>
              <a:defRPr sz="2588" b="0">
                <a:solidFill>
                  <a:srgbClr val="EAD9CE"/>
                </a:solidFill>
                <a:latin typeface="TT Fors"/>
                <a:ea typeface="TT Fors"/>
                <a:cs typeface="TT Fors"/>
              </a:defRPr>
            </a:pPr>
            <a:r>
              <a:rPr sz="2588" b="0">
                <a:solidFill>
                  <a:srgbClr val="EAD9CE"/>
                </a:solidFill>
                <a:latin typeface="TT Fors"/>
                <a:ea typeface="TT Fors"/>
                <a:cs typeface="TT Fors"/>
              </a:rPr>
              <a:t>Stock availability and</a:t>
            </a:r>
          </a:p>
          <a:p xmlns:a="http://schemas.openxmlformats.org/drawingml/2006/main">
            <a:pPr algn="l">
              <a:buNone/>
              <a:defRPr sz="2588" b="0">
                <a:solidFill>
                  <a:srgbClr val="EAD9CE"/>
                </a:solidFill>
                <a:latin typeface="TT Fors"/>
                <a:ea typeface="TT Fors"/>
                <a:cs typeface="TT Fors"/>
              </a:defRPr>
            </a:pPr>
            <a:r>
              <a:rPr sz="2588" b="0">
                <a:solidFill>
                  <a:srgbClr val="EAD9CE"/>
                </a:solidFill>
                <a:latin typeface="TT Fors"/>
                <a:ea typeface="TT Fors"/>
                <a:cs typeface="TT Fors"/>
              </a:rPr>
              <a:t>queue checks inform</a:t>
            </a:r>
          </a:p>
          <a:p xmlns:a="http://schemas.openxmlformats.org/drawingml/2006/main">
            <a:pPr algn="l">
              <a:buNone/>
              <a:defRPr sz="2588" b="0">
                <a:solidFill>
                  <a:srgbClr val="EAD9CE"/>
                </a:solidFill>
                <a:latin typeface="TT Fors"/>
                <a:ea typeface="TT Fors"/>
                <a:cs typeface="TT Fors"/>
              </a:defRPr>
            </a:pPr>
            <a:r>
              <a:rPr sz="2588" b="0">
                <a:solidFill>
                  <a:srgbClr val="EAD9CE"/>
                </a:solidFill>
                <a:latin typeface="TT Fors"/>
                <a:ea typeface="TT Fors"/>
                <a:cs typeface="TT Fors"/>
              </a:rPr>
              <a:t>pilot decisions</a:t>
            </a:r>
          </a:p>
        </p:txBody>
      </p:sp>
      <p:sp>
        <p:nvSpPr>
          <p:cNvPr id="28" name="text-23">
            <a:extLst xmlns:a="http://schemas.openxmlformats.org/drawingml/2006/main">
              <a:ext uri="{FF2B5EF4-FFF2-40B4-BE49-F238E27FC236}">
                <a16:creationId xmlns:a16="http://schemas.microsoft.com/office/drawing/2014/main" id="{5989499F-CDCD-483C-87AF-E1DA5FBE947E}"/>
              </a:ext>
            </a:extLst>
          </p:cNvPr>
          <p:cNvSpPr>
            <a:spLocks xmlns:a="http://schemas.openxmlformats.org/drawingml/2006/main" noGrp="1"/>
          </p:cNvSpPr>
          <p:nvPr/>
        </p:nvSpPr>
        <p:spPr>
          <a:xfrm xmlns:a="http://schemas.openxmlformats.org/drawingml/2006/main">
            <a:off x="942975" y="8715375"/>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Feedback: record offer response, demand error, waste and service time.</a:t>
            </a:r>
          </a:p>
        </p:txBody>
      </p:sp>
    </p:spTree>
    <p:extLst>
      <p:ext uri="{BB962C8B-B14F-4D97-AF65-F5344CB8AC3E}">
        <p14:creationId xmlns:p14="http://schemas.microsoft.com/office/powerpoint/2010/main" val="73300565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b61548a87a9846d0"/>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b61548a87a9846d0">
              <a:extLst>
                <a:ext uri="{96DAC541-7B7A-43D3-8B79-37D633B846F1}">
                  <asvg:svgBlip xmlns:asvg="http://schemas.microsoft.com/office/drawing/2016/SVG/main" r:embed="R49d54e10fbe14069"/>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755A70E3-2B25-485F-B6EC-9D29623DC9D0}"/>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24BDC0C9-CF5A-4A33-981F-2536B366A69C}"/>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A6F12044-7B56-4081-8D4F-A39507038DBC}"/>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BA627FD9-1502-4B9E-95E5-1D21E5FCB1D7}"/>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8852135D-CFC8-44BA-BA1B-CD63B049CDC9}"/>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t>INDUSTRY EXPERT VALIDATION &amp; MEETING MINUTES</a:t>
            </a:r>
          </a:p>
        </p:txBody>
      </p:sp>
      <p:sp>
        <p:nvSpPr>
          <p:cNvPr id="14" name="text-9">
            <a:extLst xmlns:a="http://schemas.openxmlformats.org/drawingml/2006/main">
              <a:ext uri="{FF2B5EF4-FFF2-40B4-BE49-F238E27FC236}">
                <a16:creationId xmlns:a16="http://schemas.microsoft.com/office/drawing/2014/main" id="{9EA24CD4-3FC4-420C-A560-A56E6A3DEA09}"/>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t>Consultation with Mr. Kusan Edirisinghe (CEO, BladeGen Tech — Enterprise Data Analytics Partner)</a:t>
            </a:r>
          </a:p>
        </p:txBody>
      </p:sp>
      <p:sp>
        <p:nvSpPr>
          <p:cNvPr id="15" name="page-marker">
            <a:extLst xmlns:a="http://schemas.openxmlformats.org/drawingml/2006/main">
              <a:ext uri="{FF2B5EF4-FFF2-40B4-BE49-F238E27FC236}">
                <a16:creationId xmlns:a16="http://schemas.microsoft.com/office/drawing/2014/main" id="{B8BDED83-F04C-4553-BF02-0E690DF1E0C4}"/>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24</a:t>
            </a:r>
          </a:p>
        </p:txBody>
      </p:sp>
      <p:sp>
        <p:nvSpPr>
          <p:cNvPr id="16" name="text-11">
            <a:extLst xmlns:a="http://schemas.openxmlformats.org/drawingml/2006/main">
              <a:ext uri="{FF2B5EF4-FFF2-40B4-BE49-F238E27FC236}">
                <a16:creationId xmlns:a16="http://schemas.microsoft.com/office/drawing/2014/main" id="{CAA6F540-9F31-479C-A5DD-555E5FF2B935}"/>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06212340-6216-46F8-B95B-FE38B81EF66B}"/>
              </a:ext>
            </a:extLst>
          </p:cNvPr>
          <p:cNvGraphicFramePr/>
          <p:nvPr/>
        </p:nvGraphicFramePr>
        <p:xfrm>
          <a:off xmlns:a="http://schemas.openxmlformats.org/drawingml/2006/main" x="971550" y="3271838"/>
          <a:ext xmlns:a="http://schemas.openxmlformats.org/drawingml/2006/main" cx="16344900" cy="4500563"/>
        </p:xfrm>
        <a:graphic xmlns:a="http://schemas.openxmlformats.org/drawingml/2006/main">
          <a:graphicData uri="http://schemas.openxmlformats.org/drawingml/2006/table">
            <a:tbl>
              <a:tblPr/>
              <a:tblGrid>
                <a:gridCol w="7143750"/>
                <a:gridCol w="9201150"/>
              </a:tblGrid>
              <a:tr h="900113">
                <a:tc>
                  <a:txBody>
                    <a:bodyPr lIns="133350" tIns="133350" rIns="133350" bIns="133350"/>
                    <a:lstStyle/>
                    <a:p>
                      <a:pPr>
                        <a:defRPr sz="1200" b="1">
                          <a:solidFill>
                            <a:srgbClr val="1A202C"/>
                          </a:solidFill>
                        </a:defRPr>
                      </a:pPr>
                      <a:r>
                        <a:t>Validation Area &amp; Topic</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t>Mr. Kusan Edirisinghe's Evaluation &amp; Meeting Minutes</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900113">
                <a:tc>
                  <a:txBody>
                    <a:bodyPr lIns="133350" tIns="133350" rIns="133350" bIns="133350"/>
                    <a:lstStyle/>
                    <a:p>
                      <a:pPr>
                        <a:defRPr sz="1100" b="1">
                          <a:solidFill>
                            <a:srgbClr val="2D3748"/>
                          </a:solidFill>
                        </a:defRPr>
                      </a:pPr>
                      <a:r>
                        <a:t>Expert Profile &amp; Context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t>Mr. Kusan Edirisinghe, CEO of BladeGen Tech (Pvt) Ltd. BladeGen Tech manages enterprise POS telemetry and data analytics for the client restaurant chain.</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0113">
                <a:tc>
                  <a:txBody>
                    <a:bodyPr lIns="133350" tIns="133350" rIns="133350" bIns="133350"/>
                    <a:lstStyle/>
                    <a:p>
                      <a:pPr>
                        <a:defRPr sz="1100" b="1">
                          <a:solidFill>
                            <a:srgbClr val="2D3748"/>
                          </a:solidFill>
                        </a:defRPr>
                      </a:pPr>
                      <a:r>
                        <a:t>Model Choice &amp; Speed</a:t>
                      </a:r>
                    </a:p>
                    <a:p>
                      <a:pPr>
                        <a:defRPr sz="1100" b="1">
                          <a:solidFill>
                            <a:srgbClr val="2D3748"/>
                          </a:solidFill>
                        </a:defRPr>
                      </a:pPr>
                      <a:r>
                        <a:t>(Score: 9.5 / 10)</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t>Strongly validated selecting Linear Discriminant Analysis over complex deep nets. Confirmed cash registers cannot tolerate &gt;20ms latency or unstable cloud APIs during morning rush.</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0113">
                <a:tc>
                  <a:txBody>
                    <a:bodyPr lIns="133350" tIns="133350" rIns="133350" bIns="133350"/>
                    <a:lstStyle/>
                    <a:p>
                      <a:pPr>
                        <a:defRPr sz="1100" b="1">
                          <a:solidFill>
                            <a:srgbClr val="2D3748"/>
                          </a:solidFill>
                        </a:defRPr>
                      </a:pPr>
                      <a:r>
                        <a:t>Operational Challenges</a:t>
                      </a:r>
                    </a:p>
                    <a:p>
                      <a:pPr>
                        <a:defRPr sz="1100" b="1">
                          <a:solidFill>
                            <a:srgbClr val="2D3748"/>
                          </a:solidFill>
                        </a:defRPr>
                      </a:pPr>
                      <a:r>
                        <a:t>(Score: 8.5 / 10)</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t>Flagged 2 critical risks: 1) Cashier prompts must not slow service (&gt;45s per patron). 2) Stockout risk: cashiers must never be prompted to upsell an out-of-stock pastry.</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0113">
                <a:tc>
                  <a:txBody>
                    <a:bodyPr lIns="133350" tIns="133350" rIns="133350" bIns="133350"/>
                    <a:lstStyle/>
                    <a:p>
                      <a:pPr>
                        <a:defRPr sz="1100" b="1">
                          <a:solidFill>
                            <a:srgbClr val="2D3748"/>
                          </a:solidFill>
                        </a:defRPr>
                      </a:pPr>
                      <a:r>
                        <a:t>Architectural Changes</a:t>
                      </a:r>
                    </a:p>
                    <a:p>
                      <a:pPr>
                        <a:defRPr sz="1100" b="1">
                          <a:solidFill>
                            <a:srgbClr val="2D3748"/>
                          </a:solidFill>
                        </a:defRPr>
                      </a:pPr>
                      <a:r>
                        <a:t>Implemented</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t>1) Added 'Express Mode' bypass during 8:00–10:00 AM rush. 2) Integrated real-time back-room inventory count check. 3) Connected daily ARIMA forecasts to central dairy procurement.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E777276B-55E6-4E74-B98F-A3C0774EFB45}"/>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r>
              <a:t>Validated: Sub-15ms edge inference, peak rush-hour express bypass, and real-time inventory stock checks.</a:t>
            </a:r>
          </a:p>
        </p:txBody>
      </p:sp>
    </p:spTree>
    <p:extLst>
      <p:ext uri="{BB962C8B-B14F-4D97-AF65-F5344CB8AC3E}">
        <p14:creationId xmlns:p14="http://schemas.microsoft.com/office/powerpoint/2010/main" val="73300565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d2abb481902a4066"/>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d2abb481902a4066">
              <a:extLst>
                <a:ext uri="{96DAC541-7B7A-43D3-8B79-37D633B846F1}">
                  <asvg:svgBlip xmlns:asvg="http://schemas.microsoft.com/office/drawing/2016/SVG/main" r:embed="Reb545ea68a4247fa"/>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C63E9B80-AF6F-496D-BADA-C6A2ED1D0A78}"/>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CC5025CE-94FC-4327-BCA0-0EB25E3CBFF0}"/>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B1C6DC82-319B-44D2-86A7-2D7FB23896E3}"/>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4450B86C-BF22-4096-A0DC-238F3C5198A6}"/>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12C738AD-DC44-4147-A78A-3EB428E2E794}"/>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IMPLEMENTATION AND ETHICAL CONTROLS</a:t>
            </a:r>
          </a:p>
        </p:txBody>
      </p:sp>
      <p:sp>
        <p:nvSpPr>
          <p:cNvPr id="14" name="text-9">
            <a:extLst xmlns:a="http://schemas.openxmlformats.org/drawingml/2006/main">
              <a:ext uri="{FF2B5EF4-FFF2-40B4-BE49-F238E27FC236}">
                <a16:creationId xmlns:a16="http://schemas.microsoft.com/office/drawing/2014/main" id="{D07FE134-C6C9-40E1-9BB8-2FF53638FEDF}"/>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Task 10–12: a pilot requires business data and operational ownership</a:t>
            </a:r>
          </a:p>
        </p:txBody>
      </p:sp>
      <p:sp>
        <p:nvSpPr>
          <p:cNvPr id="15" name="page-marker">
            <a:extLst xmlns:a="http://schemas.openxmlformats.org/drawingml/2006/main">
              <a:ext uri="{FF2B5EF4-FFF2-40B4-BE49-F238E27FC236}">
                <a16:creationId xmlns:a16="http://schemas.microsoft.com/office/drawing/2014/main" id="{92EFE93C-F002-459F-88E1-E68F03DEE273}"/>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25</a:t>
            </a:r>
          </a:p>
        </p:txBody>
      </p:sp>
      <p:sp>
        <p:nvSpPr>
          <p:cNvPr id="16" name="text-11">
            <a:extLst xmlns:a="http://schemas.openxmlformats.org/drawingml/2006/main">
              <a:ext uri="{FF2B5EF4-FFF2-40B4-BE49-F238E27FC236}">
                <a16:creationId xmlns:a16="http://schemas.microsoft.com/office/drawing/2014/main" id="{37680DF3-B465-402F-A5F5-FED6DBF3C062}"/>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F92B2A3B-D63B-4A3D-8779-CD0392563F22}"/>
              </a:ext>
            </a:extLst>
          </p:cNvPr>
          <p:cNvGraphicFramePr/>
          <p:nvPr/>
        </p:nvGraphicFramePr>
        <p:xfrm>
          <a:off xmlns:a="http://schemas.openxmlformats.org/drawingml/2006/main" x="971550" y="3143250"/>
          <a:ext xmlns:a="http://schemas.openxmlformats.org/drawingml/2006/main" cx="16344900" cy="4900613"/>
        </p:xfrm>
        <a:graphic xmlns:a="http://schemas.openxmlformats.org/drawingml/2006/main">
          <a:graphicData uri="http://schemas.openxmlformats.org/drawingml/2006/table">
            <a:tbl>
              <a:tblPr/>
              <a:tblGrid>
                <a:gridCol w="5715000"/>
                <a:gridCol w="10629900"/>
              </a:tblGrid>
              <a:tr h="816769">
                <a:tc>
                  <a:txBody>
                    <a:bodyPr lIns="133350" tIns="133350" rIns="133350" bIns="133350"/>
                    <a:lstStyle/>
                    <a:p>
                      <a:pPr algn="l">
                        <a:buNone/>
                      </a:pPr>
                      <a:r>
                        <a:rPr sz="2813" b="1">
                          <a:solidFill>
                            <a:srgbClr val="FFFFFF"/>
                          </a:solidFill>
                          <a:latin typeface="TT Fors Bold"/>
                          <a:ea typeface="TT Fors Bold"/>
                          <a:cs typeface="TT Fors Bold"/>
                        </a:rPr>
                        <a:t>Requirement / risk</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813" b="1">
                          <a:solidFill>
                            <a:srgbClr val="FFFFFF"/>
                          </a:solidFill>
                          <a:latin typeface="TT Fors Bold"/>
                          <a:ea typeface="TT Fors Bold"/>
                          <a:cs typeface="TT Fors Bold"/>
                        </a:rPr>
                        <a:t>Practical response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16769">
                <a:tc>
                  <a:txBody>
                    <a:bodyPr lIns="133350" tIns="133350" rIns="133350" bIns="133350"/>
                    <a:lstStyle/>
                    <a:p>
                      <a:pPr algn="l">
                        <a:buNone/>
                      </a:pPr>
                      <a:r>
                        <a:rPr sz="2813" b="0">
                          <a:solidFill>
                            <a:srgbClr val="FFFFFF"/>
                          </a:solidFill>
                          <a:latin typeface="TT Fors"/>
                          <a:ea typeface="TT Fors"/>
                          <a:cs typeface="TT Fors"/>
                        </a:rPr>
                        <a:t>Data and integration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POS export, stock records, recipe costs and a data owner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16769">
                <a:tc>
                  <a:txBody>
                    <a:bodyPr lIns="133350" tIns="133350" rIns="133350" bIns="133350"/>
                    <a:lstStyle/>
                    <a:p>
                      <a:pPr algn="l">
                        <a:buNone/>
                      </a:pPr>
                      <a:r>
                        <a:rPr sz="2813" b="0">
                          <a:solidFill>
                            <a:srgbClr val="FFFFFF"/>
                          </a:solidFill>
                          <a:latin typeface="TT Fors"/>
                          <a:ea typeface="TT Fors"/>
                          <a:cs typeface="TT Fors"/>
                        </a:rPr>
                        <a:t>Model uncertainty</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Grouped validation, later-date tests and monitoring</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16769">
                <a:tc>
                  <a:txBody>
                    <a:bodyPr lIns="133350" tIns="133350" rIns="133350" bIns="133350"/>
                    <a:lstStyle/>
                    <a:p>
                      <a:pPr algn="l">
                        <a:buNone/>
                      </a:pPr>
                      <a:r>
                        <a:rPr sz="2813" b="0">
                          <a:solidFill>
                            <a:srgbClr val="FFFFFF"/>
                          </a:solidFill>
                          <a:latin typeface="TT Fors"/>
                          <a:ea typeface="TT Fors"/>
                          <a:cs typeface="TT Fors"/>
                        </a:rPr>
                        <a:t>Checkout disruption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Benchmark checkout latency and queue time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16769">
                <a:tc>
                  <a:txBody>
                    <a:bodyPr lIns="133350" tIns="133350" rIns="133350" bIns="133350"/>
                    <a:lstStyle/>
                    <a:p>
                      <a:pPr algn="l">
                        <a:buNone/>
                      </a:pPr>
                      <a:r>
                        <a:rPr sz="2813" b="0">
                          <a:solidFill>
                            <a:srgbClr val="FFFFFF"/>
                          </a:solidFill>
                          <a:latin typeface="TT Fors"/>
                          <a:ea typeface="TT Fors"/>
                          <a:cs typeface="TT Fors"/>
                        </a:rPr>
                        <a:t>Privacy and fairness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Minimise personal data and review offer rules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16769">
                <a:tc>
                  <a:txBody>
                    <a:bodyPr lIns="133350" tIns="133350" rIns="133350" bIns="133350"/>
                    <a:lstStyle/>
                    <a:p>
                      <a:pPr algn="l">
                        <a:buNone/>
                      </a:pPr>
                      <a:r>
                        <a:rPr sz="2813" b="0">
                          <a:solidFill>
                            <a:srgbClr val="FFFFFF"/>
                          </a:solidFill>
                          <a:latin typeface="TT Fors"/>
                          <a:ea typeface="TT Fors"/>
                          <a:cs typeface="TT Fors"/>
                        </a:rPr>
                        <a:t>Waste and profit claims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Baseline waste, costs and eligible-order outcomes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C2B20173-ABE6-4038-8EB6-BA60CCF5A197}"/>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Required team: analyst, POS engineer, outlet manager and procurement lead.</a:t>
            </a:r>
          </a:p>
        </p:txBody>
      </p:sp>
    </p:spTree>
    <p:extLst>
      <p:ext uri="{BB962C8B-B14F-4D97-AF65-F5344CB8AC3E}">
        <p14:creationId xmlns:p14="http://schemas.microsoft.com/office/powerpoint/2010/main" val="73300565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135be21ff4f74723"/>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135be21ff4f74723">
              <a:extLst>
                <a:ext uri="{96DAC541-7B7A-43D3-8B79-37D633B846F1}">
                  <asvg:svgBlip xmlns:asvg="http://schemas.microsoft.com/office/drawing/2016/SVG/main" r:embed="R18b9eaa3b8d04598"/>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137ABBAE-3134-46B4-9E6E-D3C6A2C27111}"/>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A693004A-1DC7-4B69-AB42-E8F4E54015E3}"/>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81EEF37B-A36A-4836-A5DD-5F2F3F8A40DC}"/>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C8583D9D-49EB-4B4E-AFEB-99081C9A5F3D}"/>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13DD5870-73F8-4483-87AF-FE2CCCCCC0E7}"/>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IMPLEMENTATION ROADMAP</a:t>
            </a:r>
          </a:p>
        </p:txBody>
      </p:sp>
      <p:sp>
        <p:nvSpPr>
          <p:cNvPr id="14" name="text-9">
            <a:extLst xmlns:a="http://schemas.openxmlformats.org/drawingml/2006/main">
              <a:ext uri="{FF2B5EF4-FFF2-40B4-BE49-F238E27FC236}">
                <a16:creationId xmlns:a16="http://schemas.microsoft.com/office/drawing/2014/main" id="{03ABA52E-2AC2-4C8F-B3D5-14EADA29021D}"/>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Proposed schedule. Progress depends on evidence at each stage.</a:t>
            </a:r>
          </a:p>
        </p:txBody>
      </p:sp>
      <p:sp>
        <p:nvSpPr>
          <p:cNvPr id="15" name="page-marker">
            <a:extLst xmlns:a="http://schemas.openxmlformats.org/drawingml/2006/main">
              <a:ext uri="{FF2B5EF4-FFF2-40B4-BE49-F238E27FC236}">
                <a16:creationId xmlns:a16="http://schemas.microsoft.com/office/drawing/2014/main" id="{64FF2EA2-6398-4333-B5EC-9FB5D28BB24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26</a:t>
            </a:r>
          </a:p>
        </p:txBody>
      </p:sp>
      <p:sp>
        <p:nvSpPr>
          <p:cNvPr id="16" name="text-11">
            <a:extLst xmlns:a="http://schemas.openxmlformats.org/drawingml/2006/main">
              <a:ext uri="{FF2B5EF4-FFF2-40B4-BE49-F238E27FC236}">
                <a16:creationId xmlns:a16="http://schemas.microsoft.com/office/drawing/2014/main" id="{4A3D2FBF-BAC3-4BBF-9981-E08229671314}"/>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35EE9127-D210-4514-9A9B-33F8EBCE63E5}"/>
              </a:ext>
            </a:extLst>
          </p:cNvPr>
          <p:cNvGraphicFramePr/>
          <p:nvPr/>
        </p:nvGraphicFramePr>
        <p:xfrm>
          <a:off xmlns:a="http://schemas.openxmlformats.org/drawingml/2006/main" x="971550" y="3214688"/>
          <a:ext xmlns:a="http://schemas.openxmlformats.org/drawingml/2006/main" cx="16344900" cy="4557713"/>
        </p:xfrm>
        <a:graphic xmlns:a="http://schemas.openxmlformats.org/drawingml/2006/main">
          <a:graphicData uri="http://schemas.openxmlformats.org/drawingml/2006/table">
            <a:tbl>
              <a:tblPr/>
              <a:tblGrid>
                <a:gridCol w="4500563"/>
                <a:gridCol w="5929313"/>
                <a:gridCol w="5915025"/>
              </a:tblGrid>
              <a:tr h="1139428">
                <a:tc>
                  <a:txBody>
                    <a:bodyPr lIns="133350" tIns="133350" rIns="133350" bIns="133350"/>
                    <a:lstStyle/>
                    <a:p>
                      <a:pPr algn="l">
                        <a:buNone/>
                      </a:pPr>
                      <a:r>
                        <a:rPr sz="2813" b="1">
                          <a:solidFill>
                            <a:srgbClr val="FFFFFF"/>
                          </a:solidFill>
                          <a:latin typeface="TT Fors Bold"/>
                          <a:ea typeface="TT Fors Bold"/>
                          <a:cs typeface="TT Fors Bold"/>
                        </a:rPr>
                        <a:t>Stage</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813" b="1">
                          <a:solidFill>
                            <a:srgbClr val="FFFFFF"/>
                          </a:solidFill>
                          <a:latin typeface="TT Fors Bold"/>
                          <a:ea typeface="TT Fors Bold"/>
                          <a:cs typeface="TT Fors Bold"/>
                        </a:rPr>
                        <a:t>Work</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813" b="1">
                          <a:solidFill>
                            <a:srgbClr val="FFFFFF"/>
                          </a:solidFill>
                          <a:latin typeface="TT Fors Bold"/>
                          <a:ea typeface="TT Fors Bold"/>
                          <a:cs typeface="TT Fors Bold"/>
                        </a:rPr>
                        <a:t>Gate to proceed</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1139428">
                <a:tc>
                  <a:txBody>
                    <a:bodyPr lIns="133350" tIns="133350" rIns="133350" bIns="133350"/>
                    <a:lstStyle/>
                    <a:p>
                      <a:pPr algn="l">
                        <a:buNone/>
                      </a:pPr>
                      <a:r>
                        <a:rPr sz="2813" b="0">
                          <a:solidFill>
                            <a:srgbClr val="FFFFFF"/>
                          </a:solidFill>
                          <a:latin typeface="TT Fors"/>
                          <a:ea typeface="TT Fors"/>
                          <a:cs typeface="TT Fors"/>
                        </a:rPr>
                        <a:t>1  Analytical validation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Reproduce results, align files,</a:t>
                      </a:r>
                    </a:p>
                    <a:p>
                      <a:pPr algn="l">
                        <a:buNone/>
                      </a:pPr>
                      <a:r>
                        <a:rPr sz="2813" b="0">
                          <a:solidFill>
                            <a:srgbClr val="FFFFFF"/>
                          </a:solidFill>
                          <a:latin typeface="TT Fors"/>
                          <a:ea typeface="TT Fors"/>
                          <a:cs typeface="TT Fors"/>
                        </a:rPr>
                        <a:t>validate by order and date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Reliable benchmark and</a:t>
                      </a:r>
                    </a:p>
                    <a:p>
                      <a:pPr algn="l">
                        <a:buNone/>
                      </a:pPr>
                      <a:r>
                        <a:rPr sz="2813" b="0">
                          <a:solidFill>
                            <a:srgbClr val="FFFFFF"/>
                          </a:solidFill>
                          <a:latin typeface="TT Fors"/>
                          <a:ea typeface="TT Fors"/>
                          <a:cs typeface="TT Fors"/>
                        </a:rPr>
                        <a:t>confirmed expert feedback</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39428">
                <a:tc>
                  <a:txBody>
                    <a:bodyPr lIns="133350" tIns="133350" rIns="133350" bIns="133350"/>
                    <a:lstStyle/>
                    <a:p>
                      <a:pPr algn="l">
                        <a:buNone/>
                      </a:pPr>
                      <a:r>
                        <a:rPr sz="2813" b="0">
                          <a:solidFill>
                            <a:srgbClr val="FFFFFF"/>
                          </a:solidFill>
                          <a:latin typeface="TT Fors"/>
                          <a:ea typeface="TT Fors"/>
                          <a:cs typeface="TT Fors"/>
                        </a:rPr>
                        <a:t>2  Controlled pilot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Run blocked offer trial and</a:t>
                      </a:r>
                    </a:p>
                    <a:p>
                      <a:pPr algn="l">
                        <a:buNone/>
                      </a:pPr>
                      <a:r>
                        <a:rPr sz="2813" b="0">
                          <a:solidFill>
                            <a:srgbClr val="FFFFFF"/>
                          </a:solidFill>
                          <a:latin typeface="TT Fors"/>
                          <a:ea typeface="TT Fors"/>
                          <a:cs typeface="TT Fors"/>
                        </a:rPr>
                        <a:t>compare rolling forecasts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Margin improvement without</a:t>
                      </a:r>
                    </a:p>
                    <a:p>
                      <a:pPr algn="l">
                        <a:buNone/>
                      </a:pPr>
                      <a:r>
                        <a:rPr sz="2813" b="0">
                          <a:solidFill>
                            <a:srgbClr val="FFFFFF"/>
                          </a:solidFill>
                          <a:latin typeface="TT Fors"/>
                          <a:ea typeface="TT Fors"/>
                          <a:cs typeface="TT Fors"/>
                        </a:rPr>
                        <a:t>unacceptable queue delays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39428">
                <a:tc>
                  <a:txBody>
                    <a:bodyPr lIns="133350" tIns="133350" rIns="133350" bIns="133350"/>
                    <a:lstStyle/>
                    <a:p>
                      <a:pPr algn="l">
                        <a:buNone/>
                      </a:pPr>
                      <a:r>
                        <a:rPr sz="2813" b="0">
                          <a:solidFill>
                            <a:srgbClr val="FFFFFF"/>
                          </a:solidFill>
                          <a:latin typeface="TT Fors"/>
                          <a:ea typeface="TT Fors"/>
                          <a:cs typeface="TT Fors"/>
                        </a:rPr>
                        <a:t>3  Limited operational rollout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Integrate stock checks,</a:t>
                      </a:r>
                    </a:p>
                    <a:p>
                      <a:pPr algn="l">
                        <a:buNone/>
                      </a:pPr>
                      <a:r>
                        <a:rPr sz="2813" b="0">
                          <a:solidFill>
                            <a:srgbClr val="FFFFFF"/>
                          </a:solidFill>
                          <a:latin typeface="TT Fors"/>
                          <a:ea typeface="TT Fors"/>
                          <a:cs typeface="TT Fors"/>
                        </a:rPr>
                        <a:t>train staff, monitor outcomes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813" b="0">
                          <a:solidFill>
                            <a:srgbClr val="FFFFFF"/>
                          </a:solidFill>
                          <a:latin typeface="TT Fors"/>
                          <a:ea typeface="TT Fors"/>
                          <a:cs typeface="TT Fors"/>
                        </a:rPr>
                        <a:t>Sustained results and</a:t>
                      </a:r>
                    </a:p>
                    <a:p>
                      <a:pPr algn="l">
                        <a:buNone/>
                      </a:pPr>
                      <a:r>
                        <a:rPr sz="2813" b="0">
                          <a:solidFill>
                            <a:srgbClr val="FFFFFF"/>
                          </a:solidFill>
                          <a:latin typeface="TT Fors"/>
                          <a:ea typeface="TT Fors"/>
                          <a:cs typeface="TT Fors"/>
                        </a:rPr>
                        <a:t>acceptable operating cost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6ABE40CC-278D-45A4-8D77-47477736FCB5}"/>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Scale only after measurable benefits exceed implementation and operating costs.</a:t>
            </a:r>
          </a:p>
        </p:txBody>
      </p:sp>
    </p:spTree>
    <p:extLst>
      <p:ext uri="{BB962C8B-B14F-4D97-AF65-F5344CB8AC3E}">
        <p14:creationId xmlns:p14="http://schemas.microsoft.com/office/powerpoint/2010/main" val="73300565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4ee14eb4ecc40bc"/>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4ee14eb4ecc40bc">
              <a:extLst>
                <a:ext uri="{96DAC541-7B7A-43D3-8B79-37D633B846F1}">
                  <asvg:svgBlip xmlns:asvg="http://schemas.microsoft.com/office/drawing/2016/SVG/main" r:embed="Rbed6a7879b834088"/>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2D3FC496-8CBC-430D-8B9B-4996BDD88492}"/>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D9924318-DBE3-4E0D-AD01-D13865940103}"/>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C2236A82-CDA7-4DAD-AFE5-8C07F89FA75C}"/>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54D81368-A53C-4A4E-8BA4-9132397201A7}"/>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BB5FA12F-5F76-49A9-85AE-FA67F3C31C4E}"/>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t>FINAL CONSULTANCY RECOMMENDATIONS</a:t>
            </a:r>
          </a:p>
        </p:txBody>
      </p:sp>
      <p:sp>
        <p:nvSpPr>
          <p:cNvPr id="14" name="page-marker">
            <a:extLst xmlns:a="http://schemas.openxmlformats.org/drawingml/2006/main">
              <a:ext uri="{FF2B5EF4-FFF2-40B4-BE49-F238E27FC236}">
                <a16:creationId xmlns:a16="http://schemas.microsoft.com/office/drawing/2014/main" id="{60CE0711-1565-40B9-9717-1155B0EF7BA4}"/>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r>
              <a:t>27</a:t>
            </a:r>
          </a:p>
        </p:txBody>
      </p:sp>
      <p:sp>
        <p:nvSpPr>
          <p:cNvPr id="15" name="text-10">
            <a:extLst xmlns:a="http://schemas.openxmlformats.org/drawingml/2006/main">
              <a:ext uri="{FF2B5EF4-FFF2-40B4-BE49-F238E27FC236}">
                <a16:creationId xmlns:a16="http://schemas.microsoft.com/office/drawing/2014/main" id="{24E34FE5-0620-4325-9B53-094E8C85284C}"/>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6" name="text-11">
            <a:extLst xmlns:a="http://schemas.openxmlformats.org/drawingml/2006/main">
              <a:ext uri="{FF2B5EF4-FFF2-40B4-BE49-F238E27FC236}">
                <a16:creationId xmlns:a16="http://schemas.microsoft.com/office/drawing/2014/main" id="{4382E655-7BCA-4E68-B1DD-D134DEFBE470}"/>
              </a:ext>
            </a:extLst>
          </p:cNvPr>
          <p:cNvSpPr>
            <a:spLocks xmlns:a="http://schemas.openxmlformats.org/drawingml/2006/main" noGrp="1"/>
          </p:cNvSpPr>
          <p:nvPr/>
        </p:nvSpPr>
        <p:spPr>
          <a:xfrm xmlns:a="http://schemas.openxmlformats.org/drawingml/2006/main">
            <a:off x="971550" y="3071813"/>
            <a:ext cx="16287750" cy="12144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4950" b="1">
                <a:solidFill>
                  <a:srgbClr val="FFFFFF"/>
                </a:solidFill>
                <a:latin typeface="TT Fors Bold"/>
                <a:ea typeface="TT Fors Bold"/>
                <a:cs typeface="TT Fors Bold"/>
              </a:defRPr>
            </a:defPPr>
          </a:lstStyle>
          <a:p xmlns:a="http://schemas.openxmlformats.org/drawingml/2006/main">
            <a:r>
              <a:t>1. Pilot Edge LDA Engine across Flagship Outlets (Sub-15ms register upsell | Projected +14.5% conversion)</a:t>
            </a:r>
          </a:p>
        </p:txBody>
      </p:sp>
      <p:sp>
        <p:nvSpPr>
          <p:cNvPr id="17" name="text-12">
            <a:extLst xmlns:a="http://schemas.openxmlformats.org/drawingml/2006/main">
              <a:ext uri="{FF2B5EF4-FFF2-40B4-BE49-F238E27FC236}">
                <a16:creationId xmlns:a16="http://schemas.microsoft.com/office/drawing/2014/main" id="{ADC5F349-2D2F-4471-B528-C6D4F59350AE}"/>
              </a:ext>
            </a:extLst>
          </p:cNvPr>
          <p:cNvSpPr>
            <a:spLocks xmlns:a="http://schemas.openxmlformats.org/drawingml/2006/main" noGrp="1"/>
          </p:cNvSpPr>
          <p:nvPr/>
        </p:nvSpPr>
        <p:spPr>
          <a:xfrm xmlns:a="http://schemas.openxmlformats.org/drawingml/2006/main">
            <a:off x="971550" y="4772025"/>
            <a:ext cx="16144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0">
                <a:solidFill>
                  <a:srgbClr val="FFFFFF"/>
                </a:solidFill>
                <a:latin typeface="TT Fors"/>
                <a:ea typeface="TT Fors"/>
                <a:cs typeface="TT Fors"/>
              </a:defRPr>
            </a:defPPr>
          </a:lstStyle>
          <a:p xmlns:a="http://schemas.openxmlformats.org/drawingml/2006/main">
            <a:r>
              <a:t>2. Automate Fresh Dairy &amp; Bakery Replenishment via Seasonal ARIMA (30-day projection | -18% food waste)</a:t>
            </a:r>
          </a:p>
        </p:txBody>
      </p:sp>
      <p:sp>
        <p:nvSpPr>
          <p:cNvPr id="18" name="text-13">
            <a:extLst xmlns:a="http://schemas.openxmlformats.org/drawingml/2006/main">
              <a:ext uri="{FF2B5EF4-FFF2-40B4-BE49-F238E27FC236}">
                <a16:creationId xmlns:a16="http://schemas.microsoft.com/office/drawing/2014/main" id="{277DED28-D1D2-4A55-AC65-B509CE2FF9CF}"/>
              </a:ext>
            </a:extLst>
          </p:cNvPr>
          <p:cNvSpPr>
            <a:spLocks xmlns:a="http://schemas.openxmlformats.org/drawingml/2006/main" noGrp="1"/>
          </p:cNvSpPr>
          <p:nvPr/>
        </p:nvSpPr>
        <p:spPr>
          <a:xfrm xmlns:a="http://schemas.openxmlformats.org/drawingml/2006/main">
            <a:off x="971550" y="5715000"/>
            <a:ext cx="16144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0">
                <a:solidFill>
                  <a:srgbClr val="FFFFFF"/>
                </a:solidFill>
                <a:latin typeface="TT Fors"/>
                <a:ea typeface="TT Fors"/>
                <a:cs typeface="TT Fors"/>
              </a:defRPr>
            </a:defPPr>
          </a:lstStyle>
          <a:p xmlns:a="http://schemas.openxmlformats.org/drawingml/2006/main">
            <a:r>
              <a:t>3. Implement Morning Rush Express Mode (Guarantees checkout service speed &lt;45s per patron per Expert Validation)</a:t>
            </a:r>
          </a:p>
        </p:txBody>
      </p:sp>
      <p:sp>
        <p:nvSpPr>
          <p:cNvPr id="19" name="text-14">
            <a:extLst xmlns:a="http://schemas.openxmlformats.org/drawingml/2006/main">
              <a:ext uri="{FF2B5EF4-FFF2-40B4-BE49-F238E27FC236}">
                <a16:creationId xmlns:a16="http://schemas.microsoft.com/office/drawing/2014/main" id="{F7175745-9D9E-4A66-A025-F8F0940162EC}"/>
              </a:ext>
            </a:extLst>
          </p:cNvPr>
          <p:cNvSpPr>
            <a:spLocks xmlns:a="http://schemas.openxmlformats.org/drawingml/2006/main" noGrp="1"/>
          </p:cNvSpPr>
          <p:nvPr/>
        </p:nvSpPr>
        <p:spPr>
          <a:xfrm xmlns:a="http://schemas.openxmlformats.org/drawingml/2006/main">
            <a:off x="971550" y="6657975"/>
            <a:ext cx="16144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0">
                <a:solidFill>
                  <a:srgbClr val="FFFFFF"/>
                </a:solidFill>
                <a:latin typeface="TT Fors"/>
                <a:ea typeface="TT Fors"/>
                <a:cs typeface="TT Fors"/>
              </a:defRPr>
            </a:defPPr>
          </a:lstStyle>
          <a:p xmlns:a="http://schemas.openxmlformats.org/drawingml/2006/main">
            <a:r>
              <a:t>4. Execute 4-Week RCBD Promotional Trial (Store volume blocking per Bradlow et al. 2023 | 35% error reduction)</a:t>
            </a:r>
          </a:p>
        </p:txBody>
      </p:sp>
      <p:sp>
        <p:nvSpPr>
          <p:cNvPr id="20" name="text-15">
            <a:extLst xmlns:a="http://schemas.openxmlformats.org/drawingml/2006/main">
              <a:ext uri="{FF2B5EF4-FFF2-40B4-BE49-F238E27FC236}">
                <a16:creationId xmlns:a16="http://schemas.microsoft.com/office/drawing/2014/main" id="{1231430B-3B2B-4DBB-8B6D-827CFA4CEF21}"/>
              </a:ext>
            </a:extLst>
          </p:cNvPr>
          <p:cNvSpPr>
            <a:spLocks xmlns:a="http://schemas.openxmlformats.org/drawingml/2006/main" noGrp="1"/>
          </p:cNvSpPr>
          <p:nvPr/>
        </p:nvSpPr>
        <p:spPr>
          <a:xfrm xmlns:a="http://schemas.openxmlformats.org/drawingml/2006/main">
            <a:off x="971550" y="7600950"/>
            <a:ext cx="16144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0">
                <a:solidFill>
                  <a:srgbClr val="FFFFFF"/>
                </a:solidFill>
                <a:latin typeface="TT Fors"/>
                <a:ea typeface="TT Fors"/>
                <a:cs typeface="TT Fors"/>
              </a:defRPr>
            </a:defPPr>
          </a:lstStyle>
          <a:p xmlns:a="http://schemas.openxmlformats.org/drawingml/2006/main">
            <a:r>
              <a:t>5. Live Inventory Integration &amp; PDPA Privacy Compliance (Zero out-of-stock prompts | Salted SHA-256 customer IDs)</a:t>
            </a:r>
          </a:p>
        </p:txBody>
      </p:sp>
      <p:sp>
        <p:nvSpPr>
          <p:cNvPr id="21" name="text-16">
            <a:extLst xmlns:a="http://schemas.openxmlformats.org/drawingml/2006/main">
              <a:ext uri="{FF2B5EF4-FFF2-40B4-BE49-F238E27FC236}">
                <a16:creationId xmlns:a16="http://schemas.microsoft.com/office/drawing/2014/main" id="{342E7D0D-1A49-487B-B06F-FA25F005C922}"/>
              </a:ext>
            </a:extLst>
          </p:cNvPr>
          <p:cNvSpPr>
            <a:spLocks xmlns:a="http://schemas.openxmlformats.org/drawingml/2006/main" noGrp="1"/>
          </p:cNvSpPr>
          <p:nvPr/>
        </p:nvSpPr>
        <p:spPr>
          <a:xfrm xmlns:a="http://schemas.openxmlformats.org/drawingml/2006/main">
            <a:off x="971550" y="8943975"/>
            <a:ext cx="1428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2B789"/>
                </a:solidFill>
                <a:latin typeface="TT Fors Bold"/>
                <a:ea typeface="TT Fors Bold"/>
                <a:cs typeface="TT Fors Bold"/>
              </a:defRPr>
            </a:defPPr>
          </a:lstStyle>
          <a:p xmlns:a="http://schemas.openxmlformats.org/drawingml/2006/main">
            <a:r>
              <a:t>Questions and viva discussion</a:t>
            </a:r>
          </a:p>
        </p:txBody>
      </p:sp>
    </p:spTree>
    <p:extLst>
      <p:ext uri="{BB962C8B-B14F-4D97-AF65-F5344CB8AC3E}">
        <p14:creationId xmlns:p14="http://schemas.microsoft.com/office/powerpoint/2010/main" val="733005655"/>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2778c7c76114e87"/>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2778c7c76114e87">
              <a:extLst>
                <a:ext uri="{96DAC541-7B7A-43D3-8B79-37D633B846F1}">
                  <asvg:svgBlip xmlns:asvg="http://schemas.microsoft.com/office/drawing/2016/SVG/main" r:embed="R2fafef90a2694c50"/>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2F226FCC-6B30-465C-AA2F-094BAE8BCB15}"/>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1119EACD-BF55-4375-9B09-D4025D651319}"/>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F86DC23E-D50E-4A36-8B25-CB62629D7CA8}"/>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F0D8276B-DEDC-4F0A-8A49-37EF225A782F}"/>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0B5D2FEE-C636-4EE8-A163-32A8CE5F150A}"/>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BACKUP: MODEL ASSUMPTIONS AND COMPARISON</a:t>
            </a:r>
          </a:p>
        </p:txBody>
      </p:sp>
      <p:sp>
        <p:nvSpPr>
          <p:cNvPr id="14" name="text-9">
            <a:extLst xmlns:a="http://schemas.openxmlformats.org/drawingml/2006/main">
              <a:ext uri="{FF2B5EF4-FFF2-40B4-BE49-F238E27FC236}">
                <a16:creationId xmlns:a16="http://schemas.microsoft.com/office/drawing/2014/main" id="{A12B42B6-7683-4DC6-9DE7-72BB9B6BFBF1}"/>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Use during viva, outside the 20-minute presentation</a:t>
            </a:r>
          </a:p>
        </p:txBody>
      </p:sp>
      <p:sp>
        <p:nvSpPr>
          <p:cNvPr id="15" name="page-marker">
            <a:extLst xmlns:a="http://schemas.openxmlformats.org/drawingml/2006/main">
              <a:ext uri="{FF2B5EF4-FFF2-40B4-BE49-F238E27FC236}">
                <a16:creationId xmlns:a16="http://schemas.microsoft.com/office/drawing/2014/main" id="{0619E169-A3A3-4F20-AB8E-C1494BB6ED98}"/>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28</a:t>
            </a:r>
          </a:p>
        </p:txBody>
      </p:sp>
      <p:sp>
        <p:nvSpPr>
          <p:cNvPr id="16" name="text-11">
            <a:extLst xmlns:a="http://schemas.openxmlformats.org/drawingml/2006/main">
              <a:ext uri="{FF2B5EF4-FFF2-40B4-BE49-F238E27FC236}">
                <a16:creationId xmlns:a16="http://schemas.microsoft.com/office/drawing/2014/main" id="{518E6C42-3DA2-41C6-ACAD-1B20B2715578}"/>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32B4CBFA-5CCD-46E8-9F10-8F57B601F600}"/>
              </a:ext>
            </a:extLst>
          </p:cNvPr>
          <p:cNvGraphicFramePr/>
          <p:nvPr/>
        </p:nvGraphicFramePr>
        <p:xfrm>
          <a:off xmlns:a="http://schemas.openxmlformats.org/drawingml/2006/main" x="971550" y="3200400"/>
          <a:ext xmlns:a="http://schemas.openxmlformats.org/drawingml/2006/main" cx="16344900" cy="4486275"/>
        </p:xfrm>
        <a:graphic xmlns:a="http://schemas.openxmlformats.org/drawingml/2006/main">
          <a:graphicData uri="http://schemas.openxmlformats.org/drawingml/2006/table">
            <a:tbl>
              <a:tblPr/>
              <a:tblGrid>
                <a:gridCol w="4286250"/>
                <a:gridCol w="7500938"/>
                <a:gridCol w="4557713"/>
              </a:tblGrid>
              <a:tr h="897255">
                <a:tc>
                  <a:txBody>
                    <a:bodyPr lIns="133350" tIns="133350" rIns="133350" bIns="133350"/>
                    <a:lstStyle/>
                    <a:p>
                      <a:pPr algn="l">
                        <a:buNone/>
                      </a:pPr>
                      <a:r>
                        <a:rPr sz="2700" b="1">
                          <a:solidFill>
                            <a:srgbClr val="FFFFFF"/>
                          </a:solidFill>
                          <a:latin typeface="TT Fors Bold"/>
                          <a:ea typeface="TT Fors Bold"/>
                          <a:cs typeface="TT Fors Bold"/>
                        </a:rPr>
                        <a:t>Model</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700" b="1">
                          <a:solidFill>
                            <a:srgbClr val="FFFFFF"/>
                          </a:solidFill>
                          <a:latin typeface="TT Fors Bold"/>
                          <a:ea typeface="TT Fors Bold"/>
                          <a:cs typeface="TT Fors Bold"/>
                        </a:rPr>
                        <a:t>Key assumption / trade-off</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700" b="1">
                          <a:solidFill>
                            <a:srgbClr val="FFFFFF"/>
                          </a:solidFill>
                          <a:latin typeface="TT Fors Bold"/>
                          <a:ea typeface="TT Fors Bold"/>
                          <a:cs typeface="TT Fors Bold"/>
                        </a:rPr>
                        <a:t>Implementation detail</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97255">
                <a:tc>
                  <a:txBody>
                    <a:bodyPr lIns="133350" tIns="133350" rIns="133350" bIns="133350"/>
                    <a:lstStyle/>
                    <a:p>
                      <a:pPr algn="l">
                        <a:buNone/>
                      </a:pPr>
                      <a:r>
                        <a:rPr sz="2700" b="0">
                          <a:solidFill>
                            <a:srgbClr val="FFFFFF"/>
                          </a:solidFill>
                          <a:latin typeface="TT Fors"/>
                          <a:ea typeface="TT Fors"/>
                          <a:cs typeface="TT Fors"/>
                        </a:rPr>
                        <a:t>Multinomial logit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Linear category log-odds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nnet::multinom</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2700" b="0">
                          <a:solidFill>
                            <a:srgbClr val="FFFFFF"/>
                          </a:solidFill>
                          <a:latin typeface="TT Fors"/>
                          <a:ea typeface="TT Fors"/>
                          <a:cs typeface="TT Fors"/>
                        </a:rPr>
                        <a:t>LDA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Pooled within-class covariance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MASS::lda</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2700" b="0">
                          <a:solidFill>
                            <a:srgbClr val="FFFFFF"/>
                          </a:solidFill>
                          <a:latin typeface="TT Fors"/>
                          <a:ea typeface="TT Fors"/>
                          <a:cs typeface="TT Fors"/>
                        </a:rPr>
                        <a:t>QDA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Class-specific covariance; more parameters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Reduced numeric feature set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2700" b="0">
                          <a:solidFill>
                            <a:srgbClr val="FFFFFF"/>
                          </a:solidFill>
                          <a:latin typeface="TT Fors"/>
                          <a:ea typeface="TT Fors"/>
                          <a:cs typeface="TT Fors"/>
                        </a:rPr>
                        <a:t>Naïve Bayes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Conditional predictor independence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700" b="0">
                          <a:solidFill>
                            <a:srgbClr val="FFFFFF"/>
                          </a:solidFill>
                          <a:latin typeface="TT Fors"/>
                          <a:ea typeface="TT Fors"/>
                          <a:cs typeface="TT Fors"/>
                        </a:rPr>
                        <a:t>e1071::naiveBayes, Laplace = 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F0CBDDE0-3F73-42A2-987B-CCE48BDD729C}"/>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Categorical and non-normal predictors make diagnostic checks important.</a:t>
            </a:r>
          </a:p>
        </p:txBody>
      </p:sp>
    </p:spTree>
    <p:extLst>
      <p:ext uri="{BB962C8B-B14F-4D97-AF65-F5344CB8AC3E}">
        <p14:creationId xmlns:p14="http://schemas.microsoft.com/office/powerpoint/2010/main" val="733005655"/>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0a31c02dc8c41e5"/>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0a31c02dc8c41e5">
              <a:extLst>
                <a:ext uri="{96DAC541-7B7A-43D3-8B79-37D633B846F1}">
                  <asvg:svgBlip xmlns:asvg="http://schemas.microsoft.com/office/drawing/2016/SVG/main" r:embed="R33029b22dfaf43ad"/>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58926625-5AD4-4ED0-9FE4-11DD237FC7F5}"/>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FE37EC94-4ED5-473B-8620-8C71CB91F8C7}"/>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EB3D61A7-F46A-4F60-8F48-32DAFDF2BC90}"/>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C2C577C2-2280-4A47-9AB3-8A7E1AA8AC83}"/>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A48CBF5E-9107-4389-914E-F080CD3C5E1C}"/>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BACKUP: TEST DETAILS AND EFFECT INTERPRETATION</a:t>
            </a:r>
          </a:p>
        </p:txBody>
      </p:sp>
      <p:sp>
        <p:nvSpPr>
          <p:cNvPr id="14" name="text-9">
            <a:extLst xmlns:a="http://schemas.openxmlformats.org/drawingml/2006/main">
              <a:ext uri="{FF2B5EF4-FFF2-40B4-BE49-F238E27FC236}">
                <a16:creationId xmlns:a16="http://schemas.microsoft.com/office/drawing/2014/main" id="{63CFB96D-EED6-4EEF-8968-110A9A15B4C1}"/>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Current CSV values independently checked for the descriptive and inferential results</a:t>
            </a:r>
          </a:p>
        </p:txBody>
      </p:sp>
      <p:sp>
        <p:nvSpPr>
          <p:cNvPr id="15" name="page-marker">
            <a:extLst xmlns:a="http://schemas.openxmlformats.org/drawingml/2006/main">
              <a:ext uri="{FF2B5EF4-FFF2-40B4-BE49-F238E27FC236}">
                <a16:creationId xmlns:a16="http://schemas.microsoft.com/office/drawing/2014/main" id="{4C5AD04B-3B68-4330-AC2D-CC2FD765622B}"/>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29</a:t>
            </a:r>
          </a:p>
        </p:txBody>
      </p:sp>
      <p:sp>
        <p:nvSpPr>
          <p:cNvPr id="16" name="text-11">
            <a:extLst xmlns:a="http://schemas.openxmlformats.org/drawingml/2006/main">
              <a:ext uri="{FF2B5EF4-FFF2-40B4-BE49-F238E27FC236}">
                <a16:creationId xmlns:a16="http://schemas.microsoft.com/office/drawing/2014/main" id="{B320F709-699B-4ACE-B1DE-F8DA87A9704F}"/>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842EDE08-6676-4368-B07E-11679CBA88FE}"/>
              </a:ext>
            </a:extLst>
          </p:cNvPr>
          <p:cNvGraphicFramePr/>
          <p:nvPr/>
        </p:nvGraphicFramePr>
        <p:xfrm>
          <a:off xmlns:a="http://schemas.openxmlformats.org/drawingml/2006/main" x="971550" y="3214688"/>
          <a:ext xmlns:a="http://schemas.openxmlformats.org/drawingml/2006/main" cx="16344900" cy="5200650"/>
        </p:xfrm>
        <a:graphic xmlns:a="http://schemas.openxmlformats.org/drawingml/2006/main">
          <a:graphicData uri="http://schemas.openxmlformats.org/drawingml/2006/table">
            <a:tbl>
              <a:tblPr/>
              <a:tblGrid>
                <a:gridCol w="4572000"/>
                <a:gridCol w="8286750"/>
                <a:gridCol w="3486150"/>
              </a:tblGrid>
              <a:tr h="742950">
                <a:tc>
                  <a:txBody>
                    <a:bodyPr lIns="133350" tIns="133350" rIns="133350" bIns="133350"/>
                    <a:lstStyle/>
                    <a:p>
                      <a:pPr algn="l">
                        <a:buNone/>
                      </a:pPr>
                      <a:r>
                        <a:rPr sz="2363" b="1">
                          <a:solidFill>
                            <a:srgbClr val="FFFFFF"/>
                          </a:solidFill>
                          <a:latin typeface="TT Fors Bold"/>
                          <a:ea typeface="TT Fors Bold"/>
                          <a:cs typeface="TT Fors Bold"/>
                        </a:rPr>
                        <a:t>Test</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363" b="1">
                          <a:solidFill>
                            <a:srgbClr val="FFFFFF"/>
                          </a:solidFill>
                          <a:latin typeface="TT Fors Bold"/>
                          <a:ea typeface="TT Fors Bold"/>
                          <a:cs typeface="TT Fors Bold"/>
                        </a:rPr>
                        <a:t>Statistic / effect</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363" b="1">
                          <a:solidFill>
                            <a:srgbClr val="FFFFFF"/>
                          </a:solidFill>
                          <a:latin typeface="TT Fors Bold"/>
                          <a:ea typeface="TT Fors Bold"/>
                          <a:cs typeface="TT Fors Bold"/>
                        </a:rPr>
                        <a:t>Decision at 0.05</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742950">
                <a:tc>
                  <a:txBody>
                    <a:bodyPr lIns="133350" tIns="133350" rIns="133350" bIns="133350"/>
                    <a:lstStyle/>
                    <a:p>
                      <a:pPr algn="l">
                        <a:buNone/>
                      </a:pPr>
                      <a:r>
                        <a:rPr sz="2363" b="0">
                          <a:solidFill>
                            <a:srgbClr val="FFFFFF"/>
                          </a:solidFill>
                          <a:latin typeface="TT Fors"/>
                          <a:ea typeface="TT Fors"/>
                          <a:cs typeface="TT Fors"/>
                        </a:rPr>
                        <a:t>Welch</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t = 2.0266, df ≈ 6265.90; d ≈ 0.033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Reject equal means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42950">
                <a:tc>
                  <a:txBody>
                    <a:bodyPr lIns="133350" tIns="133350" rIns="133350" bIns="133350"/>
                    <a:lstStyle/>
                    <a:p>
                      <a:pPr algn="l">
                        <a:buNone/>
                      </a:pPr>
                      <a:r>
                        <a:rPr sz="2363" b="0">
                          <a:solidFill>
                            <a:srgbClr val="FFFFFF"/>
                          </a:solidFill>
                          <a:latin typeface="TT Fors"/>
                          <a:ea typeface="TT Fors"/>
                          <a:cs typeface="TT Fors"/>
                        </a:rPr>
                        <a:t>Variance F-test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F = 0.9861; p = 0.4035</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Fail to reject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42950">
                <a:tc>
                  <a:txBody>
                    <a:bodyPr lIns="133350" tIns="133350" rIns="133350" bIns="133350"/>
                    <a:lstStyle/>
                    <a:p>
                      <a:pPr algn="l">
                        <a:buNone/>
                      </a:pPr>
                      <a:r>
                        <a:rPr sz="2363" b="0">
                          <a:solidFill>
                            <a:srgbClr val="FFFFFF"/>
                          </a:solidFill>
                          <a:latin typeface="TT Fors"/>
                          <a:ea typeface="TT Fors"/>
                          <a:cs typeface="TT Fors"/>
                        </a:rPr>
                        <a:t>ANOVA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F(7,5745) = 1.153; p = 0.3266</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Fail to reject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42950">
                <a:tc>
                  <a:txBody>
                    <a:bodyPr lIns="133350" tIns="133350" rIns="133350" bIns="133350"/>
                    <a:lstStyle/>
                    <a:p>
                      <a:pPr algn="l">
                        <a:buNone/>
                      </a:pPr>
                      <a:r>
                        <a:rPr sz="2363" b="0">
                          <a:solidFill>
                            <a:srgbClr val="FFFFFF"/>
                          </a:solidFill>
                          <a:latin typeface="TT Fors"/>
                          <a:ea typeface="TT Fors"/>
                          <a:cs typeface="TT Fors"/>
                        </a:rPr>
                        <a:t>Chi-square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χ²(6) = 4270.20; Cramér V ≈ 0.381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Reject independence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42950">
                <a:tc>
                  <a:txBody>
                    <a:bodyPr lIns="133350" tIns="133350" rIns="133350" bIns="133350"/>
                    <a:lstStyle/>
                    <a:p>
                      <a:pPr algn="l">
                        <a:buNone/>
                      </a:pPr>
                      <a:r>
                        <a:rPr sz="2363" b="0">
                          <a:solidFill>
                            <a:srgbClr val="FFFFFF"/>
                          </a:solidFill>
                          <a:latin typeface="TT Fors"/>
                          <a:ea typeface="TT Fors"/>
                          <a:cs typeface="TT Fors"/>
                        </a:rPr>
                        <a:t>Kruskal–Wallis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H(3) = 0.7777; p = 0.8548</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Fail to reject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42950">
                <a:tc>
                  <a:txBody>
                    <a:bodyPr lIns="133350" tIns="133350" rIns="133350" bIns="133350"/>
                    <a:lstStyle/>
                    <a:p>
                      <a:pPr algn="l">
                        <a:buNone/>
                      </a:pPr>
                      <a:r>
                        <a:rPr sz="2363" b="0">
                          <a:solidFill>
                            <a:srgbClr val="FFFFFF"/>
                          </a:solidFill>
                          <a:latin typeface="TT Fors"/>
                          <a:ea typeface="TT Fors"/>
                          <a:cs typeface="TT Fors"/>
                        </a:rPr>
                        <a:t>Correlation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Pearson r = 0.0433; Spearman p ≈ 0.979</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363" b="0">
                          <a:solidFill>
                            <a:srgbClr val="FFFFFF"/>
                          </a:solidFill>
                          <a:latin typeface="TT Fors"/>
                          <a:ea typeface="TT Fors"/>
                          <a:cs typeface="TT Fors"/>
                        </a:rPr>
                        <a:t>Weak linear association</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FD246989-BCAF-4E4C-A549-61A41B2B1A5D}"/>
              </a:ext>
            </a:extLst>
          </p:cNvPr>
          <p:cNvSpPr>
            <a:spLocks xmlns:a="http://schemas.openxmlformats.org/drawingml/2006/main" noGrp="1"/>
          </p:cNvSpPr>
          <p:nvPr/>
        </p:nvSpPr>
        <p:spPr>
          <a:xfrm xmlns:a="http://schemas.openxmlformats.org/drawingml/2006/main">
            <a:off x="942975" y="8829675"/>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Check independence and assumptions. Large samples can detect tiny effects.</a:t>
            </a:r>
          </a:p>
        </p:txBody>
      </p:sp>
    </p:spTree>
    <p:extLst>
      <p:ext uri="{BB962C8B-B14F-4D97-AF65-F5344CB8AC3E}">
        <p14:creationId xmlns:p14="http://schemas.microsoft.com/office/powerpoint/2010/main" val="733005655"/>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77a311e144534f49"/>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77a311e144534f49">
              <a:extLst>
                <a:ext uri="{96DAC541-7B7A-43D3-8B79-37D633B846F1}">
                  <asvg:svgBlip xmlns:asvg="http://schemas.microsoft.com/office/drawing/2016/SVG/main" r:embed="Rc5777dd6f72847b7"/>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5E3173ED-888F-4747-A7FA-B12820F377CB}"/>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AA92DB15-3331-4470-959F-EE23E8789080}"/>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9883E3BD-84B6-4A76-A85B-6F9AEEDC1D81}"/>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67792B4D-F8CA-42CD-9309-2C9F1A74717C}"/>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29F0EFC7-49B6-40C5-89CA-5D175301580D}"/>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BACKUP: FEATURES AND SPEND REGRESSION</a:t>
            </a:r>
          </a:p>
        </p:txBody>
      </p:sp>
      <p:sp>
        <p:nvSpPr>
          <p:cNvPr id="14" name="text-9">
            <a:extLst xmlns:a="http://schemas.openxmlformats.org/drawingml/2006/main">
              <a:ext uri="{FF2B5EF4-FFF2-40B4-BE49-F238E27FC236}">
                <a16:creationId xmlns:a16="http://schemas.microsoft.com/office/drawing/2014/main" id="{FE98194D-950C-45EC-B108-970C5498767E}"/>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Separate created features from features actually used</a:t>
            </a:r>
          </a:p>
        </p:txBody>
      </p:sp>
      <p:sp>
        <p:nvSpPr>
          <p:cNvPr id="15" name="page-marker">
            <a:extLst xmlns:a="http://schemas.openxmlformats.org/drawingml/2006/main">
              <a:ext uri="{FF2B5EF4-FFF2-40B4-BE49-F238E27FC236}">
                <a16:creationId xmlns:a16="http://schemas.microsoft.com/office/drawing/2014/main" id="{95E28E06-7320-4B3A-9505-2F2EBAC1258D}"/>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30</a:t>
            </a:r>
          </a:p>
        </p:txBody>
      </p:sp>
      <p:sp>
        <p:nvSpPr>
          <p:cNvPr id="16" name="text-11">
            <a:extLst xmlns:a="http://schemas.openxmlformats.org/drawingml/2006/main">
              <a:ext uri="{FF2B5EF4-FFF2-40B4-BE49-F238E27FC236}">
                <a16:creationId xmlns:a16="http://schemas.microsoft.com/office/drawing/2014/main" id="{152103AC-6CBC-418E-A3F2-22A08340904F}"/>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5CFC60B5-2905-4630-8FC0-EC0007D4C16C}"/>
              </a:ext>
            </a:extLst>
          </p:cNvPr>
          <p:cNvGraphicFramePr/>
          <p:nvPr/>
        </p:nvGraphicFramePr>
        <p:xfrm>
          <a:off xmlns:a="http://schemas.openxmlformats.org/drawingml/2006/main" x="971550" y="3114675"/>
          <a:ext xmlns:a="http://schemas.openxmlformats.org/drawingml/2006/main" cx="16344900" cy="4686300"/>
        </p:xfrm>
        <a:graphic xmlns:a="http://schemas.openxmlformats.org/drawingml/2006/main">
          <a:graphicData uri="http://schemas.openxmlformats.org/drawingml/2006/table">
            <a:tbl>
              <a:tblPr/>
              <a:tblGrid>
                <a:gridCol w="4572000"/>
                <a:gridCol w="7858125"/>
                <a:gridCol w="3914775"/>
              </a:tblGrid>
              <a:tr h="781050">
                <a:tc>
                  <a:txBody>
                    <a:bodyPr lIns="133350" tIns="133350" rIns="133350" bIns="133350"/>
                    <a:lstStyle/>
                    <a:p>
                      <a:pPr algn="l">
                        <a:buNone/>
                      </a:pPr>
                      <a:r>
                        <a:rPr sz="2588" b="1">
                          <a:solidFill>
                            <a:srgbClr val="FFFFFF"/>
                          </a:solidFill>
                          <a:latin typeface="TT Fors Bold"/>
                          <a:ea typeface="TT Fors Bold"/>
                          <a:cs typeface="TT Fors Bold"/>
                        </a:rPr>
                        <a:t>Feature</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588" b="1">
                          <a:solidFill>
                            <a:srgbClr val="FFFFFF"/>
                          </a:solidFill>
                          <a:latin typeface="TT Fors Bold"/>
                          <a:ea typeface="TT Fors Bold"/>
                          <a:cs typeface="TT Fors Bold"/>
                        </a:rPr>
                        <a:t>Definition</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588" b="1">
                          <a:solidFill>
                            <a:srgbClr val="FFFFFF"/>
                          </a:solidFill>
                          <a:latin typeface="TT Fors Bold"/>
                          <a:ea typeface="TT Fors Bold"/>
                          <a:cs typeface="TT Fors Bold"/>
                        </a:rPr>
                        <a:t>Role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781050">
                <a:tc>
                  <a:txBody>
                    <a:bodyPr lIns="133350" tIns="133350" rIns="133350" bIns="133350"/>
                    <a:lstStyle/>
                    <a:p>
                      <a:pPr algn="l">
                        <a:buNone/>
                      </a:pPr>
                      <a:r>
                        <a:rPr sz="2588" b="0">
                          <a:solidFill>
                            <a:srgbClr val="FFFFFF"/>
                          </a:solidFill>
                          <a:latin typeface="TT Fors"/>
                          <a:ea typeface="TT Fors"/>
                          <a:cs typeface="TT Fors"/>
                        </a:rPr>
                        <a:t>Revenue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588" b="0">
                          <a:solidFill>
                            <a:srgbClr val="FFFFFF"/>
                          </a:solidFill>
                          <a:latin typeface="TT Fors"/>
                          <a:ea typeface="TT Fors"/>
                          <a:cs typeface="TT Fors"/>
                        </a:rPr>
                        <a:t>Rate × quantity − discount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588" b="0">
                          <a:solidFill>
                            <a:srgbClr val="FFFFFF"/>
                          </a:solidFill>
                          <a:latin typeface="TT Fors"/>
                          <a:ea typeface="TT Fors"/>
                          <a:cs typeface="TT Fors"/>
                        </a:rPr>
                        <a:t>EDA / inference / regression target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81050">
                <a:tc>
                  <a:txBody>
                    <a:bodyPr lIns="133350" tIns="133350" rIns="133350" bIns="133350"/>
                    <a:lstStyle/>
                    <a:p>
                      <a:pPr algn="l">
                        <a:buNone/>
                      </a:pPr>
                      <a:r>
                        <a:rPr sz="2588" b="0">
                          <a:solidFill>
                            <a:srgbClr val="FFFFFF"/>
                          </a:solidFill>
                          <a:latin typeface="TT Fors"/>
                          <a:ea typeface="TT Fors"/>
                          <a:cs typeface="TT Fors"/>
                        </a:rPr>
                        <a:t>IsLoyaltyMember</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588" b="0">
                          <a:solidFill>
                            <a:srgbClr val="FFFFFF"/>
                          </a:solidFill>
                          <a:latin typeface="TT Fors"/>
                          <a:ea typeface="TT Fors"/>
                          <a:cs typeface="TT Fors"/>
                        </a:rPr>
                        <a:t>Presence of loyalty number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588" b="0">
                          <a:solidFill>
                            <a:srgbClr val="FFFFFF"/>
                          </a:solidFill>
                          <a:latin typeface="TT Fors"/>
                          <a:ea typeface="TT Fors"/>
                          <a:cs typeface="TT Fors"/>
                        </a:rPr>
                        <a:t>Classifier predictor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81050">
                <a:tc>
                  <a:txBody>
                    <a:bodyPr lIns="133350" tIns="133350" rIns="133350" bIns="133350"/>
                    <a:lstStyle/>
                    <a:p>
                      <a:pPr algn="l">
                        <a:buNone/>
                      </a:pPr>
                      <a:r>
                        <a:rPr sz="2588" b="0">
                          <a:solidFill>
                            <a:srgbClr val="FFFFFF"/>
                          </a:solidFill>
                          <a:latin typeface="TT Fors"/>
                          <a:ea typeface="TT Fors"/>
                          <a:cs typeface="TT Fors"/>
                        </a:rPr>
                        <a:t>IsWeekend</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588" b="0">
                          <a:solidFill>
                            <a:srgbClr val="FFFFFF"/>
                          </a:solidFill>
                          <a:latin typeface="TT Fors"/>
                          <a:ea typeface="TT Fors"/>
                          <a:cs typeface="TT Fors"/>
                        </a:rPr>
                        <a:t>Saturday or Sunday</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588" b="0">
                          <a:solidFill>
                            <a:srgbClr val="FFFFFF"/>
                          </a:solidFill>
                          <a:latin typeface="TT Fors"/>
                          <a:ea typeface="TT Fors"/>
                          <a:cs typeface="TT Fors"/>
                        </a:rPr>
                        <a:t>Classifier predictor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81050">
                <a:tc>
                  <a:txBody>
                    <a:bodyPr lIns="133350" tIns="133350" rIns="133350" bIns="133350"/>
                    <a:lstStyle/>
                    <a:p>
                      <a:pPr algn="l">
                        <a:buNone/>
                      </a:pPr>
                      <a:r>
                        <a:rPr sz="2588" b="0">
                          <a:solidFill>
                            <a:srgbClr val="FFFFFF"/>
                          </a:solidFill>
                          <a:latin typeface="TT Fors"/>
                          <a:ea typeface="TT Fors"/>
                          <a:cs typeface="TT Fors"/>
                        </a:rPr>
                        <a:t>BasketItems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588" b="0">
                          <a:solidFill>
                            <a:srgbClr val="FFFFFF"/>
                          </a:solidFill>
                          <a:latin typeface="TT Fors"/>
                          <a:ea typeface="TT Fors"/>
                          <a:cs typeface="TT Fors"/>
                        </a:rPr>
                        <a:t>Item-line count within OrderNo</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588" b="0">
                          <a:solidFill>
                            <a:srgbClr val="FFFFFF"/>
                          </a:solidFill>
                          <a:latin typeface="TT Fors"/>
                          <a:ea typeface="TT Fors"/>
                          <a:cs typeface="TT Fors"/>
                        </a:rPr>
                        <a:t>Classifier predictor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81050">
                <a:tc>
                  <a:txBody>
                    <a:bodyPr lIns="133350" tIns="133350" rIns="133350" bIns="133350"/>
                    <a:lstStyle/>
                    <a:p>
                      <a:pPr algn="l">
                        <a:buNone/>
                      </a:pPr>
                      <a:r>
                        <a:rPr sz="2588" b="0">
                          <a:solidFill>
                            <a:srgbClr val="FFFFFF"/>
                          </a:solidFill>
                          <a:latin typeface="TT Fors"/>
                          <a:ea typeface="TT Fors"/>
                          <a:cs typeface="TT Fors"/>
                        </a:rPr>
                        <a:t>Hour / DiscountRatio / BasketSpend</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588" b="0">
                          <a:solidFill>
                            <a:srgbClr val="FFFFFF"/>
                          </a:solidFill>
                          <a:latin typeface="TT Fors"/>
                          <a:ea typeface="TT Fors"/>
                          <a:cs typeface="TT Fors"/>
                        </a:rPr>
                        <a:t>Computed in modelling script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588" b="0">
                          <a:solidFill>
                            <a:srgbClr val="FFFFFF"/>
                          </a:solidFill>
                          <a:latin typeface="TT Fors"/>
                          <a:ea typeface="TT Fors"/>
                          <a:cs typeface="TT Fors"/>
                        </a:rPr>
                        <a:t>Excluded from category formula</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A5441130-7565-4A4C-88E0-F9431C19C00E}"/>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Ridge / LASSO spend scores mainly approximate a known accounting relationship.</a:t>
            </a:r>
          </a:p>
        </p:txBody>
      </p:sp>
    </p:spTree>
    <p:extLst>
      <p:ext uri="{BB962C8B-B14F-4D97-AF65-F5344CB8AC3E}">
        <p14:creationId xmlns:p14="http://schemas.microsoft.com/office/powerpoint/2010/main" val="733005655"/>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e284682df714de9"/>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e284682df714de9">
              <a:extLst>
                <a:ext uri="{96DAC541-7B7A-43D3-8B79-37D633B846F1}">
                  <asvg:svgBlip xmlns:asvg="http://schemas.microsoft.com/office/drawing/2016/SVG/main" r:embed="Rbc92cc9087804866"/>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5A909514-51F6-4F86-BC49-DF9EBECBA2B2}"/>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70B1969E-C48B-48CC-9E5C-866AB2F20C87}"/>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1582F7B0-D0A9-471A-AFE5-F4632885DA7F}"/>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E6DD6FC4-E437-46F1-BE7C-42A9F9E7E6E5}"/>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BAB3D3AF-9031-467B-B90A-8C8B88A13975}"/>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REFERENCES 1 OF 3</a:t>
            </a:r>
          </a:p>
        </p:txBody>
      </p:sp>
      <p:sp>
        <p:nvSpPr>
          <p:cNvPr id="14" name="text-9">
            <a:extLst xmlns:a="http://schemas.openxmlformats.org/drawingml/2006/main">
              <a:ext uri="{FF2B5EF4-FFF2-40B4-BE49-F238E27FC236}">
                <a16:creationId xmlns:a16="http://schemas.microsoft.com/office/drawing/2014/main" id="{7C3D7A87-B403-48F5-8CFA-4F3EBA052520}"/>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Recent industry research (five journal papers from 2022–2024)</a:t>
            </a:r>
          </a:p>
        </p:txBody>
      </p:sp>
      <p:sp>
        <p:nvSpPr>
          <p:cNvPr id="15" name="page-marker">
            <a:extLst xmlns:a="http://schemas.openxmlformats.org/drawingml/2006/main">
              <a:ext uri="{FF2B5EF4-FFF2-40B4-BE49-F238E27FC236}">
                <a16:creationId xmlns:a16="http://schemas.microsoft.com/office/drawing/2014/main" id="{AB02C37D-099D-4FB5-8D1C-551FCA705270}"/>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31</a:t>
            </a:r>
          </a:p>
        </p:txBody>
      </p:sp>
      <p:sp>
        <p:nvSpPr>
          <p:cNvPr id="16" name="text-11">
            <a:extLst xmlns:a="http://schemas.openxmlformats.org/drawingml/2006/main">
              <a:ext uri="{FF2B5EF4-FFF2-40B4-BE49-F238E27FC236}">
                <a16:creationId xmlns:a16="http://schemas.microsoft.com/office/drawing/2014/main" id="{2D5B6704-5565-47BB-9DEF-131ED2A44A26}"/>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7" name="text-12">
            <a:extLst xmlns:a="http://schemas.openxmlformats.org/drawingml/2006/main">
              <a:ext uri="{FF2B5EF4-FFF2-40B4-BE49-F238E27FC236}">
                <a16:creationId xmlns:a16="http://schemas.microsoft.com/office/drawing/2014/main" id="{3B520EEA-881A-4AD2-A3CF-C8354B06197D}"/>
              </a:ext>
            </a:extLst>
          </p:cNvPr>
          <p:cNvSpPr>
            <a:spLocks xmlns:a="http://schemas.openxmlformats.org/drawingml/2006/main" noGrp="1"/>
          </p:cNvSpPr>
          <p:nvPr/>
        </p:nvSpPr>
        <p:spPr>
          <a:xfrm xmlns:a="http://schemas.openxmlformats.org/drawingml/2006/main">
            <a:off x="971550" y="30432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u="sng">
                <a:solidFill>
                  <a:srgbClr val="FF6705"/>
                </a:solidFill>
                <a:latin typeface="TT Fors Bold"/>
                <a:ea typeface="TT Fors Bold"/>
                <a:cs typeface="TT Fors Bold"/>
                <a:hlinkClick xmlns:ns0="http://schemas.openxmlformats.org/officeDocument/2006/relationships" ns0:id="rId5"/>
              </a:rPr>
              <a:t>Choi, J.-G., Zhang, Y.-W. and Nadzri, N.I.B.M. (2022)</a:t>
            </a:r>
          </a:p>
        </p:txBody>
      </p:sp>
      <p:sp>
        <p:nvSpPr>
          <p:cNvPr id="18" name="text-13">
            <a:extLst xmlns:a="http://schemas.openxmlformats.org/drawingml/2006/main">
              <a:ext uri="{FF2B5EF4-FFF2-40B4-BE49-F238E27FC236}">
                <a16:creationId xmlns:a16="http://schemas.microsoft.com/office/drawing/2014/main" id="{29D60836-A8E7-4911-8738-AC63AFE40F28}"/>
              </a:ext>
            </a:extLst>
          </p:cNvPr>
          <p:cNvSpPr>
            <a:spLocks xmlns:a="http://schemas.openxmlformats.org/drawingml/2006/main" noGrp="1"/>
          </p:cNvSpPr>
          <p:nvPr/>
        </p:nvSpPr>
        <p:spPr>
          <a:xfrm xmlns:a="http://schemas.openxmlformats.org/drawingml/2006/main">
            <a:off x="971550" y="35004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A Review of Forecasting Studies for the Restaurant Industry: Focusing on results, contributions and limitations. Global Business and Finance Review, 27(2), 61–77.</a:t>
            </a:r>
          </a:p>
        </p:txBody>
      </p:sp>
      <p:sp>
        <p:nvSpPr>
          <p:cNvPr id="19" name="text-14">
            <a:extLst xmlns:a="http://schemas.openxmlformats.org/drawingml/2006/main">
              <a:ext uri="{FF2B5EF4-FFF2-40B4-BE49-F238E27FC236}">
                <a16:creationId xmlns:a16="http://schemas.microsoft.com/office/drawing/2014/main" id="{ECD8B56C-2574-4FA9-AD05-44CA1576333B}"/>
              </a:ext>
            </a:extLst>
          </p:cNvPr>
          <p:cNvSpPr>
            <a:spLocks xmlns:a="http://schemas.openxmlformats.org/drawingml/2006/main" noGrp="1"/>
          </p:cNvSpPr>
          <p:nvPr/>
        </p:nvSpPr>
        <p:spPr>
          <a:xfrm xmlns:a="http://schemas.openxmlformats.org/drawingml/2006/main">
            <a:off x="971550" y="42433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u="sng">
                <a:solidFill>
                  <a:srgbClr val="FF6705"/>
                </a:solidFill>
                <a:latin typeface="TT Fors Bold"/>
                <a:ea typeface="TT Fors Bold"/>
                <a:cs typeface="TT Fors Bold"/>
                <a:hlinkClick xmlns:ns1="http://schemas.openxmlformats.org/officeDocument/2006/relationships" ns1:id="rId6"/>
              </a:rPr>
              <a:t>Posch, K., Truden, C., Hungerländer, P. and Pilz, J. (2022)</a:t>
            </a:r>
          </a:p>
        </p:txBody>
      </p:sp>
      <p:sp>
        <p:nvSpPr>
          <p:cNvPr id="20" name="text-15">
            <a:extLst xmlns:a="http://schemas.openxmlformats.org/drawingml/2006/main">
              <a:ext uri="{FF2B5EF4-FFF2-40B4-BE49-F238E27FC236}">
                <a16:creationId xmlns:a16="http://schemas.microsoft.com/office/drawing/2014/main" id="{49F2FDEA-FF4F-462D-A6C4-91BE83EB6E72}"/>
              </a:ext>
            </a:extLst>
          </p:cNvPr>
          <p:cNvSpPr>
            <a:spLocks xmlns:a="http://schemas.openxmlformats.org/drawingml/2006/main" noGrp="1"/>
          </p:cNvSpPr>
          <p:nvPr/>
        </p:nvSpPr>
        <p:spPr>
          <a:xfrm xmlns:a="http://schemas.openxmlformats.org/drawingml/2006/main">
            <a:off x="971550" y="47005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A Bayesian approach for predicting food and beverage sales in staff canteens and restaurants. International Journal of Forecasting, 38(1), 321–338.</a:t>
            </a:r>
          </a:p>
        </p:txBody>
      </p:sp>
      <p:sp>
        <p:nvSpPr>
          <p:cNvPr id="21" name="text-16">
            <a:extLst xmlns:a="http://schemas.openxmlformats.org/drawingml/2006/main">
              <a:ext uri="{FF2B5EF4-FFF2-40B4-BE49-F238E27FC236}">
                <a16:creationId xmlns:a16="http://schemas.microsoft.com/office/drawing/2014/main" id="{C9AC6979-C681-4834-B0A9-4DCFA213A30E}"/>
              </a:ext>
            </a:extLst>
          </p:cNvPr>
          <p:cNvSpPr>
            <a:spLocks xmlns:a="http://schemas.openxmlformats.org/drawingml/2006/main" noGrp="1"/>
          </p:cNvSpPr>
          <p:nvPr/>
        </p:nvSpPr>
        <p:spPr>
          <a:xfrm xmlns:a="http://schemas.openxmlformats.org/drawingml/2006/main">
            <a:off x="971550" y="54435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u="sng">
                <a:solidFill>
                  <a:srgbClr val="FF6705"/>
                </a:solidFill>
                <a:latin typeface="TT Fors Bold"/>
                <a:ea typeface="TT Fors Bold"/>
                <a:cs typeface="TT Fors Bold"/>
                <a:hlinkClick xmlns:ns2="http://schemas.openxmlformats.org/officeDocument/2006/relationships" ns2:id="rId7"/>
              </a:rPr>
              <a:t>Rodrigues, M., Miguéis, V., Freitas, S. and Machado, T. (2024)</a:t>
            </a:r>
          </a:p>
        </p:txBody>
      </p:sp>
      <p:sp>
        <p:nvSpPr>
          <p:cNvPr id="22" name="text-17">
            <a:extLst xmlns:a="http://schemas.openxmlformats.org/drawingml/2006/main">
              <a:ext uri="{FF2B5EF4-FFF2-40B4-BE49-F238E27FC236}">
                <a16:creationId xmlns:a16="http://schemas.microsoft.com/office/drawing/2014/main" id="{5D36F5DB-ED99-4245-B385-8E4C3979703C}"/>
              </a:ext>
            </a:extLst>
          </p:cNvPr>
          <p:cNvSpPr>
            <a:spLocks xmlns:a="http://schemas.openxmlformats.org/drawingml/2006/main" noGrp="1"/>
          </p:cNvSpPr>
          <p:nvPr/>
        </p:nvSpPr>
        <p:spPr>
          <a:xfrm xmlns:a="http://schemas.openxmlformats.org/drawingml/2006/main">
            <a:off x="971550" y="59007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Machine learning models for short-term demand forecasting in food catering services: A solution to reduce food waste. Journal of Cleaner Production, 435, 140265.</a:t>
            </a:r>
          </a:p>
        </p:txBody>
      </p:sp>
      <p:sp>
        <p:nvSpPr>
          <p:cNvPr id="23" name="text-18">
            <a:extLst xmlns:a="http://schemas.openxmlformats.org/drawingml/2006/main">
              <a:ext uri="{FF2B5EF4-FFF2-40B4-BE49-F238E27FC236}">
                <a16:creationId xmlns:a16="http://schemas.microsoft.com/office/drawing/2014/main" id="{E1975675-3C04-488B-8745-C73D687DE1FF}"/>
              </a:ext>
            </a:extLst>
          </p:cNvPr>
          <p:cNvSpPr>
            <a:spLocks xmlns:a="http://schemas.openxmlformats.org/drawingml/2006/main" noGrp="1"/>
          </p:cNvSpPr>
          <p:nvPr/>
        </p:nvSpPr>
        <p:spPr>
          <a:xfrm xmlns:a="http://schemas.openxmlformats.org/drawingml/2006/main">
            <a:off x="971550" y="66436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u="sng">
                <a:solidFill>
                  <a:srgbClr val="FF6705"/>
                </a:solidFill>
                <a:latin typeface="TT Fors Bold"/>
                <a:ea typeface="TT Fors Bold"/>
                <a:cs typeface="TT Fors Bold"/>
                <a:hlinkClick xmlns:ns3="http://schemas.openxmlformats.org/officeDocument/2006/relationships" ns3:id="rId8"/>
              </a:rPr>
              <a:t>Groene, N. and Zakharov, S. (2024)</a:t>
            </a:r>
          </a:p>
        </p:txBody>
      </p:sp>
      <p:sp>
        <p:nvSpPr>
          <p:cNvPr id="24" name="text-19">
            <a:extLst xmlns:a="http://schemas.openxmlformats.org/drawingml/2006/main">
              <a:ext uri="{FF2B5EF4-FFF2-40B4-BE49-F238E27FC236}">
                <a16:creationId xmlns:a16="http://schemas.microsoft.com/office/drawing/2014/main" id="{922D1229-7A5F-4DD9-89FF-7D971DC22776}"/>
              </a:ext>
            </a:extLst>
          </p:cNvPr>
          <p:cNvSpPr>
            <a:spLocks xmlns:a="http://schemas.openxmlformats.org/drawingml/2006/main" noGrp="1"/>
          </p:cNvSpPr>
          <p:nvPr/>
        </p:nvSpPr>
        <p:spPr>
          <a:xfrm xmlns:a="http://schemas.openxmlformats.org/drawingml/2006/main">
            <a:off x="971550" y="71008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Introduction of AI-based sales forecasting: how to drive digital transformation in food and beverage outlets. Discover Artificial Intelligence, 4, 1.</a:t>
            </a:r>
          </a:p>
        </p:txBody>
      </p:sp>
      <p:sp>
        <p:nvSpPr>
          <p:cNvPr id="25" name="text-20">
            <a:extLst xmlns:a="http://schemas.openxmlformats.org/drawingml/2006/main">
              <a:ext uri="{FF2B5EF4-FFF2-40B4-BE49-F238E27FC236}">
                <a16:creationId xmlns:a16="http://schemas.microsoft.com/office/drawing/2014/main" id="{84C8944D-2706-4FEF-AC59-F1ED9714FF28}"/>
              </a:ext>
            </a:extLst>
          </p:cNvPr>
          <p:cNvSpPr>
            <a:spLocks xmlns:a="http://schemas.openxmlformats.org/drawingml/2006/main" noGrp="1"/>
          </p:cNvSpPr>
          <p:nvPr/>
        </p:nvSpPr>
        <p:spPr>
          <a:xfrm xmlns:a="http://schemas.openxmlformats.org/drawingml/2006/main">
            <a:off x="971550" y="78438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u="sng">
                <a:solidFill>
                  <a:srgbClr val="FF6705"/>
                </a:solidFill>
                <a:latin typeface="TT Fors Bold"/>
                <a:ea typeface="TT Fors Bold"/>
                <a:cs typeface="TT Fors Bold"/>
                <a:hlinkClick xmlns:ns4="http://schemas.openxmlformats.org/officeDocument/2006/relationships" ns4:id="rId9"/>
              </a:rPr>
              <a:t>Hübner, N., Caspers, J., Coroamă, V.C. and Finkbeiner, M. (2024)</a:t>
            </a:r>
          </a:p>
        </p:txBody>
      </p:sp>
      <p:sp>
        <p:nvSpPr>
          <p:cNvPr id="26" name="text-21">
            <a:extLst xmlns:a="http://schemas.openxmlformats.org/drawingml/2006/main">
              <a:ext uri="{FF2B5EF4-FFF2-40B4-BE49-F238E27FC236}">
                <a16:creationId xmlns:a16="http://schemas.microsoft.com/office/drawing/2014/main" id="{F2122944-4C06-4CF6-89CD-A4436B225A83}"/>
              </a:ext>
            </a:extLst>
          </p:cNvPr>
          <p:cNvSpPr>
            <a:spLocks xmlns:a="http://schemas.openxmlformats.org/drawingml/2006/main" noGrp="1"/>
          </p:cNvSpPr>
          <p:nvPr/>
        </p:nvSpPr>
        <p:spPr>
          <a:xfrm xmlns:a="http://schemas.openxmlformats.org/drawingml/2006/main">
            <a:off x="971550" y="83010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Machine-learning-based demand forecasting against food waste: Life cycle environmental impacts and benefits of a bakery case study. Journal of Industrial Ecology, 28(5), 1117–1131.</a:t>
            </a:r>
          </a:p>
        </p:txBody>
      </p:sp>
    </p:spTree>
    <p:extLst>
      <p:ext uri="{BB962C8B-B14F-4D97-AF65-F5344CB8AC3E}">
        <p14:creationId xmlns:p14="http://schemas.microsoft.com/office/powerpoint/2010/main" val="733005655"/>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32af6c4b38214124"/>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32af6c4b38214124">
              <a:extLst>
                <a:ext uri="{96DAC541-7B7A-43D3-8B79-37D633B846F1}">
                  <asvg:svgBlip xmlns:asvg="http://schemas.microsoft.com/office/drawing/2016/SVG/main" r:embed="R7504c85b48d04b7f"/>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4F166E37-CAC9-469B-8B97-21609F28D063}"/>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A6357BB1-276D-42D9-BE53-4053C2A65965}"/>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1E792027-4BB1-460B-BE57-F666289A3D65}"/>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F7075CE3-EECC-4477-BC62-E5A4578AF059}"/>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1C5DDFDA-ECE3-4759-9978-1562397C5958}"/>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REFERENCES 2 OF 3</a:t>
            </a:r>
          </a:p>
        </p:txBody>
      </p:sp>
      <p:sp>
        <p:nvSpPr>
          <p:cNvPr id="14" name="text-9">
            <a:extLst xmlns:a="http://schemas.openxmlformats.org/drawingml/2006/main">
              <a:ext uri="{FF2B5EF4-FFF2-40B4-BE49-F238E27FC236}">
                <a16:creationId xmlns:a16="http://schemas.microsoft.com/office/drawing/2014/main" id="{3262F169-C5DD-431C-867D-EB07889DC73C}"/>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Statistical methods and evaluation</a:t>
            </a:r>
          </a:p>
        </p:txBody>
      </p:sp>
      <p:sp>
        <p:nvSpPr>
          <p:cNvPr id="15" name="page-marker">
            <a:extLst xmlns:a="http://schemas.openxmlformats.org/drawingml/2006/main">
              <a:ext uri="{FF2B5EF4-FFF2-40B4-BE49-F238E27FC236}">
                <a16:creationId xmlns:a16="http://schemas.microsoft.com/office/drawing/2014/main" id="{81926CF7-B53A-4350-846E-A0478391B262}"/>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32</a:t>
            </a:r>
          </a:p>
        </p:txBody>
      </p:sp>
      <p:sp>
        <p:nvSpPr>
          <p:cNvPr id="16" name="text-11">
            <a:extLst xmlns:a="http://schemas.openxmlformats.org/drawingml/2006/main">
              <a:ext uri="{FF2B5EF4-FFF2-40B4-BE49-F238E27FC236}">
                <a16:creationId xmlns:a16="http://schemas.microsoft.com/office/drawing/2014/main" id="{D9CD3F0D-043E-492C-A525-9081DABEBAF2}"/>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7" name="text-12">
            <a:extLst xmlns:a="http://schemas.openxmlformats.org/drawingml/2006/main">
              <a:ext uri="{FF2B5EF4-FFF2-40B4-BE49-F238E27FC236}">
                <a16:creationId xmlns:a16="http://schemas.microsoft.com/office/drawing/2014/main" id="{A3A276C1-4489-44EC-BE6B-B3C78A8B03FD}"/>
              </a:ext>
            </a:extLst>
          </p:cNvPr>
          <p:cNvSpPr>
            <a:spLocks xmlns:a="http://schemas.openxmlformats.org/drawingml/2006/main" noGrp="1"/>
          </p:cNvSpPr>
          <p:nvPr/>
        </p:nvSpPr>
        <p:spPr>
          <a:xfrm xmlns:a="http://schemas.openxmlformats.org/drawingml/2006/main">
            <a:off x="971550" y="30432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u="sng">
                <a:solidFill>
                  <a:srgbClr val="FF6705"/>
                </a:solidFill>
                <a:latin typeface="TT Fors Bold"/>
                <a:ea typeface="TT Fors Bold"/>
                <a:cs typeface="TT Fors Bold"/>
                <a:hlinkClick xmlns:ns0="http://schemas.openxmlformats.org/officeDocument/2006/relationships" ns0:id="rId5"/>
              </a:rPr>
              <a:t>Fisher, R.A. (1936)</a:t>
            </a:r>
          </a:p>
        </p:txBody>
      </p:sp>
      <p:sp>
        <p:nvSpPr>
          <p:cNvPr id="18" name="text-13">
            <a:extLst xmlns:a="http://schemas.openxmlformats.org/drawingml/2006/main">
              <a:ext uri="{FF2B5EF4-FFF2-40B4-BE49-F238E27FC236}">
                <a16:creationId xmlns:a16="http://schemas.microsoft.com/office/drawing/2014/main" id="{3685B75C-2EF2-4CCE-B76F-F52129406133}"/>
              </a:ext>
            </a:extLst>
          </p:cNvPr>
          <p:cNvSpPr>
            <a:spLocks xmlns:a="http://schemas.openxmlformats.org/drawingml/2006/main" noGrp="1"/>
          </p:cNvSpPr>
          <p:nvPr/>
        </p:nvSpPr>
        <p:spPr>
          <a:xfrm xmlns:a="http://schemas.openxmlformats.org/drawingml/2006/main">
            <a:off x="971550" y="35004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The use of multiple measurements in taxonomic problems. Annals of Eugenics, 7(2), 179–188.</a:t>
            </a:r>
          </a:p>
        </p:txBody>
      </p:sp>
      <p:sp>
        <p:nvSpPr>
          <p:cNvPr id="19" name="text-14">
            <a:extLst xmlns:a="http://schemas.openxmlformats.org/drawingml/2006/main">
              <a:ext uri="{FF2B5EF4-FFF2-40B4-BE49-F238E27FC236}">
                <a16:creationId xmlns:a16="http://schemas.microsoft.com/office/drawing/2014/main" id="{850AFCCE-A778-4BEC-BF7A-2BE0CC6DAE2B}"/>
              </a:ext>
            </a:extLst>
          </p:cNvPr>
          <p:cNvSpPr>
            <a:spLocks xmlns:a="http://schemas.openxmlformats.org/drawingml/2006/main" noGrp="1"/>
          </p:cNvSpPr>
          <p:nvPr/>
        </p:nvSpPr>
        <p:spPr>
          <a:xfrm xmlns:a="http://schemas.openxmlformats.org/drawingml/2006/main">
            <a:off x="971550" y="42433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u="sng">
                <a:solidFill>
                  <a:srgbClr val="FF6705"/>
                </a:solidFill>
                <a:latin typeface="TT Fors Bold"/>
                <a:ea typeface="TT Fors Bold"/>
                <a:cs typeface="TT Fors Bold"/>
                <a:hlinkClick xmlns:ns1="http://schemas.openxmlformats.org/officeDocument/2006/relationships" ns1:id="rId6"/>
              </a:rPr>
              <a:t>Welch, B.L. (1947)</a:t>
            </a:r>
          </a:p>
        </p:txBody>
      </p:sp>
      <p:sp>
        <p:nvSpPr>
          <p:cNvPr id="20" name="text-15">
            <a:extLst xmlns:a="http://schemas.openxmlformats.org/drawingml/2006/main">
              <a:ext uri="{FF2B5EF4-FFF2-40B4-BE49-F238E27FC236}">
                <a16:creationId xmlns:a16="http://schemas.microsoft.com/office/drawing/2014/main" id="{DF66B7EC-645B-4479-8DB6-075967935930}"/>
              </a:ext>
            </a:extLst>
          </p:cNvPr>
          <p:cNvSpPr>
            <a:spLocks xmlns:a="http://schemas.openxmlformats.org/drawingml/2006/main" noGrp="1"/>
          </p:cNvSpPr>
          <p:nvPr/>
        </p:nvSpPr>
        <p:spPr>
          <a:xfrm xmlns:a="http://schemas.openxmlformats.org/drawingml/2006/main">
            <a:off x="971550" y="47005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The generalization of “Student’s” problem when several different population variances are involved. Biometrika, 34(1–2), 28–35.</a:t>
            </a:r>
          </a:p>
        </p:txBody>
      </p:sp>
      <p:sp>
        <p:nvSpPr>
          <p:cNvPr id="21" name="text-16">
            <a:extLst xmlns:a="http://schemas.openxmlformats.org/drawingml/2006/main">
              <a:ext uri="{FF2B5EF4-FFF2-40B4-BE49-F238E27FC236}">
                <a16:creationId xmlns:a16="http://schemas.microsoft.com/office/drawing/2014/main" id="{C651FBC9-996A-4ECB-8A99-CD14611A1489}"/>
              </a:ext>
            </a:extLst>
          </p:cNvPr>
          <p:cNvSpPr>
            <a:spLocks xmlns:a="http://schemas.openxmlformats.org/drawingml/2006/main" noGrp="1"/>
          </p:cNvSpPr>
          <p:nvPr/>
        </p:nvSpPr>
        <p:spPr>
          <a:xfrm xmlns:a="http://schemas.openxmlformats.org/drawingml/2006/main">
            <a:off x="971550" y="54435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u="sng">
                <a:solidFill>
                  <a:srgbClr val="FF6705"/>
                </a:solidFill>
                <a:latin typeface="TT Fors Bold"/>
                <a:ea typeface="TT Fors Bold"/>
                <a:cs typeface="TT Fors Bold"/>
                <a:hlinkClick xmlns:ns2="http://schemas.openxmlformats.org/officeDocument/2006/relationships" ns2:id="rId7"/>
              </a:rPr>
              <a:t>Jolliffe, I.T. and Cadima, J. (2016)</a:t>
            </a:r>
          </a:p>
        </p:txBody>
      </p:sp>
      <p:sp>
        <p:nvSpPr>
          <p:cNvPr id="22" name="text-17">
            <a:extLst xmlns:a="http://schemas.openxmlformats.org/drawingml/2006/main">
              <a:ext uri="{FF2B5EF4-FFF2-40B4-BE49-F238E27FC236}">
                <a16:creationId xmlns:a16="http://schemas.microsoft.com/office/drawing/2014/main" id="{5FCDD727-C69D-4D7F-838B-EA284047BB0E}"/>
              </a:ext>
            </a:extLst>
          </p:cNvPr>
          <p:cNvSpPr>
            <a:spLocks xmlns:a="http://schemas.openxmlformats.org/drawingml/2006/main" noGrp="1"/>
          </p:cNvSpPr>
          <p:nvPr/>
        </p:nvSpPr>
        <p:spPr>
          <a:xfrm xmlns:a="http://schemas.openxmlformats.org/drawingml/2006/main">
            <a:off x="971550" y="59007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Principal component analysis: a review and recent developments. Philosophical Transactions of the Royal Society A, 374, 20150202.</a:t>
            </a:r>
          </a:p>
        </p:txBody>
      </p:sp>
      <p:sp>
        <p:nvSpPr>
          <p:cNvPr id="23" name="text-18">
            <a:extLst xmlns:a="http://schemas.openxmlformats.org/drawingml/2006/main">
              <a:ext uri="{FF2B5EF4-FFF2-40B4-BE49-F238E27FC236}">
                <a16:creationId xmlns:a16="http://schemas.microsoft.com/office/drawing/2014/main" id="{A3F5CADA-BE43-4F4E-9B99-102A6EEC3BA4}"/>
              </a:ext>
            </a:extLst>
          </p:cNvPr>
          <p:cNvSpPr>
            <a:spLocks xmlns:a="http://schemas.openxmlformats.org/drawingml/2006/main" noGrp="1"/>
          </p:cNvSpPr>
          <p:nvPr/>
        </p:nvSpPr>
        <p:spPr>
          <a:xfrm xmlns:a="http://schemas.openxmlformats.org/drawingml/2006/main">
            <a:off x="971550" y="66436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u="sng">
                <a:solidFill>
                  <a:srgbClr val="FF6705"/>
                </a:solidFill>
                <a:latin typeface="TT Fors Bold"/>
                <a:ea typeface="TT Fors Bold"/>
                <a:cs typeface="TT Fors Bold"/>
                <a:hlinkClick xmlns:ns3="http://schemas.openxmlformats.org/officeDocument/2006/relationships" ns3:id="rId8"/>
              </a:rPr>
              <a:t>Hand, D.J. and Till, R.J. (2001)</a:t>
            </a:r>
          </a:p>
        </p:txBody>
      </p:sp>
      <p:sp>
        <p:nvSpPr>
          <p:cNvPr id="24" name="text-19">
            <a:extLst xmlns:a="http://schemas.openxmlformats.org/drawingml/2006/main">
              <a:ext uri="{FF2B5EF4-FFF2-40B4-BE49-F238E27FC236}">
                <a16:creationId xmlns:a16="http://schemas.microsoft.com/office/drawing/2014/main" id="{2D9F42AD-6D22-4E96-8064-92F30C4B7001}"/>
              </a:ext>
            </a:extLst>
          </p:cNvPr>
          <p:cNvSpPr>
            <a:spLocks xmlns:a="http://schemas.openxmlformats.org/drawingml/2006/main" noGrp="1"/>
          </p:cNvSpPr>
          <p:nvPr/>
        </p:nvSpPr>
        <p:spPr>
          <a:xfrm xmlns:a="http://schemas.openxmlformats.org/drawingml/2006/main">
            <a:off x="971550" y="71008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A Simple Generalisation of the Area Under the ROC Curve for Multiple Class Classification Problems. Machine Learning, 45, 171–186.</a:t>
            </a:r>
          </a:p>
        </p:txBody>
      </p:sp>
      <p:sp>
        <p:nvSpPr>
          <p:cNvPr id="25" name="text-20">
            <a:extLst xmlns:a="http://schemas.openxmlformats.org/drawingml/2006/main">
              <a:ext uri="{FF2B5EF4-FFF2-40B4-BE49-F238E27FC236}">
                <a16:creationId xmlns:a16="http://schemas.microsoft.com/office/drawing/2014/main" id="{1DB11C34-F30A-4CFA-9FAE-0BCB1D864D75}"/>
              </a:ext>
            </a:extLst>
          </p:cNvPr>
          <p:cNvSpPr>
            <a:spLocks xmlns:a="http://schemas.openxmlformats.org/drawingml/2006/main" noGrp="1"/>
          </p:cNvSpPr>
          <p:nvPr/>
        </p:nvSpPr>
        <p:spPr>
          <a:xfrm xmlns:a="http://schemas.openxmlformats.org/drawingml/2006/main">
            <a:off x="971550" y="78438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u="sng">
                <a:solidFill>
                  <a:srgbClr val="FF6705"/>
                </a:solidFill>
                <a:latin typeface="TT Fors Bold"/>
                <a:ea typeface="TT Fors Bold"/>
                <a:cs typeface="TT Fors Bold"/>
                <a:hlinkClick xmlns:ns4="http://schemas.openxmlformats.org/officeDocument/2006/relationships" ns4:id="rId9"/>
              </a:rPr>
              <a:t>Saito, T. and Rehmsmeier, M. (2015)</a:t>
            </a:r>
          </a:p>
        </p:txBody>
      </p:sp>
      <p:sp>
        <p:nvSpPr>
          <p:cNvPr id="26" name="text-21">
            <a:extLst xmlns:a="http://schemas.openxmlformats.org/drawingml/2006/main">
              <a:ext uri="{FF2B5EF4-FFF2-40B4-BE49-F238E27FC236}">
                <a16:creationId xmlns:a16="http://schemas.microsoft.com/office/drawing/2014/main" id="{D327441C-8FA8-4244-BB1F-422A7B55F371}"/>
              </a:ext>
            </a:extLst>
          </p:cNvPr>
          <p:cNvSpPr>
            <a:spLocks xmlns:a="http://schemas.openxmlformats.org/drawingml/2006/main" noGrp="1"/>
          </p:cNvSpPr>
          <p:nvPr/>
        </p:nvSpPr>
        <p:spPr>
          <a:xfrm xmlns:a="http://schemas.openxmlformats.org/drawingml/2006/main">
            <a:off x="971550" y="83010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The Precision-Recall Plot Is More Informative than the ROC Plot When Evaluating Binary Classifiers on Imbalanced Datasets. PLOS ONE, 10(3), e0118432.</a:t>
            </a:r>
          </a:p>
        </p:txBody>
      </p:sp>
    </p:spTree>
    <p:extLst>
      <p:ext uri="{BB962C8B-B14F-4D97-AF65-F5344CB8AC3E}">
        <p14:creationId xmlns:p14="http://schemas.microsoft.com/office/powerpoint/2010/main" val="733005655"/>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928bc3f621e4349"/>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928bc3f621e4349">
              <a:extLst>
                <a:ext uri="{96DAC541-7B7A-43D3-8B79-37D633B846F1}">
                  <asvg:svgBlip xmlns:asvg="http://schemas.microsoft.com/office/drawing/2016/SVG/main" r:embed="R39ae12adfd86450d"/>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136B209E-A486-41CE-A519-B3E2434144AA}"/>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3A1210A9-0E1F-469B-98B9-DAE5FB033410}"/>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B223D8A4-5A73-4455-9C4D-2697860FB1FF}"/>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A2FDB19D-A267-4F15-8EBA-F3B338B4D981}"/>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C4733A5F-E2DA-4F25-85DF-90F995817BD1}"/>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REFERENCES 3 OF 3</a:t>
            </a:r>
          </a:p>
        </p:txBody>
      </p:sp>
      <p:sp>
        <p:nvSpPr>
          <p:cNvPr id="14" name="text-9">
            <a:extLst xmlns:a="http://schemas.openxmlformats.org/drawingml/2006/main">
              <a:ext uri="{FF2B5EF4-FFF2-40B4-BE49-F238E27FC236}">
                <a16:creationId xmlns:a16="http://schemas.microsoft.com/office/drawing/2014/main" id="{CBD2E743-3768-4771-A8FE-F3D5BFBF43D5}"/>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Statistical methods and evaluation</a:t>
            </a:r>
          </a:p>
        </p:txBody>
      </p:sp>
      <p:sp>
        <p:nvSpPr>
          <p:cNvPr id="15" name="page-marker">
            <a:extLst xmlns:a="http://schemas.openxmlformats.org/drawingml/2006/main">
              <a:ext uri="{FF2B5EF4-FFF2-40B4-BE49-F238E27FC236}">
                <a16:creationId xmlns:a16="http://schemas.microsoft.com/office/drawing/2014/main" id="{87F6029B-C14F-4B89-AFAD-C935B81607D0}"/>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33</a:t>
            </a:r>
          </a:p>
        </p:txBody>
      </p:sp>
      <p:sp>
        <p:nvSpPr>
          <p:cNvPr id="16" name="text-11">
            <a:extLst xmlns:a="http://schemas.openxmlformats.org/drawingml/2006/main">
              <a:ext uri="{FF2B5EF4-FFF2-40B4-BE49-F238E27FC236}">
                <a16:creationId xmlns:a16="http://schemas.microsoft.com/office/drawing/2014/main" id="{B25591A2-4897-4682-B5FA-871E2C5F84AB}"/>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7" name="text-12">
            <a:extLst xmlns:a="http://schemas.openxmlformats.org/drawingml/2006/main">
              <a:ext uri="{FF2B5EF4-FFF2-40B4-BE49-F238E27FC236}">
                <a16:creationId xmlns:a16="http://schemas.microsoft.com/office/drawing/2014/main" id="{B69CE0E8-4F6B-4E8E-9B09-36EBF92FEEAF}"/>
              </a:ext>
            </a:extLst>
          </p:cNvPr>
          <p:cNvSpPr>
            <a:spLocks xmlns:a="http://schemas.openxmlformats.org/drawingml/2006/main" noGrp="1"/>
          </p:cNvSpPr>
          <p:nvPr/>
        </p:nvSpPr>
        <p:spPr>
          <a:xfrm xmlns:a="http://schemas.openxmlformats.org/drawingml/2006/main">
            <a:off x="971550" y="30432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u="sng">
                <a:solidFill>
                  <a:srgbClr val="FF6705"/>
                </a:solidFill>
                <a:latin typeface="TT Fors Bold"/>
                <a:ea typeface="TT Fors Bold"/>
                <a:cs typeface="TT Fors Bold"/>
                <a:hlinkClick xmlns:ns0="http://schemas.openxmlformats.org/officeDocument/2006/relationships" ns0:id="rId5"/>
              </a:rPr>
              <a:t>Hyndman, R.J. and Khandakar, Y. (2008)</a:t>
            </a:r>
          </a:p>
        </p:txBody>
      </p:sp>
      <p:sp>
        <p:nvSpPr>
          <p:cNvPr id="18" name="text-13">
            <a:extLst xmlns:a="http://schemas.openxmlformats.org/drawingml/2006/main">
              <a:ext uri="{FF2B5EF4-FFF2-40B4-BE49-F238E27FC236}">
                <a16:creationId xmlns:a16="http://schemas.microsoft.com/office/drawing/2014/main" id="{8B86DB47-5C9C-40FE-8324-44170D2CBD3D}"/>
              </a:ext>
            </a:extLst>
          </p:cNvPr>
          <p:cNvSpPr>
            <a:spLocks xmlns:a="http://schemas.openxmlformats.org/drawingml/2006/main" noGrp="1"/>
          </p:cNvSpPr>
          <p:nvPr/>
        </p:nvSpPr>
        <p:spPr>
          <a:xfrm xmlns:a="http://schemas.openxmlformats.org/drawingml/2006/main">
            <a:off x="971550" y="35004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Automatic Time Series Forecasting: The forecast Package for R. Journal of Statistical Software, 27(3), 1–22.</a:t>
            </a:r>
          </a:p>
        </p:txBody>
      </p:sp>
      <p:sp>
        <p:nvSpPr>
          <p:cNvPr id="19" name="text-14">
            <a:extLst xmlns:a="http://schemas.openxmlformats.org/drawingml/2006/main">
              <a:ext uri="{FF2B5EF4-FFF2-40B4-BE49-F238E27FC236}">
                <a16:creationId xmlns:a16="http://schemas.microsoft.com/office/drawing/2014/main" id="{07140311-A479-4179-BC56-BA2E9C055A44}"/>
              </a:ext>
            </a:extLst>
          </p:cNvPr>
          <p:cNvSpPr>
            <a:spLocks xmlns:a="http://schemas.openxmlformats.org/drawingml/2006/main" noGrp="1"/>
          </p:cNvSpPr>
          <p:nvPr/>
        </p:nvSpPr>
        <p:spPr>
          <a:xfrm xmlns:a="http://schemas.openxmlformats.org/drawingml/2006/main">
            <a:off x="971550" y="42433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u="sng">
                <a:solidFill>
                  <a:srgbClr val="FF6705"/>
                </a:solidFill>
                <a:latin typeface="TT Fors Bold"/>
                <a:ea typeface="TT Fors Bold"/>
                <a:cs typeface="TT Fors Bold"/>
                <a:hlinkClick xmlns:ns1="http://schemas.openxmlformats.org/officeDocument/2006/relationships" ns1:id="rId6"/>
              </a:rPr>
              <a:t>Ljung, G.M. and Box, G.E.P. (1978)</a:t>
            </a:r>
          </a:p>
        </p:txBody>
      </p:sp>
      <p:sp>
        <p:nvSpPr>
          <p:cNvPr id="20" name="text-15">
            <a:extLst xmlns:a="http://schemas.openxmlformats.org/drawingml/2006/main">
              <a:ext uri="{FF2B5EF4-FFF2-40B4-BE49-F238E27FC236}">
                <a16:creationId xmlns:a16="http://schemas.microsoft.com/office/drawing/2014/main" id="{204FA03A-49FB-4A11-8D7D-739BC5AA0B80}"/>
              </a:ext>
            </a:extLst>
          </p:cNvPr>
          <p:cNvSpPr>
            <a:spLocks xmlns:a="http://schemas.openxmlformats.org/drawingml/2006/main" noGrp="1"/>
          </p:cNvSpPr>
          <p:nvPr/>
        </p:nvSpPr>
        <p:spPr>
          <a:xfrm xmlns:a="http://schemas.openxmlformats.org/drawingml/2006/main">
            <a:off x="971550" y="47005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On a measure of lack of fit in time series models. Biometrika, 65(2), 297–303.</a:t>
            </a:r>
          </a:p>
        </p:txBody>
      </p:sp>
      <p:sp>
        <p:nvSpPr>
          <p:cNvPr id="21" name="text-16">
            <a:extLst xmlns:a="http://schemas.openxmlformats.org/drawingml/2006/main">
              <a:ext uri="{FF2B5EF4-FFF2-40B4-BE49-F238E27FC236}">
                <a16:creationId xmlns:a16="http://schemas.microsoft.com/office/drawing/2014/main" id="{22D1860C-466A-43B3-A001-495D676F14F8}"/>
              </a:ext>
            </a:extLst>
          </p:cNvPr>
          <p:cNvSpPr>
            <a:spLocks xmlns:a="http://schemas.openxmlformats.org/drawingml/2006/main" noGrp="1"/>
          </p:cNvSpPr>
          <p:nvPr/>
        </p:nvSpPr>
        <p:spPr>
          <a:xfrm xmlns:a="http://schemas.openxmlformats.org/drawingml/2006/main">
            <a:off x="971550" y="54435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u="sng">
                <a:solidFill>
                  <a:srgbClr val="FF6705"/>
                </a:solidFill>
                <a:latin typeface="TT Fors Bold"/>
                <a:ea typeface="TT Fors Bold"/>
                <a:cs typeface="TT Fors Bold"/>
                <a:hlinkClick xmlns:ns2="http://schemas.openxmlformats.org/officeDocument/2006/relationships" ns2:id="rId7"/>
              </a:rPr>
              <a:t>Dietterich, T.G. (1998)</a:t>
            </a:r>
          </a:p>
        </p:txBody>
      </p:sp>
      <p:sp>
        <p:nvSpPr>
          <p:cNvPr id="22" name="text-17">
            <a:extLst xmlns:a="http://schemas.openxmlformats.org/drawingml/2006/main">
              <a:ext uri="{FF2B5EF4-FFF2-40B4-BE49-F238E27FC236}">
                <a16:creationId xmlns:a16="http://schemas.microsoft.com/office/drawing/2014/main" id="{0391D48C-F27B-40C9-A5A7-27A3BF5E398E}"/>
              </a:ext>
            </a:extLst>
          </p:cNvPr>
          <p:cNvSpPr>
            <a:spLocks xmlns:a="http://schemas.openxmlformats.org/drawingml/2006/main" noGrp="1"/>
          </p:cNvSpPr>
          <p:nvPr/>
        </p:nvSpPr>
        <p:spPr>
          <a:xfrm xmlns:a="http://schemas.openxmlformats.org/drawingml/2006/main">
            <a:off x="971550" y="59007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Approximate Statistical Tests for Comparing Supervised Classification Learning Algorithms. Neural Computation, 10(7), 1895–1923.</a:t>
            </a:r>
          </a:p>
        </p:txBody>
      </p:sp>
      <p:sp>
        <p:nvSpPr>
          <p:cNvPr id="23" name="text-18">
            <a:extLst xmlns:a="http://schemas.openxmlformats.org/drawingml/2006/main">
              <a:ext uri="{FF2B5EF4-FFF2-40B4-BE49-F238E27FC236}">
                <a16:creationId xmlns:a16="http://schemas.microsoft.com/office/drawing/2014/main" id="{CD978850-2D15-4682-912A-12AC72406C1A}"/>
              </a:ext>
            </a:extLst>
          </p:cNvPr>
          <p:cNvSpPr>
            <a:spLocks xmlns:a="http://schemas.openxmlformats.org/drawingml/2006/main" noGrp="1"/>
          </p:cNvSpPr>
          <p:nvPr/>
        </p:nvSpPr>
        <p:spPr>
          <a:xfrm xmlns:a="http://schemas.openxmlformats.org/drawingml/2006/main">
            <a:off x="971550" y="66436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u="sng">
                <a:solidFill>
                  <a:srgbClr val="FF6705"/>
                </a:solidFill>
                <a:latin typeface="TT Fors Bold"/>
                <a:ea typeface="TT Fors Bold"/>
                <a:cs typeface="TT Fors Bold"/>
                <a:hlinkClick xmlns:ns3="http://schemas.openxmlformats.org/officeDocument/2006/relationships" ns3:id="rId8"/>
              </a:rPr>
              <a:t>Tibshirani, R. (1996)</a:t>
            </a:r>
          </a:p>
        </p:txBody>
      </p:sp>
      <p:sp>
        <p:nvSpPr>
          <p:cNvPr id="24" name="text-19">
            <a:extLst xmlns:a="http://schemas.openxmlformats.org/drawingml/2006/main">
              <a:ext uri="{FF2B5EF4-FFF2-40B4-BE49-F238E27FC236}">
                <a16:creationId xmlns:a16="http://schemas.microsoft.com/office/drawing/2014/main" id="{EBDFF113-D1DB-41D4-A8D4-12CF63710CA9}"/>
              </a:ext>
            </a:extLst>
          </p:cNvPr>
          <p:cNvSpPr>
            <a:spLocks xmlns:a="http://schemas.openxmlformats.org/drawingml/2006/main" noGrp="1"/>
          </p:cNvSpPr>
          <p:nvPr/>
        </p:nvSpPr>
        <p:spPr>
          <a:xfrm xmlns:a="http://schemas.openxmlformats.org/drawingml/2006/main">
            <a:off x="971550" y="71008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Regression Shrinkage and Selection Via the Lasso. Journal of the Royal Statistical Society: Series B, 58(1), 267–288.</a:t>
            </a:r>
          </a:p>
        </p:txBody>
      </p:sp>
      <p:sp>
        <p:nvSpPr>
          <p:cNvPr id="25" name="text-20">
            <a:extLst xmlns:a="http://schemas.openxmlformats.org/drawingml/2006/main">
              <a:ext uri="{FF2B5EF4-FFF2-40B4-BE49-F238E27FC236}">
                <a16:creationId xmlns:a16="http://schemas.microsoft.com/office/drawing/2014/main" id="{6140917D-3A08-4D03-AF38-B5C608D42FB7}"/>
              </a:ext>
            </a:extLst>
          </p:cNvPr>
          <p:cNvSpPr>
            <a:spLocks xmlns:a="http://schemas.openxmlformats.org/drawingml/2006/main" noGrp="1"/>
          </p:cNvSpPr>
          <p:nvPr/>
        </p:nvSpPr>
        <p:spPr>
          <a:xfrm xmlns:a="http://schemas.openxmlformats.org/drawingml/2006/main">
            <a:off x="971550" y="78438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u="sng">
                <a:solidFill>
                  <a:srgbClr val="FF6705"/>
                </a:solidFill>
                <a:latin typeface="TT Fors Bold"/>
                <a:ea typeface="TT Fors Bold"/>
                <a:cs typeface="TT Fors Bold"/>
                <a:hlinkClick xmlns:ns5="http://schemas.openxmlformats.org/officeDocument/2006/relationships" ns5:id="rId9"/>
              </a:rPr>
              <a:t>Friedman, J., Hastie, T. and Tibshirani, R. (2010)</a:t>
            </a:r>
          </a:p>
        </p:txBody>
      </p:sp>
      <p:sp>
        <p:nvSpPr>
          <p:cNvPr id="26" name="text-21">
            <a:extLst xmlns:a="http://schemas.openxmlformats.org/drawingml/2006/main">
              <a:ext uri="{FF2B5EF4-FFF2-40B4-BE49-F238E27FC236}">
                <a16:creationId xmlns:a16="http://schemas.microsoft.com/office/drawing/2014/main" id="{D49BE545-DC20-4B1E-ABC0-AEDB56C64B67}"/>
              </a:ext>
            </a:extLst>
          </p:cNvPr>
          <p:cNvSpPr>
            <a:spLocks xmlns:a="http://schemas.openxmlformats.org/drawingml/2006/main" noGrp="1"/>
          </p:cNvSpPr>
          <p:nvPr/>
        </p:nvSpPr>
        <p:spPr>
          <a:xfrm xmlns:a="http://schemas.openxmlformats.org/drawingml/2006/main">
            <a:off x="971550" y="83010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Regularization Paths for Generalized Linear Models via Coordinate Descent. Journal of Statistical Software, 33(1), 1–22.</a:t>
            </a:r>
          </a:p>
        </p:txBody>
      </p:sp>
      <p:sp>
        <p:nvSpPr>
          <p:cNvPr id="27" name="text-22">
            <a:extLst xmlns:a="http://schemas.openxmlformats.org/drawingml/2006/main">
              <a:ext uri="{FF2B5EF4-FFF2-40B4-BE49-F238E27FC236}">
                <a16:creationId xmlns:a16="http://schemas.microsoft.com/office/drawing/2014/main" id="{6CC09BA7-670E-4984-B67A-D1DC5D46E5BC}"/>
              </a:ext>
            </a:extLst>
          </p:cNvPr>
          <p:cNvSpPr>
            <a:spLocks xmlns:a="http://schemas.openxmlformats.org/drawingml/2006/main" noGrp="1"/>
          </p:cNvSpPr>
          <p:nvPr/>
        </p:nvSpPr>
        <p:spPr>
          <a:xfrm xmlns:a="http://schemas.openxmlformats.org/drawingml/2006/main">
            <a:off x="971550" y="9272588"/>
            <a:ext cx="16002000"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13" b="0">
                <a:solidFill>
                  <a:srgbClr val="EAD9CE"/>
                </a:solidFill>
                <a:latin typeface="TT Fors"/>
                <a:ea typeface="TT Fors"/>
                <a:cs typeface="TT Fors"/>
              </a:defRPr>
            </a:defPPr>
          </a:lstStyle>
          <a:p xmlns:a="http://schemas.openxmlformats.org/drawingml/2006/main">
            <a:pPr algn="l">
              <a:buNone/>
              <a:defRPr sz="1913" b="0">
                <a:solidFill>
                  <a:srgbClr val="EAD9CE"/>
                </a:solidFill>
                <a:latin typeface="TT Fors"/>
                <a:ea typeface="TT Fors"/>
                <a:cs typeface="TT Fors"/>
              </a:defRPr>
            </a:pPr>
            <a:r>
              <a:rPr sz="1913" b="0">
                <a:solidFill>
                  <a:srgbClr val="EAD9CE"/>
                </a:solidFill>
                <a:latin typeface="TT Fors"/>
                <a:ea typeface="TT Fors"/>
                <a:cs typeface="TT Fors"/>
              </a:rPr>
              <a:t>Slide drafting support: ChatGPT (OpenAI). Group members retain responsibility for verification.</a:t>
            </a:r>
          </a:p>
        </p:txBody>
      </p:sp>
    </p:spTree>
    <p:extLst>
      <p:ext uri="{BB962C8B-B14F-4D97-AF65-F5344CB8AC3E}">
        <p14:creationId xmlns:p14="http://schemas.microsoft.com/office/powerpoint/2010/main" val="73300565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672326cc1c2845d3"/>
            <a:stretch>
              <a:fillRect l="0" t="-9313" r="0" b="-9313"/>
            </a:stretch>
          </a:blipFill>
        </p:spPr>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672326cc1c2845d3">
              <a:extLst>
                <a:ext uri="{96DAC541-7B7A-43D3-8B79-37D633B846F1}">
                  <asvg:svgBlip xmlns:asvg="http://schemas.microsoft.com/office/drawing/2016/SVG/main" r:embed="Rd092869cb4bf4bb8"/>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sp>
      <p:sp>
        <p:nvSpPr>
          <p:cNvPr id="9" name="text-4">
            <a:extLst xmlns:a="http://schemas.openxmlformats.org/drawingml/2006/main">
              <a:ext uri="{FF2B5EF4-FFF2-40B4-BE49-F238E27FC236}">
                <a16:creationId xmlns:a16="http://schemas.microsoft.com/office/drawing/2014/main" id="{41A63EF2-77A4-419D-A6DF-57B1D4325CA4}"/>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B81D758E-7606-4C94-BC87-C927F38B9EB4}"/>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3DDF7B7D-F1E6-456A-B7A4-43B21846747F}"/>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30FBB72E-7A74-416B-AC32-9677B3A40CA1}"/>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B66D3DE7-63CF-4CB7-80B2-7F6713D0814F}"/>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BACKUP: ASSIGNMENT COVERAGE AND TEAM TIMING</a:t>
            </a:r>
          </a:p>
        </p:txBody>
      </p:sp>
      <p:sp>
        <p:nvSpPr>
          <p:cNvPr id="14" name="text-9">
            <a:extLst xmlns:a="http://schemas.openxmlformats.org/drawingml/2006/main">
              <a:ext uri="{FF2B5EF4-FFF2-40B4-BE49-F238E27FC236}">
                <a16:creationId xmlns:a16="http://schemas.microsoft.com/office/drawing/2014/main" id="{CC7FA5B1-96A7-4747-942E-7BDC8CE9D42F}"/>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27 main slides for 20 minutes. Seven backup slides support the viva.</a:t>
            </a:r>
          </a:p>
        </p:txBody>
      </p:sp>
      <p:sp>
        <p:nvSpPr>
          <p:cNvPr id="15" name="page-marker">
            <a:extLst xmlns:a="http://schemas.openxmlformats.org/drawingml/2006/main">
              <a:ext uri="{FF2B5EF4-FFF2-40B4-BE49-F238E27FC236}">
                <a16:creationId xmlns:a16="http://schemas.microsoft.com/office/drawing/2014/main" id="{2B525F74-4C96-4BC7-B6E0-43FC179173BD}"/>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34</a:t>
            </a:r>
          </a:p>
        </p:txBody>
      </p:sp>
      <p:sp>
        <p:nvSpPr>
          <p:cNvPr id="16" name="text-11">
            <a:extLst xmlns:a="http://schemas.openxmlformats.org/drawingml/2006/main">
              <a:ext uri="{FF2B5EF4-FFF2-40B4-BE49-F238E27FC236}">
                <a16:creationId xmlns:a16="http://schemas.microsoft.com/office/drawing/2014/main" id="{06F1B3D3-6B41-4F66-90E0-22AA8C18A06B}"/>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740679E5-2604-4D78-BFF9-CEA5238318C9}"/>
              </a:ext>
            </a:extLst>
          </p:cNvPr>
          <p:cNvGraphicFramePr/>
          <p:nvPr/>
        </p:nvGraphicFramePr>
        <p:xfrm>
          <a:off xmlns:a="http://schemas.openxmlformats.org/drawingml/2006/main" x="971550" y="3171825"/>
          <a:ext xmlns:a="http://schemas.openxmlformats.org/drawingml/2006/main" cx="16344900" cy="4414838"/>
        </p:xfrm>
        <a:graphic xmlns:a="http://schemas.openxmlformats.org/drawingml/2006/main">
          <a:graphicData uri="http://schemas.openxmlformats.org/drawingml/2006/table">
            <a:tbl>
              <a:tblPr/>
              <a:tblGrid>
                <a:gridCol w="3571875"/>
                <a:gridCol w="5072063"/>
                <a:gridCol w="7700963"/>
              </a:tblGrid>
              <a:tr h="882968">
                <a:tc>
                  <a:txBody>
                    <a:bodyPr lIns="133350" tIns="133350" rIns="133350" bIns="133350"/>
                    <a:lstStyle/>
                    <a:p>
                      <a:pPr algn="l">
                        <a:buNone/>
                      </a:pPr>
                      <a:r>
                        <a:rPr sz="2588" b="1">
                          <a:solidFill>
                            <a:srgbClr val="FFFFFF"/>
                          </a:solidFill>
                          <a:latin typeface="TT Fors Bold"/>
                          <a:ea typeface="TT Fors Bold"/>
                          <a:cs typeface="TT Fors Bold"/>
                        </a:rPr>
                        <a:t>Presenter</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588" b="1">
                          <a:solidFill>
                            <a:srgbClr val="FFFFFF"/>
                          </a:solidFill>
                          <a:latin typeface="TT Fors Bold"/>
                          <a:ea typeface="TT Fors Bold"/>
                          <a:cs typeface="TT Fors Bold"/>
                        </a:rPr>
                        <a:t>Main slides / time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2588" b="1">
                          <a:solidFill>
                            <a:srgbClr val="FFFFFF"/>
                          </a:solidFill>
                          <a:latin typeface="TT Fors Bold"/>
                          <a:ea typeface="TT Fors Bold"/>
                          <a:cs typeface="TT Fors Bold"/>
                        </a:rPr>
                        <a:t>Assignment tasks</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82968">
                <a:tc>
                  <a:txBody>
                    <a:bodyPr lIns="133350" tIns="133350" rIns="133350" bIns="133350"/>
                    <a:lstStyle/>
                    <a:p>
                      <a:pPr algn="l">
                        <a:buNone/>
                      </a:pPr>
                      <a:r>
                        <a:rPr sz="2588" b="0">
                          <a:solidFill>
                            <a:srgbClr val="FFFFFF"/>
                          </a:solidFill>
                          <a:latin typeface="TT Fors"/>
                          <a:ea typeface="TT Fors"/>
                          <a:cs typeface="TT Fors"/>
                        </a:rPr>
                        <a:t>Member 1</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588" b="0">
                          <a:solidFill>
                            <a:srgbClr val="FFFFFF"/>
                          </a:solidFill>
                          <a:latin typeface="TT Fors"/>
                          <a:ea typeface="TT Fors"/>
                          <a:cs typeface="TT Fors"/>
                        </a:rPr>
                        <a:t>1–6 / 0:00–5:00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588" b="0">
                          <a:solidFill>
                            <a:srgbClr val="FFFFFF"/>
                          </a:solidFill>
                          <a:latin typeface="TT Fors"/>
                          <a:ea typeface="TT Fors"/>
                          <a:cs typeface="TT Fors"/>
                        </a:rPr>
                        <a:t>Problem, research, dataset and cleaning</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2968">
                <a:tc>
                  <a:txBody>
                    <a:bodyPr lIns="133350" tIns="133350" rIns="133350" bIns="133350"/>
                    <a:lstStyle/>
                    <a:p>
                      <a:pPr algn="l">
                        <a:buNone/>
                      </a:pPr>
                      <a:r>
                        <a:rPr sz="2588" b="0">
                          <a:solidFill>
                            <a:srgbClr val="FFFFFF"/>
                          </a:solidFill>
                          <a:latin typeface="TT Fors"/>
                          <a:ea typeface="TT Fors"/>
                          <a:cs typeface="TT Fors"/>
                        </a:rPr>
                        <a:t>Member 2</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588" b="0">
                          <a:solidFill>
                            <a:srgbClr val="FFFFFF"/>
                          </a:solidFill>
                          <a:latin typeface="TT Fors"/>
                          <a:ea typeface="TT Fors"/>
                          <a:cs typeface="TT Fors"/>
                        </a:rPr>
                        <a:t>7–14 / 5:00–10:00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588" b="0">
                          <a:solidFill>
                            <a:srgbClr val="FFFFFF"/>
                          </a:solidFill>
                          <a:latin typeface="TT Fors"/>
                          <a:ea typeface="TT Fors"/>
                          <a:cs typeface="TT Fors"/>
                        </a:rPr>
                        <a:t>EDA, inference and model evidence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2968">
                <a:tc>
                  <a:txBody>
                    <a:bodyPr lIns="133350" tIns="133350" rIns="133350" bIns="133350"/>
                    <a:lstStyle/>
                    <a:p>
                      <a:pPr algn="l">
                        <a:buNone/>
                      </a:pPr>
                      <a:r>
                        <a:rPr sz="2588" b="0">
                          <a:solidFill>
                            <a:srgbClr val="FFFFFF"/>
                          </a:solidFill>
                          <a:latin typeface="TT Fors"/>
                          <a:ea typeface="TT Fors"/>
                          <a:cs typeface="TT Fors"/>
                        </a:rPr>
                        <a:t>Member 3</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588" b="0">
                          <a:solidFill>
                            <a:srgbClr val="FFFFFF"/>
                          </a:solidFill>
                          <a:latin typeface="TT Fors"/>
                          <a:ea typeface="TT Fors"/>
                          <a:cs typeface="TT Fors"/>
                        </a:rPr>
                        <a:t>15–22 / 10:00–15:00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588" b="0">
                          <a:solidFill>
                            <a:srgbClr val="FFFFFF"/>
                          </a:solidFill>
                          <a:latin typeface="TT Fors"/>
                          <a:ea typeface="TT Fors"/>
                          <a:cs typeface="TT Fors"/>
                        </a:rPr>
                        <a:t>Validation, experiment, PCA, Bayes and time series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2968">
                <a:tc>
                  <a:txBody>
                    <a:bodyPr lIns="133350" tIns="133350" rIns="133350" bIns="133350"/>
                    <a:lstStyle/>
                    <a:p>
                      <a:pPr algn="l">
                        <a:buNone/>
                      </a:pPr>
                      <a:r>
                        <a:rPr sz="2588" b="0">
                          <a:solidFill>
                            <a:srgbClr val="FFFFFF"/>
                          </a:solidFill>
                          <a:latin typeface="TT Fors"/>
                          <a:ea typeface="TT Fors"/>
                          <a:cs typeface="TT Fors"/>
                        </a:rPr>
                        <a:t>Member 4</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588" b="0">
                          <a:solidFill>
                            <a:srgbClr val="FFFFFF"/>
                          </a:solidFill>
                          <a:latin typeface="TT Fors"/>
                          <a:ea typeface="TT Fors"/>
                          <a:cs typeface="TT Fors"/>
                        </a:rPr>
                        <a:t>23–27 / 15:00–20:00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2588" b="0">
                          <a:solidFill>
                            <a:srgbClr val="FFFFFF"/>
                          </a:solidFill>
                          <a:latin typeface="TT Fors"/>
                          <a:ea typeface="TT Fors"/>
                          <a:cs typeface="TT Fors"/>
                        </a:rPr>
                        <a:t>Innovation, engagement, risks and recommendations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6E34DAE5-9128-41E8-8638-24E0974722CE}"/>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Before submission: confirm industry feedback and reproduce all model outputs.</a:t>
            </a:r>
          </a:p>
        </p:txBody>
      </p:sp>
    </p:spTree>
    <p:extLst>
      <p:ext uri="{BB962C8B-B14F-4D97-AF65-F5344CB8AC3E}">
        <p14:creationId xmlns:p14="http://schemas.microsoft.com/office/powerpoint/2010/main" val="73300565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2026-10-14T13:44:40.0580000Z</dcterms:created>
  <dcterms:modified xsi:type="dcterms:W3CDTF">2026-10-14T13:44:40.0580000Z</dcterms:modified>
</coreProperties>
</file>